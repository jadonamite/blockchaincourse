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6C5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737360" y="320040"/>
            <a:ext cx="502920" cy="502920"/>
          </a:xfrm>
          <a:prstGeom prst="ellipse">
            <a:avLst/>
          </a:prstGeom>
          <a:solidFill>
            <a:srgbClr val="35C0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2470947" y="1051560"/>
            <a:ext cx="3010801" cy="2286000"/>
          </a:xfrm>
          <a:custGeom>
            <a:avLst/>
            <a:gdLst/>
            <a:ahLst/>
            <a:cxnLst/>
            <a:rect l="l" t="t" r="r" b="b"/>
            <a:pathLst>
              <a:path w="3010801" h="2286000">
                <a:moveTo>
                  <a:pt x="1506693" y="0"/>
                </a:moveTo>
                <a:lnTo>
                  <a:pt x="1935203" y="47625"/>
                </a:lnTo>
                <a:lnTo>
                  <a:pt x="2328422" y="95250"/>
                </a:lnTo>
                <a:lnTo>
                  <a:pt x="2653963" y="142875"/>
                </a:lnTo>
                <a:lnTo>
                  <a:pt x="2885013" y="190500"/>
                </a:lnTo>
                <a:lnTo>
                  <a:pt x="3002545" y="238125"/>
                </a:lnTo>
                <a:lnTo>
                  <a:pt x="2996877" y="285750"/>
                </a:lnTo>
                <a:lnTo>
                  <a:pt x="2868477" y="333375"/>
                </a:lnTo>
                <a:lnTo>
                  <a:pt x="2627920" y="381000"/>
                </a:lnTo>
                <a:lnTo>
                  <a:pt x="2295017" y="428625"/>
                </a:lnTo>
                <a:lnTo>
                  <a:pt x="1897188" y="476250"/>
                </a:lnTo>
                <a:lnTo>
                  <a:pt x="1467198" y="523875"/>
                </a:lnTo>
                <a:lnTo>
                  <a:pt x="1040460" y="571500"/>
                </a:lnTo>
                <a:lnTo>
                  <a:pt x="652121" y="619125"/>
                </a:lnTo>
                <a:lnTo>
                  <a:pt x="334166" y="666750"/>
                </a:lnTo>
                <a:lnTo>
                  <a:pt x="112780" y="714375"/>
                </a:lnTo>
                <a:lnTo>
                  <a:pt x="6198" y="762000"/>
                </a:lnTo>
                <a:lnTo>
                  <a:pt x="23197" y="809625"/>
                </a:lnTo>
                <a:lnTo>
                  <a:pt x="162377" y="857250"/>
                </a:lnTo>
                <a:lnTo>
                  <a:pt x="412277" y="904875"/>
                </a:lnTo>
                <a:lnTo>
                  <a:pt x="752313" y="952500"/>
                </a:lnTo>
                <a:lnTo>
                  <a:pt x="1154479" y="1000125"/>
                </a:lnTo>
                <a:lnTo>
                  <a:pt x="1585655" y="1047750"/>
                </a:lnTo>
                <a:lnTo>
                  <a:pt x="2010327" y="1095375"/>
                </a:lnTo>
                <a:lnTo>
                  <a:pt x="2393519" y="1143000"/>
                </a:lnTo>
                <a:lnTo>
                  <a:pt x="2703672" y="1190625"/>
                </a:lnTo>
                <a:lnTo>
                  <a:pt x="2915241" y="1238250"/>
                </a:lnTo>
                <a:lnTo>
                  <a:pt x="3010801" y="1285875"/>
                </a:lnTo>
                <a:lnTo>
                  <a:pt x="2982482" y="1333500"/>
                </a:lnTo>
                <a:lnTo>
                  <a:pt x="2832617" y="1381125"/>
                </a:lnTo>
                <a:lnTo>
                  <a:pt x="2573547" y="1428750"/>
                </a:lnTo>
                <a:lnTo>
                  <a:pt x="2226611" y="1476375"/>
                </a:lnTo>
                <a:lnTo>
                  <a:pt x="1820381" y="1524000"/>
                </a:lnTo>
                <a:lnTo>
                  <a:pt x="1388317" y="1571625"/>
                </a:lnTo>
                <a:lnTo>
                  <a:pt x="966001" y="1619250"/>
                </a:lnTo>
                <a:lnTo>
                  <a:pt x="588218" y="1666875"/>
                </a:lnTo>
                <a:lnTo>
                  <a:pt x="286080" y="1714500"/>
                </a:lnTo>
                <a:lnTo>
                  <a:pt x="84473" y="1762125"/>
                </a:lnTo>
                <a:lnTo>
                  <a:pt x="0" y="1809750"/>
                </a:lnTo>
                <a:lnTo>
                  <a:pt x="39620" y="1857375"/>
                </a:lnTo>
                <a:lnTo>
                  <a:pt x="200068" y="1905000"/>
                </a:lnTo>
                <a:lnTo>
                  <a:pt x="468131" y="1952625"/>
                </a:lnTo>
                <a:lnTo>
                  <a:pt x="821730" y="2000250"/>
                </a:lnTo>
                <a:lnTo>
                  <a:pt x="1231743" y="2047875"/>
                </a:lnTo>
                <a:lnTo>
                  <a:pt x="1664401" y="2095500"/>
                </a:lnTo>
                <a:lnTo>
                  <a:pt x="2084070" y="2143125"/>
                </a:lnTo>
                <a:lnTo>
                  <a:pt x="2456186" y="2190750"/>
                </a:lnTo>
                <a:lnTo>
                  <a:pt x="2750101" y="2238375"/>
                </a:lnTo>
                <a:lnTo>
                  <a:pt x="2941609" y="2286000"/>
                </a:lnTo>
              </a:path>
            </a:pathLst>
          </a:custGeom>
          <a:noFill/>
          <a:ln w="182880" cap="rnd">
            <a:solidFill>
              <a:srgbClr val="FDC6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2103120" y="4160520"/>
            <a:ext cx="365760" cy="365760"/>
          </a:xfrm>
          <a:prstGeom prst="ellipse">
            <a:avLst/>
          </a:prstGeom>
          <a:solidFill>
            <a:srgbClr val="F273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502920" y="4434840"/>
            <a:ext cx="502920" cy="502920"/>
          </a:xfrm>
          <a:prstGeom prst="ellipse">
            <a:avLst/>
          </a:prstGeom>
          <a:noFill/>
          <a:ln w="31750">
            <a:solidFill>
              <a:srgbClr val="9387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502920"/>
            <a:ext cx="8229600" cy="320040"/>
          </a:xfrm>
          <a:prstGeom prst="rect">
            <a:avLst/>
          </a:prstGeom>
          <a:noFill/>
        </p:spPr>
        <p:txBody>
          <a:bodyPr wrap="square" anchor="t" lIns="0" rIns="0" tIns="0" bIns="0">
            <a:spAutoFit/>
          </a:bodyPr>
          <a:lstStyle/>
          <a:p>
            <a:pPr algn="l">
              <a:lnSpc>
                <a:spcPct val="115000"/>
              </a:lnSpc>
            </a:pPr>
            <a:r>
              <a:rPr sz="1150" b="1" i="0">
                <a:solidFill>
                  <a:srgbClr val="FDC646"/>
                </a:solidFill>
                <a:latin typeface="Arial"/>
              </a:rPr>
              <a:t>BLOCKCHAINCOURSE · CURRICULUM</a:t>
            </a:r>
          </a:p>
        </p:txBody>
      </p:sp>
      <p:sp>
        <p:nvSpPr>
          <p:cNvPr id="8" name="TextBox 7"/>
          <p:cNvSpPr txBox="1"/>
          <p:nvPr/>
        </p:nvSpPr>
        <p:spPr>
          <a:xfrm>
            <a:off x="685800" y="914400"/>
            <a:ext cx="6035040" cy="2377440"/>
          </a:xfrm>
          <a:prstGeom prst="rect">
            <a:avLst/>
          </a:prstGeom>
          <a:noFill/>
        </p:spPr>
        <p:txBody>
          <a:bodyPr wrap="square" anchor="t" lIns="0" rIns="0" tIns="0" bIns="0">
            <a:spAutoFit/>
          </a:bodyPr>
          <a:lstStyle/>
          <a:p>
            <a:pPr algn="l">
              <a:lnSpc>
                <a:spcPct val="102000"/>
              </a:lnSpc>
            </a:pPr>
            <a:r>
              <a:rPr sz="4200" b="1" i="0">
                <a:solidFill>
                  <a:srgbClr val="FFFFFF"/>
                </a:solidFill>
                <a:latin typeface="Arial Rounded MT Bold"/>
              </a:rPr>
              <a:t>Practical Engineering
Over Hype</a:t>
            </a:r>
          </a:p>
        </p:txBody>
      </p:sp>
      <p:sp>
        <p:nvSpPr>
          <p:cNvPr id="9" name="TextBox 8"/>
          <p:cNvSpPr txBox="1"/>
          <p:nvPr/>
        </p:nvSpPr>
        <p:spPr>
          <a:xfrm>
            <a:off x="685800" y="3246120"/>
            <a:ext cx="5120640" cy="1051560"/>
          </a:xfrm>
          <a:prstGeom prst="rect">
            <a:avLst/>
          </a:prstGeom>
          <a:noFill/>
        </p:spPr>
        <p:txBody>
          <a:bodyPr wrap="square" anchor="t" lIns="0" rIns="0" tIns="0" bIns="0">
            <a:spAutoFit/>
          </a:bodyPr>
          <a:lstStyle/>
          <a:p>
            <a:pPr algn="l">
              <a:lnSpc>
                <a:spcPct val="140000"/>
              </a:lnSpc>
            </a:pPr>
            <a:r>
              <a:rPr sz="1350" b="0" i="1">
                <a:solidFill>
                  <a:srgbClr val="E3E0F7"/>
                </a:solidFill>
                <a:latin typeface="Arial"/>
              </a:rPr>
              <a:t>No memorized buzzwords, no copy-pasted templates you can't explain. Understand the mechanics first.</a:t>
            </a:r>
          </a:p>
        </p:txBody>
      </p:sp>
      <p:sp>
        <p:nvSpPr>
          <p:cNvPr id="10" name="Rounded Rectangle 9"/>
          <p:cNvSpPr/>
          <p:nvPr/>
        </p:nvSpPr>
        <p:spPr>
          <a:xfrm>
            <a:off x="685800" y="4526280"/>
            <a:ext cx="1609344" cy="45720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228600" rIns="228600" wrap="none"/>
          <a:lstStyle/>
          <a:p>
            <a:pPr algn="ctr"/>
            <a:r>
              <a:rPr sz="1300" b="1">
                <a:solidFill>
                  <a:srgbClr val="221F33"/>
                </a:solidFill>
                <a:latin typeface="Arial"/>
              </a:rPr>
              <a:t>Start Learning</a:t>
            </a:r>
          </a:p>
        </p:txBody>
      </p:sp>
      <p:sp>
        <p:nvSpPr>
          <p:cNvPr id="11" name="Oval 10"/>
          <p:cNvSpPr/>
          <p:nvPr/>
        </p:nvSpPr>
        <p:spPr>
          <a:xfrm>
            <a:off x="2432304" y="4526280"/>
            <a:ext cx="457200" cy="457200"/>
          </a:xfrm>
          <a:prstGeom prst="ellipse">
            <a:avLst/>
          </a:prstGeom>
          <a:solidFill>
            <a:srgbClr val="F2734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800" b="1">
                <a:solidFill>
                  <a:srgbClr val="FFFFFF"/>
                </a:solidFill>
              </a:rPr>
              <a:t>→</a:t>
            </a:r>
          </a:p>
        </p:txBody>
      </p:sp>
      <p:pic>
        <p:nvPicPr>
          <p:cNvPr id="12" name="Picture 11" descr="_c_hero1.jpg"/>
          <p:cNvPicPr>
            <a:picLocks noChangeAspect="1"/>
          </p:cNvPicPr>
          <p:nvPr/>
        </p:nvPicPr>
        <p:blipFill>
          <a:blip r:embed="rId2"/>
          <a:stretch>
            <a:fillRect/>
          </a:stretch>
        </p:blipFill>
        <p:spPr>
          <a:xfrm>
            <a:off x="6949440" y="502920"/>
            <a:ext cx="4663440" cy="5852160"/>
          </a:xfrm>
          <a:prstGeom prst="rect">
            <a:avLst/>
          </a:prstGeom>
        </p:spPr>
      </p:pic>
      <p:sp>
        <p:nvSpPr>
          <p:cNvPr id="13" name="Rounded Rectangle 12"/>
          <p:cNvSpPr/>
          <p:nvPr/>
        </p:nvSpPr>
        <p:spPr>
          <a:xfrm>
            <a:off x="6720840" y="1051560"/>
            <a:ext cx="2468880" cy="86868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03720" y="1170432"/>
            <a:ext cx="2148840" cy="274320"/>
          </a:xfrm>
          <a:prstGeom prst="rect">
            <a:avLst/>
          </a:prstGeom>
          <a:noFill/>
        </p:spPr>
        <p:txBody>
          <a:bodyPr wrap="square" anchor="t" lIns="0" rIns="0" tIns="0" bIns="0">
            <a:spAutoFit/>
          </a:bodyPr>
          <a:lstStyle/>
          <a:p>
            <a:pPr algn="l">
              <a:lnSpc>
                <a:spcPct val="115000"/>
              </a:lnSpc>
            </a:pPr>
            <a:r>
              <a:rPr sz="950" b="1" i="0">
                <a:solidFill>
                  <a:srgbClr val="8B8899"/>
                </a:solidFill>
                <a:latin typeface="Arial"/>
              </a:rPr>
              <a:t>This Slide</a:t>
            </a:r>
          </a:p>
        </p:txBody>
      </p:sp>
      <p:sp>
        <p:nvSpPr>
          <p:cNvPr id="15" name="TextBox 14"/>
          <p:cNvSpPr txBox="1"/>
          <p:nvPr/>
        </p:nvSpPr>
        <p:spPr>
          <a:xfrm>
            <a:off x="6903720" y="1444752"/>
            <a:ext cx="2148840" cy="411480"/>
          </a:xfrm>
          <a:prstGeom prst="rect">
            <a:avLst/>
          </a:prstGeom>
          <a:noFill/>
        </p:spPr>
        <p:txBody>
          <a:bodyPr wrap="square" anchor="t" lIns="0" rIns="0" tIns="0" bIns="0">
            <a:spAutoFit/>
          </a:bodyPr>
          <a:lstStyle/>
          <a:p>
            <a:pPr algn="l">
              <a:lnSpc>
                <a:spcPct val="110000"/>
              </a:lnSpc>
            </a:pPr>
            <a:r>
              <a:rPr sz="1050" b="1" i="0">
                <a:solidFill>
                  <a:srgbClr val="221F33"/>
                </a:solidFill>
                <a:latin typeface="Arial"/>
              </a:rPr>
              <a:t>Week 02 · Concepts</a:t>
            </a:r>
          </a:p>
        </p:txBody>
      </p:sp>
      <p:sp>
        <p:nvSpPr>
          <p:cNvPr id="16" name="TextBox 15"/>
          <p:cNvSpPr txBox="1"/>
          <p:nvPr/>
        </p:nvSpPr>
        <p:spPr>
          <a:xfrm>
            <a:off x="685800" y="6446520"/>
            <a:ext cx="5943600" cy="274320"/>
          </a:xfrm>
          <a:prstGeom prst="rect">
            <a:avLst/>
          </a:prstGeom>
          <a:noFill/>
        </p:spPr>
        <p:txBody>
          <a:bodyPr wrap="square" anchor="t" lIns="0" rIns="0" tIns="0" bIns="0">
            <a:spAutoFit/>
          </a:bodyPr>
          <a:lstStyle/>
          <a:p>
            <a:pPr algn="l">
              <a:lnSpc>
                <a:spcPct val="115000"/>
              </a:lnSpc>
            </a:pPr>
            <a:r>
              <a:rPr sz="850" b="0" i="0">
                <a:solidFill>
                  <a:srgbClr val="C7C2E8"/>
                </a:solidFill>
                <a:latin typeface="Arial"/>
              </a:rPr>
              <a:t/>
            </a:r>
          </a:p>
        </p:txBody>
      </p:sp>
      <p:sp>
        <p:nvSpPr>
          <p:cNvPr id="17" name="TextBox 16"/>
          <p:cNvSpPr txBox="1"/>
          <p:nvPr/>
        </p:nvSpPr>
        <p:spPr>
          <a:xfrm>
            <a:off x="11018520" y="6492240"/>
            <a:ext cx="960120" cy="274320"/>
          </a:xfrm>
          <a:prstGeom prst="rect">
            <a:avLst/>
          </a:prstGeom>
          <a:noFill/>
        </p:spPr>
        <p:txBody>
          <a:bodyPr wrap="square" anchor="t" lIns="0" rIns="0" tIns="0" bIns="0">
            <a:spAutoFit/>
          </a:bodyPr>
          <a:lstStyle/>
          <a:p>
            <a:pPr algn="r">
              <a:lnSpc>
                <a:spcPct val="115000"/>
              </a:lnSpc>
            </a:pPr>
            <a:r>
              <a:rPr sz="1000" b="1" i="0">
                <a:solidFill>
                  <a:srgbClr val="C7C2E8"/>
                </a:solidFill>
                <a:latin typeface="Courier New"/>
              </a:rPr>
              <a:t>01/22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48640"/>
            <a:ext cx="8229600" cy="320040"/>
          </a:xfrm>
          <a:prstGeom prst="rect">
            <a:avLst/>
          </a:prstGeom>
          <a:noFill/>
        </p:spPr>
        <p:txBody>
          <a:bodyPr wrap="square" anchor="t" lIns="0" rIns="0" tIns="0" bIns="0">
            <a:spAutoFit/>
          </a:bodyPr>
          <a:lstStyle/>
          <a:p>
            <a:pPr algn="l">
              <a:lnSpc>
                <a:spcPct val="115000"/>
              </a:lnSpc>
            </a:pPr>
            <a:r>
              <a:rPr sz="1150" b="1" i="0">
                <a:solidFill>
                  <a:srgbClr val="8B8899"/>
                </a:solidFill>
                <a:latin typeface="Arial"/>
              </a:rPr>
              <a:t>HOW THIS COURSE IS STRUCTURED</a:t>
            </a:r>
          </a:p>
        </p:txBody>
      </p:sp>
      <p:sp>
        <p:nvSpPr>
          <p:cNvPr id="4" name="TextBox 3"/>
          <p:cNvSpPr txBox="1"/>
          <p:nvPr/>
        </p:nvSpPr>
        <p:spPr>
          <a:xfrm>
            <a:off x="685800" y="914400"/>
            <a:ext cx="10515600" cy="822960"/>
          </a:xfrm>
          <a:prstGeom prst="rect">
            <a:avLst/>
          </a:prstGeom>
          <a:noFill/>
        </p:spPr>
        <p:txBody>
          <a:bodyPr wrap="square" anchor="t" lIns="0" rIns="0" tIns="0" bIns="0">
            <a:spAutoFit/>
          </a:bodyPr>
          <a:lstStyle/>
          <a:p>
            <a:pPr algn="l">
              <a:lnSpc>
                <a:spcPct val="115000"/>
              </a:lnSpc>
            </a:pPr>
            <a:r>
              <a:rPr sz="3000" b="1" i="0">
                <a:solidFill>
                  <a:srgbClr val="221F33"/>
                </a:solidFill>
                <a:latin typeface="Arial Rounded MT Bold"/>
              </a:rPr>
              <a:t>Two Halves</a:t>
            </a:r>
          </a:p>
        </p:txBody>
      </p:sp>
      <p:sp>
        <p:nvSpPr>
          <p:cNvPr id="5" name="TextBox 4"/>
          <p:cNvSpPr txBox="1"/>
          <p:nvPr/>
        </p:nvSpPr>
        <p:spPr>
          <a:xfrm>
            <a:off x="685800" y="1691640"/>
            <a:ext cx="10515600" cy="548640"/>
          </a:xfrm>
          <a:prstGeom prst="rect">
            <a:avLst/>
          </a:prstGeom>
          <a:noFill/>
        </p:spPr>
        <p:txBody>
          <a:bodyPr wrap="square" anchor="t" lIns="0" rIns="0" tIns="0" bIns="0">
            <a:spAutoFit/>
          </a:bodyPr>
          <a:lstStyle/>
          <a:p>
            <a:pPr algn="l">
              <a:lnSpc>
                <a:spcPct val="140000"/>
              </a:lnSpc>
            </a:pPr>
            <a:r>
              <a:rPr sz="1300" b="0" i="0">
                <a:solidFill>
                  <a:srgbClr val="8B8899"/>
                </a:solidFill>
                <a:latin typeface="Arial"/>
              </a:rPr>
              <a:t>Everything builds toward one goal: understand how it works, then ship something real.</a:t>
            </a:r>
          </a:p>
        </p:txBody>
      </p:sp>
      <p:sp>
        <p:nvSpPr>
          <p:cNvPr id="6" name="Rounded Rectangle 5"/>
          <p:cNvSpPr/>
          <p:nvPr/>
        </p:nvSpPr>
        <p:spPr>
          <a:xfrm>
            <a:off x="685800" y="2560320"/>
            <a:ext cx="5120640" cy="3520440"/>
          </a:xfrm>
          <a:prstGeom prst="roundRect">
            <a:avLst>
              <a:gd name="adj" fmla="val 6000"/>
            </a:avLst>
          </a:prstGeom>
          <a:solidFill>
            <a:srgbClr val="6C5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51560" y="292608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200" b="1">
                <a:solidFill>
                  <a:srgbClr val="6C5FE8"/>
                </a:solidFill>
                <a:latin typeface="Arial Rounded MT Bold"/>
              </a:rPr>
              <a:t>1</a:t>
            </a:r>
          </a:p>
        </p:txBody>
      </p:sp>
      <p:sp>
        <p:nvSpPr>
          <p:cNvPr id="8" name="TextBox 7"/>
          <p:cNvSpPr txBox="1"/>
          <p:nvPr/>
        </p:nvSpPr>
        <p:spPr>
          <a:xfrm>
            <a:off x="1051560" y="3794760"/>
            <a:ext cx="4389120" cy="548640"/>
          </a:xfrm>
          <a:prstGeom prst="rect">
            <a:avLst/>
          </a:prstGeom>
          <a:noFill/>
        </p:spPr>
        <p:txBody>
          <a:bodyPr wrap="square" anchor="t" lIns="0" rIns="0" tIns="0" bIns="0">
            <a:spAutoFit/>
          </a:bodyPr>
          <a:lstStyle/>
          <a:p>
            <a:pPr algn="l">
              <a:lnSpc>
                <a:spcPct val="115000"/>
              </a:lnSpc>
            </a:pPr>
            <a:r>
              <a:rPr sz="2000" b="1" i="0">
                <a:solidFill>
                  <a:srgbClr val="FFFFFF"/>
                </a:solidFill>
                <a:latin typeface="Arial Rounded MT Bold"/>
              </a:rPr>
              <a:t>Half 1 · Weeks 1-5</a:t>
            </a:r>
          </a:p>
        </p:txBody>
      </p:sp>
      <p:sp>
        <p:nvSpPr>
          <p:cNvPr id="9" name="TextBox 8"/>
          <p:cNvSpPr txBox="1"/>
          <p:nvPr/>
        </p:nvSpPr>
        <p:spPr>
          <a:xfrm>
            <a:off x="1051560" y="4343400"/>
            <a:ext cx="4389120" cy="1554480"/>
          </a:xfrm>
          <a:prstGeom prst="rect">
            <a:avLst/>
          </a:prstGeom>
          <a:noFill/>
        </p:spPr>
        <p:txBody>
          <a:bodyPr wrap="square" anchor="t" lIns="0" rIns="0" tIns="0" bIns="0">
            <a:spAutoFit/>
          </a:bodyPr>
          <a:lstStyle/>
          <a:p>
            <a:pPr algn="l">
              <a:lnSpc>
                <a:spcPct val="140000"/>
              </a:lnSpc>
            </a:pPr>
            <a:r>
              <a:rPr sz="1300" b="0" i="0">
                <a:solidFill>
                  <a:srgbClr val="F3F1FC"/>
                </a:solidFill>
                <a:latin typeface="Arial"/>
              </a:rPr>
              <a:t>Basics &amp; core concepts. Everything you need to walk into a hackathon and build something real — wallets, contracts, tokens, a working dApp.</a:t>
            </a:r>
          </a:p>
        </p:txBody>
      </p:sp>
      <p:sp>
        <p:nvSpPr>
          <p:cNvPr id="10" name="Rounded Rectangle 9"/>
          <p:cNvSpPr/>
          <p:nvPr/>
        </p:nvSpPr>
        <p:spPr>
          <a:xfrm>
            <a:off x="1051560" y="5394960"/>
            <a:ext cx="2432304" cy="36576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228600" rIns="228600" wrap="none"/>
          <a:lstStyle/>
          <a:p>
            <a:pPr algn="ctr"/>
            <a:r>
              <a:rPr sz="1100" b="1">
                <a:solidFill>
                  <a:srgbClr val="6C5FE8"/>
                </a:solidFill>
                <a:latin typeface="Arial"/>
              </a:rPr>
              <a:t>◉ You are here — Week 02</a:t>
            </a:r>
          </a:p>
        </p:txBody>
      </p:sp>
      <p:sp>
        <p:nvSpPr>
          <p:cNvPr id="11" name="Rounded Rectangle 10"/>
          <p:cNvSpPr/>
          <p:nvPr/>
        </p:nvSpPr>
        <p:spPr>
          <a:xfrm>
            <a:off x="6126480" y="2560320"/>
            <a:ext cx="5120640" cy="3520440"/>
          </a:xfrm>
          <a:prstGeom prst="roundRect">
            <a:avLst>
              <a:gd name="adj" fmla="val 6000"/>
            </a:avLst>
          </a:prstGeom>
          <a:solidFill>
            <a:srgbClr val="35C0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92240" y="292608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200" b="1">
                <a:solidFill>
                  <a:srgbClr val="35C078"/>
                </a:solidFill>
                <a:latin typeface="Arial Rounded MT Bold"/>
              </a:rPr>
              <a:t>2</a:t>
            </a:r>
          </a:p>
        </p:txBody>
      </p:sp>
      <p:sp>
        <p:nvSpPr>
          <p:cNvPr id="13" name="TextBox 12"/>
          <p:cNvSpPr txBox="1"/>
          <p:nvPr/>
        </p:nvSpPr>
        <p:spPr>
          <a:xfrm>
            <a:off x="6492240" y="3794760"/>
            <a:ext cx="4389120" cy="548640"/>
          </a:xfrm>
          <a:prstGeom prst="rect">
            <a:avLst/>
          </a:prstGeom>
          <a:noFill/>
        </p:spPr>
        <p:txBody>
          <a:bodyPr wrap="square" anchor="t" lIns="0" rIns="0" tIns="0" bIns="0">
            <a:spAutoFit/>
          </a:bodyPr>
          <a:lstStyle/>
          <a:p>
            <a:pPr algn="l">
              <a:lnSpc>
                <a:spcPct val="115000"/>
              </a:lnSpc>
            </a:pPr>
            <a:r>
              <a:rPr sz="2000" b="1" i="0">
                <a:solidFill>
                  <a:srgbClr val="FFFFFF"/>
                </a:solidFill>
                <a:latin typeface="Arial Rounded MT Bold"/>
              </a:rPr>
              <a:t>Half 2 · Weeks 6-9</a:t>
            </a:r>
          </a:p>
        </p:txBody>
      </p:sp>
      <p:sp>
        <p:nvSpPr>
          <p:cNvPr id="14" name="TextBox 13"/>
          <p:cNvSpPr txBox="1"/>
          <p:nvPr/>
        </p:nvSpPr>
        <p:spPr>
          <a:xfrm>
            <a:off x="6492240" y="4343400"/>
            <a:ext cx="4389120" cy="1554480"/>
          </a:xfrm>
          <a:prstGeom prst="rect">
            <a:avLst/>
          </a:prstGeom>
          <a:noFill/>
        </p:spPr>
        <p:txBody>
          <a:bodyPr wrap="square" anchor="t" lIns="0" rIns="0" tIns="0" bIns="0">
            <a:spAutoFit/>
          </a:bodyPr>
          <a:lstStyle/>
          <a:p>
            <a:pPr algn="l">
              <a:lnSpc>
                <a:spcPct val="140000"/>
              </a:lnSpc>
            </a:pPr>
            <a:r>
              <a:rPr sz="1300" b="0" i="0">
                <a:solidFill>
                  <a:srgbClr val="F3F1FC"/>
                </a:solidFill>
                <a:latin typeface="Arial"/>
              </a:rPr>
              <a:t>Advanced topics. Security, upgradeable contracts, Layer 2s, and the wider ecosystem — what separates a prototype from production.</a:t>
            </a:r>
          </a:p>
        </p:txBody>
      </p:sp>
      <p:sp>
        <p:nvSpPr>
          <p:cNvPr id="15" name="TextBox 14"/>
          <p:cNvSpPr txBox="1"/>
          <p:nvPr/>
        </p:nvSpPr>
        <p:spPr>
          <a:xfrm>
            <a:off x="11018520" y="6492240"/>
            <a:ext cx="960120" cy="274320"/>
          </a:xfrm>
          <a:prstGeom prst="rect">
            <a:avLst/>
          </a:prstGeom>
          <a:noFill/>
        </p:spPr>
        <p:txBody>
          <a:bodyPr wrap="square" anchor="t" lIns="0" rIns="0" tIns="0" bIns="0">
            <a:spAutoFit/>
          </a:bodyPr>
          <a:lstStyle/>
          <a:p>
            <a:pPr algn="r">
              <a:lnSpc>
                <a:spcPct val="115000"/>
              </a:lnSpc>
            </a:pPr>
            <a:r>
              <a:rPr sz="1000" b="1" i="0">
                <a:solidFill>
                  <a:srgbClr val="8B8899"/>
                </a:solidFill>
                <a:latin typeface="Courier New"/>
              </a:rPr>
              <a:t>02/22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48640"/>
            <a:ext cx="8229600" cy="320040"/>
          </a:xfrm>
          <a:prstGeom prst="rect">
            <a:avLst/>
          </a:prstGeom>
          <a:noFill/>
        </p:spPr>
        <p:txBody>
          <a:bodyPr wrap="square" anchor="t" lIns="0" rIns="0" tIns="0" bIns="0">
            <a:spAutoFit/>
          </a:bodyPr>
          <a:lstStyle/>
          <a:p>
            <a:pPr algn="l">
              <a:lnSpc>
                <a:spcPct val="115000"/>
              </a:lnSpc>
            </a:pPr>
            <a:r>
              <a:rPr sz="1150" b="1" i="0">
                <a:solidFill>
                  <a:srgbClr val="6C5FE8"/>
                </a:solidFill>
                <a:latin typeface="Arial"/>
              </a:rPr>
              <a:t>BEFORE YOU BEGIN</a:t>
            </a:r>
          </a:p>
        </p:txBody>
      </p:sp>
      <p:sp>
        <p:nvSpPr>
          <p:cNvPr id="4" name="TextBox 3"/>
          <p:cNvSpPr txBox="1"/>
          <p:nvPr/>
        </p:nvSpPr>
        <p:spPr>
          <a:xfrm>
            <a:off x="685800" y="914400"/>
            <a:ext cx="4206240" cy="1280160"/>
          </a:xfrm>
          <a:prstGeom prst="rect">
            <a:avLst/>
          </a:prstGeom>
          <a:noFill/>
        </p:spPr>
        <p:txBody>
          <a:bodyPr wrap="square" anchor="t" lIns="0" rIns="0" tIns="0" bIns="0">
            <a:spAutoFit/>
          </a:bodyPr>
          <a:lstStyle/>
          <a:p>
            <a:pPr algn="l">
              <a:lnSpc>
                <a:spcPct val="105000"/>
              </a:lnSpc>
            </a:pPr>
            <a:r>
              <a:rPr sz="2500" b="1" i="0">
                <a:solidFill>
                  <a:srgbClr val="221F33"/>
                </a:solidFill>
                <a:latin typeface="Arial Rounded MT Bold"/>
              </a:rPr>
              <a:t>Ground Rules</a:t>
            </a:r>
          </a:p>
        </p:txBody>
      </p:sp>
      <p:pic>
        <p:nvPicPr>
          <p:cNvPr id="5" name="Picture 4" descr="_c_tl3_rules.jpg"/>
          <p:cNvPicPr>
            <a:picLocks noChangeAspect="1"/>
          </p:cNvPicPr>
          <p:nvPr/>
        </p:nvPicPr>
        <p:blipFill>
          <a:blip r:embed="rId2"/>
          <a:stretch>
            <a:fillRect/>
          </a:stretch>
        </p:blipFill>
        <p:spPr>
          <a:xfrm>
            <a:off x="685800" y="2377440"/>
            <a:ext cx="4206240" cy="3291840"/>
          </a:xfrm>
          <a:prstGeom prst="rect">
            <a:avLst/>
          </a:prstGeom>
        </p:spPr>
      </p:pic>
      <p:sp>
        <p:nvSpPr>
          <p:cNvPr id="6" name="Rounded Rectangle 5"/>
          <p:cNvSpPr/>
          <p:nvPr/>
        </p:nvSpPr>
        <p:spPr>
          <a:xfrm>
            <a:off x="5486400" y="1005840"/>
            <a:ext cx="621792" cy="365760"/>
          </a:xfrm>
          <a:prstGeom prst="roundRect">
            <a:avLst>
              <a:gd name="adj" fmla="val 50000"/>
            </a:avLst>
          </a:prstGeom>
          <a:solidFill>
            <a:srgbClr val="6C5FE8"/>
          </a:solidFill>
          <a:ln>
            <a:noFill/>
          </a:ln>
          <a:effectLst/>
        </p:spPr>
        <p:style>
          <a:lnRef idx="1">
            <a:schemeClr val="accent1"/>
          </a:lnRef>
          <a:fillRef idx="3">
            <a:schemeClr val="accent1"/>
          </a:fillRef>
          <a:effectRef idx="2">
            <a:schemeClr val="accent1"/>
          </a:effectRef>
          <a:fontRef idx="minor">
            <a:schemeClr val="lt1"/>
          </a:fontRef>
        </p:style>
        <p:txBody>
          <a:bodyPr rtlCol="0" anchor="ctr" lIns="228600" rIns="228600" wrap="none"/>
          <a:lstStyle/>
          <a:p>
            <a:pPr algn="ctr"/>
            <a:r>
              <a:rPr sz="1200" b="1">
                <a:solidFill>
                  <a:srgbClr val="FFFFFF"/>
                </a:solidFill>
                <a:latin typeface="Arial"/>
              </a:rPr>
              <a:t>01</a:t>
            </a:r>
          </a:p>
        </p:txBody>
      </p:sp>
      <p:sp>
        <p:nvSpPr>
          <p:cNvPr id="7" name="TextBox 6"/>
          <p:cNvSpPr txBox="1"/>
          <p:nvPr/>
        </p:nvSpPr>
        <p:spPr>
          <a:xfrm>
            <a:off x="6172200" y="987552"/>
            <a:ext cx="5486400" cy="365760"/>
          </a:xfrm>
          <a:prstGeom prst="rect">
            <a:avLst/>
          </a:prstGeom>
          <a:noFill/>
        </p:spPr>
        <p:txBody>
          <a:bodyPr wrap="square" anchor="t" lIns="0" rIns="0" tIns="0" bIns="0">
            <a:spAutoFit/>
          </a:bodyPr>
          <a:lstStyle/>
          <a:p>
            <a:pPr algn="l">
              <a:lnSpc>
                <a:spcPct val="115000"/>
              </a:lnSpc>
            </a:pPr>
            <a:r>
              <a:rPr sz="1450" b="1" i="0">
                <a:solidFill>
                  <a:srgbClr val="221F33"/>
                </a:solidFill>
                <a:latin typeface="Arial Rounded MT Bold"/>
              </a:rPr>
              <a:t>Understand before you copy</a:t>
            </a:r>
          </a:p>
        </p:txBody>
      </p:sp>
      <p:sp>
        <p:nvSpPr>
          <p:cNvPr id="8" name="TextBox 7"/>
          <p:cNvSpPr txBox="1"/>
          <p:nvPr/>
        </p:nvSpPr>
        <p:spPr>
          <a:xfrm>
            <a:off x="6172200" y="1389888"/>
            <a:ext cx="5486400" cy="548640"/>
          </a:xfrm>
          <a:prstGeom prst="rect">
            <a:avLst/>
          </a:prstGeom>
          <a:noFill/>
        </p:spPr>
        <p:txBody>
          <a:bodyPr wrap="square" anchor="t" lIns="0" rIns="0" tIns="0" bIns="0">
            <a:spAutoFit/>
          </a:bodyPr>
          <a:lstStyle/>
          <a:p>
            <a:pPr algn="l">
              <a:lnSpc>
                <a:spcPct val="130000"/>
              </a:lnSpc>
            </a:pPr>
            <a:r>
              <a:rPr sz="1050" b="0" i="0">
                <a:solidFill>
                  <a:srgbClr val="8B8899"/>
                </a:solidFill>
                <a:latin typeface="Arial"/>
              </a:rPr>
              <a:t>If you can't explain a line of code, don't ship it.</a:t>
            </a:r>
          </a:p>
        </p:txBody>
      </p:sp>
      <p:cxnSp>
        <p:nvCxnSpPr>
          <p:cNvPr id="9" name="Connector 8"/>
          <p:cNvCxnSpPr/>
          <p:nvPr/>
        </p:nvCxnSpPr>
        <p:spPr>
          <a:xfrm>
            <a:off x="5742432" y="1417320"/>
            <a:ext cx="0" cy="640080"/>
          </a:xfrm>
          <a:prstGeom prst="line">
            <a:avLst/>
          </a:prstGeom>
          <a:ln w="19050">
            <a:solidFill>
              <a:srgbClr val="ECEAF3"/>
            </a:solidFill>
            <a:prstDash val="sysDash"/>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5486400" y="2057400"/>
            <a:ext cx="621792" cy="365760"/>
          </a:xfrm>
          <a:prstGeom prst="roundRect">
            <a:avLst>
              <a:gd name="adj" fmla="val 50000"/>
            </a:avLst>
          </a:prstGeom>
          <a:solidFill>
            <a:srgbClr val="35C078"/>
          </a:solidFill>
          <a:ln>
            <a:noFill/>
          </a:ln>
          <a:effectLst/>
        </p:spPr>
        <p:style>
          <a:lnRef idx="1">
            <a:schemeClr val="accent1"/>
          </a:lnRef>
          <a:fillRef idx="3">
            <a:schemeClr val="accent1"/>
          </a:fillRef>
          <a:effectRef idx="2">
            <a:schemeClr val="accent1"/>
          </a:effectRef>
          <a:fontRef idx="minor">
            <a:schemeClr val="lt1"/>
          </a:fontRef>
        </p:style>
        <p:txBody>
          <a:bodyPr rtlCol="0" anchor="ctr" lIns="228600" rIns="228600" wrap="none"/>
          <a:lstStyle/>
          <a:p>
            <a:pPr algn="ctr"/>
            <a:r>
              <a:rPr sz="1200" b="1">
                <a:solidFill>
                  <a:srgbClr val="FFFFFF"/>
                </a:solidFill>
                <a:latin typeface="Arial"/>
              </a:rPr>
              <a:t>02</a:t>
            </a:r>
          </a:p>
        </p:txBody>
      </p:sp>
      <p:sp>
        <p:nvSpPr>
          <p:cNvPr id="11" name="TextBox 10"/>
          <p:cNvSpPr txBox="1"/>
          <p:nvPr/>
        </p:nvSpPr>
        <p:spPr>
          <a:xfrm>
            <a:off x="6172200" y="2039112"/>
            <a:ext cx="5486400" cy="365760"/>
          </a:xfrm>
          <a:prstGeom prst="rect">
            <a:avLst/>
          </a:prstGeom>
          <a:noFill/>
        </p:spPr>
        <p:txBody>
          <a:bodyPr wrap="square" anchor="t" lIns="0" rIns="0" tIns="0" bIns="0">
            <a:spAutoFit/>
          </a:bodyPr>
          <a:lstStyle/>
          <a:p>
            <a:pPr algn="l">
              <a:lnSpc>
                <a:spcPct val="115000"/>
              </a:lnSpc>
            </a:pPr>
            <a:r>
              <a:rPr sz="1450" b="1" i="0">
                <a:solidFill>
                  <a:srgbClr val="221F33"/>
                </a:solidFill>
                <a:latin typeface="Arial Rounded MT Bold"/>
              </a:rPr>
              <a:t>Testnet first, always</a:t>
            </a:r>
          </a:p>
        </p:txBody>
      </p:sp>
      <p:sp>
        <p:nvSpPr>
          <p:cNvPr id="12" name="TextBox 11"/>
          <p:cNvSpPr txBox="1"/>
          <p:nvPr/>
        </p:nvSpPr>
        <p:spPr>
          <a:xfrm>
            <a:off x="6172200" y="2441448"/>
            <a:ext cx="5486400" cy="548640"/>
          </a:xfrm>
          <a:prstGeom prst="rect">
            <a:avLst/>
          </a:prstGeom>
          <a:noFill/>
        </p:spPr>
        <p:txBody>
          <a:bodyPr wrap="square" anchor="t" lIns="0" rIns="0" tIns="0" bIns="0">
            <a:spAutoFit/>
          </a:bodyPr>
          <a:lstStyle/>
          <a:p>
            <a:pPr algn="l">
              <a:lnSpc>
                <a:spcPct val="130000"/>
              </a:lnSpc>
            </a:pPr>
            <a:r>
              <a:rPr sz="1050" b="0" i="0">
                <a:solidFill>
                  <a:srgbClr val="8B8899"/>
                </a:solidFill>
                <a:latin typeface="Arial"/>
              </a:rPr>
              <a:t>Never deploy something you haven't tested.</a:t>
            </a:r>
          </a:p>
        </p:txBody>
      </p:sp>
      <p:cxnSp>
        <p:nvCxnSpPr>
          <p:cNvPr id="13" name="Connector 12"/>
          <p:cNvCxnSpPr/>
          <p:nvPr/>
        </p:nvCxnSpPr>
        <p:spPr>
          <a:xfrm>
            <a:off x="5742432" y="2468880"/>
            <a:ext cx="0" cy="640080"/>
          </a:xfrm>
          <a:prstGeom prst="line">
            <a:avLst/>
          </a:prstGeom>
          <a:ln w="19050">
            <a:solidFill>
              <a:srgbClr val="ECEAF3"/>
            </a:solidFill>
            <a:prstDash val="sysDash"/>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5486400" y="3108960"/>
            <a:ext cx="621792" cy="365760"/>
          </a:xfrm>
          <a:prstGeom prst="roundRect">
            <a:avLst>
              <a:gd name="adj" fmla="val 50000"/>
            </a:avLst>
          </a:prstGeom>
          <a:solidFill>
            <a:srgbClr val="F2734B"/>
          </a:solidFill>
          <a:ln>
            <a:noFill/>
          </a:ln>
          <a:effectLst/>
        </p:spPr>
        <p:style>
          <a:lnRef idx="1">
            <a:schemeClr val="accent1"/>
          </a:lnRef>
          <a:fillRef idx="3">
            <a:schemeClr val="accent1"/>
          </a:fillRef>
          <a:effectRef idx="2">
            <a:schemeClr val="accent1"/>
          </a:effectRef>
          <a:fontRef idx="minor">
            <a:schemeClr val="lt1"/>
          </a:fontRef>
        </p:style>
        <p:txBody>
          <a:bodyPr rtlCol="0" anchor="ctr" lIns="228600" rIns="228600" wrap="none"/>
          <a:lstStyle/>
          <a:p>
            <a:pPr algn="ctr"/>
            <a:r>
              <a:rPr sz="1200" b="1">
                <a:solidFill>
                  <a:srgbClr val="FFFFFF"/>
                </a:solidFill>
                <a:latin typeface="Arial"/>
              </a:rPr>
              <a:t>03</a:t>
            </a:r>
          </a:p>
        </p:txBody>
      </p:sp>
      <p:sp>
        <p:nvSpPr>
          <p:cNvPr id="15" name="TextBox 14"/>
          <p:cNvSpPr txBox="1"/>
          <p:nvPr/>
        </p:nvSpPr>
        <p:spPr>
          <a:xfrm>
            <a:off x="6172200" y="3090672"/>
            <a:ext cx="5486400" cy="365760"/>
          </a:xfrm>
          <a:prstGeom prst="rect">
            <a:avLst/>
          </a:prstGeom>
          <a:noFill/>
        </p:spPr>
        <p:txBody>
          <a:bodyPr wrap="square" anchor="t" lIns="0" rIns="0" tIns="0" bIns="0">
            <a:spAutoFit/>
          </a:bodyPr>
          <a:lstStyle/>
          <a:p>
            <a:pPr algn="l">
              <a:lnSpc>
                <a:spcPct val="115000"/>
              </a:lnSpc>
            </a:pPr>
            <a:r>
              <a:rPr sz="1450" b="1" i="0">
                <a:solidFill>
                  <a:srgbClr val="221F33"/>
                </a:solidFill>
                <a:latin typeface="Arial Rounded MT Bold"/>
              </a:rPr>
              <a:t>No frontend before the CLI works</a:t>
            </a:r>
          </a:p>
        </p:txBody>
      </p:sp>
      <p:sp>
        <p:nvSpPr>
          <p:cNvPr id="16" name="TextBox 15"/>
          <p:cNvSpPr txBox="1"/>
          <p:nvPr/>
        </p:nvSpPr>
        <p:spPr>
          <a:xfrm>
            <a:off x="6172200" y="3493008"/>
            <a:ext cx="5486400" cy="548640"/>
          </a:xfrm>
          <a:prstGeom prst="rect">
            <a:avLst/>
          </a:prstGeom>
          <a:noFill/>
        </p:spPr>
        <p:txBody>
          <a:bodyPr wrap="square" anchor="t" lIns="0" rIns="0" tIns="0" bIns="0">
            <a:spAutoFit/>
          </a:bodyPr>
          <a:lstStyle/>
          <a:p>
            <a:pPr algn="l">
              <a:lnSpc>
                <a:spcPct val="130000"/>
              </a:lnSpc>
            </a:pPr>
            <a:r>
              <a:rPr sz="1050" b="0" i="0">
                <a:solidFill>
                  <a:srgbClr val="8B8899"/>
                </a:solidFill>
                <a:latin typeface="Arial"/>
              </a:rPr>
              <a:t>Deploy and call a contract with cast first.</a:t>
            </a:r>
          </a:p>
        </p:txBody>
      </p:sp>
      <p:cxnSp>
        <p:nvCxnSpPr>
          <p:cNvPr id="17" name="Connector 16"/>
          <p:cNvCxnSpPr/>
          <p:nvPr/>
        </p:nvCxnSpPr>
        <p:spPr>
          <a:xfrm>
            <a:off x="5742432" y="3520440"/>
            <a:ext cx="0" cy="640080"/>
          </a:xfrm>
          <a:prstGeom prst="line">
            <a:avLst/>
          </a:prstGeom>
          <a:ln w="19050">
            <a:solidFill>
              <a:srgbClr val="ECEAF3"/>
            </a:solidFill>
            <a:prstDash val="sysDash"/>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5486400" y="4160520"/>
            <a:ext cx="621792" cy="365760"/>
          </a:xfrm>
          <a:prstGeom prst="roundRect">
            <a:avLst>
              <a:gd name="adj" fmla="val 50000"/>
            </a:avLst>
          </a:prstGeom>
          <a:solidFill>
            <a:srgbClr val="FDC646"/>
          </a:solidFill>
          <a:ln>
            <a:noFill/>
          </a:ln>
          <a:effectLst/>
        </p:spPr>
        <p:style>
          <a:lnRef idx="1">
            <a:schemeClr val="accent1"/>
          </a:lnRef>
          <a:fillRef idx="3">
            <a:schemeClr val="accent1"/>
          </a:fillRef>
          <a:effectRef idx="2">
            <a:schemeClr val="accent1"/>
          </a:effectRef>
          <a:fontRef idx="minor">
            <a:schemeClr val="lt1"/>
          </a:fontRef>
        </p:style>
        <p:txBody>
          <a:bodyPr rtlCol="0" anchor="ctr" lIns="228600" rIns="228600" wrap="none"/>
          <a:lstStyle/>
          <a:p>
            <a:pPr algn="ctr"/>
            <a:r>
              <a:rPr sz="1200" b="1">
                <a:solidFill>
                  <a:srgbClr val="FFFFFF"/>
                </a:solidFill>
                <a:latin typeface="Arial"/>
              </a:rPr>
              <a:t>04</a:t>
            </a:r>
          </a:p>
        </p:txBody>
      </p:sp>
      <p:sp>
        <p:nvSpPr>
          <p:cNvPr id="19" name="TextBox 18"/>
          <p:cNvSpPr txBox="1"/>
          <p:nvPr/>
        </p:nvSpPr>
        <p:spPr>
          <a:xfrm>
            <a:off x="6172200" y="4142232"/>
            <a:ext cx="5486400" cy="365760"/>
          </a:xfrm>
          <a:prstGeom prst="rect">
            <a:avLst/>
          </a:prstGeom>
          <a:noFill/>
        </p:spPr>
        <p:txBody>
          <a:bodyPr wrap="square" anchor="t" lIns="0" rIns="0" tIns="0" bIns="0">
            <a:spAutoFit/>
          </a:bodyPr>
          <a:lstStyle/>
          <a:p>
            <a:pPr algn="l">
              <a:lnSpc>
                <a:spcPct val="115000"/>
              </a:lnSpc>
            </a:pPr>
            <a:r>
              <a:rPr sz="1450" b="1" i="0">
                <a:solidFill>
                  <a:srgbClr val="221F33"/>
                </a:solidFill>
                <a:latin typeface="Arial Rounded MT Bold"/>
              </a:rPr>
              <a:t>Every contract gets a test</a:t>
            </a:r>
          </a:p>
        </p:txBody>
      </p:sp>
      <p:sp>
        <p:nvSpPr>
          <p:cNvPr id="20" name="TextBox 19"/>
          <p:cNvSpPr txBox="1"/>
          <p:nvPr/>
        </p:nvSpPr>
        <p:spPr>
          <a:xfrm>
            <a:off x="6172200" y="4544568"/>
            <a:ext cx="5486400" cy="548640"/>
          </a:xfrm>
          <a:prstGeom prst="rect">
            <a:avLst/>
          </a:prstGeom>
          <a:noFill/>
        </p:spPr>
        <p:txBody>
          <a:bodyPr wrap="square" anchor="t" lIns="0" rIns="0" tIns="0" bIns="0">
            <a:spAutoFit/>
          </a:bodyPr>
          <a:lstStyle/>
          <a:p>
            <a:pPr algn="l">
              <a:lnSpc>
                <a:spcPct val="130000"/>
              </a:lnSpc>
            </a:pPr>
            <a:r>
              <a:rPr sz="1050" b="0" i="0">
                <a:solidFill>
                  <a:srgbClr val="8B8899"/>
                </a:solidFill>
                <a:latin typeface="Arial"/>
              </a:rPr>
              <a:t>An untested contract is unfinished.</a:t>
            </a:r>
          </a:p>
        </p:txBody>
      </p:sp>
      <p:sp>
        <p:nvSpPr>
          <p:cNvPr id="21" name="TextBox 20"/>
          <p:cNvSpPr txBox="1"/>
          <p:nvPr/>
        </p:nvSpPr>
        <p:spPr>
          <a:xfrm>
            <a:off x="11018520" y="6492240"/>
            <a:ext cx="960120" cy="274320"/>
          </a:xfrm>
          <a:prstGeom prst="rect">
            <a:avLst/>
          </a:prstGeom>
          <a:noFill/>
        </p:spPr>
        <p:txBody>
          <a:bodyPr wrap="square" anchor="t" lIns="0" rIns="0" tIns="0" bIns="0">
            <a:spAutoFit/>
          </a:bodyPr>
          <a:lstStyle/>
          <a:p>
            <a:pPr algn="r">
              <a:lnSpc>
                <a:spcPct val="115000"/>
              </a:lnSpc>
            </a:pPr>
            <a:r>
              <a:rPr sz="1000" b="1" i="0">
                <a:solidFill>
                  <a:srgbClr val="8B8899"/>
                </a:solidFill>
                <a:latin typeface="Courier New"/>
              </a:rPr>
              <a:t>03/22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6C5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737360" y="320040"/>
            <a:ext cx="502920" cy="502920"/>
          </a:xfrm>
          <a:prstGeom prst="ellipse">
            <a:avLst/>
          </a:prstGeom>
          <a:solidFill>
            <a:srgbClr val="35C0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2470947" y="1051560"/>
            <a:ext cx="3010801" cy="2286000"/>
          </a:xfrm>
          <a:custGeom>
            <a:avLst/>
            <a:gdLst/>
            <a:ahLst/>
            <a:cxnLst/>
            <a:rect l="l" t="t" r="r" b="b"/>
            <a:pathLst>
              <a:path w="3010801" h="2286000">
                <a:moveTo>
                  <a:pt x="1506693" y="0"/>
                </a:moveTo>
                <a:lnTo>
                  <a:pt x="1935203" y="47625"/>
                </a:lnTo>
                <a:lnTo>
                  <a:pt x="2328422" y="95250"/>
                </a:lnTo>
                <a:lnTo>
                  <a:pt x="2653963" y="142875"/>
                </a:lnTo>
                <a:lnTo>
                  <a:pt x="2885013" y="190500"/>
                </a:lnTo>
                <a:lnTo>
                  <a:pt x="3002545" y="238125"/>
                </a:lnTo>
                <a:lnTo>
                  <a:pt x="2996877" y="285750"/>
                </a:lnTo>
                <a:lnTo>
                  <a:pt x="2868477" y="333375"/>
                </a:lnTo>
                <a:lnTo>
                  <a:pt x="2627920" y="381000"/>
                </a:lnTo>
                <a:lnTo>
                  <a:pt x="2295017" y="428625"/>
                </a:lnTo>
                <a:lnTo>
                  <a:pt x="1897188" y="476250"/>
                </a:lnTo>
                <a:lnTo>
                  <a:pt x="1467198" y="523875"/>
                </a:lnTo>
                <a:lnTo>
                  <a:pt x="1040460" y="571500"/>
                </a:lnTo>
                <a:lnTo>
                  <a:pt x="652121" y="619125"/>
                </a:lnTo>
                <a:lnTo>
                  <a:pt x="334166" y="666750"/>
                </a:lnTo>
                <a:lnTo>
                  <a:pt x="112780" y="714375"/>
                </a:lnTo>
                <a:lnTo>
                  <a:pt x="6198" y="762000"/>
                </a:lnTo>
                <a:lnTo>
                  <a:pt x="23197" y="809625"/>
                </a:lnTo>
                <a:lnTo>
                  <a:pt x="162377" y="857250"/>
                </a:lnTo>
                <a:lnTo>
                  <a:pt x="412277" y="904875"/>
                </a:lnTo>
                <a:lnTo>
                  <a:pt x="752313" y="952500"/>
                </a:lnTo>
                <a:lnTo>
                  <a:pt x="1154479" y="1000125"/>
                </a:lnTo>
                <a:lnTo>
                  <a:pt x="1585655" y="1047750"/>
                </a:lnTo>
                <a:lnTo>
                  <a:pt x="2010327" y="1095375"/>
                </a:lnTo>
                <a:lnTo>
                  <a:pt x="2393519" y="1143000"/>
                </a:lnTo>
                <a:lnTo>
                  <a:pt x="2703672" y="1190625"/>
                </a:lnTo>
                <a:lnTo>
                  <a:pt x="2915241" y="1238250"/>
                </a:lnTo>
                <a:lnTo>
                  <a:pt x="3010801" y="1285875"/>
                </a:lnTo>
                <a:lnTo>
                  <a:pt x="2982482" y="1333500"/>
                </a:lnTo>
                <a:lnTo>
                  <a:pt x="2832617" y="1381125"/>
                </a:lnTo>
                <a:lnTo>
                  <a:pt x="2573547" y="1428750"/>
                </a:lnTo>
                <a:lnTo>
                  <a:pt x="2226611" y="1476375"/>
                </a:lnTo>
                <a:lnTo>
                  <a:pt x="1820381" y="1524000"/>
                </a:lnTo>
                <a:lnTo>
                  <a:pt x="1388317" y="1571625"/>
                </a:lnTo>
                <a:lnTo>
                  <a:pt x="966001" y="1619250"/>
                </a:lnTo>
                <a:lnTo>
                  <a:pt x="588218" y="1666875"/>
                </a:lnTo>
                <a:lnTo>
                  <a:pt x="286080" y="1714500"/>
                </a:lnTo>
                <a:lnTo>
                  <a:pt x="84473" y="1762125"/>
                </a:lnTo>
                <a:lnTo>
                  <a:pt x="0" y="1809750"/>
                </a:lnTo>
                <a:lnTo>
                  <a:pt x="39620" y="1857375"/>
                </a:lnTo>
                <a:lnTo>
                  <a:pt x="200068" y="1905000"/>
                </a:lnTo>
                <a:lnTo>
                  <a:pt x="468131" y="1952625"/>
                </a:lnTo>
                <a:lnTo>
                  <a:pt x="821730" y="2000250"/>
                </a:lnTo>
                <a:lnTo>
                  <a:pt x="1231743" y="2047875"/>
                </a:lnTo>
                <a:lnTo>
                  <a:pt x="1664401" y="2095500"/>
                </a:lnTo>
                <a:lnTo>
                  <a:pt x="2084070" y="2143125"/>
                </a:lnTo>
                <a:lnTo>
                  <a:pt x="2456186" y="2190750"/>
                </a:lnTo>
                <a:lnTo>
                  <a:pt x="2750101" y="2238375"/>
                </a:lnTo>
                <a:lnTo>
                  <a:pt x="2941609" y="2286000"/>
                </a:lnTo>
              </a:path>
            </a:pathLst>
          </a:custGeom>
          <a:noFill/>
          <a:ln w="182880" cap="rnd">
            <a:solidFill>
              <a:srgbClr val="FDC6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2103120" y="4160520"/>
            <a:ext cx="365760" cy="365760"/>
          </a:xfrm>
          <a:prstGeom prst="ellipse">
            <a:avLst/>
          </a:prstGeom>
          <a:solidFill>
            <a:srgbClr val="F273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502920" y="4434840"/>
            <a:ext cx="502920" cy="502920"/>
          </a:xfrm>
          <a:prstGeom prst="ellipse">
            <a:avLst/>
          </a:prstGeom>
          <a:noFill/>
          <a:ln w="31750">
            <a:solidFill>
              <a:srgbClr val="9387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502920"/>
            <a:ext cx="8229600" cy="320040"/>
          </a:xfrm>
          <a:prstGeom prst="rect">
            <a:avLst/>
          </a:prstGeom>
          <a:noFill/>
        </p:spPr>
        <p:txBody>
          <a:bodyPr wrap="square" anchor="t" lIns="0" rIns="0" tIns="0" bIns="0">
            <a:spAutoFit/>
          </a:bodyPr>
          <a:lstStyle/>
          <a:p>
            <a:pPr algn="l">
              <a:lnSpc>
                <a:spcPct val="115000"/>
              </a:lnSpc>
            </a:pPr>
            <a:r>
              <a:rPr sz="1150" b="1" i="0">
                <a:solidFill>
                  <a:srgbClr val="FDC646"/>
                </a:solidFill>
                <a:latin typeface="Arial"/>
              </a:rPr>
              <a:t>BLOCKCHAINCOURSE · WEEK 02 · TOPIC 02 OF 04</a:t>
            </a:r>
          </a:p>
        </p:txBody>
      </p:sp>
      <p:sp>
        <p:nvSpPr>
          <p:cNvPr id="8" name="TextBox 7"/>
          <p:cNvSpPr txBox="1"/>
          <p:nvPr/>
        </p:nvSpPr>
        <p:spPr>
          <a:xfrm>
            <a:off x="685800" y="914400"/>
            <a:ext cx="6035040" cy="2377440"/>
          </a:xfrm>
          <a:prstGeom prst="rect">
            <a:avLst/>
          </a:prstGeom>
          <a:noFill/>
        </p:spPr>
        <p:txBody>
          <a:bodyPr wrap="square" anchor="t" lIns="0" rIns="0" tIns="0" bIns="0">
            <a:spAutoFit/>
          </a:bodyPr>
          <a:lstStyle/>
          <a:p>
            <a:pPr algn="l">
              <a:lnSpc>
                <a:spcPct val="102000"/>
              </a:lnSpc>
            </a:pPr>
            <a:r>
              <a:rPr sz="4200" b="1" i="0">
                <a:solidFill>
                  <a:srgbClr val="FFFFFF"/>
                </a:solidFill>
                <a:latin typeface="Arial Rounded MT Bold"/>
              </a:rPr>
              <a:t>Types &amp; Forms of Decentralization</a:t>
            </a:r>
          </a:p>
        </p:txBody>
      </p:sp>
      <p:sp>
        <p:nvSpPr>
          <p:cNvPr id="9" name="TextBox 8"/>
          <p:cNvSpPr txBox="1"/>
          <p:nvPr/>
        </p:nvSpPr>
        <p:spPr>
          <a:xfrm>
            <a:off x="685800" y="3246120"/>
            <a:ext cx="5120640" cy="1051560"/>
          </a:xfrm>
          <a:prstGeom prst="rect">
            <a:avLst/>
          </a:prstGeom>
          <a:noFill/>
        </p:spPr>
        <p:txBody>
          <a:bodyPr wrap="square" anchor="t" lIns="0" rIns="0" tIns="0" bIns="0">
            <a:spAutoFit/>
          </a:bodyPr>
          <a:lstStyle/>
          <a:p>
            <a:pPr algn="l">
              <a:lnSpc>
                <a:spcPct val="140000"/>
              </a:lnSpc>
            </a:pPr>
            <a:r>
              <a:rPr sz="1350" b="0" i="1">
                <a:solidFill>
                  <a:srgbClr val="E3E0F7"/>
                </a:solidFill>
                <a:latin typeface="Arial"/>
              </a:rPr>
              <a:t>Decentralization isn't one property — it's three separate, independent measurements.</a:t>
            </a:r>
          </a:p>
        </p:txBody>
      </p:sp>
      <p:sp>
        <p:nvSpPr>
          <p:cNvPr id="10" name="Oval 9"/>
          <p:cNvSpPr/>
          <p:nvPr/>
        </p:nvSpPr>
        <p:spPr>
          <a:xfrm>
            <a:off x="685800" y="4617720"/>
            <a:ext cx="146304" cy="146304"/>
          </a:xfrm>
          <a:prstGeom prst="ellipse">
            <a:avLst/>
          </a:prstGeom>
          <a:solidFill>
            <a:srgbClr val="FDC6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960120" y="4617720"/>
            <a:ext cx="146304" cy="146304"/>
          </a:xfrm>
          <a:prstGeom prst="ellipse">
            <a:avLst/>
          </a:prstGeom>
          <a:solidFill>
            <a:srgbClr val="FDC6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234440" y="4617720"/>
            <a:ext cx="146304" cy="146304"/>
          </a:xfrm>
          <a:prstGeom prst="ellipse">
            <a:avLst/>
          </a:prstGeom>
          <a:solidFill>
            <a:srgbClr val="FDC6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_c_hero4.jpg"/>
          <p:cNvPicPr>
            <a:picLocks noChangeAspect="1"/>
          </p:cNvPicPr>
          <p:nvPr/>
        </p:nvPicPr>
        <p:blipFill>
          <a:blip r:embed="rId2"/>
          <a:stretch>
            <a:fillRect/>
          </a:stretch>
        </p:blipFill>
        <p:spPr>
          <a:xfrm>
            <a:off x="6949440" y="502920"/>
            <a:ext cx="4663440" cy="5852160"/>
          </a:xfrm>
          <a:prstGeom prst="rect">
            <a:avLst/>
          </a:prstGeom>
        </p:spPr>
      </p:pic>
      <p:sp>
        <p:nvSpPr>
          <p:cNvPr id="14" name="TextBox 13"/>
          <p:cNvSpPr txBox="1"/>
          <p:nvPr/>
        </p:nvSpPr>
        <p:spPr>
          <a:xfrm>
            <a:off x="685800" y="6446520"/>
            <a:ext cx="5943600" cy="274320"/>
          </a:xfrm>
          <a:prstGeom prst="rect">
            <a:avLst/>
          </a:prstGeom>
          <a:noFill/>
        </p:spPr>
        <p:txBody>
          <a:bodyPr wrap="square" anchor="t" lIns="0" rIns="0" tIns="0" bIns="0">
            <a:spAutoFit/>
          </a:bodyPr>
          <a:lstStyle/>
          <a:p>
            <a:pPr algn="l">
              <a:lnSpc>
                <a:spcPct val="115000"/>
              </a:lnSpc>
            </a:pPr>
            <a:r>
              <a:rPr sz="850" b="0" i="0">
                <a:solidFill>
                  <a:srgbClr val="C7C2E8"/>
                </a:solidFill>
                <a:latin typeface="Arial"/>
              </a:rPr>
              <a:t>Photo: Balise42 / Wikimedia Commons, CC BY-SA 4.0</a:t>
            </a:r>
          </a:p>
        </p:txBody>
      </p:sp>
      <p:sp>
        <p:nvSpPr>
          <p:cNvPr id="15" name="TextBox 14"/>
          <p:cNvSpPr txBox="1"/>
          <p:nvPr/>
        </p:nvSpPr>
        <p:spPr>
          <a:xfrm>
            <a:off x="11018520" y="6492240"/>
            <a:ext cx="960120" cy="274320"/>
          </a:xfrm>
          <a:prstGeom prst="rect">
            <a:avLst/>
          </a:prstGeom>
          <a:noFill/>
        </p:spPr>
        <p:txBody>
          <a:bodyPr wrap="square" anchor="t" lIns="0" rIns="0" tIns="0" bIns="0">
            <a:spAutoFit/>
          </a:bodyPr>
          <a:lstStyle/>
          <a:p>
            <a:pPr algn="r">
              <a:lnSpc>
                <a:spcPct val="115000"/>
              </a:lnSpc>
            </a:pPr>
            <a:r>
              <a:rPr sz="1000" b="1" i="0">
                <a:solidFill>
                  <a:srgbClr val="C7C2E8"/>
                </a:solidFill>
                <a:latin typeface="Courier New"/>
              </a:rPr>
              <a:t>04/22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_c_sp5_hook.jpg"/>
          <p:cNvPicPr>
            <a:picLocks noChangeAspect="1"/>
          </p:cNvPicPr>
          <p:nvPr/>
        </p:nvPicPr>
        <p:blipFill>
          <a:blip r:embed="rId2"/>
          <a:stretch>
            <a:fillRect/>
          </a:stretch>
        </p:blipFill>
        <p:spPr>
          <a:xfrm>
            <a:off x="6949440" y="1234440"/>
            <a:ext cx="4572000" cy="4297680"/>
          </a:xfrm>
          <a:prstGeom prst="rect">
            <a:avLst/>
          </a:prstGeom>
        </p:spPr>
      </p:pic>
      <p:sp>
        <p:nvSpPr>
          <p:cNvPr id="4" name="Oval 3"/>
          <p:cNvSpPr/>
          <p:nvPr/>
        </p:nvSpPr>
        <p:spPr>
          <a:xfrm>
            <a:off x="10789920" y="868680"/>
            <a:ext cx="502920" cy="502920"/>
          </a:xfrm>
          <a:prstGeom prst="ellipse">
            <a:avLst/>
          </a:prstGeom>
          <a:solidFill>
            <a:srgbClr val="35C0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640080"/>
            <a:ext cx="4846320" cy="320040"/>
          </a:xfrm>
          <a:prstGeom prst="rect">
            <a:avLst/>
          </a:prstGeom>
          <a:noFill/>
        </p:spPr>
        <p:txBody>
          <a:bodyPr wrap="square" anchor="t" lIns="0" rIns="0" tIns="0" bIns="0">
            <a:spAutoFit/>
          </a:bodyPr>
          <a:lstStyle/>
          <a:p>
            <a:pPr algn="l">
              <a:lnSpc>
                <a:spcPct val="115000"/>
              </a:lnSpc>
            </a:pPr>
            <a:r>
              <a:rPr sz="1150" b="1" i="0">
                <a:solidFill>
                  <a:srgbClr val="9B51B8"/>
                </a:solidFill>
                <a:latin typeface="Arial"/>
              </a:rPr>
              <a:t>START HERE</a:t>
            </a:r>
          </a:p>
        </p:txBody>
      </p:sp>
      <p:sp>
        <p:nvSpPr>
          <p:cNvPr id="6" name="TextBox 5"/>
          <p:cNvSpPr txBox="1"/>
          <p:nvPr/>
        </p:nvSpPr>
        <p:spPr>
          <a:xfrm>
            <a:off x="685800" y="1005840"/>
            <a:ext cx="4846320" cy="1280160"/>
          </a:xfrm>
          <a:prstGeom prst="rect">
            <a:avLst/>
          </a:prstGeom>
          <a:noFill/>
        </p:spPr>
        <p:txBody>
          <a:bodyPr wrap="square" anchor="t" lIns="0" rIns="0" tIns="0" bIns="0">
            <a:spAutoFit/>
          </a:bodyPr>
          <a:lstStyle/>
          <a:p>
            <a:pPr algn="l">
              <a:lnSpc>
                <a:spcPct val="105000"/>
              </a:lnSpc>
            </a:pPr>
            <a:r>
              <a:rPr sz="2500" b="1" i="0">
                <a:solidFill>
                  <a:srgbClr val="221F33"/>
                </a:solidFill>
                <a:latin typeface="Arial Rounded MT Bold"/>
              </a:rPr>
              <a:t>A Question, Not A Definition</a:t>
            </a:r>
          </a:p>
        </p:txBody>
      </p:sp>
      <p:sp>
        <p:nvSpPr>
          <p:cNvPr id="7" name="TextBox 6"/>
          <p:cNvSpPr txBox="1"/>
          <p:nvPr/>
        </p:nvSpPr>
        <p:spPr>
          <a:xfrm>
            <a:off x="685800" y="2148840"/>
            <a:ext cx="4846320" cy="2377440"/>
          </a:xfrm>
          <a:prstGeom prst="rect">
            <a:avLst/>
          </a:prstGeom>
          <a:noFill/>
        </p:spPr>
        <p:txBody>
          <a:bodyPr wrap="square" anchor="t" lIns="0" rIns="0" tIns="0" bIns="0">
            <a:spAutoFit/>
          </a:bodyPr>
          <a:lstStyle/>
          <a:p>
            <a:pPr algn="l">
              <a:lnSpc>
                <a:spcPct val="142000"/>
              </a:lnSpc>
            </a:pPr>
            <a:r>
              <a:rPr sz="1250" b="0" i="0">
                <a:solidFill>
                  <a:srgbClr val="8B8899"/>
                </a:solidFill>
                <a:latin typeface="Arial"/>
              </a:rPr>
              <a:t>Is Ethereum decentralized? Most people answer with a confident yes or no. Here's why that's the wrong shape of answer: decentralization isn't one property a system either has or doesn't — it's several separate, independent measurements, and a system can score high on one and low on another at the same time.</a:t>
            </a:r>
          </a:p>
        </p:txBody>
      </p:sp>
      <p:sp>
        <p:nvSpPr>
          <p:cNvPr id="8" name="Freeform 7"/>
          <p:cNvSpPr/>
          <p:nvPr/>
        </p:nvSpPr>
        <p:spPr>
          <a:xfrm>
            <a:off x="10744591" y="502920"/>
            <a:ext cx="776751" cy="1051560"/>
          </a:xfrm>
          <a:custGeom>
            <a:avLst/>
            <a:gdLst/>
            <a:ahLst/>
            <a:cxnLst/>
            <a:rect l="l" t="t" r="r" b="b"/>
            <a:pathLst>
              <a:path w="776751" h="1051560">
                <a:moveTo>
                  <a:pt x="388229" y="0"/>
                </a:moveTo>
                <a:lnTo>
                  <a:pt x="499995" y="37555"/>
                </a:lnTo>
                <a:lnTo>
                  <a:pt x="602318" y="75111"/>
                </a:lnTo>
                <a:lnTo>
                  <a:pt x="686551" y="112667"/>
                </a:lnTo>
                <a:lnTo>
                  <a:pt x="745575" y="150222"/>
                </a:lnTo>
                <a:lnTo>
                  <a:pt x="774405" y="187778"/>
                </a:lnTo>
                <a:lnTo>
                  <a:pt x="770603" y="225334"/>
                </a:lnTo>
                <a:lnTo>
                  <a:pt x="734491" y="262890"/>
                </a:lnTo>
                <a:lnTo>
                  <a:pt x="669121" y="300445"/>
                </a:lnTo>
                <a:lnTo>
                  <a:pt x="580016" y="338001"/>
                </a:lnTo>
                <a:lnTo>
                  <a:pt x="474705" y="375557"/>
                </a:lnTo>
                <a:lnTo>
                  <a:pt x="362086" y="413112"/>
                </a:lnTo>
                <a:lnTo>
                  <a:pt x="251677" y="450668"/>
                </a:lnTo>
                <a:lnTo>
                  <a:pt x="152806" y="488224"/>
                </a:lnTo>
                <a:lnTo>
                  <a:pt x="73828" y="525780"/>
                </a:lnTo>
                <a:lnTo>
                  <a:pt x="21417" y="563335"/>
                </a:lnTo>
                <a:lnTo>
                  <a:pt x="0" y="600891"/>
                </a:lnTo>
                <a:lnTo>
                  <a:pt x="11388" y="638447"/>
                </a:lnTo>
                <a:lnTo>
                  <a:pt x="54618" y="676002"/>
                </a:lnTo>
                <a:lnTo>
                  <a:pt x="126038" y="713558"/>
                </a:lnTo>
                <a:lnTo>
                  <a:pt x="219613" y="751114"/>
                </a:lnTo>
                <a:lnTo>
                  <a:pt x="327435" y="788670"/>
                </a:lnTo>
                <a:lnTo>
                  <a:pt x="440394" y="826225"/>
                </a:lnTo>
                <a:lnTo>
                  <a:pt x="548946" y="863781"/>
                </a:lnTo>
                <a:lnTo>
                  <a:pt x="643917" y="901337"/>
                </a:lnTo>
                <a:lnTo>
                  <a:pt x="717282" y="938892"/>
                </a:lnTo>
                <a:lnTo>
                  <a:pt x="762844" y="976448"/>
                </a:lnTo>
                <a:lnTo>
                  <a:pt x="776751" y="1014004"/>
                </a:lnTo>
                <a:lnTo>
                  <a:pt x="757828" y="1051560"/>
                </a:lnTo>
              </a:path>
            </a:pathLst>
          </a:custGeom>
          <a:noFill/>
          <a:ln w="68580" cap="rnd">
            <a:solidFill>
              <a:srgbClr val="FDC6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018520" y="6492240"/>
            <a:ext cx="960120" cy="274320"/>
          </a:xfrm>
          <a:prstGeom prst="rect">
            <a:avLst/>
          </a:prstGeom>
          <a:noFill/>
        </p:spPr>
        <p:txBody>
          <a:bodyPr wrap="square" anchor="t" lIns="0" rIns="0" tIns="0" bIns="0">
            <a:spAutoFit/>
          </a:bodyPr>
          <a:lstStyle/>
          <a:p>
            <a:pPr algn="r">
              <a:lnSpc>
                <a:spcPct val="115000"/>
              </a:lnSpc>
            </a:pPr>
            <a:r>
              <a:rPr sz="1000" b="1" i="0">
                <a:solidFill>
                  <a:srgbClr val="8B8899"/>
                </a:solidFill>
                <a:latin typeface="Courier New"/>
              </a:rPr>
              <a:t>05/22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_c_sp6_notice1.jpg"/>
          <p:cNvPicPr>
            <a:picLocks noChangeAspect="1"/>
          </p:cNvPicPr>
          <p:nvPr/>
        </p:nvPicPr>
        <p:blipFill>
          <a:blip r:embed="rId2"/>
          <a:stretch>
            <a:fillRect/>
          </a:stretch>
        </p:blipFill>
        <p:spPr>
          <a:xfrm>
            <a:off x="685800" y="1234440"/>
            <a:ext cx="4572000" cy="4297680"/>
          </a:xfrm>
          <a:prstGeom prst="rect">
            <a:avLst/>
          </a:prstGeom>
        </p:spPr>
      </p:pic>
      <p:sp>
        <p:nvSpPr>
          <p:cNvPr id="4" name="Oval 3"/>
          <p:cNvSpPr/>
          <p:nvPr/>
        </p:nvSpPr>
        <p:spPr>
          <a:xfrm>
            <a:off x="4526280" y="868680"/>
            <a:ext cx="502920" cy="502920"/>
          </a:xfrm>
          <a:prstGeom prst="ellipse">
            <a:avLst/>
          </a:prstGeom>
          <a:solidFill>
            <a:srgbClr val="35C0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309360" y="640080"/>
            <a:ext cx="4846320" cy="320040"/>
          </a:xfrm>
          <a:prstGeom prst="rect">
            <a:avLst/>
          </a:prstGeom>
          <a:noFill/>
        </p:spPr>
        <p:txBody>
          <a:bodyPr wrap="square" anchor="t" lIns="0" rIns="0" tIns="0" bIns="0">
            <a:spAutoFit/>
          </a:bodyPr>
          <a:lstStyle/>
          <a:p>
            <a:pPr algn="l">
              <a:lnSpc>
                <a:spcPct val="115000"/>
              </a:lnSpc>
            </a:pPr>
            <a:r>
              <a:rPr sz="1150" b="1" i="0">
                <a:solidFill>
                  <a:srgbClr val="9B51B8"/>
                </a:solidFill>
                <a:latin typeface="Arial"/>
              </a:rPr>
              <a:t>NOTICE IT, BEFORE WE NAME IT — SETUP</a:t>
            </a:r>
          </a:p>
        </p:txBody>
      </p:sp>
      <p:sp>
        <p:nvSpPr>
          <p:cNvPr id="6" name="TextBox 5"/>
          <p:cNvSpPr txBox="1"/>
          <p:nvPr/>
        </p:nvSpPr>
        <p:spPr>
          <a:xfrm>
            <a:off x="6309360" y="1005840"/>
            <a:ext cx="4846320" cy="1280160"/>
          </a:xfrm>
          <a:prstGeom prst="rect">
            <a:avLst/>
          </a:prstGeom>
          <a:noFill/>
        </p:spPr>
        <p:txBody>
          <a:bodyPr wrap="square" anchor="t" lIns="0" rIns="0" tIns="0" bIns="0">
            <a:spAutoFit/>
          </a:bodyPr>
          <a:lstStyle/>
          <a:p>
            <a:pPr algn="l">
              <a:lnSpc>
                <a:spcPct val="105000"/>
              </a:lnSpc>
            </a:pPr>
            <a:r>
              <a:rPr sz="2500" b="1" i="0">
                <a:solidFill>
                  <a:srgbClr val="221F33"/>
                </a:solidFill>
                <a:latin typeface="Arial Rounded MT Bold"/>
              </a:rPr>
              <a:t>Thousands Of Independent Operators</a:t>
            </a:r>
          </a:p>
        </p:txBody>
      </p:sp>
      <p:sp>
        <p:nvSpPr>
          <p:cNvPr id="7" name="TextBox 6"/>
          <p:cNvSpPr txBox="1"/>
          <p:nvPr/>
        </p:nvSpPr>
        <p:spPr>
          <a:xfrm>
            <a:off x="6309360" y="2148840"/>
            <a:ext cx="4846320" cy="2377440"/>
          </a:xfrm>
          <a:prstGeom prst="rect">
            <a:avLst/>
          </a:prstGeom>
          <a:noFill/>
        </p:spPr>
        <p:txBody>
          <a:bodyPr wrap="square" anchor="t" lIns="0" rIns="0" tIns="0" bIns="0">
            <a:spAutoFit/>
          </a:bodyPr>
          <a:lstStyle/>
          <a:p>
            <a:pPr algn="l">
              <a:lnSpc>
                <a:spcPct val="142000"/>
              </a:lnSpc>
            </a:pPr>
            <a:r>
              <a:rPr sz="1250" b="0" i="0">
                <a:solidFill>
                  <a:srgbClr val="8B8899"/>
                </a:solidFill>
                <a:latin typeface="Arial"/>
              </a:rPr>
              <a:t>Ethereum runs on thousands of independently operated nodes, spread across the world, run by individuals, universities, companies, and hobbyists who mostly don't know each other. That sounds about as decentralized as it gets.</a:t>
            </a:r>
          </a:p>
        </p:txBody>
      </p:sp>
      <p:sp>
        <p:nvSpPr>
          <p:cNvPr id="8" name="Freeform 7"/>
          <p:cNvSpPr/>
          <p:nvPr/>
        </p:nvSpPr>
        <p:spPr>
          <a:xfrm>
            <a:off x="10744591" y="502920"/>
            <a:ext cx="776751" cy="1051560"/>
          </a:xfrm>
          <a:custGeom>
            <a:avLst/>
            <a:gdLst/>
            <a:ahLst/>
            <a:cxnLst/>
            <a:rect l="l" t="t" r="r" b="b"/>
            <a:pathLst>
              <a:path w="776751" h="1051560">
                <a:moveTo>
                  <a:pt x="388229" y="0"/>
                </a:moveTo>
                <a:lnTo>
                  <a:pt x="499995" y="37555"/>
                </a:lnTo>
                <a:lnTo>
                  <a:pt x="602318" y="75111"/>
                </a:lnTo>
                <a:lnTo>
                  <a:pt x="686551" y="112667"/>
                </a:lnTo>
                <a:lnTo>
                  <a:pt x="745575" y="150222"/>
                </a:lnTo>
                <a:lnTo>
                  <a:pt x="774405" y="187778"/>
                </a:lnTo>
                <a:lnTo>
                  <a:pt x="770603" y="225334"/>
                </a:lnTo>
                <a:lnTo>
                  <a:pt x="734491" y="262890"/>
                </a:lnTo>
                <a:lnTo>
                  <a:pt x="669121" y="300445"/>
                </a:lnTo>
                <a:lnTo>
                  <a:pt x="580016" y="338001"/>
                </a:lnTo>
                <a:lnTo>
                  <a:pt x="474705" y="375557"/>
                </a:lnTo>
                <a:lnTo>
                  <a:pt x="362086" y="413112"/>
                </a:lnTo>
                <a:lnTo>
                  <a:pt x="251677" y="450668"/>
                </a:lnTo>
                <a:lnTo>
                  <a:pt x="152806" y="488224"/>
                </a:lnTo>
                <a:lnTo>
                  <a:pt x="73828" y="525780"/>
                </a:lnTo>
                <a:lnTo>
                  <a:pt x="21417" y="563335"/>
                </a:lnTo>
                <a:lnTo>
                  <a:pt x="0" y="600891"/>
                </a:lnTo>
                <a:lnTo>
                  <a:pt x="11388" y="638447"/>
                </a:lnTo>
                <a:lnTo>
                  <a:pt x="54618" y="676002"/>
                </a:lnTo>
                <a:lnTo>
                  <a:pt x="126038" y="713558"/>
                </a:lnTo>
                <a:lnTo>
                  <a:pt x="219613" y="751114"/>
                </a:lnTo>
                <a:lnTo>
                  <a:pt x="327435" y="788670"/>
                </a:lnTo>
                <a:lnTo>
                  <a:pt x="440394" y="826225"/>
                </a:lnTo>
                <a:lnTo>
                  <a:pt x="548946" y="863781"/>
                </a:lnTo>
                <a:lnTo>
                  <a:pt x="643917" y="901337"/>
                </a:lnTo>
                <a:lnTo>
                  <a:pt x="717282" y="938892"/>
                </a:lnTo>
                <a:lnTo>
                  <a:pt x="762844" y="976448"/>
                </a:lnTo>
                <a:lnTo>
                  <a:pt x="776751" y="1014004"/>
                </a:lnTo>
                <a:lnTo>
                  <a:pt x="757828" y="1051560"/>
                </a:lnTo>
              </a:path>
            </a:pathLst>
          </a:custGeom>
          <a:noFill/>
          <a:ln w="68580" cap="rnd">
            <a:solidFill>
              <a:srgbClr val="FDC6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018520" y="6492240"/>
            <a:ext cx="960120" cy="274320"/>
          </a:xfrm>
          <a:prstGeom prst="rect">
            <a:avLst/>
          </a:prstGeom>
          <a:noFill/>
        </p:spPr>
        <p:txBody>
          <a:bodyPr wrap="square" anchor="t" lIns="0" rIns="0" tIns="0" bIns="0">
            <a:spAutoFit/>
          </a:bodyPr>
          <a:lstStyle/>
          <a:p>
            <a:pPr algn="r">
              <a:lnSpc>
                <a:spcPct val="115000"/>
              </a:lnSpc>
            </a:pPr>
            <a:r>
              <a:rPr sz="1000" b="1" i="0">
                <a:solidFill>
                  <a:srgbClr val="8B8899"/>
                </a:solidFill>
                <a:latin typeface="Courier New"/>
              </a:rPr>
              <a:t>06/22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_c_sp7_notice2.jpg"/>
          <p:cNvPicPr>
            <a:picLocks noChangeAspect="1"/>
          </p:cNvPicPr>
          <p:nvPr/>
        </p:nvPicPr>
        <p:blipFill>
          <a:blip r:embed="rId2"/>
          <a:stretch>
            <a:fillRect/>
          </a:stretch>
        </p:blipFill>
        <p:spPr>
          <a:xfrm>
            <a:off x="6949440" y="1234440"/>
            <a:ext cx="4572000" cy="4297680"/>
          </a:xfrm>
          <a:prstGeom prst="rect">
            <a:avLst/>
          </a:prstGeom>
        </p:spPr>
      </p:pic>
      <p:sp>
        <p:nvSpPr>
          <p:cNvPr id="4" name="Oval 3"/>
          <p:cNvSpPr/>
          <p:nvPr/>
        </p:nvSpPr>
        <p:spPr>
          <a:xfrm>
            <a:off x="10789920" y="868680"/>
            <a:ext cx="502920" cy="502920"/>
          </a:xfrm>
          <a:prstGeom prst="ellipse">
            <a:avLst/>
          </a:prstGeom>
          <a:solidFill>
            <a:srgbClr val="35C0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640080"/>
            <a:ext cx="4846320" cy="320040"/>
          </a:xfrm>
          <a:prstGeom prst="rect">
            <a:avLst/>
          </a:prstGeom>
          <a:noFill/>
        </p:spPr>
        <p:txBody>
          <a:bodyPr wrap="square" anchor="t" lIns="0" rIns="0" tIns="0" bIns="0">
            <a:spAutoFit/>
          </a:bodyPr>
          <a:lstStyle/>
          <a:p>
            <a:pPr algn="l">
              <a:lnSpc>
                <a:spcPct val="115000"/>
              </a:lnSpc>
            </a:pPr>
            <a:r>
              <a:rPr sz="1150" b="1" i="0">
                <a:solidFill>
                  <a:srgbClr val="9B51B8"/>
                </a:solidFill>
                <a:latin typeface="Arial"/>
              </a:rPr>
              <a:t>NOTICE IT, BEFORE WE NAME IT — RESULT</a:t>
            </a:r>
          </a:p>
        </p:txBody>
      </p:sp>
      <p:sp>
        <p:nvSpPr>
          <p:cNvPr id="6" name="TextBox 5"/>
          <p:cNvSpPr txBox="1"/>
          <p:nvPr/>
        </p:nvSpPr>
        <p:spPr>
          <a:xfrm>
            <a:off x="685800" y="1005840"/>
            <a:ext cx="4846320" cy="1280160"/>
          </a:xfrm>
          <a:prstGeom prst="rect">
            <a:avLst/>
          </a:prstGeom>
          <a:noFill/>
        </p:spPr>
        <p:txBody>
          <a:bodyPr wrap="square" anchor="t" lIns="0" rIns="0" tIns="0" bIns="0">
            <a:spAutoFit/>
          </a:bodyPr>
          <a:lstStyle/>
          <a:p>
            <a:pPr algn="l">
              <a:lnSpc>
                <a:spcPct val="105000"/>
              </a:lnSpc>
            </a:pPr>
            <a:r>
              <a:rPr sz="2500" b="1" i="0">
                <a:solidFill>
                  <a:srgbClr val="221F33"/>
                </a:solidFill>
                <a:latin typeface="Arial Rounded MT Bold"/>
              </a:rPr>
              <a:t>Yet They All Agree On One Single Truth</a:t>
            </a:r>
          </a:p>
        </p:txBody>
      </p:sp>
      <p:sp>
        <p:nvSpPr>
          <p:cNvPr id="7" name="TextBox 6"/>
          <p:cNvSpPr txBox="1"/>
          <p:nvPr/>
        </p:nvSpPr>
        <p:spPr>
          <a:xfrm>
            <a:off x="685800" y="2148840"/>
            <a:ext cx="4846320" cy="2377440"/>
          </a:xfrm>
          <a:prstGeom prst="rect">
            <a:avLst/>
          </a:prstGeom>
          <a:noFill/>
        </p:spPr>
        <p:txBody>
          <a:bodyPr wrap="square" anchor="t" lIns="0" rIns="0" tIns="0" bIns="0">
            <a:spAutoFit/>
          </a:bodyPr>
          <a:lstStyle/>
          <a:p>
            <a:pPr algn="l">
              <a:lnSpc>
                <a:spcPct val="142000"/>
              </a:lnSpc>
            </a:pPr>
            <a:r>
              <a:rPr sz="1250" b="0" i="0">
                <a:solidFill>
                  <a:srgbClr val="8B8899"/>
                </a:solidFill>
                <a:latin typeface="Arial"/>
              </a:rPr>
              <a:t>At any given moment, all of those thousands of independent nodes agree on one single, shared version of the truth — one balance for your wallet, one state for every contract. Functionally, the network behaves like one giant, unified computer, not a loose federation of separate ones.</a:t>
            </a:r>
          </a:p>
        </p:txBody>
      </p:sp>
      <p:sp>
        <p:nvSpPr>
          <p:cNvPr id="8" name="Rounded Rectangle 7"/>
          <p:cNvSpPr/>
          <p:nvPr/>
        </p:nvSpPr>
        <p:spPr>
          <a:xfrm>
            <a:off x="685800" y="4892040"/>
            <a:ext cx="4846320" cy="1234440"/>
          </a:xfrm>
          <a:prstGeom prst="roundRect">
            <a:avLst>
              <a:gd name="adj" fmla="val 8000"/>
            </a:avLst>
          </a:prstGeom>
          <a:solidFill>
            <a:srgbClr val="F6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029200"/>
            <a:ext cx="4389120" cy="274320"/>
          </a:xfrm>
          <a:prstGeom prst="rect">
            <a:avLst/>
          </a:prstGeom>
          <a:noFill/>
        </p:spPr>
        <p:txBody>
          <a:bodyPr wrap="square" anchor="t" lIns="0" rIns="0" tIns="0" bIns="0">
            <a:spAutoFit/>
          </a:bodyPr>
          <a:lstStyle/>
          <a:p>
            <a:pPr algn="l">
              <a:lnSpc>
                <a:spcPct val="115000"/>
              </a:lnSpc>
            </a:pPr>
            <a:r>
              <a:rPr sz="950" b="1" i="0">
                <a:solidFill>
                  <a:srgbClr val="9B51B8"/>
                </a:solidFill>
                <a:latin typeface="Arial"/>
              </a:rPr>
              <a:t>EXAMPLE</a:t>
            </a:r>
          </a:p>
        </p:txBody>
      </p:sp>
      <p:sp>
        <p:nvSpPr>
          <p:cNvPr id="10" name="TextBox 9"/>
          <p:cNvSpPr txBox="1"/>
          <p:nvPr/>
        </p:nvSpPr>
        <p:spPr>
          <a:xfrm>
            <a:off x="914400" y="5321808"/>
            <a:ext cx="4389120" cy="685800"/>
          </a:xfrm>
          <a:prstGeom prst="rect">
            <a:avLst/>
          </a:prstGeom>
          <a:noFill/>
        </p:spPr>
        <p:txBody>
          <a:bodyPr wrap="square" anchor="t" lIns="0" rIns="0" tIns="0" bIns="0">
            <a:spAutoFit/>
          </a:bodyPr>
          <a:lstStyle/>
          <a:p>
            <a:pPr algn="l">
              <a:lnSpc>
                <a:spcPct val="125000"/>
              </a:lnSpc>
            </a:pPr>
            <a:r>
              <a:rPr sz="1100" b="0" i="0">
                <a:solidFill>
                  <a:srgbClr val="221F33"/>
                </a:solidFill>
                <a:latin typeface="Courier New"/>
              </a:rPr>
              <a:t>Thousands of independent operators + one unified, agreed-upon state.</a:t>
            </a:r>
          </a:p>
        </p:txBody>
      </p:sp>
      <p:sp>
        <p:nvSpPr>
          <p:cNvPr id="11" name="Freeform 10"/>
          <p:cNvSpPr/>
          <p:nvPr/>
        </p:nvSpPr>
        <p:spPr>
          <a:xfrm>
            <a:off x="10744591" y="502920"/>
            <a:ext cx="776751" cy="1051560"/>
          </a:xfrm>
          <a:custGeom>
            <a:avLst/>
            <a:gdLst/>
            <a:ahLst/>
            <a:cxnLst/>
            <a:rect l="l" t="t" r="r" b="b"/>
            <a:pathLst>
              <a:path w="776751" h="1051560">
                <a:moveTo>
                  <a:pt x="388229" y="0"/>
                </a:moveTo>
                <a:lnTo>
                  <a:pt x="499995" y="37555"/>
                </a:lnTo>
                <a:lnTo>
                  <a:pt x="602318" y="75111"/>
                </a:lnTo>
                <a:lnTo>
                  <a:pt x="686551" y="112667"/>
                </a:lnTo>
                <a:lnTo>
                  <a:pt x="745575" y="150222"/>
                </a:lnTo>
                <a:lnTo>
                  <a:pt x="774405" y="187778"/>
                </a:lnTo>
                <a:lnTo>
                  <a:pt x="770603" y="225334"/>
                </a:lnTo>
                <a:lnTo>
                  <a:pt x="734491" y="262890"/>
                </a:lnTo>
                <a:lnTo>
                  <a:pt x="669121" y="300445"/>
                </a:lnTo>
                <a:lnTo>
                  <a:pt x="580016" y="338001"/>
                </a:lnTo>
                <a:lnTo>
                  <a:pt x="474705" y="375557"/>
                </a:lnTo>
                <a:lnTo>
                  <a:pt x="362086" y="413112"/>
                </a:lnTo>
                <a:lnTo>
                  <a:pt x="251677" y="450668"/>
                </a:lnTo>
                <a:lnTo>
                  <a:pt x="152806" y="488224"/>
                </a:lnTo>
                <a:lnTo>
                  <a:pt x="73828" y="525780"/>
                </a:lnTo>
                <a:lnTo>
                  <a:pt x="21417" y="563335"/>
                </a:lnTo>
                <a:lnTo>
                  <a:pt x="0" y="600891"/>
                </a:lnTo>
                <a:lnTo>
                  <a:pt x="11388" y="638447"/>
                </a:lnTo>
                <a:lnTo>
                  <a:pt x="54618" y="676002"/>
                </a:lnTo>
                <a:lnTo>
                  <a:pt x="126038" y="713558"/>
                </a:lnTo>
                <a:lnTo>
                  <a:pt x="219613" y="751114"/>
                </a:lnTo>
                <a:lnTo>
                  <a:pt x="327435" y="788670"/>
                </a:lnTo>
                <a:lnTo>
                  <a:pt x="440394" y="826225"/>
                </a:lnTo>
                <a:lnTo>
                  <a:pt x="548946" y="863781"/>
                </a:lnTo>
                <a:lnTo>
                  <a:pt x="643917" y="901337"/>
                </a:lnTo>
                <a:lnTo>
                  <a:pt x="717282" y="938892"/>
                </a:lnTo>
                <a:lnTo>
                  <a:pt x="762844" y="976448"/>
                </a:lnTo>
                <a:lnTo>
                  <a:pt x="776751" y="1014004"/>
                </a:lnTo>
                <a:lnTo>
                  <a:pt x="757828" y="1051560"/>
                </a:lnTo>
              </a:path>
            </a:pathLst>
          </a:custGeom>
          <a:noFill/>
          <a:ln w="68580" cap="rnd">
            <a:solidFill>
              <a:srgbClr val="FDC6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018520" y="6492240"/>
            <a:ext cx="960120" cy="274320"/>
          </a:xfrm>
          <a:prstGeom prst="rect">
            <a:avLst/>
          </a:prstGeom>
          <a:noFill/>
        </p:spPr>
        <p:txBody>
          <a:bodyPr wrap="square" anchor="t" lIns="0" rIns="0" tIns="0" bIns="0">
            <a:spAutoFit/>
          </a:bodyPr>
          <a:lstStyle/>
          <a:p>
            <a:pPr algn="r">
              <a:lnSpc>
                <a:spcPct val="115000"/>
              </a:lnSpc>
            </a:pPr>
            <a:r>
              <a:rPr sz="1000" b="1" i="0">
                <a:solidFill>
                  <a:srgbClr val="8B8899"/>
                </a:solidFill>
                <a:latin typeface="Courier New"/>
              </a:rPr>
              <a:t>07/22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_c_sp8_name.jpg"/>
          <p:cNvPicPr>
            <a:picLocks noChangeAspect="1"/>
          </p:cNvPicPr>
          <p:nvPr/>
        </p:nvPicPr>
        <p:blipFill>
          <a:blip r:embed="rId2"/>
          <a:stretch>
            <a:fillRect/>
          </a:stretch>
        </p:blipFill>
        <p:spPr>
          <a:xfrm>
            <a:off x="685800" y="1234440"/>
            <a:ext cx="4572000" cy="4297680"/>
          </a:xfrm>
          <a:prstGeom prst="rect">
            <a:avLst/>
          </a:prstGeom>
        </p:spPr>
      </p:pic>
      <p:sp>
        <p:nvSpPr>
          <p:cNvPr id="4" name="Oval 3"/>
          <p:cNvSpPr/>
          <p:nvPr/>
        </p:nvSpPr>
        <p:spPr>
          <a:xfrm>
            <a:off x="4526280" y="868680"/>
            <a:ext cx="502920" cy="502920"/>
          </a:xfrm>
          <a:prstGeom prst="ellipse">
            <a:avLst/>
          </a:prstGeom>
          <a:solidFill>
            <a:srgbClr val="35C0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309360" y="640080"/>
            <a:ext cx="4846320" cy="320040"/>
          </a:xfrm>
          <a:prstGeom prst="rect">
            <a:avLst/>
          </a:prstGeom>
          <a:noFill/>
        </p:spPr>
        <p:txBody>
          <a:bodyPr wrap="square" anchor="t" lIns="0" rIns="0" tIns="0" bIns="0">
            <a:spAutoFit/>
          </a:bodyPr>
          <a:lstStyle/>
          <a:p>
            <a:pPr algn="l">
              <a:lnSpc>
                <a:spcPct val="115000"/>
              </a:lnSpc>
            </a:pPr>
            <a:r>
              <a:rPr sz="1150" b="1" i="0">
                <a:solidFill>
                  <a:srgbClr val="9B51B8"/>
                </a:solidFill>
                <a:latin typeface="Arial"/>
              </a:rPr>
              <a:t>NOW IT HAS A NAME</a:t>
            </a:r>
          </a:p>
        </p:txBody>
      </p:sp>
      <p:sp>
        <p:nvSpPr>
          <p:cNvPr id="6" name="TextBox 5"/>
          <p:cNvSpPr txBox="1"/>
          <p:nvPr/>
        </p:nvSpPr>
        <p:spPr>
          <a:xfrm>
            <a:off x="6309360" y="1005840"/>
            <a:ext cx="4846320" cy="1280160"/>
          </a:xfrm>
          <a:prstGeom prst="rect">
            <a:avLst/>
          </a:prstGeom>
          <a:noFill/>
        </p:spPr>
        <p:txBody>
          <a:bodyPr wrap="square" anchor="t" lIns="0" rIns="0" tIns="0" bIns="0">
            <a:spAutoFit/>
          </a:bodyPr>
          <a:lstStyle/>
          <a:p>
            <a:pPr algn="l">
              <a:lnSpc>
                <a:spcPct val="105000"/>
              </a:lnSpc>
            </a:pPr>
            <a:r>
              <a:rPr sz="2500" b="1" i="0">
                <a:solidFill>
                  <a:srgbClr val="221F33"/>
                </a:solidFill>
                <a:latin typeface="Arial Rounded MT Bold"/>
              </a:rPr>
              <a:t>Three Separate Axes, Not One Property</a:t>
            </a:r>
          </a:p>
        </p:txBody>
      </p:sp>
      <p:sp>
        <p:nvSpPr>
          <p:cNvPr id="7" name="TextBox 6"/>
          <p:cNvSpPr txBox="1"/>
          <p:nvPr/>
        </p:nvSpPr>
        <p:spPr>
          <a:xfrm>
            <a:off x="6309360" y="2148840"/>
            <a:ext cx="4846320" cy="2377440"/>
          </a:xfrm>
          <a:prstGeom prst="rect">
            <a:avLst/>
          </a:prstGeom>
          <a:noFill/>
        </p:spPr>
        <p:txBody>
          <a:bodyPr wrap="square" anchor="t" lIns="0" rIns="0" tIns="0" bIns="0">
            <a:spAutoFit/>
          </a:bodyPr>
          <a:lstStyle/>
          <a:p>
            <a:pPr algn="l">
              <a:lnSpc>
                <a:spcPct val="142000"/>
              </a:lnSpc>
            </a:pPr>
            <a:r>
              <a:rPr sz="1250" b="0" i="0">
                <a:solidFill>
                  <a:srgbClr val="8B8899"/>
                </a:solidFill>
                <a:latin typeface="Arial"/>
              </a:rPr>
              <a:t>Vitalik Buterin's 2017 essay laid out three axes: Architectural (how many computers, how many could fail?), Political (how many people/orgs control those computers?), and Logical (does the system behave like one unified object, or an amorphous swarm?). A system's score on one tells you almost nothing about its score on another.</a:t>
            </a:r>
          </a:p>
        </p:txBody>
      </p:sp>
      <p:sp>
        <p:nvSpPr>
          <p:cNvPr id="8" name="Freeform 7"/>
          <p:cNvSpPr/>
          <p:nvPr/>
        </p:nvSpPr>
        <p:spPr>
          <a:xfrm>
            <a:off x="10744591" y="502920"/>
            <a:ext cx="776751" cy="1051560"/>
          </a:xfrm>
          <a:custGeom>
            <a:avLst/>
            <a:gdLst/>
            <a:ahLst/>
            <a:cxnLst/>
            <a:rect l="l" t="t" r="r" b="b"/>
            <a:pathLst>
              <a:path w="776751" h="1051560">
                <a:moveTo>
                  <a:pt x="388229" y="0"/>
                </a:moveTo>
                <a:lnTo>
                  <a:pt x="499995" y="37555"/>
                </a:lnTo>
                <a:lnTo>
                  <a:pt x="602318" y="75111"/>
                </a:lnTo>
                <a:lnTo>
                  <a:pt x="686551" y="112667"/>
                </a:lnTo>
                <a:lnTo>
                  <a:pt x="745575" y="150222"/>
                </a:lnTo>
                <a:lnTo>
                  <a:pt x="774405" y="187778"/>
                </a:lnTo>
                <a:lnTo>
                  <a:pt x="770603" y="225334"/>
                </a:lnTo>
                <a:lnTo>
                  <a:pt x="734491" y="262890"/>
                </a:lnTo>
                <a:lnTo>
                  <a:pt x="669121" y="300445"/>
                </a:lnTo>
                <a:lnTo>
                  <a:pt x="580016" y="338001"/>
                </a:lnTo>
                <a:lnTo>
                  <a:pt x="474705" y="375557"/>
                </a:lnTo>
                <a:lnTo>
                  <a:pt x="362086" y="413112"/>
                </a:lnTo>
                <a:lnTo>
                  <a:pt x="251677" y="450668"/>
                </a:lnTo>
                <a:lnTo>
                  <a:pt x="152806" y="488224"/>
                </a:lnTo>
                <a:lnTo>
                  <a:pt x="73828" y="525780"/>
                </a:lnTo>
                <a:lnTo>
                  <a:pt x="21417" y="563335"/>
                </a:lnTo>
                <a:lnTo>
                  <a:pt x="0" y="600891"/>
                </a:lnTo>
                <a:lnTo>
                  <a:pt x="11388" y="638447"/>
                </a:lnTo>
                <a:lnTo>
                  <a:pt x="54618" y="676002"/>
                </a:lnTo>
                <a:lnTo>
                  <a:pt x="126038" y="713558"/>
                </a:lnTo>
                <a:lnTo>
                  <a:pt x="219613" y="751114"/>
                </a:lnTo>
                <a:lnTo>
                  <a:pt x="327435" y="788670"/>
                </a:lnTo>
                <a:lnTo>
                  <a:pt x="440394" y="826225"/>
                </a:lnTo>
                <a:lnTo>
                  <a:pt x="548946" y="863781"/>
                </a:lnTo>
                <a:lnTo>
                  <a:pt x="643917" y="901337"/>
                </a:lnTo>
                <a:lnTo>
                  <a:pt x="717282" y="938892"/>
                </a:lnTo>
                <a:lnTo>
                  <a:pt x="762844" y="976448"/>
                </a:lnTo>
                <a:lnTo>
                  <a:pt x="776751" y="1014004"/>
                </a:lnTo>
                <a:lnTo>
                  <a:pt x="757828" y="1051560"/>
                </a:lnTo>
              </a:path>
            </a:pathLst>
          </a:custGeom>
          <a:noFill/>
          <a:ln w="68580" cap="rnd">
            <a:solidFill>
              <a:srgbClr val="FDC6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018520" y="6492240"/>
            <a:ext cx="960120" cy="274320"/>
          </a:xfrm>
          <a:prstGeom prst="rect">
            <a:avLst/>
          </a:prstGeom>
          <a:noFill/>
        </p:spPr>
        <p:txBody>
          <a:bodyPr wrap="square" anchor="t" lIns="0" rIns="0" tIns="0" bIns="0">
            <a:spAutoFit/>
          </a:bodyPr>
          <a:lstStyle/>
          <a:p>
            <a:pPr algn="r">
              <a:lnSpc>
                <a:spcPct val="115000"/>
              </a:lnSpc>
            </a:pPr>
            <a:r>
              <a:rPr sz="1000" b="1" i="0">
                <a:solidFill>
                  <a:srgbClr val="8B8899"/>
                </a:solidFill>
                <a:latin typeface="Courier New"/>
              </a:rPr>
              <a:t>08/22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_c_sp9_key0.jpg"/>
          <p:cNvPicPr>
            <a:picLocks noChangeAspect="1"/>
          </p:cNvPicPr>
          <p:nvPr/>
        </p:nvPicPr>
        <p:blipFill>
          <a:blip r:embed="rId2"/>
          <a:stretch>
            <a:fillRect/>
          </a:stretch>
        </p:blipFill>
        <p:spPr>
          <a:xfrm>
            <a:off x="685800" y="1234440"/>
            <a:ext cx="4572000" cy="4297680"/>
          </a:xfrm>
          <a:prstGeom prst="rect">
            <a:avLst/>
          </a:prstGeom>
        </p:spPr>
      </p:pic>
      <p:sp>
        <p:nvSpPr>
          <p:cNvPr id="4" name="Oval 3"/>
          <p:cNvSpPr/>
          <p:nvPr/>
        </p:nvSpPr>
        <p:spPr>
          <a:xfrm>
            <a:off x="4526280" y="868680"/>
            <a:ext cx="502920" cy="502920"/>
          </a:xfrm>
          <a:prstGeom prst="ellipse">
            <a:avLst/>
          </a:prstGeom>
          <a:solidFill>
            <a:srgbClr val="35C0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309360" y="640080"/>
            <a:ext cx="4846320" cy="320040"/>
          </a:xfrm>
          <a:prstGeom prst="rect">
            <a:avLst/>
          </a:prstGeom>
          <a:noFill/>
        </p:spPr>
        <p:txBody>
          <a:bodyPr wrap="square" anchor="t" lIns="0" rIns="0" tIns="0" bIns="0">
            <a:spAutoFit/>
          </a:bodyPr>
          <a:lstStyle/>
          <a:p>
            <a:pPr algn="l">
              <a:lnSpc>
                <a:spcPct val="115000"/>
              </a:lnSpc>
            </a:pPr>
            <a:r>
              <a:rPr sz="1150" b="1" i="0">
                <a:solidFill>
                  <a:srgbClr val="9B51B8"/>
                </a:solidFill>
                <a:latin typeface="Arial"/>
              </a:rPr>
              <a:t>KEY IDEA 1 / 3</a:t>
            </a:r>
          </a:p>
        </p:txBody>
      </p:sp>
      <p:sp>
        <p:nvSpPr>
          <p:cNvPr id="6" name="TextBox 5"/>
          <p:cNvSpPr txBox="1"/>
          <p:nvPr/>
        </p:nvSpPr>
        <p:spPr>
          <a:xfrm>
            <a:off x="6309360" y="1005840"/>
            <a:ext cx="4846320" cy="1280160"/>
          </a:xfrm>
          <a:prstGeom prst="rect">
            <a:avLst/>
          </a:prstGeom>
          <a:noFill/>
        </p:spPr>
        <p:txBody>
          <a:bodyPr wrap="square" anchor="t" lIns="0" rIns="0" tIns="0" bIns="0">
            <a:spAutoFit/>
          </a:bodyPr>
          <a:lstStyle/>
          <a:p>
            <a:pPr algn="l">
              <a:lnSpc>
                <a:spcPct val="105000"/>
              </a:lnSpc>
            </a:pPr>
            <a:r>
              <a:rPr sz="2500" b="1" i="0">
                <a:solidFill>
                  <a:srgbClr val="221F33"/>
                </a:solidFill>
                <a:latin typeface="Arial Rounded MT Bold"/>
              </a:rPr>
              <a:t>Architectural Decentralization</a:t>
            </a:r>
          </a:p>
        </p:txBody>
      </p:sp>
      <p:sp>
        <p:nvSpPr>
          <p:cNvPr id="7" name="TextBox 6"/>
          <p:cNvSpPr txBox="1"/>
          <p:nvPr/>
        </p:nvSpPr>
        <p:spPr>
          <a:xfrm>
            <a:off x="6309360" y="2148840"/>
            <a:ext cx="4846320" cy="2377440"/>
          </a:xfrm>
          <a:prstGeom prst="rect">
            <a:avLst/>
          </a:prstGeom>
          <a:noFill/>
        </p:spPr>
        <p:txBody>
          <a:bodyPr wrap="square" anchor="t" lIns="0" rIns="0" tIns="0" bIns="0">
            <a:spAutoFit/>
          </a:bodyPr>
          <a:lstStyle/>
          <a:p>
            <a:pPr algn="l">
              <a:lnSpc>
                <a:spcPct val="142000"/>
              </a:lnSpc>
            </a:pPr>
            <a:r>
              <a:rPr sz="1250" b="0" i="0">
                <a:solidFill>
                  <a:srgbClr val="8B8899"/>
                </a:solidFill>
                <a:latin typeface="Arial"/>
              </a:rPr>
              <a:t>How many physical computers make up the system, and how many could fail before it breaks? Ethereum: thousands of independent nodes; losing a large fraction changes nothing.</a:t>
            </a:r>
          </a:p>
        </p:txBody>
      </p:sp>
      <p:sp>
        <p:nvSpPr>
          <p:cNvPr id="8" name="Freeform 7"/>
          <p:cNvSpPr/>
          <p:nvPr/>
        </p:nvSpPr>
        <p:spPr>
          <a:xfrm>
            <a:off x="10744591" y="502920"/>
            <a:ext cx="776751" cy="1051560"/>
          </a:xfrm>
          <a:custGeom>
            <a:avLst/>
            <a:gdLst/>
            <a:ahLst/>
            <a:cxnLst/>
            <a:rect l="l" t="t" r="r" b="b"/>
            <a:pathLst>
              <a:path w="776751" h="1051560">
                <a:moveTo>
                  <a:pt x="388229" y="0"/>
                </a:moveTo>
                <a:lnTo>
                  <a:pt x="499995" y="37555"/>
                </a:lnTo>
                <a:lnTo>
                  <a:pt x="602318" y="75111"/>
                </a:lnTo>
                <a:lnTo>
                  <a:pt x="686551" y="112667"/>
                </a:lnTo>
                <a:lnTo>
                  <a:pt x="745575" y="150222"/>
                </a:lnTo>
                <a:lnTo>
                  <a:pt x="774405" y="187778"/>
                </a:lnTo>
                <a:lnTo>
                  <a:pt x="770603" y="225334"/>
                </a:lnTo>
                <a:lnTo>
                  <a:pt x="734491" y="262890"/>
                </a:lnTo>
                <a:lnTo>
                  <a:pt x="669121" y="300445"/>
                </a:lnTo>
                <a:lnTo>
                  <a:pt x="580016" y="338001"/>
                </a:lnTo>
                <a:lnTo>
                  <a:pt x="474705" y="375557"/>
                </a:lnTo>
                <a:lnTo>
                  <a:pt x="362086" y="413112"/>
                </a:lnTo>
                <a:lnTo>
                  <a:pt x="251677" y="450668"/>
                </a:lnTo>
                <a:lnTo>
                  <a:pt x="152806" y="488224"/>
                </a:lnTo>
                <a:lnTo>
                  <a:pt x="73828" y="525780"/>
                </a:lnTo>
                <a:lnTo>
                  <a:pt x="21417" y="563335"/>
                </a:lnTo>
                <a:lnTo>
                  <a:pt x="0" y="600891"/>
                </a:lnTo>
                <a:lnTo>
                  <a:pt x="11388" y="638447"/>
                </a:lnTo>
                <a:lnTo>
                  <a:pt x="54618" y="676002"/>
                </a:lnTo>
                <a:lnTo>
                  <a:pt x="126038" y="713558"/>
                </a:lnTo>
                <a:lnTo>
                  <a:pt x="219613" y="751114"/>
                </a:lnTo>
                <a:lnTo>
                  <a:pt x="327435" y="788670"/>
                </a:lnTo>
                <a:lnTo>
                  <a:pt x="440394" y="826225"/>
                </a:lnTo>
                <a:lnTo>
                  <a:pt x="548946" y="863781"/>
                </a:lnTo>
                <a:lnTo>
                  <a:pt x="643917" y="901337"/>
                </a:lnTo>
                <a:lnTo>
                  <a:pt x="717282" y="938892"/>
                </a:lnTo>
                <a:lnTo>
                  <a:pt x="762844" y="976448"/>
                </a:lnTo>
                <a:lnTo>
                  <a:pt x="776751" y="1014004"/>
                </a:lnTo>
                <a:lnTo>
                  <a:pt x="757828" y="1051560"/>
                </a:lnTo>
              </a:path>
            </a:pathLst>
          </a:custGeom>
          <a:noFill/>
          <a:ln w="68580" cap="rnd">
            <a:solidFill>
              <a:srgbClr val="FDC6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018520" y="6492240"/>
            <a:ext cx="960120" cy="274320"/>
          </a:xfrm>
          <a:prstGeom prst="rect">
            <a:avLst/>
          </a:prstGeom>
          <a:noFill/>
        </p:spPr>
        <p:txBody>
          <a:bodyPr wrap="square" anchor="t" lIns="0" rIns="0" tIns="0" bIns="0">
            <a:spAutoFit/>
          </a:bodyPr>
          <a:lstStyle/>
          <a:p>
            <a:pPr algn="r">
              <a:lnSpc>
                <a:spcPct val="115000"/>
              </a:lnSpc>
            </a:pPr>
            <a:r>
              <a:rPr sz="1000" b="1" i="0">
                <a:solidFill>
                  <a:srgbClr val="8B8899"/>
                </a:solidFill>
                <a:latin typeface="Courier New"/>
              </a:rPr>
              <a:t>09/22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_c_sp6_notice1.jpg"/>
          <p:cNvPicPr>
            <a:picLocks noChangeAspect="1"/>
          </p:cNvPicPr>
          <p:nvPr/>
        </p:nvPicPr>
        <p:blipFill>
          <a:blip r:embed="rId2"/>
          <a:stretch>
            <a:fillRect/>
          </a:stretch>
        </p:blipFill>
        <p:spPr>
          <a:xfrm>
            <a:off x="6949440" y="1234440"/>
            <a:ext cx="4572000" cy="4297680"/>
          </a:xfrm>
          <a:prstGeom prst="rect">
            <a:avLst/>
          </a:prstGeom>
        </p:spPr>
      </p:pic>
      <p:sp>
        <p:nvSpPr>
          <p:cNvPr id="4" name="Oval 3"/>
          <p:cNvSpPr/>
          <p:nvPr/>
        </p:nvSpPr>
        <p:spPr>
          <a:xfrm>
            <a:off x="10789920" y="868680"/>
            <a:ext cx="502920" cy="502920"/>
          </a:xfrm>
          <a:prstGeom prst="ellipse">
            <a:avLst/>
          </a:prstGeom>
          <a:solidFill>
            <a:srgbClr val="35C0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640080"/>
            <a:ext cx="4846320" cy="320040"/>
          </a:xfrm>
          <a:prstGeom prst="rect">
            <a:avLst/>
          </a:prstGeom>
          <a:noFill/>
        </p:spPr>
        <p:txBody>
          <a:bodyPr wrap="square" anchor="t" lIns="0" rIns="0" tIns="0" bIns="0">
            <a:spAutoFit/>
          </a:bodyPr>
          <a:lstStyle/>
          <a:p>
            <a:pPr algn="l">
              <a:lnSpc>
                <a:spcPct val="115000"/>
              </a:lnSpc>
            </a:pPr>
            <a:r>
              <a:rPr sz="1150" b="1" i="0">
                <a:solidFill>
                  <a:srgbClr val="9B51B8"/>
                </a:solidFill>
                <a:latin typeface="Arial"/>
              </a:rPr>
              <a:t>KEY IDEA 2 / 3</a:t>
            </a:r>
          </a:p>
        </p:txBody>
      </p:sp>
      <p:sp>
        <p:nvSpPr>
          <p:cNvPr id="6" name="TextBox 5"/>
          <p:cNvSpPr txBox="1"/>
          <p:nvPr/>
        </p:nvSpPr>
        <p:spPr>
          <a:xfrm>
            <a:off x="685800" y="1005840"/>
            <a:ext cx="4846320" cy="1280160"/>
          </a:xfrm>
          <a:prstGeom prst="rect">
            <a:avLst/>
          </a:prstGeom>
          <a:noFill/>
        </p:spPr>
        <p:txBody>
          <a:bodyPr wrap="square" anchor="t" lIns="0" rIns="0" tIns="0" bIns="0">
            <a:spAutoFit/>
          </a:bodyPr>
          <a:lstStyle/>
          <a:p>
            <a:pPr algn="l">
              <a:lnSpc>
                <a:spcPct val="105000"/>
              </a:lnSpc>
            </a:pPr>
            <a:r>
              <a:rPr sz="2500" b="1" i="0">
                <a:solidFill>
                  <a:srgbClr val="221F33"/>
                </a:solidFill>
                <a:latin typeface="Arial Rounded MT Bold"/>
              </a:rPr>
              <a:t>Political Decentralization</a:t>
            </a:r>
          </a:p>
        </p:txBody>
      </p:sp>
      <p:sp>
        <p:nvSpPr>
          <p:cNvPr id="7" name="TextBox 6"/>
          <p:cNvSpPr txBox="1"/>
          <p:nvPr/>
        </p:nvSpPr>
        <p:spPr>
          <a:xfrm>
            <a:off x="685800" y="2148840"/>
            <a:ext cx="4846320" cy="2377440"/>
          </a:xfrm>
          <a:prstGeom prst="rect">
            <a:avLst/>
          </a:prstGeom>
          <a:noFill/>
        </p:spPr>
        <p:txBody>
          <a:bodyPr wrap="square" anchor="t" lIns="0" rIns="0" tIns="0" bIns="0">
            <a:spAutoFit/>
          </a:bodyPr>
          <a:lstStyle/>
          <a:p>
            <a:pPr algn="l">
              <a:lnSpc>
                <a:spcPct val="142000"/>
              </a:lnSpc>
            </a:pPr>
            <a:r>
              <a:rPr sz="1250" b="0" i="0">
                <a:solidFill>
                  <a:srgbClr val="8B8899"/>
                </a:solidFill>
                <a:latin typeface="Arial"/>
              </a:rPr>
              <a:t>How many individuals or organizations ultimately control those computers? A handful of mining pools or staking operators controlling the majority is a much smaller number than the raw node count suggests.</a:t>
            </a:r>
          </a:p>
        </p:txBody>
      </p:sp>
      <p:sp>
        <p:nvSpPr>
          <p:cNvPr id="8" name="Freeform 7"/>
          <p:cNvSpPr/>
          <p:nvPr/>
        </p:nvSpPr>
        <p:spPr>
          <a:xfrm>
            <a:off x="10744591" y="502920"/>
            <a:ext cx="776751" cy="1051560"/>
          </a:xfrm>
          <a:custGeom>
            <a:avLst/>
            <a:gdLst/>
            <a:ahLst/>
            <a:cxnLst/>
            <a:rect l="l" t="t" r="r" b="b"/>
            <a:pathLst>
              <a:path w="776751" h="1051560">
                <a:moveTo>
                  <a:pt x="388229" y="0"/>
                </a:moveTo>
                <a:lnTo>
                  <a:pt x="499995" y="37555"/>
                </a:lnTo>
                <a:lnTo>
                  <a:pt x="602318" y="75111"/>
                </a:lnTo>
                <a:lnTo>
                  <a:pt x="686551" y="112667"/>
                </a:lnTo>
                <a:lnTo>
                  <a:pt x="745575" y="150222"/>
                </a:lnTo>
                <a:lnTo>
                  <a:pt x="774405" y="187778"/>
                </a:lnTo>
                <a:lnTo>
                  <a:pt x="770603" y="225334"/>
                </a:lnTo>
                <a:lnTo>
                  <a:pt x="734491" y="262890"/>
                </a:lnTo>
                <a:lnTo>
                  <a:pt x="669121" y="300445"/>
                </a:lnTo>
                <a:lnTo>
                  <a:pt x="580016" y="338001"/>
                </a:lnTo>
                <a:lnTo>
                  <a:pt x="474705" y="375557"/>
                </a:lnTo>
                <a:lnTo>
                  <a:pt x="362086" y="413112"/>
                </a:lnTo>
                <a:lnTo>
                  <a:pt x="251677" y="450668"/>
                </a:lnTo>
                <a:lnTo>
                  <a:pt x="152806" y="488224"/>
                </a:lnTo>
                <a:lnTo>
                  <a:pt x="73828" y="525780"/>
                </a:lnTo>
                <a:lnTo>
                  <a:pt x="21417" y="563335"/>
                </a:lnTo>
                <a:lnTo>
                  <a:pt x="0" y="600891"/>
                </a:lnTo>
                <a:lnTo>
                  <a:pt x="11388" y="638447"/>
                </a:lnTo>
                <a:lnTo>
                  <a:pt x="54618" y="676002"/>
                </a:lnTo>
                <a:lnTo>
                  <a:pt x="126038" y="713558"/>
                </a:lnTo>
                <a:lnTo>
                  <a:pt x="219613" y="751114"/>
                </a:lnTo>
                <a:lnTo>
                  <a:pt x="327435" y="788670"/>
                </a:lnTo>
                <a:lnTo>
                  <a:pt x="440394" y="826225"/>
                </a:lnTo>
                <a:lnTo>
                  <a:pt x="548946" y="863781"/>
                </a:lnTo>
                <a:lnTo>
                  <a:pt x="643917" y="901337"/>
                </a:lnTo>
                <a:lnTo>
                  <a:pt x="717282" y="938892"/>
                </a:lnTo>
                <a:lnTo>
                  <a:pt x="762844" y="976448"/>
                </a:lnTo>
                <a:lnTo>
                  <a:pt x="776751" y="1014004"/>
                </a:lnTo>
                <a:lnTo>
                  <a:pt x="757828" y="1051560"/>
                </a:lnTo>
              </a:path>
            </a:pathLst>
          </a:custGeom>
          <a:noFill/>
          <a:ln w="68580" cap="rnd">
            <a:solidFill>
              <a:srgbClr val="FDC6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018520" y="6492240"/>
            <a:ext cx="960120" cy="274320"/>
          </a:xfrm>
          <a:prstGeom prst="rect">
            <a:avLst/>
          </a:prstGeom>
          <a:noFill/>
        </p:spPr>
        <p:txBody>
          <a:bodyPr wrap="square" anchor="t" lIns="0" rIns="0" tIns="0" bIns="0">
            <a:spAutoFit/>
          </a:bodyPr>
          <a:lstStyle/>
          <a:p>
            <a:pPr algn="r">
              <a:lnSpc>
                <a:spcPct val="115000"/>
              </a:lnSpc>
            </a:pPr>
            <a:r>
              <a:rPr sz="1000" b="1" i="0">
                <a:solidFill>
                  <a:srgbClr val="8B8899"/>
                </a:solidFill>
                <a:latin typeface="Courier New"/>
              </a:rPr>
              <a:t>10/22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_c_sp7_notice2.jpg"/>
          <p:cNvPicPr>
            <a:picLocks noChangeAspect="1"/>
          </p:cNvPicPr>
          <p:nvPr/>
        </p:nvPicPr>
        <p:blipFill>
          <a:blip r:embed="rId2"/>
          <a:stretch>
            <a:fillRect/>
          </a:stretch>
        </p:blipFill>
        <p:spPr>
          <a:xfrm>
            <a:off x="685800" y="1234440"/>
            <a:ext cx="4572000" cy="4297680"/>
          </a:xfrm>
          <a:prstGeom prst="rect">
            <a:avLst/>
          </a:prstGeom>
        </p:spPr>
      </p:pic>
      <p:sp>
        <p:nvSpPr>
          <p:cNvPr id="4" name="Oval 3"/>
          <p:cNvSpPr/>
          <p:nvPr/>
        </p:nvSpPr>
        <p:spPr>
          <a:xfrm>
            <a:off x="4526280" y="868680"/>
            <a:ext cx="502920" cy="502920"/>
          </a:xfrm>
          <a:prstGeom prst="ellipse">
            <a:avLst/>
          </a:prstGeom>
          <a:solidFill>
            <a:srgbClr val="35C0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309360" y="640080"/>
            <a:ext cx="4846320" cy="320040"/>
          </a:xfrm>
          <a:prstGeom prst="rect">
            <a:avLst/>
          </a:prstGeom>
          <a:noFill/>
        </p:spPr>
        <p:txBody>
          <a:bodyPr wrap="square" anchor="t" lIns="0" rIns="0" tIns="0" bIns="0">
            <a:spAutoFit/>
          </a:bodyPr>
          <a:lstStyle/>
          <a:p>
            <a:pPr algn="l">
              <a:lnSpc>
                <a:spcPct val="115000"/>
              </a:lnSpc>
            </a:pPr>
            <a:r>
              <a:rPr sz="1150" b="1" i="0">
                <a:solidFill>
                  <a:srgbClr val="9B51B8"/>
                </a:solidFill>
                <a:latin typeface="Arial"/>
              </a:rPr>
              <a:t>KEY IDEA 3 / 3</a:t>
            </a:r>
          </a:p>
        </p:txBody>
      </p:sp>
      <p:sp>
        <p:nvSpPr>
          <p:cNvPr id="6" name="TextBox 5"/>
          <p:cNvSpPr txBox="1"/>
          <p:nvPr/>
        </p:nvSpPr>
        <p:spPr>
          <a:xfrm>
            <a:off x="6309360" y="1005840"/>
            <a:ext cx="4846320" cy="1280160"/>
          </a:xfrm>
          <a:prstGeom prst="rect">
            <a:avLst/>
          </a:prstGeom>
          <a:noFill/>
        </p:spPr>
        <p:txBody>
          <a:bodyPr wrap="square" anchor="t" lIns="0" rIns="0" tIns="0" bIns="0">
            <a:spAutoFit/>
          </a:bodyPr>
          <a:lstStyle/>
          <a:p>
            <a:pPr algn="l">
              <a:lnSpc>
                <a:spcPct val="105000"/>
              </a:lnSpc>
            </a:pPr>
            <a:r>
              <a:rPr sz="2500" b="1" i="0">
                <a:solidFill>
                  <a:srgbClr val="221F33"/>
                </a:solidFill>
                <a:latin typeface="Arial Rounded MT Bold"/>
              </a:rPr>
              <a:t>Logical Decentralization</a:t>
            </a:r>
          </a:p>
        </p:txBody>
      </p:sp>
      <p:sp>
        <p:nvSpPr>
          <p:cNvPr id="7" name="TextBox 6"/>
          <p:cNvSpPr txBox="1"/>
          <p:nvPr/>
        </p:nvSpPr>
        <p:spPr>
          <a:xfrm>
            <a:off x="6309360" y="2148840"/>
            <a:ext cx="4846320" cy="2377440"/>
          </a:xfrm>
          <a:prstGeom prst="rect">
            <a:avLst/>
          </a:prstGeom>
          <a:noFill/>
        </p:spPr>
        <p:txBody>
          <a:bodyPr wrap="square" anchor="t" lIns="0" rIns="0" tIns="0" bIns="0">
            <a:spAutoFit/>
          </a:bodyPr>
          <a:lstStyle/>
          <a:p>
            <a:pPr algn="l">
              <a:lnSpc>
                <a:spcPct val="142000"/>
              </a:lnSpc>
            </a:pPr>
            <a:r>
              <a:rPr sz="1250" b="0" i="0">
                <a:solidFill>
                  <a:srgbClr val="8B8899"/>
                </a:solidFill>
                <a:latin typeface="Arial"/>
              </a:rPr>
              <a:t>Does the system behave like one unified object, or an amorphous swarm that could keep functioning split in half? Blockchains are logically centralized — one agreed state — even while architecturally and politically decentralized.</a:t>
            </a:r>
          </a:p>
        </p:txBody>
      </p:sp>
      <p:sp>
        <p:nvSpPr>
          <p:cNvPr id="8" name="Freeform 7"/>
          <p:cNvSpPr/>
          <p:nvPr/>
        </p:nvSpPr>
        <p:spPr>
          <a:xfrm>
            <a:off x="10744591" y="502920"/>
            <a:ext cx="776751" cy="1051560"/>
          </a:xfrm>
          <a:custGeom>
            <a:avLst/>
            <a:gdLst/>
            <a:ahLst/>
            <a:cxnLst/>
            <a:rect l="l" t="t" r="r" b="b"/>
            <a:pathLst>
              <a:path w="776751" h="1051560">
                <a:moveTo>
                  <a:pt x="388229" y="0"/>
                </a:moveTo>
                <a:lnTo>
                  <a:pt x="499995" y="37555"/>
                </a:lnTo>
                <a:lnTo>
                  <a:pt x="602318" y="75111"/>
                </a:lnTo>
                <a:lnTo>
                  <a:pt x="686551" y="112667"/>
                </a:lnTo>
                <a:lnTo>
                  <a:pt x="745575" y="150222"/>
                </a:lnTo>
                <a:lnTo>
                  <a:pt x="774405" y="187778"/>
                </a:lnTo>
                <a:lnTo>
                  <a:pt x="770603" y="225334"/>
                </a:lnTo>
                <a:lnTo>
                  <a:pt x="734491" y="262890"/>
                </a:lnTo>
                <a:lnTo>
                  <a:pt x="669121" y="300445"/>
                </a:lnTo>
                <a:lnTo>
                  <a:pt x="580016" y="338001"/>
                </a:lnTo>
                <a:lnTo>
                  <a:pt x="474705" y="375557"/>
                </a:lnTo>
                <a:lnTo>
                  <a:pt x="362086" y="413112"/>
                </a:lnTo>
                <a:lnTo>
                  <a:pt x="251677" y="450668"/>
                </a:lnTo>
                <a:lnTo>
                  <a:pt x="152806" y="488224"/>
                </a:lnTo>
                <a:lnTo>
                  <a:pt x="73828" y="525780"/>
                </a:lnTo>
                <a:lnTo>
                  <a:pt x="21417" y="563335"/>
                </a:lnTo>
                <a:lnTo>
                  <a:pt x="0" y="600891"/>
                </a:lnTo>
                <a:lnTo>
                  <a:pt x="11388" y="638447"/>
                </a:lnTo>
                <a:lnTo>
                  <a:pt x="54618" y="676002"/>
                </a:lnTo>
                <a:lnTo>
                  <a:pt x="126038" y="713558"/>
                </a:lnTo>
                <a:lnTo>
                  <a:pt x="219613" y="751114"/>
                </a:lnTo>
                <a:lnTo>
                  <a:pt x="327435" y="788670"/>
                </a:lnTo>
                <a:lnTo>
                  <a:pt x="440394" y="826225"/>
                </a:lnTo>
                <a:lnTo>
                  <a:pt x="548946" y="863781"/>
                </a:lnTo>
                <a:lnTo>
                  <a:pt x="643917" y="901337"/>
                </a:lnTo>
                <a:lnTo>
                  <a:pt x="717282" y="938892"/>
                </a:lnTo>
                <a:lnTo>
                  <a:pt x="762844" y="976448"/>
                </a:lnTo>
                <a:lnTo>
                  <a:pt x="776751" y="1014004"/>
                </a:lnTo>
                <a:lnTo>
                  <a:pt x="757828" y="1051560"/>
                </a:lnTo>
              </a:path>
            </a:pathLst>
          </a:custGeom>
          <a:noFill/>
          <a:ln w="68580" cap="rnd">
            <a:solidFill>
              <a:srgbClr val="FDC6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018520" y="6492240"/>
            <a:ext cx="960120" cy="274320"/>
          </a:xfrm>
          <a:prstGeom prst="rect">
            <a:avLst/>
          </a:prstGeom>
          <a:noFill/>
        </p:spPr>
        <p:txBody>
          <a:bodyPr wrap="square" anchor="t" lIns="0" rIns="0" tIns="0" bIns="0">
            <a:spAutoFit/>
          </a:bodyPr>
          <a:lstStyle/>
          <a:p>
            <a:pPr algn="r">
              <a:lnSpc>
                <a:spcPct val="115000"/>
              </a:lnSpc>
            </a:pPr>
            <a:r>
              <a:rPr sz="1000" b="1" i="0">
                <a:solidFill>
                  <a:srgbClr val="8B8899"/>
                </a:solidFill>
                <a:latin typeface="Courier New"/>
              </a:rPr>
              <a:t>11/22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7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9700101" y="-457200"/>
            <a:ext cx="2181754" cy="2377440"/>
          </a:xfrm>
          <a:custGeom>
            <a:avLst/>
            <a:gdLst/>
            <a:ahLst/>
            <a:cxnLst/>
            <a:rect l="l" t="t" r="r" b="b"/>
            <a:pathLst>
              <a:path w="2181754" h="2377440">
                <a:moveTo>
                  <a:pt x="1089819" y="0"/>
                </a:moveTo>
                <a:lnTo>
                  <a:pt x="1400676" y="67926"/>
                </a:lnTo>
                <a:lnTo>
                  <a:pt x="1686063" y="135853"/>
                </a:lnTo>
                <a:lnTo>
                  <a:pt x="1922596" y="203780"/>
                </a:lnTo>
                <a:lnTo>
                  <a:pt x="2090894" y="271707"/>
                </a:lnTo>
                <a:lnTo>
                  <a:pt x="2177168" y="339634"/>
                </a:lnTo>
                <a:lnTo>
                  <a:pt x="2174349" y="407561"/>
                </a:lnTo>
                <a:lnTo>
                  <a:pt x="2082667" y="475488"/>
                </a:lnTo>
                <a:lnTo>
                  <a:pt x="1909635" y="543414"/>
                </a:lnTo>
                <a:lnTo>
                  <a:pt x="1669431" y="611341"/>
                </a:lnTo>
                <a:lnTo>
                  <a:pt x="1381735" y="679268"/>
                </a:lnTo>
                <a:lnTo>
                  <a:pt x="1070121" y="747195"/>
                </a:lnTo>
                <a:lnTo>
                  <a:pt x="760121" y="815122"/>
                </a:lnTo>
                <a:lnTo>
                  <a:pt x="477135" y="883049"/>
                </a:lnTo>
                <a:lnTo>
                  <a:pt x="244350" y="950976"/>
                </a:lnTo>
                <a:lnTo>
                  <a:pt x="80839" y="1018902"/>
                </a:lnTo>
                <a:lnTo>
                  <a:pt x="0" y="1086829"/>
                </a:lnTo>
                <a:lnTo>
                  <a:pt x="8457" y="1154756"/>
                </a:lnTo>
                <a:lnTo>
                  <a:pt x="105517" y="1222683"/>
                </a:lnTo>
                <a:lnTo>
                  <a:pt x="283226" y="1290610"/>
                </a:lnTo>
                <a:lnTo>
                  <a:pt x="527024" y="1358537"/>
                </a:lnTo>
                <a:lnTo>
                  <a:pt x="816936" y="1426464"/>
                </a:lnTo>
                <a:lnTo>
                  <a:pt x="1129207" y="1494390"/>
                </a:lnTo>
                <a:lnTo>
                  <a:pt x="1438250" y="1562317"/>
                </a:lnTo>
                <a:lnTo>
                  <a:pt x="1718744" y="1630244"/>
                </a:lnTo>
                <a:lnTo>
                  <a:pt x="1947707" y="1698171"/>
                </a:lnTo>
                <a:lnTo>
                  <a:pt x="2106377" y="1766098"/>
                </a:lnTo>
                <a:lnTo>
                  <a:pt x="2181754" y="1834025"/>
                </a:lnTo>
                <a:lnTo>
                  <a:pt x="2167663" y="1901952"/>
                </a:lnTo>
                <a:lnTo>
                  <a:pt x="2065257" y="1969878"/>
                </a:lnTo>
                <a:lnTo>
                  <a:pt x="1882927" y="2037805"/>
                </a:lnTo>
                <a:lnTo>
                  <a:pt x="1635613" y="2105732"/>
                </a:lnTo>
                <a:lnTo>
                  <a:pt x="1343579" y="2173659"/>
                </a:lnTo>
                <a:lnTo>
                  <a:pt x="1030752" y="2241586"/>
                </a:lnTo>
                <a:lnTo>
                  <a:pt x="722765" y="2309513"/>
                </a:lnTo>
                <a:lnTo>
                  <a:pt x="444853" y="2377440"/>
                </a:lnTo>
              </a:path>
            </a:pathLst>
          </a:custGeom>
          <a:noFill/>
          <a:ln w="146304" cap="rnd">
            <a:solidFill>
              <a:srgbClr val="FDC6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685800" y="731520"/>
            <a:ext cx="777240" cy="777240"/>
          </a:xfrm>
          <a:prstGeom prst="ellipse">
            <a:avLst/>
          </a:prstGeom>
          <a:solidFill>
            <a:srgbClr val="9B51B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3000" b="1">
                <a:solidFill>
                  <a:srgbClr val="FFFFFF"/>
                </a:solidFill>
                <a:latin typeface="Arial Rounded MT Bold"/>
              </a:rPr>
              <a:t>?</a:t>
            </a:r>
          </a:p>
        </p:txBody>
      </p:sp>
      <p:sp>
        <p:nvSpPr>
          <p:cNvPr id="5" name="TextBox 4"/>
          <p:cNvSpPr txBox="1"/>
          <p:nvPr/>
        </p:nvSpPr>
        <p:spPr>
          <a:xfrm>
            <a:off x="1737360" y="868680"/>
            <a:ext cx="8229600" cy="320040"/>
          </a:xfrm>
          <a:prstGeom prst="rect">
            <a:avLst/>
          </a:prstGeom>
          <a:noFill/>
        </p:spPr>
        <p:txBody>
          <a:bodyPr wrap="square" anchor="t" lIns="0" rIns="0" tIns="0" bIns="0">
            <a:spAutoFit/>
          </a:bodyPr>
          <a:lstStyle/>
          <a:p>
            <a:pPr algn="l">
              <a:lnSpc>
                <a:spcPct val="115000"/>
              </a:lnSpc>
            </a:pPr>
            <a:r>
              <a:rPr sz="1150" b="1" i="0">
                <a:solidFill>
                  <a:srgbClr val="FDC646"/>
                </a:solidFill>
                <a:latin typeface="Arial"/>
              </a:rPr>
              <a:t>CHECK YOUR UNDERSTANDING</a:t>
            </a:r>
          </a:p>
        </p:txBody>
      </p:sp>
      <p:sp>
        <p:nvSpPr>
          <p:cNvPr id="6" name="TextBox 5"/>
          <p:cNvSpPr txBox="1"/>
          <p:nvPr/>
        </p:nvSpPr>
        <p:spPr>
          <a:xfrm>
            <a:off x="685800" y="1828800"/>
            <a:ext cx="10607040" cy="1554480"/>
          </a:xfrm>
          <a:prstGeom prst="rect">
            <a:avLst/>
          </a:prstGeom>
          <a:noFill/>
        </p:spPr>
        <p:txBody>
          <a:bodyPr wrap="square" anchor="t" lIns="0" rIns="0" tIns="0" bIns="0">
            <a:spAutoFit/>
          </a:bodyPr>
          <a:lstStyle/>
          <a:p>
            <a:pPr algn="l">
              <a:lnSpc>
                <a:spcPct val="115000"/>
              </a:lnSpc>
            </a:pPr>
            <a:r>
              <a:rPr sz="2700" b="1" i="0">
                <a:solidFill>
                  <a:srgbClr val="FFFFFF"/>
                </a:solidFill>
                <a:latin typeface="Arial Rounded MT Bold"/>
              </a:rPr>
              <a:t>Bitcoin mining has historically been concentrated in a handful of large pools. Does that make Bitcoin “centralized”?</a:t>
            </a:r>
          </a:p>
        </p:txBody>
      </p:sp>
      <p:sp>
        <p:nvSpPr>
          <p:cNvPr id="7" name="Rectangle 6"/>
          <p:cNvSpPr/>
          <p:nvPr/>
        </p:nvSpPr>
        <p:spPr>
          <a:xfrm>
            <a:off x="685800" y="3520440"/>
            <a:ext cx="2011680" cy="41148"/>
          </a:xfrm>
          <a:prstGeom prst="rect">
            <a:avLst/>
          </a:prstGeom>
          <a:solidFill>
            <a:srgbClr val="FDC6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3886200"/>
            <a:ext cx="1463040" cy="320040"/>
          </a:xfrm>
          <a:prstGeom prst="rect">
            <a:avLst/>
          </a:prstGeom>
          <a:noFill/>
        </p:spPr>
        <p:txBody>
          <a:bodyPr wrap="square" anchor="t" lIns="0" rIns="0" tIns="0" bIns="0">
            <a:spAutoFit/>
          </a:bodyPr>
          <a:lstStyle/>
          <a:p>
            <a:pPr algn="l">
              <a:lnSpc>
                <a:spcPct val="115000"/>
              </a:lnSpc>
            </a:pPr>
            <a:r>
              <a:rPr sz="1100" b="1" i="0">
                <a:solidFill>
                  <a:srgbClr val="FDC646"/>
                </a:solidFill>
                <a:latin typeface="Arial"/>
              </a:rPr>
              <a:t>ANSWER</a:t>
            </a:r>
          </a:p>
        </p:txBody>
      </p:sp>
      <p:sp>
        <p:nvSpPr>
          <p:cNvPr id="9" name="TextBox 8"/>
          <p:cNvSpPr txBox="1"/>
          <p:nvPr/>
        </p:nvSpPr>
        <p:spPr>
          <a:xfrm>
            <a:off x="685800" y="4297680"/>
            <a:ext cx="10241280" cy="2011680"/>
          </a:xfrm>
          <a:prstGeom prst="rect">
            <a:avLst/>
          </a:prstGeom>
          <a:noFill/>
        </p:spPr>
        <p:txBody>
          <a:bodyPr wrap="square" anchor="t" lIns="0" rIns="0" tIns="0" bIns="0">
            <a:spAutoFit/>
          </a:bodyPr>
          <a:lstStyle/>
          <a:p>
            <a:pPr algn="l">
              <a:lnSpc>
                <a:spcPct val="150000"/>
              </a:lnSpc>
            </a:pPr>
            <a:r>
              <a:rPr sz="1500" b="0" i="0">
                <a:solidFill>
                  <a:srgbClr val="E3E0F7"/>
                </a:solidFill>
                <a:latin typeface="Arial"/>
              </a:rPr>
              <a:t>Not architecturally — thousands of independent nodes still verify the chain, and anyone can run one. But it can mean Bitcoin is, at times, less politically decentralized than the raw node count suggests, since a small number of pool operators control an outsized share of block-production decisions. Both statements can be true at once.</a:t>
            </a:r>
          </a:p>
        </p:txBody>
      </p:sp>
      <p:sp>
        <p:nvSpPr>
          <p:cNvPr id="10" name="TextBox 9"/>
          <p:cNvSpPr txBox="1"/>
          <p:nvPr/>
        </p:nvSpPr>
        <p:spPr>
          <a:xfrm>
            <a:off x="11018520" y="6492240"/>
            <a:ext cx="960120" cy="274320"/>
          </a:xfrm>
          <a:prstGeom prst="rect">
            <a:avLst/>
          </a:prstGeom>
          <a:noFill/>
        </p:spPr>
        <p:txBody>
          <a:bodyPr wrap="square" anchor="t" lIns="0" rIns="0" tIns="0" bIns="0">
            <a:spAutoFit/>
          </a:bodyPr>
          <a:lstStyle/>
          <a:p>
            <a:pPr algn="r">
              <a:lnSpc>
                <a:spcPct val="115000"/>
              </a:lnSpc>
            </a:pPr>
            <a:r>
              <a:rPr sz="1000" b="1" i="0">
                <a:solidFill>
                  <a:srgbClr val="9A9FB8"/>
                </a:solidFill>
                <a:latin typeface="Courier New"/>
              </a:rPr>
              <a:t>12/22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_c_sp9_key0.jpg"/>
          <p:cNvPicPr>
            <a:picLocks noChangeAspect="1"/>
          </p:cNvPicPr>
          <p:nvPr/>
        </p:nvPicPr>
        <p:blipFill>
          <a:blip r:embed="rId2"/>
          <a:stretch>
            <a:fillRect/>
          </a:stretch>
        </p:blipFill>
        <p:spPr>
          <a:xfrm>
            <a:off x="685800" y="1234440"/>
            <a:ext cx="4572000" cy="4297680"/>
          </a:xfrm>
          <a:prstGeom prst="rect">
            <a:avLst/>
          </a:prstGeom>
        </p:spPr>
      </p:pic>
      <p:sp>
        <p:nvSpPr>
          <p:cNvPr id="4" name="Oval 3"/>
          <p:cNvSpPr/>
          <p:nvPr/>
        </p:nvSpPr>
        <p:spPr>
          <a:xfrm>
            <a:off x="4526280" y="868680"/>
            <a:ext cx="502920" cy="502920"/>
          </a:xfrm>
          <a:prstGeom prst="ellipse">
            <a:avLst/>
          </a:prstGeom>
          <a:solidFill>
            <a:srgbClr val="35C0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309360" y="640080"/>
            <a:ext cx="4846320" cy="320040"/>
          </a:xfrm>
          <a:prstGeom prst="rect">
            <a:avLst/>
          </a:prstGeom>
          <a:noFill/>
        </p:spPr>
        <p:txBody>
          <a:bodyPr wrap="square" anchor="t" lIns="0" rIns="0" tIns="0" bIns="0">
            <a:spAutoFit/>
          </a:bodyPr>
          <a:lstStyle/>
          <a:p>
            <a:pPr algn="l">
              <a:lnSpc>
                <a:spcPct val="115000"/>
              </a:lnSpc>
            </a:pPr>
            <a:r>
              <a:rPr sz="1150" b="1" i="0">
                <a:solidFill>
                  <a:srgbClr val="9B51B8"/>
                </a:solidFill>
                <a:latin typeface="Arial"/>
              </a:rPr>
              <a:t>CONNECT IT</a:t>
            </a:r>
          </a:p>
        </p:txBody>
      </p:sp>
      <p:sp>
        <p:nvSpPr>
          <p:cNvPr id="6" name="TextBox 5"/>
          <p:cNvSpPr txBox="1"/>
          <p:nvPr/>
        </p:nvSpPr>
        <p:spPr>
          <a:xfrm>
            <a:off x="6309360" y="1005840"/>
            <a:ext cx="4846320" cy="1280160"/>
          </a:xfrm>
          <a:prstGeom prst="rect">
            <a:avLst/>
          </a:prstGeom>
          <a:noFill/>
        </p:spPr>
        <p:txBody>
          <a:bodyPr wrap="square" anchor="t" lIns="0" rIns="0" tIns="0" bIns="0">
            <a:spAutoFit/>
          </a:bodyPr>
          <a:lstStyle/>
          <a:p>
            <a:pPr algn="l">
              <a:lnSpc>
                <a:spcPct val="105000"/>
              </a:lnSpc>
            </a:pPr>
            <a:r>
              <a:rPr sz="2500" b="1" i="0">
                <a:solidFill>
                  <a:srgbClr val="221F33"/>
                </a:solidFill>
                <a:latin typeface="Arial Rounded MT Bold"/>
              </a:rPr>
              <a:t>Forms Of Decentralization In Practice</a:t>
            </a:r>
          </a:p>
        </p:txBody>
      </p:sp>
      <p:sp>
        <p:nvSpPr>
          <p:cNvPr id="7" name="TextBox 6"/>
          <p:cNvSpPr txBox="1"/>
          <p:nvPr/>
        </p:nvSpPr>
        <p:spPr>
          <a:xfrm>
            <a:off x="6309360" y="2148840"/>
            <a:ext cx="4846320" cy="2377440"/>
          </a:xfrm>
          <a:prstGeom prst="rect">
            <a:avLst/>
          </a:prstGeom>
          <a:noFill/>
        </p:spPr>
        <p:txBody>
          <a:bodyPr wrap="square" anchor="t" lIns="0" rIns="0" tIns="0" bIns="0">
            <a:spAutoFit/>
          </a:bodyPr>
          <a:lstStyle/>
          <a:p>
            <a:pPr algn="l">
              <a:lnSpc>
                <a:spcPct val="142000"/>
              </a:lnSpc>
            </a:pPr>
            <a:r>
              <a:rPr sz="1250" b="0" i="0">
                <a:solidFill>
                  <a:srgbClr val="8B8899"/>
                </a:solidFill>
                <a:latin typeface="Arial"/>
              </a:rPr>
              <a:t>Once you have this vocabulary, you can spot the same idea applied differently: DeFi (lending/trading without a bank as the central party), decentralized storage like IPFS (files addressed by content hash — a callback to Week 1), decentralized identity, and DAOs — significant enough to be next topic's entire focus.</a:t>
            </a:r>
          </a:p>
        </p:txBody>
      </p:sp>
      <p:sp>
        <p:nvSpPr>
          <p:cNvPr id="8" name="Freeform 7"/>
          <p:cNvSpPr/>
          <p:nvPr/>
        </p:nvSpPr>
        <p:spPr>
          <a:xfrm>
            <a:off x="10744591" y="502920"/>
            <a:ext cx="776751" cy="1051560"/>
          </a:xfrm>
          <a:custGeom>
            <a:avLst/>
            <a:gdLst/>
            <a:ahLst/>
            <a:cxnLst/>
            <a:rect l="l" t="t" r="r" b="b"/>
            <a:pathLst>
              <a:path w="776751" h="1051560">
                <a:moveTo>
                  <a:pt x="388229" y="0"/>
                </a:moveTo>
                <a:lnTo>
                  <a:pt x="499995" y="37555"/>
                </a:lnTo>
                <a:lnTo>
                  <a:pt x="602318" y="75111"/>
                </a:lnTo>
                <a:lnTo>
                  <a:pt x="686551" y="112667"/>
                </a:lnTo>
                <a:lnTo>
                  <a:pt x="745575" y="150222"/>
                </a:lnTo>
                <a:lnTo>
                  <a:pt x="774405" y="187778"/>
                </a:lnTo>
                <a:lnTo>
                  <a:pt x="770603" y="225334"/>
                </a:lnTo>
                <a:lnTo>
                  <a:pt x="734491" y="262890"/>
                </a:lnTo>
                <a:lnTo>
                  <a:pt x="669121" y="300445"/>
                </a:lnTo>
                <a:lnTo>
                  <a:pt x="580016" y="338001"/>
                </a:lnTo>
                <a:lnTo>
                  <a:pt x="474705" y="375557"/>
                </a:lnTo>
                <a:lnTo>
                  <a:pt x="362086" y="413112"/>
                </a:lnTo>
                <a:lnTo>
                  <a:pt x="251677" y="450668"/>
                </a:lnTo>
                <a:lnTo>
                  <a:pt x="152806" y="488224"/>
                </a:lnTo>
                <a:lnTo>
                  <a:pt x="73828" y="525780"/>
                </a:lnTo>
                <a:lnTo>
                  <a:pt x="21417" y="563335"/>
                </a:lnTo>
                <a:lnTo>
                  <a:pt x="0" y="600891"/>
                </a:lnTo>
                <a:lnTo>
                  <a:pt x="11388" y="638447"/>
                </a:lnTo>
                <a:lnTo>
                  <a:pt x="54618" y="676002"/>
                </a:lnTo>
                <a:lnTo>
                  <a:pt x="126038" y="713558"/>
                </a:lnTo>
                <a:lnTo>
                  <a:pt x="219613" y="751114"/>
                </a:lnTo>
                <a:lnTo>
                  <a:pt x="327435" y="788670"/>
                </a:lnTo>
                <a:lnTo>
                  <a:pt x="440394" y="826225"/>
                </a:lnTo>
                <a:lnTo>
                  <a:pt x="548946" y="863781"/>
                </a:lnTo>
                <a:lnTo>
                  <a:pt x="643917" y="901337"/>
                </a:lnTo>
                <a:lnTo>
                  <a:pt x="717282" y="938892"/>
                </a:lnTo>
                <a:lnTo>
                  <a:pt x="762844" y="976448"/>
                </a:lnTo>
                <a:lnTo>
                  <a:pt x="776751" y="1014004"/>
                </a:lnTo>
                <a:lnTo>
                  <a:pt x="757828" y="1051560"/>
                </a:lnTo>
              </a:path>
            </a:pathLst>
          </a:custGeom>
          <a:noFill/>
          <a:ln w="68580" cap="rnd">
            <a:solidFill>
              <a:srgbClr val="FDC6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018520" y="6492240"/>
            <a:ext cx="960120" cy="274320"/>
          </a:xfrm>
          <a:prstGeom prst="rect">
            <a:avLst/>
          </a:prstGeom>
          <a:noFill/>
        </p:spPr>
        <p:txBody>
          <a:bodyPr wrap="square" anchor="t" lIns="0" rIns="0" tIns="0" bIns="0">
            <a:spAutoFit/>
          </a:bodyPr>
          <a:lstStyle/>
          <a:p>
            <a:pPr algn="r">
              <a:lnSpc>
                <a:spcPct val="115000"/>
              </a:lnSpc>
            </a:pPr>
            <a:r>
              <a:rPr sz="1000" b="1" i="0">
                <a:solidFill>
                  <a:srgbClr val="8B8899"/>
                </a:solidFill>
                <a:latin typeface="Courier New"/>
              </a:rPr>
              <a:t>13/22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48640"/>
            <a:ext cx="8229600" cy="320040"/>
          </a:xfrm>
          <a:prstGeom prst="rect">
            <a:avLst/>
          </a:prstGeom>
          <a:noFill/>
        </p:spPr>
        <p:txBody>
          <a:bodyPr wrap="square" anchor="t" lIns="0" rIns="0" tIns="0" bIns="0">
            <a:spAutoFit/>
          </a:bodyPr>
          <a:lstStyle/>
          <a:p>
            <a:pPr algn="l">
              <a:lnSpc>
                <a:spcPct val="115000"/>
              </a:lnSpc>
            </a:pPr>
            <a:r>
              <a:rPr sz="1150" b="1" i="0">
                <a:solidFill>
                  <a:srgbClr val="9B51B8"/>
                </a:solidFill>
                <a:latin typeface="Arial"/>
              </a:rPr>
              <a:t>FLAGSHIP CASE STUDY</a:t>
            </a:r>
          </a:p>
        </p:txBody>
      </p:sp>
      <p:sp>
        <p:nvSpPr>
          <p:cNvPr id="4" name="TextBox 3"/>
          <p:cNvSpPr txBox="1"/>
          <p:nvPr/>
        </p:nvSpPr>
        <p:spPr>
          <a:xfrm>
            <a:off x="685800" y="1005840"/>
            <a:ext cx="10515600" cy="822960"/>
          </a:xfrm>
          <a:prstGeom prst="rect">
            <a:avLst/>
          </a:prstGeom>
          <a:noFill/>
        </p:spPr>
        <p:txBody>
          <a:bodyPr wrap="square" anchor="t" lIns="0" rIns="0" tIns="0" bIns="0">
            <a:spAutoFit/>
          </a:bodyPr>
          <a:lstStyle/>
          <a:p>
            <a:pPr algn="l">
              <a:lnSpc>
                <a:spcPct val="115000"/>
              </a:lnSpc>
            </a:pPr>
            <a:r>
              <a:rPr sz="2800" b="1" i="0">
                <a:solidFill>
                  <a:srgbClr val="221F33"/>
                </a:solidFill>
                <a:latin typeface="Arial Rounded MT Bold"/>
              </a:rPr>
              <a:t>The Genuinely Surprising Result</a:t>
            </a:r>
          </a:p>
        </p:txBody>
      </p:sp>
      <p:sp>
        <p:nvSpPr>
          <p:cNvPr id="5" name="Rounded Rectangle 4"/>
          <p:cNvSpPr/>
          <p:nvPr/>
        </p:nvSpPr>
        <p:spPr>
          <a:xfrm>
            <a:off x="685800" y="2286000"/>
            <a:ext cx="10789920" cy="3931920"/>
          </a:xfrm>
          <a:prstGeom prst="roundRect">
            <a:avLst>
              <a:gd name="adj" fmla="val 4000"/>
            </a:avLst>
          </a:prstGeom>
          <a:solidFill>
            <a:srgbClr val="9B51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43000" y="2606040"/>
            <a:ext cx="9875520" cy="3383280"/>
          </a:xfrm>
          <a:prstGeom prst="rect">
            <a:avLst/>
          </a:prstGeom>
          <a:noFill/>
        </p:spPr>
        <p:txBody>
          <a:bodyPr wrap="square" anchor="t" lIns="0" rIns="0" tIns="0" bIns="0">
            <a:spAutoFit/>
          </a:bodyPr>
          <a:lstStyle/>
          <a:p>
            <a:pPr algn="l">
              <a:lnSpc>
                <a:spcPct val="155000"/>
              </a:lnSpc>
            </a:pPr>
            <a:r>
              <a:rPr sz="1500" b="0" i="0">
                <a:solidFill>
                  <a:srgbClr val="FFFFFF"/>
                </a:solidFill>
                <a:latin typeface="Arial"/>
              </a:rPr>
              <a:t>A blockchain is decentralized in who runs it and who controls it, but centralized in how it behaves — one unified ledger, not many independent ones. That third axis is actually the point: a unified, agreed-upon ledger is what lets a decentralized network avoid the “which copy is real” problem that plagues systems without consensus (Week 1, Topic 04). Buterin's own conclusion: these three axes are largely independent — treating “decentralized” as one yes/no property collapses a real, useful distinction.</a:t>
            </a:r>
          </a:p>
        </p:txBody>
      </p:sp>
      <p:sp>
        <p:nvSpPr>
          <p:cNvPr id="7" name="TextBox 6"/>
          <p:cNvSpPr txBox="1"/>
          <p:nvPr/>
        </p:nvSpPr>
        <p:spPr>
          <a:xfrm>
            <a:off x="11018520" y="6492240"/>
            <a:ext cx="960120" cy="274320"/>
          </a:xfrm>
          <a:prstGeom prst="rect">
            <a:avLst/>
          </a:prstGeom>
          <a:noFill/>
        </p:spPr>
        <p:txBody>
          <a:bodyPr wrap="square" anchor="t" lIns="0" rIns="0" tIns="0" bIns="0">
            <a:spAutoFit/>
          </a:bodyPr>
          <a:lstStyle/>
          <a:p>
            <a:pPr algn="r">
              <a:lnSpc>
                <a:spcPct val="115000"/>
              </a:lnSpc>
            </a:pPr>
            <a:r>
              <a:rPr sz="1000" b="1" i="0">
                <a:solidFill>
                  <a:srgbClr val="8B8899"/>
                </a:solidFill>
                <a:latin typeface="Courier New"/>
              </a:rPr>
              <a:t>14/22</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48640"/>
            <a:ext cx="8229600" cy="320040"/>
          </a:xfrm>
          <a:prstGeom prst="rect">
            <a:avLst/>
          </a:prstGeom>
          <a:noFill/>
        </p:spPr>
        <p:txBody>
          <a:bodyPr wrap="square" anchor="t" lIns="0" rIns="0" tIns="0" bIns="0">
            <a:spAutoFit/>
          </a:bodyPr>
          <a:lstStyle/>
          <a:p>
            <a:pPr algn="l">
              <a:lnSpc>
                <a:spcPct val="115000"/>
              </a:lnSpc>
            </a:pPr>
            <a:r>
              <a:rPr sz="1150" b="1" i="0">
                <a:solidFill>
                  <a:srgbClr val="8B8899"/>
                </a:solidFill>
                <a:latin typeface="Arial"/>
              </a:rPr>
              <a:t>REAL-WORLD USES</a:t>
            </a:r>
          </a:p>
        </p:txBody>
      </p:sp>
      <p:sp>
        <p:nvSpPr>
          <p:cNvPr id="4" name="TextBox 3"/>
          <p:cNvSpPr txBox="1"/>
          <p:nvPr/>
        </p:nvSpPr>
        <p:spPr>
          <a:xfrm>
            <a:off x="685800" y="914400"/>
            <a:ext cx="4297680" cy="1463040"/>
          </a:xfrm>
          <a:prstGeom prst="rect">
            <a:avLst/>
          </a:prstGeom>
          <a:noFill/>
        </p:spPr>
        <p:txBody>
          <a:bodyPr wrap="square" anchor="t" lIns="0" rIns="0" tIns="0" bIns="0">
            <a:spAutoFit/>
          </a:bodyPr>
          <a:lstStyle/>
          <a:p>
            <a:pPr algn="l">
              <a:lnSpc>
                <a:spcPct val="105000"/>
              </a:lnSpc>
            </a:pPr>
            <a:r>
              <a:rPr sz="2700" b="1" i="0">
                <a:solidFill>
                  <a:srgbClr val="221F33"/>
                </a:solidFill>
                <a:latin typeface="Arial Rounded MT Bold"/>
              </a:rPr>
              <a:t>Where This Shows Up</a:t>
            </a:r>
          </a:p>
        </p:txBody>
      </p:sp>
      <p:sp>
        <p:nvSpPr>
          <p:cNvPr id="5" name="TextBox 4"/>
          <p:cNvSpPr txBox="1"/>
          <p:nvPr/>
        </p:nvSpPr>
        <p:spPr>
          <a:xfrm>
            <a:off x="685800" y="2468880"/>
            <a:ext cx="4023360" cy="2286000"/>
          </a:xfrm>
          <a:prstGeom prst="rect">
            <a:avLst/>
          </a:prstGeom>
          <a:noFill/>
        </p:spPr>
        <p:txBody>
          <a:bodyPr wrap="square" anchor="t" lIns="0" rIns="0" tIns="0" bIns="0">
            <a:spAutoFit/>
          </a:bodyPr>
          <a:lstStyle/>
          <a:p>
            <a:pPr algn="l">
              <a:lnSpc>
                <a:spcPct val="140000"/>
              </a:lnSpc>
            </a:pPr>
            <a:r>
              <a:rPr sz="1200" b="0" i="0">
                <a:solidFill>
                  <a:srgbClr val="8B8899"/>
                </a:solidFill>
                <a:latin typeface="Arial"/>
              </a:rPr>
              <a:t>The same three-axis lens applies far outside blockchain.</a:t>
            </a:r>
          </a:p>
        </p:txBody>
      </p:sp>
      <p:sp>
        <p:nvSpPr>
          <p:cNvPr id="6" name="Oval 5"/>
          <p:cNvSpPr/>
          <p:nvPr/>
        </p:nvSpPr>
        <p:spPr>
          <a:xfrm>
            <a:off x="822960" y="5989320"/>
            <a:ext cx="146304" cy="146304"/>
          </a:xfrm>
          <a:prstGeom prst="ellipse">
            <a:avLst/>
          </a:prstGeom>
          <a:solidFill>
            <a:srgbClr val="FDC6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97280" y="5989320"/>
            <a:ext cx="146304" cy="146304"/>
          </a:xfrm>
          <a:prstGeom prst="ellipse">
            <a:avLst/>
          </a:prstGeom>
          <a:solidFill>
            <a:srgbClr val="FDC6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371600" y="5989320"/>
            <a:ext cx="146304" cy="146304"/>
          </a:xfrm>
          <a:prstGeom prst="ellipse">
            <a:avLst/>
          </a:prstGeom>
          <a:solidFill>
            <a:srgbClr val="FDC6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45920" y="5989320"/>
            <a:ext cx="146304" cy="146304"/>
          </a:xfrm>
          <a:prstGeom prst="ellipse">
            <a:avLst/>
          </a:prstGeom>
          <a:solidFill>
            <a:srgbClr val="FDC6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257800" y="960120"/>
            <a:ext cx="2331720" cy="1783080"/>
          </a:xfrm>
          <a:prstGeom prst="roundRect">
            <a:avLst>
              <a:gd name="adj" fmla="val 10000"/>
            </a:avLst>
          </a:prstGeom>
          <a:solidFill>
            <a:srgbClr val="6C5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5440680" y="1143000"/>
            <a:ext cx="457200" cy="4572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6C5FE8"/>
                </a:solidFill>
              </a:rPr>
              <a:t>☁</a:t>
            </a:r>
          </a:p>
        </p:txBody>
      </p:sp>
      <p:sp>
        <p:nvSpPr>
          <p:cNvPr id="12" name="TextBox 11"/>
          <p:cNvSpPr txBox="1"/>
          <p:nvPr/>
        </p:nvSpPr>
        <p:spPr>
          <a:xfrm>
            <a:off x="5440680" y="1737360"/>
            <a:ext cx="1965960" cy="365760"/>
          </a:xfrm>
          <a:prstGeom prst="rect">
            <a:avLst/>
          </a:prstGeom>
          <a:noFill/>
        </p:spPr>
        <p:txBody>
          <a:bodyPr wrap="square" anchor="t" lIns="0" rIns="0" tIns="0" bIns="0">
            <a:spAutoFit/>
          </a:bodyPr>
          <a:lstStyle/>
          <a:p>
            <a:pPr algn="l">
              <a:lnSpc>
                <a:spcPct val="105000"/>
              </a:lnSpc>
            </a:pPr>
            <a:r>
              <a:rPr sz="1350" b="1" i="0">
                <a:solidFill>
                  <a:srgbClr val="FFFFFF"/>
                </a:solidFill>
                <a:latin typeface="Arial Rounded MT Bold"/>
              </a:rPr>
              <a:t>CDNs</a:t>
            </a:r>
          </a:p>
        </p:txBody>
      </p:sp>
      <p:sp>
        <p:nvSpPr>
          <p:cNvPr id="13" name="TextBox 12"/>
          <p:cNvSpPr txBox="1"/>
          <p:nvPr/>
        </p:nvSpPr>
        <p:spPr>
          <a:xfrm>
            <a:off x="5440680" y="2157984"/>
            <a:ext cx="1965960" cy="448056"/>
          </a:xfrm>
          <a:prstGeom prst="rect">
            <a:avLst/>
          </a:prstGeom>
          <a:noFill/>
        </p:spPr>
        <p:txBody>
          <a:bodyPr wrap="square" anchor="t" lIns="0" rIns="0" tIns="0" bIns="0">
            <a:spAutoFit/>
          </a:bodyPr>
          <a:lstStyle/>
          <a:p>
            <a:pPr algn="l">
              <a:lnSpc>
                <a:spcPct val="120000"/>
              </a:lnSpc>
            </a:pPr>
            <a:r>
              <a:rPr sz="950" b="0" i="0">
                <a:solidFill>
                  <a:srgbClr val="F3F1FC"/>
                </a:solidFill>
                <a:latin typeface="Arial"/>
              </a:rPr>
              <a:t>Architecturally distributed globally, but politically centralized — a handful of companies run most CDN infrastructure.</a:t>
            </a:r>
          </a:p>
        </p:txBody>
      </p:sp>
      <p:sp>
        <p:nvSpPr>
          <p:cNvPr id="14" name="Rounded Rectangle 13"/>
          <p:cNvSpPr/>
          <p:nvPr/>
        </p:nvSpPr>
        <p:spPr>
          <a:xfrm>
            <a:off x="7790688" y="960120"/>
            <a:ext cx="2331720" cy="1783080"/>
          </a:xfrm>
          <a:prstGeom prst="roundRect">
            <a:avLst>
              <a:gd name="adj" fmla="val 10000"/>
            </a:avLst>
          </a:prstGeom>
          <a:solidFill>
            <a:srgbClr val="35C0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7973568" y="1143000"/>
            <a:ext cx="457200" cy="4572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35C078"/>
                </a:solidFill>
              </a:rPr>
              <a:t>✉</a:t>
            </a:r>
          </a:p>
        </p:txBody>
      </p:sp>
      <p:sp>
        <p:nvSpPr>
          <p:cNvPr id="16" name="TextBox 15"/>
          <p:cNvSpPr txBox="1"/>
          <p:nvPr/>
        </p:nvSpPr>
        <p:spPr>
          <a:xfrm>
            <a:off x="7973568" y="1737360"/>
            <a:ext cx="1965960" cy="365760"/>
          </a:xfrm>
          <a:prstGeom prst="rect">
            <a:avLst/>
          </a:prstGeom>
          <a:noFill/>
        </p:spPr>
        <p:txBody>
          <a:bodyPr wrap="square" anchor="t" lIns="0" rIns="0" tIns="0" bIns="0">
            <a:spAutoFit/>
          </a:bodyPr>
          <a:lstStyle/>
          <a:p>
            <a:pPr algn="l">
              <a:lnSpc>
                <a:spcPct val="105000"/>
              </a:lnSpc>
            </a:pPr>
            <a:r>
              <a:rPr sz="1350" b="1" i="0">
                <a:solidFill>
                  <a:srgbClr val="FFFFFF"/>
                </a:solidFill>
                <a:latin typeface="Arial Rounded MT Bold"/>
              </a:rPr>
              <a:t>Email (SMTP)</a:t>
            </a:r>
          </a:p>
        </p:txBody>
      </p:sp>
      <p:sp>
        <p:nvSpPr>
          <p:cNvPr id="17" name="TextBox 16"/>
          <p:cNvSpPr txBox="1"/>
          <p:nvPr/>
        </p:nvSpPr>
        <p:spPr>
          <a:xfrm>
            <a:off x="7973568" y="2157984"/>
            <a:ext cx="1965960" cy="448056"/>
          </a:xfrm>
          <a:prstGeom prst="rect">
            <a:avLst/>
          </a:prstGeom>
          <a:noFill/>
        </p:spPr>
        <p:txBody>
          <a:bodyPr wrap="square" anchor="t" lIns="0" rIns="0" tIns="0" bIns="0">
            <a:spAutoFit/>
          </a:bodyPr>
          <a:lstStyle/>
          <a:p>
            <a:pPr algn="l">
              <a:lnSpc>
                <a:spcPct val="120000"/>
              </a:lnSpc>
            </a:pPr>
            <a:r>
              <a:rPr sz="950" b="0" i="0">
                <a:solidFill>
                  <a:srgbClr val="F3F1FC"/>
                </a:solidFill>
                <a:latin typeface="Arial"/>
              </a:rPr>
              <a:t>Architecturally decentralized by design, politically concentrated in practice.</a:t>
            </a:r>
          </a:p>
        </p:txBody>
      </p:sp>
      <p:sp>
        <p:nvSpPr>
          <p:cNvPr id="18" name="Rounded Rectangle 17"/>
          <p:cNvSpPr/>
          <p:nvPr/>
        </p:nvSpPr>
        <p:spPr>
          <a:xfrm>
            <a:off x="5257800" y="2944368"/>
            <a:ext cx="2331720" cy="1783080"/>
          </a:xfrm>
          <a:prstGeom prst="roundRect">
            <a:avLst>
              <a:gd name="adj" fmla="val 10000"/>
            </a:avLst>
          </a:prstGeom>
          <a:solidFill>
            <a:srgbClr val="F273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5440680" y="3127248"/>
            <a:ext cx="457200" cy="4572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2734B"/>
                </a:solidFill>
              </a:rPr>
              <a:t>🏛</a:t>
            </a:r>
          </a:p>
        </p:txBody>
      </p:sp>
      <p:sp>
        <p:nvSpPr>
          <p:cNvPr id="20" name="TextBox 19"/>
          <p:cNvSpPr txBox="1"/>
          <p:nvPr/>
        </p:nvSpPr>
        <p:spPr>
          <a:xfrm>
            <a:off x="5440680" y="3721608"/>
            <a:ext cx="1965960" cy="365760"/>
          </a:xfrm>
          <a:prstGeom prst="rect">
            <a:avLst/>
          </a:prstGeom>
          <a:noFill/>
        </p:spPr>
        <p:txBody>
          <a:bodyPr wrap="square" anchor="t" lIns="0" rIns="0" tIns="0" bIns="0">
            <a:spAutoFit/>
          </a:bodyPr>
          <a:lstStyle/>
          <a:p>
            <a:pPr algn="l">
              <a:lnSpc>
                <a:spcPct val="105000"/>
              </a:lnSpc>
            </a:pPr>
            <a:r>
              <a:rPr sz="1350" b="1" i="0">
                <a:solidFill>
                  <a:srgbClr val="FFFFFF"/>
                </a:solidFill>
                <a:latin typeface="Arial Rounded MT Bold"/>
              </a:rPr>
              <a:t>DAOs</a:t>
            </a:r>
          </a:p>
        </p:txBody>
      </p:sp>
      <p:sp>
        <p:nvSpPr>
          <p:cNvPr id="21" name="TextBox 20"/>
          <p:cNvSpPr txBox="1"/>
          <p:nvPr/>
        </p:nvSpPr>
        <p:spPr>
          <a:xfrm>
            <a:off x="5440680" y="4142232"/>
            <a:ext cx="1965960" cy="448056"/>
          </a:xfrm>
          <a:prstGeom prst="rect">
            <a:avLst/>
          </a:prstGeom>
          <a:noFill/>
        </p:spPr>
        <p:txBody>
          <a:bodyPr wrap="square" anchor="t" lIns="0" rIns="0" tIns="0" bIns="0">
            <a:spAutoFit/>
          </a:bodyPr>
          <a:lstStyle/>
          <a:p>
            <a:pPr algn="l">
              <a:lnSpc>
                <a:spcPct val="120000"/>
              </a:lnSpc>
            </a:pPr>
            <a:r>
              <a:rPr sz="950" b="0" i="0">
                <a:solidFill>
                  <a:srgbClr val="F3F1FC"/>
                </a:solidFill>
                <a:latin typeface="Arial"/>
              </a:rPr>
              <a:t>Decision-making itself decentralized, not just infrastructure — next topic's full focus.</a:t>
            </a:r>
          </a:p>
        </p:txBody>
      </p:sp>
      <p:sp>
        <p:nvSpPr>
          <p:cNvPr id="22" name="Rounded Rectangle 21"/>
          <p:cNvSpPr/>
          <p:nvPr/>
        </p:nvSpPr>
        <p:spPr>
          <a:xfrm>
            <a:off x="7790688" y="2944368"/>
            <a:ext cx="2331720" cy="1783080"/>
          </a:xfrm>
          <a:prstGeom prst="roundRect">
            <a:avLst>
              <a:gd name="adj" fmla="val 10000"/>
            </a:avLst>
          </a:prstGeom>
          <a:solidFill>
            <a:srgbClr val="FDC6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973568" y="3127248"/>
            <a:ext cx="457200" cy="4572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DC646"/>
                </a:solidFill>
              </a:rPr>
              <a:t>🗂</a:t>
            </a:r>
          </a:p>
        </p:txBody>
      </p:sp>
      <p:sp>
        <p:nvSpPr>
          <p:cNvPr id="24" name="TextBox 23"/>
          <p:cNvSpPr txBox="1"/>
          <p:nvPr/>
        </p:nvSpPr>
        <p:spPr>
          <a:xfrm>
            <a:off x="7973568" y="3721608"/>
            <a:ext cx="1965960" cy="685800"/>
          </a:xfrm>
          <a:prstGeom prst="rect">
            <a:avLst/>
          </a:prstGeom>
          <a:noFill/>
        </p:spPr>
        <p:txBody>
          <a:bodyPr wrap="square" anchor="t" lIns="0" rIns="0" tIns="0" bIns="0">
            <a:spAutoFit/>
          </a:bodyPr>
          <a:lstStyle/>
          <a:p>
            <a:pPr algn="l">
              <a:lnSpc>
                <a:spcPct val="105000"/>
              </a:lnSpc>
            </a:pPr>
            <a:r>
              <a:rPr sz="1150" b="1" i="0">
                <a:solidFill>
                  <a:srgbClr val="FFFFFF"/>
                </a:solidFill>
                <a:latin typeface="Arial Rounded MT Bold"/>
              </a:rPr>
              <a:t>Decentralized Storage</a:t>
            </a:r>
          </a:p>
        </p:txBody>
      </p:sp>
      <p:sp>
        <p:nvSpPr>
          <p:cNvPr id="25" name="TextBox 24"/>
          <p:cNvSpPr txBox="1"/>
          <p:nvPr/>
        </p:nvSpPr>
        <p:spPr>
          <a:xfrm>
            <a:off x="7973568" y="4462272"/>
            <a:ext cx="1965960" cy="128016"/>
          </a:xfrm>
          <a:prstGeom prst="rect">
            <a:avLst/>
          </a:prstGeom>
          <a:noFill/>
        </p:spPr>
        <p:txBody>
          <a:bodyPr wrap="square" anchor="t" lIns="0" rIns="0" tIns="0" bIns="0">
            <a:spAutoFit/>
          </a:bodyPr>
          <a:lstStyle/>
          <a:p>
            <a:pPr algn="l">
              <a:lnSpc>
                <a:spcPct val="120000"/>
              </a:lnSpc>
            </a:pPr>
            <a:r>
              <a:rPr sz="950" b="0" i="0">
                <a:solidFill>
                  <a:srgbClr val="F3F1FC"/>
                </a:solidFill>
                <a:latin typeface="Arial"/>
              </a:rPr>
              <a:t>IPFS/Filecoin — files distributed and addressed by content hash across independent providers.</a:t>
            </a:r>
          </a:p>
        </p:txBody>
      </p:sp>
      <p:sp>
        <p:nvSpPr>
          <p:cNvPr id="26" name="TextBox 25"/>
          <p:cNvSpPr txBox="1"/>
          <p:nvPr/>
        </p:nvSpPr>
        <p:spPr>
          <a:xfrm>
            <a:off x="11018520" y="6492240"/>
            <a:ext cx="960120" cy="274320"/>
          </a:xfrm>
          <a:prstGeom prst="rect">
            <a:avLst/>
          </a:prstGeom>
          <a:noFill/>
        </p:spPr>
        <p:txBody>
          <a:bodyPr wrap="square" anchor="t" lIns="0" rIns="0" tIns="0" bIns="0">
            <a:spAutoFit/>
          </a:bodyPr>
          <a:lstStyle/>
          <a:p>
            <a:pPr algn="r">
              <a:lnSpc>
                <a:spcPct val="115000"/>
              </a:lnSpc>
            </a:pPr>
            <a:r>
              <a:rPr sz="1000" b="1" i="0">
                <a:solidFill>
                  <a:srgbClr val="8B8899"/>
                </a:solidFill>
                <a:latin typeface="Courier New"/>
              </a:rPr>
              <a:t>15/22</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_c_sp5_hook.jpg"/>
          <p:cNvPicPr>
            <a:picLocks noChangeAspect="1"/>
          </p:cNvPicPr>
          <p:nvPr/>
        </p:nvPicPr>
        <p:blipFill>
          <a:blip r:embed="rId2"/>
          <a:stretch>
            <a:fillRect/>
          </a:stretch>
        </p:blipFill>
        <p:spPr>
          <a:xfrm>
            <a:off x="6949440" y="1234440"/>
            <a:ext cx="4572000" cy="4297680"/>
          </a:xfrm>
          <a:prstGeom prst="rect">
            <a:avLst/>
          </a:prstGeom>
        </p:spPr>
      </p:pic>
      <p:sp>
        <p:nvSpPr>
          <p:cNvPr id="4" name="Oval 3"/>
          <p:cNvSpPr/>
          <p:nvPr/>
        </p:nvSpPr>
        <p:spPr>
          <a:xfrm>
            <a:off x="10789920" y="868680"/>
            <a:ext cx="502920" cy="502920"/>
          </a:xfrm>
          <a:prstGeom prst="ellipse">
            <a:avLst/>
          </a:prstGeom>
          <a:solidFill>
            <a:srgbClr val="35C0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640080"/>
            <a:ext cx="4846320" cy="320040"/>
          </a:xfrm>
          <a:prstGeom prst="rect">
            <a:avLst/>
          </a:prstGeom>
          <a:noFill/>
        </p:spPr>
        <p:txBody>
          <a:bodyPr wrap="square" anchor="t" lIns="0" rIns="0" tIns="0" bIns="0">
            <a:spAutoFit/>
          </a:bodyPr>
          <a:lstStyle/>
          <a:p>
            <a:pPr algn="l">
              <a:lnSpc>
                <a:spcPct val="115000"/>
              </a:lnSpc>
            </a:pPr>
            <a:r>
              <a:rPr sz="1150" b="1" i="0">
                <a:solidFill>
                  <a:srgbClr val="9B51B8"/>
                </a:solidFill>
                <a:latin typeface="Arial"/>
              </a:rPr>
              <a:t>REAL-WORLD DEEP-DIVE</a:t>
            </a:r>
          </a:p>
        </p:txBody>
      </p:sp>
      <p:sp>
        <p:nvSpPr>
          <p:cNvPr id="6" name="TextBox 5"/>
          <p:cNvSpPr txBox="1"/>
          <p:nvPr/>
        </p:nvSpPr>
        <p:spPr>
          <a:xfrm>
            <a:off x="685800" y="1005840"/>
            <a:ext cx="4846320" cy="1280160"/>
          </a:xfrm>
          <a:prstGeom prst="rect">
            <a:avLst/>
          </a:prstGeom>
          <a:noFill/>
        </p:spPr>
        <p:txBody>
          <a:bodyPr wrap="square" anchor="t" lIns="0" rIns="0" tIns="0" bIns="0">
            <a:spAutoFit/>
          </a:bodyPr>
          <a:lstStyle/>
          <a:p>
            <a:pPr algn="l">
              <a:lnSpc>
                <a:spcPct val="105000"/>
              </a:lnSpc>
            </a:pPr>
            <a:r>
              <a:rPr sz="2500" b="1" i="0">
                <a:solidFill>
                  <a:srgbClr val="221F33"/>
                </a:solidFill>
                <a:latin typeface="Arial Rounded MT Bold"/>
              </a:rPr>
              <a:t>Applying All Three Axes To One System</a:t>
            </a:r>
          </a:p>
        </p:txBody>
      </p:sp>
      <p:sp>
        <p:nvSpPr>
          <p:cNvPr id="7" name="TextBox 6"/>
          <p:cNvSpPr txBox="1"/>
          <p:nvPr/>
        </p:nvSpPr>
        <p:spPr>
          <a:xfrm>
            <a:off x="685800" y="2148840"/>
            <a:ext cx="4846320" cy="2377440"/>
          </a:xfrm>
          <a:prstGeom prst="rect">
            <a:avLst/>
          </a:prstGeom>
          <a:noFill/>
        </p:spPr>
        <p:txBody>
          <a:bodyPr wrap="square" anchor="t" lIns="0" rIns="0" tIns="0" bIns="0">
            <a:spAutoFit/>
          </a:bodyPr>
          <a:lstStyle/>
          <a:p>
            <a:pPr algn="l">
              <a:lnSpc>
                <a:spcPct val="142000"/>
              </a:lnSpc>
            </a:pPr>
            <a:r>
              <a:rPr sz="1250" b="0" i="0">
                <a:solidFill>
                  <a:srgbClr val="8B8899"/>
                </a:solidFill>
                <a:latin typeface="Arial"/>
              </a:rPr>
              <a:t>Take any blockchain you know and rate it on all three axes with a specific fact, not a vibe: how many nodes, and how many could fail (architectural)? How concentrated is mining/staking power (political)? Does the network behave as one unified state, or could it split and keep functioning independently (logical)? Most people can only answer the first.</a:t>
            </a:r>
          </a:p>
        </p:txBody>
      </p:sp>
      <p:sp>
        <p:nvSpPr>
          <p:cNvPr id="8" name="Freeform 7"/>
          <p:cNvSpPr/>
          <p:nvPr/>
        </p:nvSpPr>
        <p:spPr>
          <a:xfrm>
            <a:off x="10744591" y="502920"/>
            <a:ext cx="776751" cy="1051560"/>
          </a:xfrm>
          <a:custGeom>
            <a:avLst/>
            <a:gdLst/>
            <a:ahLst/>
            <a:cxnLst/>
            <a:rect l="l" t="t" r="r" b="b"/>
            <a:pathLst>
              <a:path w="776751" h="1051560">
                <a:moveTo>
                  <a:pt x="388229" y="0"/>
                </a:moveTo>
                <a:lnTo>
                  <a:pt x="499995" y="37555"/>
                </a:lnTo>
                <a:lnTo>
                  <a:pt x="602318" y="75111"/>
                </a:lnTo>
                <a:lnTo>
                  <a:pt x="686551" y="112667"/>
                </a:lnTo>
                <a:lnTo>
                  <a:pt x="745575" y="150222"/>
                </a:lnTo>
                <a:lnTo>
                  <a:pt x="774405" y="187778"/>
                </a:lnTo>
                <a:lnTo>
                  <a:pt x="770603" y="225334"/>
                </a:lnTo>
                <a:lnTo>
                  <a:pt x="734491" y="262890"/>
                </a:lnTo>
                <a:lnTo>
                  <a:pt x="669121" y="300445"/>
                </a:lnTo>
                <a:lnTo>
                  <a:pt x="580016" y="338001"/>
                </a:lnTo>
                <a:lnTo>
                  <a:pt x="474705" y="375557"/>
                </a:lnTo>
                <a:lnTo>
                  <a:pt x="362086" y="413112"/>
                </a:lnTo>
                <a:lnTo>
                  <a:pt x="251677" y="450668"/>
                </a:lnTo>
                <a:lnTo>
                  <a:pt x="152806" y="488224"/>
                </a:lnTo>
                <a:lnTo>
                  <a:pt x="73828" y="525780"/>
                </a:lnTo>
                <a:lnTo>
                  <a:pt x="21417" y="563335"/>
                </a:lnTo>
                <a:lnTo>
                  <a:pt x="0" y="600891"/>
                </a:lnTo>
                <a:lnTo>
                  <a:pt x="11388" y="638447"/>
                </a:lnTo>
                <a:lnTo>
                  <a:pt x="54618" y="676002"/>
                </a:lnTo>
                <a:lnTo>
                  <a:pt x="126038" y="713558"/>
                </a:lnTo>
                <a:lnTo>
                  <a:pt x="219613" y="751114"/>
                </a:lnTo>
                <a:lnTo>
                  <a:pt x="327435" y="788670"/>
                </a:lnTo>
                <a:lnTo>
                  <a:pt x="440394" y="826225"/>
                </a:lnTo>
                <a:lnTo>
                  <a:pt x="548946" y="863781"/>
                </a:lnTo>
                <a:lnTo>
                  <a:pt x="643917" y="901337"/>
                </a:lnTo>
                <a:lnTo>
                  <a:pt x="717282" y="938892"/>
                </a:lnTo>
                <a:lnTo>
                  <a:pt x="762844" y="976448"/>
                </a:lnTo>
                <a:lnTo>
                  <a:pt x="776751" y="1014004"/>
                </a:lnTo>
                <a:lnTo>
                  <a:pt x="757828" y="1051560"/>
                </a:lnTo>
              </a:path>
            </a:pathLst>
          </a:custGeom>
          <a:noFill/>
          <a:ln w="68580" cap="rnd">
            <a:solidFill>
              <a:srgbClr val="FDC6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018520" y="6492240"/>
            <a:ext cx="960120" cy="274320"/>
          </a:xfrm>
          <a:prstGeom prst="rect">
            <a:avLst/>
          </a:prstGeom>
          <a:noFill/>
        </p:spPr>
        <p:txBody>
          <a:bodyPr wrap="square" anchor="t" lIns="0" rIns="0" tIns="0" bIns="0">
            <a:spAutoFit/>
          </a:bodyPr>
          <a:lstStyle/>
          <a:p>
            <a:pPr algn="r">
              <a:lnSpc>
                <a:spcPct val="115000"/>
              </a:lnSpc>
            </a:pPr>
            <a:r>
              <a:rPr sz="1000" b="1" i="0">
                <a:solidFill>
                  <a:srgbClr val="8B8899"/>
                </a:solidFill>
                <a:latin typeface="Courier New"/>
              </a:rPr>
              <a:t>16/22</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48640"/>
            <a:ext cx="8229600" cy="320040"/>
          </a:xfrm>
          <a:prstGeom prst="rect">
            <a:avLst/>
          </a:prstGeom>
          <a:noFill/>
        </p:spPr>
        <p:txBody>
          <a:bodyPr wrap="square" anchor="t" lIns="0" rIns="0" tIns="0" bIns="0">
            <a:spAutoFit/>
          </a:bodyPr>
          <a:lstStyle/>
          <a:p>
            <a:pPr algn="l">
              <a:lnSpc>
                <a:spcPct val="115000"/>
              </a:lnSpc>
            </a:pPr>
            <a:r>
              <a:rPr sz="1150" b="1" i="0">
                <a:solidFill>
                  <a:srgbClr val="8B8899"/>
                </a:solidFill>
                <a:latin typeface="Arial"/>
              </a:rPr>
              <a:t>COMMON MISCONCEPTIONS</a:t>
            </a:r>
          </a:p>
        </p:txBody>
      </p:sp>
      <p:sp>
        <p:nvSpPr>
          <p:cNvPr id="4" name="TextBox 3"/>
          <p:cNvSpPr txBox="1"/>
          <p:nvPr/>
        </p:nvSpPr>
        <p:spPr>
          <a:xfrm>
            <a:off x="685800" y="914400"/>
            <a:ext cx="10515600" cy="822960"/>
          </a:xfrm>
          <a:prstGeom prst="rect">
            <a:avLst/>
          </a:prstGeom>
          <a:noFill/>
        </p:spPr>
        <p:txBody>
          <a:bodyPr wrap="square" anchor="t" lIns="0" rIns="0" tIns="0" bIns="0">
            <a:spAutoFit/>
          </a:bodyPr>
          <a:lstStyle/>
          <a:p>
            <a:pPr algn="l">
              <a:lnSpc>
                <a:spcPct val="115000"/>
              </a:lnSpc>
            </a:pPr>
            <a:r>
              <a:rPr sz="3000" b="1" i="0">
                <a:solidFill>
                  <a:srgbClr val="221F33"/>
                </a:solidFill>
                <a:latin typeface="Arial Rounded MT Bold"/>
              </a:rPr>
              <a:t>Where People Get Tripped Up</a:t>
            </a:r>
          </a:p>
        </p:txBody>
      </p:sp>
      <p:sp>
        <p:nvSpPr>
          <p:cNvPr id="5" name="TextBox 4"/>
          <p:cNvSpPr txBox="1"/>
          <p:nvPr/>
        </p:nvSpPr>
        <p:spPr>
          <a:xfrm>
            <a:off x="685800" y="1691640"/>
            <a:ext cx="10515600" cy="548640"/>
          </a:xfrm>
          <a:prstGeom prst="rect">
            <a:avLst/>
          </a:prstGeom>
          <a:noFill/>
        </p:spPr>
        <p:txBody>
          <a:bodyPr wrap="square" anchor="t" lIns="0" rIns="0" tIns="0" bIns="0">
            <a:spAutoFit/>
          </a:bodyPr>
          <a:lstStyle/>
          <a:p>
            <a:pPr algn="l">
              <a:lnSpc>
                <a:spcPct val="140000"/>
              </a:lnSpc>
            </a:pPr>
            <a:r>
              <a:rPr sz="1300" b="0" i="0">
                <a:solidFill>
                  <a:srgbClr val="8B8899"/>
                </a:solidFill>
                <a:latin typeface="Arial"/>
              </a:rPr>
              <a:t>Two claims that sound reasonable, but aren't quite right.</a:t>
            </a:r>
          </a:p>
        </p:txBody>
      </p:sp>
      <p:sp>
        <p:nvSpPr>
          <p:cNvPr id="6" name="Rounded Rectangle 5"/>
          <p:cNvSpPr/>
          <p:nvPr/>
        </p:nvSpPr>
        <p:spPr>
          <a:xfrm>
            <a:off x="685800" y="2560320"/>
            <a:ext cx="5120640" cy="3520440"/>
          </a:xfrm>
          <a:prstGeom prst="roundRect">
            <a:avLst>
              <a:gd name="adj" fmla="val 6000"/>
            </a:avLst>
          </a:prstGeom>
          <a:solidFill>
            <a:srgbClr val="6C5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51560" y="292608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200" b="1">
                <a:solidFill>
                  <a:srgbClr val="6C5FE8"/>
                </a:solidFill>
                <a:latin typeface="Arial Rounded MT Bold"/>
              </a:rPr>
              <a:t>1</a:t>
            </a:r>
          </a:p>
        </p:txBody>
      </p:sp>
      <p:sp>
        <p:nvSpPr>
          <p:cNvPr id="8" name="TextBox 7"/>
          <p:cNvSpPr txBox="1"/>
          <p:nvPr/>
        </p:nvSpPr>
        <p:spPr>
          <a:xfrm>
            <a:off x="1051560" y="3794760"/>
            <a:ext cx="4389120" cy="548640"/>
          </a:xfrm>
          <a:prstGeom prst="rect">
            <a:avLst/>
          </a:prstGeom>
          <a:noFill/>
        </p:spPr>
        <p:txBody>
          <a:bodyPr wrap="square" anchor="t" lIns="0" rIns="0" tIns="0" bIns="0">
            <a:spAutoFit/>
          </a:bodyPr>
          <a:lstStyle/>
          <a:p>
            <a:pPr algn="l">
              <a:lnSpc>
                <a:spcPct val="115000"/>
              </a:lnSpc>
            </a:pPr>
            <a:r>
              <a:rPr sz="2000" b="1" i="0">
                <a:solidFill>
                  <a:srgbClr val="FFFFFF"/>
                </a:solidFill>
                <a:latin typeface="Arial Rounded MT Bold"/>
              </a:rPr>
              <a:t>“Logically centralized contradicts decentralization.”</a:t>
            </a:r>
          </a:p>
        </p:txBody>
      </p:sp>
      <p:sp>
        <p:nvSpPr>
          <p:cNvPr id="9" name="TextBox 8"/>
          <p:cNvSpPr txBox="1"/>
          <p:nvPr/>
        </p:nvSpPr>
        <p:spPr>
          <a:xfrm>
            <a:off x="1051560" y="4343400"/>
            <a:ext cx="4389120" cy="1554480"/>
          </a:xfrm>
          <a:prstGeom prst="rect">
            <a:avLst/>
          </a:prstGeom>
          <a:noFill/>
        </p:spPr>
        <p:txBody>
          <a:bodyPr wrap="square" anchor="t" lIns="0" rIns="0" tIns="0" bIns="0">
            <a:spAutoFit/>
          </a:bodyPr>
          <a:lstStyle/>
          <a:p>
            <a:pPr algn="l">
              <a:lnSpc>
                <a:spcPct val="140000"/>
              </a:lnSpc>
            </a:pPr>
            <a:r>
              <a:rPr sz="1300" b="0" i="0">
                <a:solidFill>
                  <a:srgbClr val="F3F1FC"/>
                </a:solidFill>
                <a:latin typeface="Arial"/>
              </a:rPr>
              <a:t>It doesn't — it's a different axis. A unified, agreed-upon ledger is the point: it avoids the “which copy is real” problem.</a:t>
            </a:r>
          </a:p>
        </p:txBody>
      </p:sp>
      <p:sp>
        <p:nvSpPr>
          <p:cNvPr id="10" name="Rounded Rectangle 9"/>
          <p:cNvSpPr/>
          <p:nvPr/>
        </p:nvSpPr>
        <p:spPr>
          <a:xfrm>
            <a:off x="6126480" y="2560320"/>
            <a:ext cx="5120640" cy="3520440"/>
          </a:xfrm>
          <a:prstGeom prst="roundRect">
            <a:avLst>
              <a:gd name="adj" fmla="val 6000"/>
            </a:avLst>
          </a:prstGeom>
          <a:solidFill>
            <a:srgbClr val="35C0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492240" y="292608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200" b="1">
                <a:solidFill>
                  <a:srgbClr val="35C078"/>
                </a:solidFill>
                <a:latin typeface="Arial Rounded MT Bold"/>
              </a:rPr>
              <a:t>2</a:t>
            </a:r>
          </a:p>
        </p:txBody>
      </p:sp>
      <p:sp>
        <p:nvSpPr>
          <p:cNvPr id="12" name="TextBox 11"/>
          <p:cNvSpPr txBox="1"/>
          <p:nvPr/>
        </p:nvSpPr>
        <p:spPr>
          <a:xfrm>
            <a:off x="6492240" y="3794760"/>
            <a:ext cx="4389120" cy="548640"/>
          </a:xfrm>
          <a:prstGeom prst="rect">
            <a:avLst/>
          </a:prstGeom>
          <a:noFill/>
        </p:spPr>
        <p:txBody>
          <a:bodyPr wrap="square" anchor="t" lIns="0" rIns="0" tIns="0" bIns="0">
            <a:spAutoFit/>
          </a:bodyPr>
          <a:lstStyle/>
          <a:p>
            <a:pPr algn="l">
              <a:lnSpc>
                <a:spcPct val="115000"/>
              </a:lnSpc>
            </a:pPr>
            <a:r>
              <a:rPr sz="2000" b="1" i="0">
                <a:solidFill>
                  <a:srgbClr val="FFFFFF"/>
                </a:solidFill>
                <a:latin typeface="Arial Rounded MT Bold"/>
              </a:rPr>
              <a:t>“More nodes always means more decentralized.”</a:t>
            </a:r>
          </a:p>
        </p:txBody>
      </p:sp>
      <p:sp>
        <p:nvSpPr>
          <p:cNvPr id="13" name="TextBox 12"/>
          <p:cNvSpPr txBox="1"/>
          <p:nvPr/>
        </p:nvSpPr>
        <p:spPr>
          <a:xfrm>
            <a:off x="6492240" y="4343400"/>
            <a:ext cx="4389120" cy="1554480"/>
          </a:xfrm>
          <a:prstGeom prst="rect">
            <a:avLst/>
          </a:prstGeom>
          <a:noFill/>
        </p:spPr>
        <p:txBody>
          <a:bodyPr wrap="square" anchor="t" lIns="0" rIns="0" tIns="0" bIns="0">
            <a:spAutoFit/>
          </a:bodyPr>
          <a:lstStyle/>
          <a:p>
            <a:pPr algn="l">
              <a:lnSpc>
                <a:spcPct val="140000"/>
              </a:lnSpc>
            </a:pPr>
            <a:r>
              <a:rPr sz="1300" b="0" i="0">
                <a:solidFill>
                  <a:srgbClr val="F3F1FC"/>
                </a:solidFill>
                <a:latin typeface="Arial"/>
              </a:rPr>
              <a:t>Only architecturally. If a handful of organizations run most of those nodes, political decentralization can be low even with a high node count.</a:t>
            </a:r>
          </a:p>
        </p:txBody>
      </p:sp>
      <p:sp>
        <p:nvSpPr>
          <p:cNvPr id="14" name="TextBox 13"/>
          <p:cNvSpPr txBox="1"/>
          <p:nvPr/>
        </p:nvSpPr>
        <p:spPr>
          <a:xfrm>
            <a:off x="11018520" y="6492240"/>
            <a:ext cx="960120" cy="274320"/>
          </a:xfrm>
          <a:prstGeom prst="rect">
            <a:avLst/>
          </a:prstGeom>
          <a:noFill/>
        </p:spPr>
        <p:txBody>
          <a:bodyPr wrap="square" anchor="t" lIns="0" rIns="0" tIns="0" bIns="0">
            <a:spAutoFit/>
          </a:bodyPr>
          <a:lstStyle/>
          <a:p>
            <a:pPr algn="r">
              <a:lnSpc>
                <a:spcPct val="115000"/>
              </a:lnSpc>
            </a:pPr>
            <a:r>
              <a:rPr sz="1000" b="1" i="0">
                <a:solidFill>
                  <a:srgbClr val="8B8899"/>
                </a:solidFill>
                <a:latin typeface="Courier New"/>
              </a:rPr>
              <a:t>17/22</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7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9700101" y="-457200"/>
            <a:ext cx="2181754" cy="2377440"/>
          </a:xfrm>
          <a:custGeom>
            <a:avLst/>
            <a:gdLst/>
            <a:ahLst/>
            <a:cxnLst/>
            <a:rect l="l" t="t" r="r" b="b"/>
            <a:pathLst>
              <a:path w="2181754" h="2377440">
                <a:moveTo>
                  <a:pt x="1089819" y="0"/>
                </a:moveTo>
                <a:lnTo>
                  <a:pt x="1400676" y="67926"/>
                </a:lnTo>
                <a:lnTo>
                  <a:pt x="1686063" y="135853"/>
                </a:lnTo>
                <a:lnTo>
                  <a:pt x="1922596" y="203780"/>
                </a:lnTo>
                <a:lnTo>
                  <a:pt x="2090894" y="271707"/>
                </a:lnTo>
                <a:lnTo>
                  <a:pt x="2177168" y="339634"/>
                </a:lnTo>
                <a:lnTo>
                  <a:pt x="2174349" y="407561"/>
                </a:lnTo>
                <a:lnTo>
                  <a:pt x="2082667" y="475488"/>
                </a:lnTo>
                <a:lnTo>
                  <a:pt x="1909635" y="543414"/>
                </a:lnTo>
                <a:lnTo>
                  <a:pt x="1669431" y="611341"/>
                </a:lnTo>
                <a:lnTo>
                  <a:pt x="1381735" y="679268"/>
                </a:lnTo>
                <a:lnTo>
                  <a:pt x="1070121" y="747195"/>
                </a:lnTo>
                <a:lnTo>
                  <a:pt x="760121" y="815122"/>
                </a:lnTo>
                <a:lnTo>
                  <a:pt x="477135" y="883049"/>
                </a:lnTo>
                <a:lnTo>
                  <a:pt x="244350" y="950976"/>
                </a:lnTo>
                <a:lnTo>
                  <a:pt x="80839" y="1018902"/>
                </a:lnTo>
                <a:lnTo>
                  <a:pt x="0" y="1086829"/>
                </a:lnTo>
                <a:lnTo>
                  <a:pt x="8457" y="1154756"/>
                </a:lnTo>
                <a:lnTo>
                  <a:pt x="105517" y="1222683"/>
                </a:lnTo>
                <a:lnTo>
                  <a:pt x="283226" y="1290610"/>
                </a:lnTo>
                <a:lnTo>
                  <a:pt x="527024" y="1358537"/>
                </a:lnTo>
                <a:lnTo>
                  <a:pt x="816936" y="1426464"/>
                </a:lnTo>
                <a:lnTo>
                  <a:pt x="1129207" y="1494390"/>
                </a:lnTo>
                <a:lnTo>
                  <a:pt x="1438250" y="1562317"/>
                </a:lnTo>
                <a:lnTo>
                  <a:pt x="1718744" y="1630244"/>
                </a:lnTo>
                <a:lnTo>
                  <a:pt x="1947707" y="1698171"/>
                </a:lnTo>
                <a:lnTo>
                  <a:pt x="2106377" y="1766098"/>
                </a:lnTo>
                <a:lnTo>
                  <a:pt x="2181754" y="1834025"/>
                </a:lnTo>
                <a:lnTo>
                  <a:pt x="2167663" y="1901952"/>
                </a:lnTo>
                <a:lnTo>
                  <a:pt x="2065257" y="1969878"/>
                </a:lnTo>
                <a:lnTo>
                  <a:pt x="1882927" y="2037805"/>
                </a:lnTo>
                <a:lnTo>
                  <a:pt x="1635613" y="2105732"/>
                </a:lnTo>
                <a:lnTo>
                  <a:pt x="1343579" y="2173659"/>
                </a:lnTo>
                <a:lnTo>
                  <a:pt x="1030752" y="2241586"/>
                </a:lnTo>
                <a:lnTo>
                  <a:pt x="722765" y="2309513"/>
                </a:lnTo>
                <a:lnTo>
                  <a:pt x="444853" y="2377440"/>
                </a:lnTo>
              </a:path>
            </a:pathLst>
          </a:custGeom>
          <a:noFill/>
          <a:ln w="146304" cap="rnd">
            <a:solidFill>
              <a:srgbClr val="FDC6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685800" y="731520"/>
            <a:ext cx="777240" cy="777240"/>
          </a:xfrm>
          <a:prstGeom prst="ellipse">
            <a:avLst/>
          </a:prstGeom>
          <a:solidFill>
            <a:srgbClr val="9B51B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3000" b="1">
                <a:solidFill>
                  <a:srgbClr val="FFFFFF"/>
                </a:solidFill>
                <a:latin typeface="Arial Rounded MT Bold"/>
              </a:rPr>
              <a:t>?</a:t>
            </a:r>
          </a:p>
        </p:txBody>
      </p:sp>
      <p:sp>
        <p:nvSpPr>
          <p:cNvPr id="5" name="TextBox 4"/>
          <p:cNvSpPr txBox="1"/>
          <p:nvPr/>
        </p:nvSpPr>
        <p:spPr>
          <a:xfrm>
            <a:off x="1737360" y="868680"/>
            <a:ext cx="8229600" cy="320040"/>
          </a:xfrm>
          <a:prstGeom prst="rect">
            <a:avLst/>
          </a:prstGeom>
          <a:noFill/>
        </p:spPr>
        <p:txBody>
          <a:bodyPr wrap="square" anchor="t" lIns="0" rIns="0" tIns="0" bIns="0">
            <a:spAutoFit/>
          </a:bodyPr>
          <a:lstStyle/>
          <a:p>
            <a:pPr algn="l">
              <a:lnSpc>
                <a:spcPct val="115000"/>
              </a:lnSpc>
            </a:pPr>
            <a:r>
              <a:rPr sz="1150" b="1" i="0">
                <a:solidFill>
                  <a:srgbClr val="FDC646"/>
                </a:solidFill>
                <a:latin typeface="Arial"/>
              </a:rPr>
              <a:t>ONE MORE CHECK</a:t>
            </a:r>
          </a:p>
        </p:txBody>
      </p:sp>
      <p:sp>
        <p:nvSpPr>
          <p:cNvPr id="6" name="TextBox 5"/>
          <p:cNvSpPr txBox="1"/>
          <p:nvPr/>
        </p:nvSpPr>
        <p:spPr>
          <a:xfrm>
            <a:off x="685800" y="1828800"/>
            <a:ext cx="10607040" cy="1554480"/>
          </a:xfrm>
          <a:prstGeom prst="rect">
            <a:avLst/>
          </a:prstGeom>
          <a:noFill/>
        </p:spPr>
        <p:txBody>
          <a:bodyPr wrap="square" anchor="t" lIns="0" rIns="0" tIns="0" bIns="0">
            <a:spAutoFit/>
          </a:bodyPr>
          <a:lstStyle/>
          <a:p>
            <a:pPr algn="l">
              <a:lnSpc>
                <a:spcPct val="115000"/>
              </a:lnSpc>
            </a:pPr>
            <a:r>
              <a:rPr sz="2700" b="1" i="0">
                <a:solidFill>
                  <a:srgbClr val="FFFFFF"/>
                </a:solidFill>
                <a:latin typeface="Arial Rounded MT Bold"/>
              </a:rPr>
              <a:t>If a network has 10,000 nodes but 3 companies run 9,000 of them, is it decentralized?</a:t>
            </a:r>
          </a:p>
        </p:txBody>
      </p:sp>
      <p:sp>
        <p:nvSpPr>
          <p:cNvPr id="7" name="Rectangle 6"/>
          <p:cNvSpPr/>
          <p:nvPr/>
        </p:nvSpPr>
        <p:spPr>
          <a:xfrm>
            <a:off x="685800" y="3520440"/>
            <a:ext cx="2011680" cy="41148"/>
          </a:xfrm>
          <a:prstGeom prst="rect">
            <a:avLst/>
          </a:prstGeom>
          <a:solidFill>
            <a:srgbClr val="FDC6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3886200"/>
            <a:ext cx="1463040" cy="320040"/>
          </a:xfrm>
          <a:prstGeom prst="rect">
            <a:avLst/>
          </a:prstGeom>
          <a:noFill/>
        </p:spPr>
        <p:txBody>
          <a:bodyPr wrap="square" anchor="t" lIns="0" rIns="0" tIns="0" bIns="0">
            <a:spAutoFit/>
          </a:bodyPr>
          <a:lstStyle/>
          <a:p>
            <a:pPr algn="l">
              <a:lnSpc>
                <a:spcPct val="115000"/>
              </a:lnSpc>
            </a:pPr>
            <a:r>
              <a:rPr sz="1100" b="1" i="0">
                <a:solidFill>
                  <a:srgbClr val="FDC646"/>
                </a:solidFill>
                <a:latin typeface="Arial"/>
              </a:rPr>
              <a:t>ANSWER</a:t>
            </a:r>
          </a:p>
        </p:txBody>
      </p:sp>
      <p:sp>
        <p:nvSpPr>
          <p:cNvPr id="9" name="TextBox 8"/>
          <p:cNvSpPr txBox="1"/>
          <p:nvPr/>
        </p:nvSpPr>
        <p:spPr>
          <a:xfrm>
            <a:off x="685800" y="4297680"/>
            <a:ext cx="10241280" cy="2011680"/>
          </a:xfrm>
          <a:prstGeom prst="rect">
            <a:avLst/>
          </a:prstGeom>
          <a:noFill/>
        </p:spPr>
        <p:txBody>
          <a:bodyPr wrap="square" anchor="t" lIns="0" rIns="0" tIns="0" bIns="0">
            <a:spAutoFit/>
          </a:bodyPr>
          <a:lstStyle/>
          <a:p>
            <a:pPr algn="l">
              <a:lnSpc>
                <a:spcPct val="150000"/>
              </a:lnSpc>
            </a:pPr>
            <a:r>
              <a:rPr sz="1500" b="0" i="0">
                <a:solidFill>
                  <a:srgbClr val="E3E0F7"/>
                </a:solidFill>
                <a:latin typeface="Arial"/>
              </a:rPr>
              <a:t>Architecturally, technically yes — 10,000 separate machines. Politically, no — 3 organizations effectively control the outcome. This is exactly the kind of mismatch the three-axis framework exists to describe precisely, instead of collapsing into a single misleading yes/no.</a:t>
            </a:r>
          </a:p>
        </p:txBody>
      </p:sp>
      <p:sp>
        <p:nvSpPr>
          <p:cNvPr id="10" name="TextBox 9"/>
          <p:cNvSpPr txBox="1"/>
          <p:nvPr/>
        </p:nvSpPr>
        <p:spPr>
          <a:xfrm>
            <a:off x="11018520" y="6492240"/>
            <a:ext cx="960120" cy="274320"/>
          </a:xfrm>
          <a:prstGeom prst="rect">
            <a:avLst/>
          </a:prstGeom>
          <a:noFill/>
        </p:spPr>
        <p:txBody>
          <a:bodyPr wrap="square" anchor="t" lIns="0" rIns="0" tIns="0" bIns="0">
            <a:spAutoFit/>
          </a:bodyPr>
          <a:lstStyle/>
          <a:p>
            <a:pPr algn="r">
              <a:lnSpc>
                <a:spcPct val="115000"/>
              </a:lnSpc>
            </a:pPr>
            <a:r>
              <a:rPr sz="1000" b="1" i="0">
                <a:solidFill>
                  <a:srgbClr val="9A9FB8"/>
                </a:solidFill>
                <a:latin typeface="Courier New"/>
              </a:rPr>
              <a:t>18/22</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48640"/>
            <a:ext cx="8229600" cy="320040"/>
          </a:xfrm>
          <a:prstGeom prst="rect">
            <a:avLst/>
          </a:prstGeom>
          <a:noFill/>
        </p:spPr>
        <p:txBody>
          <a:bodyPr wrap="square" anchor="t" lIns="0" rIns="0" tIns="0" bIns="0">
            <a:spAutoFit/>
          </a:bodyPr>
          <a:lstStyle/>
          <a:p>
            <a:pPr algn="l">
              <a:lnSpc>
                <a:spcPct val="115000"/>
              </a:lnSpc>
            </a:pPr>
            <a:r>
              <a:rPr sz="1150" b="1" i="0">
                <a:solidFill>
                  <a:srgbClr val="6C5FE8"/>
                </a:solidFill>
                <a:latin typeface="Arial"/>
              </a:rPr>
              <a:t>HANDS-ON PRACTICE</a:t>
            </a:r>
          </a:p>
        </p:txBody>
      </p:sp>
      <p:sp>
        <p:nvSpPr>
          <p:cNvPr id="4" name="TextBox 3"/>
          <p:cNvSpPr txBox="1"/>
          <p:nvPr/>
        </p:nvSpPr>
        <p:spPr>
          <a:xfrm>
            <a:off x="685800" y="914400"/>
            <a:ext cx="4206240" cy="1280160"/>
          </a:xfrm>
          <a:prstGeom prst="rect">
            <a:avLst/>
          </a:prstGeom>
          <a:noFill/>
        </p:spPr>
        <p:txBody>
          <a:bodyPr wrap="square" anchor="t" lIns="0" rIns="0" tIns="0" bIns="0">
            <a:spAutoFit/>
          </a:bodyPr>
          <a:lstStyle/>
          <a:p>
            <a:pPr algn="l">
              <a:lnSpc>
                <a:spcPct val="105000"/>
              </a:lnSpc>
            </a:pPr>
            <a:r>
              <a:rPr sz="2500" b="1" i="0">
                <a:solidFill>
                  <a:srgbClr val="221F33"/>
                </a:solidFill>
                <a:latin typeface="Arial Rounded MT Bold"/>
              </a:rPr>
              <a:t>Do This Now</a:t>
            </a:r>
          </a:p>
        </p:txBody>
      </p:sp>
      <p:pic>
        <p:nvPicPr>
          <p:cNvPr id="5" name="Picture 4" descr="_c_tl19_practice.jpg"/>
          <p:cNvPicPr>
            <a:picLocks noChangeAspect="1"/>
          </p:cNvPicPr>
          <p:nvPr/>
        </p:nvPicPr>
        <p:blipFill>
          <a:blip r:embed="rId2"/>
          <a:stretch>
            <a:fillRect/>
          </a:stretch>
        </p:blipFill>
        <p:spPr>
          <a:xfrm>
            <a:off x="685800" y="2377440"/>
            <a:ext cx="4206240" cy="3291840"/>
          </a:xfrm>
          <a:prstGeom prst="rect">
            <a:avLst/>
          </a:prstGeom>
        </p:spPr>
      </p:pic>
      <p:sp>
        <p:nvSpPr>
          <p:cNvPr id="6" name="Rounded Rectangle 5"/>
          <p:cNvSpPr/>
          <p:nvPr/>
        </p:nvSpPr>
        <p:spPr>
          <a:xfrm>
            <a:off x="5486400" y="1005840"/>
            <a:ext cx="621792" cy="365760"/>
          </a:xfrm>
          <a:prstGeom prst="roundRect">
            <a:avLst>
              <a:gd name="adj" fmla="val 50000"/>
            </a:avLst>
          </a:prstGeom>
          <a:solidFill>
            <a:srgbClr val="6C5FE8"/>
          </a:solidFill>
          <a:ln>
            <a:noFill/>
          </a:ln>
          <a:effectLst/>
        </p:spPr>
        <p:style>
          <a:lnRef idx="1">
            <a:schemeClr val="accent1"/>
          </a:lnRef>
          <a:fillRef idx="3">
            <a:schemeClr val="accent1"/>
          </a:fillRef>
          <a:effectRef idx="2">
            <a:schemeClr val="accent1"/>
          </a:effectRef>
          <a:fontRef idx="minor">
            <a:schemeClr val="lt1"/>
          </a:fontRef>
        </p:style>
        <p:txBody>
          <a:bodyPr rtlCol="0" anchor="ctr" lIns="228600" rIns="228600" wrap="none"/>
          <a:lstStyle/>
          <a:p>
            <a:pPr algn="ctr"/>
            <a:r>
              <a:rPr sz="1200" b="1">
                <a:solidFill>
                  <a:srgbClr val="FFFFFF"/>
                </a:solidFill>
                <a:latin typeface="Arial"/>
              </a:rPr>
              <a:t>01</a:t>
            </a:r>
          </a:p>
        </p:txBody>
      </p:sp>
      <p:sp>
        <p:nvSpPr>
          <p:cNvPr id="7" name="TextBox 6"/>
          <p:cNvSpPr txBox="1"/>
          <p:nvPr/>
        </p:nvSpPr>
        <p:spPr>
          <a:xfrm>
            <a:off x="6172200" y="987552"/>
            <a:ext cx="5486400" cy="365760"/>
          </a:xfrm>
          <a:prstGeom prst="rect">
            <a:avLst/>
          </a:prstGeom>
          <a:noFill/>
        </p:spPr>
        <p:txBody>
          <a:bodyPr wrap="square" anchor="t" lIns="0" rIns="0" tIns="0" bIns="0">
            <a:spAutoFit/>
          </a:bodyPr>
          <a:lstStyle/>
          <a:p>
            <a:pPr algn="l">
              <a:lnSpc>
                <a:spcPct val="115000"/>
              </a:lnSpc>
            </a:pPr>
            <a:r>
              <a:rPr sz="1450" b="1" i="0">
                <a:solidFill>
                  <a:srgbClr val="221F33"/>
                </a:solidFill>
                <a:latin typeface="Arial Rounded MT Bold"/>
              </a:rPr>
              <a:t>Rate a blockchain on all 3 axes</a:t>
            </a:r>
          </a:p>
        </p:txBody>
      </p:sp>
      <p:sp>
        <p:nvSpPr>
          <p:cNvPr id="8" name="TextBox 7"/>
          <p:cNvSpPr txBox="1"/>
          <p:nvPr/>
        </p:nvSpPr>
        <p:spPr>
          <a:xfrm>
            <a:off x="6172200" y="1389888"/>
            <a:ext cx="5486400" cy="548640"/>
          </a:xfrm>
          <a:prstGeom prst="rect">
            <a:avLst/>
          </a:prstGeom>
          <a:noFill/>
        </p:spPr>
        <p:txBody>
          <a:bodyPr wrap="square" anchor="t" lIns="0" rIns="0" tIns="0" bIns="0">
            <a:spAutoFit/>
          </a:bodyPr>
          <a:lstStyle/>
          <a:p>
            <a:pPr algn="l">
              <a:lnSpc>
                <a:spcPct val="130000"/>
              </a:lnSpc>
            </a:pPr>
            <a:r>
              <a:rPr sz="1050" b="0" i="0">
                <a:solidFill>
                  <a:srgbClr val="8B8899"/>
                </a:solidFill>
                <a:latin typeface="Arial"/>
              </a:rPr>
              <a:t>Bitcoin, Ethereum, or any network you know — justify each with a specific fact.</a:t>
            </a:r>
          </a:p>
        </p:txBody>
      </p:sp>
      <p:cxnSp>
        <p:nvCxnSpPr>
          <p:cNvPr id="9" name="Connector 8"/>
          <p:cNvCxnSpPr/>
          <p:nvPr/>
        </p:nvCxnSpPr>
        <p:spPr>
          <a:xfrm>
            <a:off x="5742432" y="1417320"/>
            <a:ext cx="0" cy="640080"/>
          </a:xfrm>
          <a:prstGeom prst="line">
            <a:avLst/>
          </a:prstGeom>
          <a:ln w="19050">
            <a:solidFill>
              <a:srgbClr val="ECEAF3"/>
            </a:solidFill>
            <a:prstDash val="sysDash"/>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5486400" y="2057400"/>
            <a:ext cx="621792" cy="365760"/>
          </a:xfrm>
          <a:prstGeom prst="roundRect">
            <a:avLst>
              <a:gd name="adj" fmla="val 50000"/>
            </a:avLst>
          </a:prstGeom>
          <a:solidFill>
            <a:srgbClr val="35C078"/>
          </a:solidFill>
          <a:ln>
            <a:noFill/>
          </a:ln>
          <a:effectLst/>
        </p:spPr>
        <p:style>
          <a:lnRef idx="1">
            <a:schemeClr val="accent1"/>
          </a:lnRef>
          <a:fillRef idx="3">
            <a:schemeClr val="accent1"/>
          </a:fillRef>
          <a:effectRef idx="2">
            <a:schemeClr val="accent1"/>
          </a:effectRef>
          <a:fontRef idx="minor">
            <a:schemeClr val="lt1"/>
          </a:fontRef>
        </p:style>
        <p:txBody>
          <a:bodyPr rtlCol="0" anchor="ctr" lIns="228600" rIns="228600" wrap="none"/>
          <a:lstStyle/>
          <a:p>
            <a:pPr algn="ctr"/>
            <a:r>
              <a:rPr sz="1200" b="1">
                <a:solidFill>
                  <a:srgbClr val="FFFFFF"/>
                </a:solidFill>
                <a:latin typeface="Arial"/>
              </a:rPr>
              <a:t>02</a:t>
            </a:r>
          </a:p>
        </p:txBody>
      </p:sp>
      <p:sp>
        <p:nvSpPr>
          <p:cNvPr id="11" name="TextBox 10"/>
          <p:cNvSpPr txBox="1"/>
          <p:nvPr/>
        </p:nvSpPr>
        <p:spPr>
          <a:xfrm>
            <a:off x="6172200" y="2039112"/>
            <a:ext cx="5486400" cy="365760"/>
          </a:xfrm>
          <a:prstGeom prst="rect">
            <a:avLst/>
          </a:prstGeom>
          <a:noFill/>
        </p:spPr>
        <p:txBody>
          <a:bodyPr wrap="square" anchor="t" lIns="0" rIns="0" tIns="0" bIns="0">
            <a:spAutoFit/>
          </a:bodyPr>
          <a:lstStyle/>
          <a:p>
            <a:pPr algn="l">
              <a:lnSpc>
                <a:spcPct val="115000"/>
              </a:lnSpc>
            </a:pPr>
            <a:r>
              <a:rPr sz="1450" b="1" i="0">
                <a:solidFill>
                  <a:srgbClr val="221F33"/>
                </a:solidFill>
                <a:latin typeface="Arial Rounded MT Bold"/>
              </a:rPr>
              <a:t>Apply the framework outside blockchain</a:t>
            </a:r>
          </a:p>
        </p:txBody>
      </p:sp>
      <p:sp>
        <p:nvSpPr>
          <p:cNvPr id="12" name="TextBox 11"/>
          <p:cNvSpPr txBox="1"/>
          <p:nvPr/>
        </p:nvSpPr>
        <p:spPr>
          <a:xfrm>
            <a:off x="6172200" y="2441448"/>
            <a:ext cx="5486400" cy="548640"/>
          </a:xfrm>
          <a:prstGeom prst="rect">
            <a:avLst/>
          </a:prstGeom>
          <a:noFill/>
        </p:spPr>
        <p:txBody>
          <a:bodyPr wrap="square" anchor="t" lIns="0" rIns="0" tIns="0" bIns="0">
            <a:spAutoFit/>
          </a:bodyPr>
          <a:lstStyle/>
          <a:p>
            <a:pPr algn="l">
              <a:lnSpc>
                <a:spcPct val="130000"/>
              </a:lnSpc>
            </a:pPr>
            <a:r>
              <a:rPr sz="1050" b="0" i="0">
                <a:solidFill>
                  <a:srgbClr val="8B8899"/>
                </a:solidFill>
                <a:latin typeface="Arial"/>
              </a:rPr>
              <a:t>DNS, open-source development, or email — where does it score high, and surprisingly low?</a:t>
            </a:r>
          </a:p>
        </p:txBody>
      </p:sp>
      <p:cxnSp>
        <p:nvCxnSpPr>
          <p:cNvPr id="13" name="Connector 12"/>
          <p:cNvCxnSpPr/>
          <p:nvPr/>
        </p:nvCxnSpPr>
        <p:spPr>
          <a:xfrm>
            <a:off x="5742432" y="2468880"/>
            <a:ext cx="0" cy="640080"/>
          </a:xfrm>
          <a:prstGeom prst="line">
            <a:avLst/>
          </a:prstGeom>
          <a:ln w="19050">
            <a:solidFill>
              <a:srgbClr val="ECEAF3"/>
            </a:solidFill>
            <a:prstDash val="sysDash"/>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5486400" y="3108960"/>
            <a:ext cx="621792" cy="365760"/>
          </a:xfrm>
          <a:prstGeom prst="roundRect">
            <a:avLst>
              <a:gd name="adj" fmla="val 50000"/>
            </a:avLst>
          </a:prstGeom>
          <a:solidFill>
            <a:srgbClr val="F2734B"/>
          </a:solidFill>
          <a:ln>
            <a:noFill/>
          </a:ln>
          <a:effectLst/>
        </p:spPr>
        <p:style>
          <a:lnRef idx="1">
            <a:schemeClr val="accent1"/>
          </a:lnRef>
          <a:fillRef idx="3">
            <a:schemeClr val="accent1"/>
          </a:fillRef>
          <a:effectRef idx="2">
            <a:schemeClr val="accent1"/>
          </a:effectRef>
          <a:fontRef idx="minor">
            <a:schemeClr val="lt1"/>
          </a:fontRef>
        </p:style>
        <p:txBody>
          <a:bodyPr rtlCol="0" anchor="ctr" lIns="228600" rIns="228600" wrap="none"/>
          <a:lstStyle/>
          <a:p>
            <a:pPr algn="ctr"/>
            <a:r>
              <a:rPr sz="1200" b="1">
                <a:solidFill>
                  <a:srgbClr val="FFFFFF"/>
                </a:solidFill>
                <a:latin typeface="Arial"/>
              </a:rPr>
              <a:t>03</a:t>
            </a:r>
          </a:p>
        </p:txBody>
      </p:sp>
      <p:sp>
        <p:nvSpPr>
          <p:cNvPr id="15" name="TextBox 14"/>
          <p:cNvSpPr txBox="1"/>
          <p:nvPr/>
        </p:nvSpPr>
        <p:spPr>
          <a:xfrm>
            <a:off x="6172200" y="3090672"/>
            <a:ext cx="5486400" cy="365760"/>
          </a:xfrm>
          <a:prstGeom prst="rect">
            <a:avLst/>
          </a:prstGeom>
          <a:noFill/>
        </p:spPr>
        <p:txBody>
          <a:bodyPr wrap="square" anchor="t" lIns="0" rIns="0" tIns="0" bIns="0">
            <a:spAutoFit/>
          </a:bodyPr>
          <a:lstStyle/>
          <a:p>
            <a:pPr algn="l">
              <a:lnSpc>
                <a:spcPct val="115000"/>
              </a:lnSpc>
            </a:pPr>
            <a:r>
              <a:rPr sz="1450" b="1" i="0">
                <a:solidFill>
                  <a:srgbClr val="221F33"/>
                </a:solidFill>
                <a:latin typeface="Arial Rounded MT Bold"/>
              </a:rPr>
              <a:t>Read Buterin's original essay</a:t>
            </a:r>
          </a:p>
        </p:txBody>
      </p:sp>
      <p:sp>
        <p:nvSpPr>
          <p:cNvPr id="16" name="TextBox 15"/>
          <p:cNvSpPr txBox="1"/>
          <p:nvPr/>
        </p:nvSpPr>
        <p:spPr>
          <a:xfrm>
            <a:off x="6172200" y="3493008"/>
            <a:ext cx="5486400" cy="548640"/>
          </a:xfrm>
          <a:prstGeom prst="rect">
            <a:avLst/>
          </a:prstGeom>
          <a:noFill/>
        </p:spPr>
        <p:txBody>
          <a:bodyPr wrap="square" anchor="t" lIns="0" rIns="0" tIns="0" bIns="0">
            <a:spAutoFit/>
          </a:bodyPr>
          <a:lstStyle/>
          <a:p>
            <a:pPr algn="l">
              <a:lnSpc>
                <a:spcPct val="130000"/>
              </a:lnSpc>
            </a:pPr>
            <a:r>
              <a:rPr sz="1050" b="0" i="0">
                <a:solidFill>
                  <a:srgbClr val="8B8899"/>
                </a:solidFill>
                <a:latin typeface="Arial"/>
              </a:rPr>
              <a:t>Short, and worth reading in full — link in Resources.</a:t>
            </a:r>
          </a:p>
        </p:txBody>
      </p:sp>
      <p:sp>
        <p:nvSpPr>
          <p:cNvPr id="17" name="TextBox 16"/>
          <p:cNvSpPr txBox="1"/>
          <p:nvPr/>
        </p:nvSpPr>
        <p:spPr>
          <a:xfrm>
            <a:off x="11018520" y="6492240"/>
            <a:ext cx="960120" cy="274320"/>
          </a:xfrm>
          <a:prstGeom prst="rect">
            <a:avLst/>
          </a:prstGeom>
          <a:noFill/>
        </p:spPr>
        <p:txBody>
          <a:bodyPr wrap="square" anchor="t" lIns="0" rIns="0" tIns="0" bIns="0">
            <a:spAutoFit/>
          </a:bodyPr>
          <a:lstStyle/>
          <a:p>
            <a:pPr algn="r">
              <a:lnSpc>
                <a:spcPct val="115000"/>
              </a:lnSpc>
            </a:pPr>
            <a:r>
              <a:rPr sz="1000" b="1" i="0">
                <a:solidFill>
                  <a:srgbClr val="8B8899"/>
                </a:solidFill>
                <a:latin typeface="Courier New"/>
              </a:rPr>
              <a:t>19/22</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640080"/>
            <a:ext cx="8229600" cy="320040"/>
          </a:xfrm>
          <a:prstGeom prst="rect">
            <a:avLst/>
          </a:prstGeom>
          <a:noFill/>
        </p:spPr>
        <p:txBody>
          <a:bodyPr wrap="square" anchor="t" lIns="0" rIns="0" tIns="0" bIns="0">
            <a:spAutoFit/>
          </a:bodyPr>
          <a:lstStyle/>
          <a:p>
            <a:pPr algn="l">
              <a:lnSpc>
                <a:spcPct val="115000"/>
              </a:lnSpc>
            </a:pPr>
            <a:r>
              <a:rPr sz="1150" b="1" i="0">
                <a:solidFill>
                  <a:srgbClr val="9B51B8"/>
                </a:solidFill>
                <a:latin typeface="Arial"/>
              </a:rPr>
              <a:t>RESOURCES</a:t>
            </a:r>
          </a:p>
        </p:txBody>
      </p:sp>
      <p:sp>
        <p:nvSpPr>
          <p:cNvPr id="4" name="TextBox 3"/>
          <p:cNvSpPr txBox="1"/>
          <p:nvPr/>
        </p:nvSpPr>
        <p:spPr>
          <a:xfrm>
            <a:off x="685800" y="1051560"/>
            <a:ext cx="10058400" cy="914400"/>
          </a:xfrm>
          <a:prstGeom prst="rect">
            <a:avLst/>
          </a:prstGeom>
          <a:noFill/>
        </p:spPr>
        <p:txBody>
          <a:bodyPr wrap="square" anchor="t" lIns="0" rIns="0" tIns="0" bIns="0">
            <a:spAutoFit/>
          </a:bodyPr>
          <a:lstStyle/>
          <a:p>
            <a:pPr algn="l">
              <a:lnSpc>
                <a:spcPct val="115000"/>
              </a:lnSpc>
            </a:pPr>
            <a:r>
              <a:rPr sz="3000" b="1" i="0">
                <a:solidFill>
                  <a:srgbClr val="221F33"/>
                </a:solidFill>
                <a:latin typeface="Arial Rounded MT Bold"/>
              </a:rPr>
              <a:t>Watch, Read, Explore</a:t>
            </a:r>
          </a:p>
        </p:txBody>
      </p:sp>
      <p:sp>
        <p:nvSpPr>
          <p:cNvPr id="5" name="TextBox 4"/>
          <p:cNvSpPr txBox="1"/>
          <p:nvPr/>
        </p:nvSpPr>
        <p:spPr>
          <a:xfrm>
            <a:off x="685800" y="2286000"/>
            <a:ext cx="2743200" cy="320040"/>
          </a:xfrm>
          <a:prstGeom prst="rect">
            <a:avLst/>
          </a:prstGeom>
          <a:noFill/>
        </p:spPr>
        <p:txBody>
          <a:bodyPr wrap="square" anchor="t" lIns="0" rIns="0" tIns="0" bIns="0">
            <a:spAutoFit/>
          </a:bodyPr>
          <a:lstStyle/>
          <a:p>
            <a:pPr algn="l">
              <a:lnSpc>
                <a:spcPct val="115000"/>
              </a:lnSpc>
            </a:pPr>
            <a:r>
              <a:rPr sz="1150" b="1" i="0">
                <a:solidFill>
                  <a:srgbClr val="9B51B8"/>
                </a:solidFill>
                <a:latin typeface="Arial"/>
              </a:rPr>
              <a:t>RECOMMENDED VIDEOS</a:t>
            </a:r>
          </a:p>
        </p:txBody>
      </p:sp>
      <p:sp>
        <p:nvSpPr>
          <p:cNvPr id="6" name="TextBox 5"/>
          <p:cNvSpPr txBox="1"/>
          <p:nvPr/>
        </p:nvSpPr>
        <p:spPr>
          <a:xfrm>
            <a:off x="685800" y="2651760"/>
            <a:ext cx="10058400" cy="822960"/>
          </a:xfrm>
          <a:prstGeom prst="rect">
            <a:avLst/>
          </a:prstGeom>
          <a:noFill/>
        </p:spPr>
        <p:txBody>
          <a:bodyPr wrap="square" anchor="t" lIns="0" rIns="0" tIns="0" bIns="0">
            <a:spAutoFit/>
          </a:bodyPr>
          <a:lstStyle/>
          <a:p>
            <a:pPr algn="l">
              <a:lnSpc>
                <a:spcPct val="140000"/>
              </a:lnSpc>
            </a:pPr>
            <a:r>
              <a:rPr sz="1400" b="0" i="0">
                <a:solidFill>
                  <a:srgbClr val="8B8899"/>
                </a:solidFill>
                <a:latin typeface="Arial"/>
              </a:rPr>
              <a:t>What is a DAO in Crypto? (Decentralized Autonomous Organization) — previews next topic</a:t>
            </a:r>
          </a:p>
        </p:txBody>
      </p:sp>
      <p:sp>
        <p:nvSpPr>
          <p:cNvPr id="7" name="TextBox 6"/>
          <p:cNvSpPr txBox="1"/>
          <p:nvPr/>
        </p:nvSpPr>
        <p:spPr>
          <a:xfrm>
            <a:off x="685800" y="3474720"/>
            <a:ext cx="2743200" cy="320040"/>
          </a:xfrm>
          <a:prstGeom prst="rect">
            <a:avLst/>
          </a:prstGeom>
          <a:noFill/>
        </p:spPr>
        <p:txBody>
          <a:bodyPr wrap="square" anchor="t" lIns="0" rIns="0" tIns="0" bIns="0">
            <a:spAutoFit/>
          </a:bodyPr>
          <a:lstStyle/>
          <a:p>
            <a:pPr algn="l">
              <a:lnSpc>
                <a:spcPct val="115000"/>
              </a:lnSpc>
            </a:pPr>
            <a:r>
              <a:rPr sz="1150" b="1" i="0">
                <a:solidFill>
                  <a:srgbClr val="9B51B8"/>
                </a:solidFill>
                <a:latin typeface="Arial"/>
              </a:rPr>
              <a:t>WHERE TO READ MORE</a:t>
            </a:r>
          </a:p>
        </p:txBody>
      </p:sp>
      <p:sp>
        <p:nvSpPr>
          <p:cNvPr id="8" name="TextBox 7"/>
          <p:cNvSpPr txBox="1"/>
          <p:nvPr/>
        </p:nvSpPr>
        <p:spPr>
          <a:xfrm>
            <a:off x="685800" y="3840480"/>
            <a:ext cx="10058400" cy="822960"/>
          </a:xfrm>
          <a:prstGeom prst="rect">
            <a:avLst/>
          </a:prstGeom>
          <a:noFill/>
        </p:spPr>
        <p:txBody>
          <a:bodyPr wrap="square" anchor="t" lIns="0" rIns="0" tIns="0" bIns="0">
            <a:spAutoFit/>
          </a:bodyPr>
          <a:lstStyle/>
          <a:p>
            <a:pPr algn="l">
              <a:lnSpc>
                <a:spcPct val="140000"/>
              </a:lnSpc>
            </a:pPr>
            <a:r>
              <a:rPr sz="1400" b="0" i="0">
                <a:solidFill>
                  <a:srgbClr val="8B8899"/>
                </a:solidFill>
                <a:latin typeface="Arial"/>
              </a:rPr>
              <a:t>Vitalik Buterin, “The Meaning of Decentralization” — the original essay this topic is built on.</a:t>
            </a:r>
          </a:p>
        </p:txBody>
      </p:sp>
      <p:sp>
        <p:nvSpPr>
          <p:cNvPr id="9" name="TextBox 8"/>
          <p:cNvSpPr txBox="1"/>
          <p:nvPr/>
        </p:nvSpPr>
        <p:spPr>
          <a:xfrm>
            <a:off x="685800" y="4663440"/>
            <a:ext cx="2743200" cy="320040"/>
          </a:xfrm>
          <a:prstGeom prst="rect">
            <a:avLst/>
          </a:prstGeom>
          <a:noFill/>
        </p:spPr>
        <p:txBody>
          <a:bodyPr wrap="square" anchor="t" lIns="0" rIns="0" tIns="0" bIns="0">
            <a:spAutoFit/>
          </a:bodyPr>
          <a:lstStyle/>
          <a:p>
            <a:pPr algn="l">
              <a:lnSpc>
                <a:spcPct val="115000"/>
              </a:lnSpc>
            </a:pPr>
            <a:r>
              <a:rPr sz="1150" b="1" i="0">
                <a:solidFill>
                  <a:srgbClr val="9B51B8"/>
                </a:solidFill>
                <a:latin typeface="Arial"/>
              </a:rPr>
              <a:t>PRACTICE SITE</a:t>
            </a:r>
          </a:p>
        </p:txBody>
      </p:sp>
      <p:sp>
        <p:nvSpPr>
          <p:cNvPr id="10" name="TextBox 9"/>
          <p:cNvSpPr txBox="1"/>
          <p:nvPr/>
        </p:nvSpPr>
        <p:spPr>
          <a:xfrm>
            <a:off x="685800" y="5029200"/>
            <a:ext cx="10058400" cy="822960"/>
          </a:xfrm>
          <a:prstGeom prst="rect">
            <a:avLst/>
          </a:prstGeom>
          <a:noFill/>
        </p:spPr>
        <p:txBody>
          <a:bodyPr wrap="square" anchor="t" lIns="0" rIns="0" tIns="0" bIns="0">
            <a:spAutoFit/>
          </a:bodyPr>
          <a:lstStyle/>
          <a:p>
            <a:pPr algn="l">
              <a:lnSpc>
                <a:spcPct val="140000"/>
              </a:lnSpc>
            </a:pPr>
            <a:r>
              <a:rPr sz="1400" b="0" i="0">
                <a:solidFill>
                  <a:srgbClr val="8B8899"/>
                </a:solidFill>
                <a:latin typeface="Arial"/>
              </a:rPr>
              <a:t>Apply the 3-axis framework to any network you already use daily.</a:t>
            </a:r>
          </a:p>
        </p:txBody>
      </p:sp>
      <p:sp>
        <p:nvSpPr>
          <p:cNvPr id="11" name="TextBox 10"/>
          <p:cNvSpPr txBox="1"/>
          <p:nvPr/>
        </p:nvSpPr>
        <p:spPr>
          <a:xfrm>
            <a:off x="11018520" y="6492240"/>
            <a:ext cx="960120" cy="274320"/>
          </a:xfrm>
          <a:prstGeom prst="rect">
            <a:avLst/>
          </a:prstGeom>
          <a:noFill/>
        </p:spPr>
        <p:txBody>
          <a:bodyPr wrap="square" anchor="t" lIns="0" rIns="0" tIns="0" bIns="0">
            <a:spAutoFit/>
          </a:bodyPr>
          <a:lstStyle/>
          <a:p>
            <a:pPr algn="r">
              <a:lnSpc>
                <a:spcPct val="115000"/>
              </a:lnSpc>
            </a:pPr>
            <a:r>
              <a:rPr sz="1000" b="1" i="0">
                <a:solidFill>
                  <a:srgbClr val="8B8899"/>
                </a:solidFill>
                <a:latin typeface="Courier New"/>
              </a:rPr>
              <a:t>20/22</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48640"/>
            <a:ext cx="8229600" cy="320040"/>
          </a:xfrm>
          <a:prstGeom prst="rect">
            <a:avLst/>
          </a:prstGeom>
          <a:noFill/>
        </p:spPr>
        <p:txBody>
          <a:bodyPr wrap="square" anchor="t" lIns="0" rIns="0" tIns="0" bIns="0">
            <a:spAutoFit/>
          </a:bodyPr>
          <a:lstStyle/>
          <a:p>
            <a:pPr algn="l">
              <a:lnSpc>
                <a:spcPct val="115000"/>
              </a:lnSpc>
            </a:pPr>
            <a:r>
              <a:rPr sz="1150" b="1" i="0">
                <a:solidFill>
                  <a:srgbClr val="6C5FE8"/>
                </a:solidFill>
                <a:latin typeface="Arial"/>
              </a:rPr>
              <a:t>TAKE-HOME ASSIGNMENT</a:t>
            </a:r>
          </a:p>
        </p:txBody>
      </p:sp>
      <p:sp>
        <p:nvSpPr>
          <p:cNvPr id="4" name="TextBox 3"/>
          <p:cNvSpPr txBox="1"/>
          <p:nvPr/>
        </p:nvSpPr>
        <p:spPr>
          <a:xfrm>
            <a:off x="685800" y="914400"/>
            <a:ext cx="4297680" cy="1280160"/>
          </a:xfrm>
          <a:prstGeom prst="rect">
            <a:avLst/>
          </a:prstGeom>
          <a:noFill/>
        </p:spPr>
        <p:txBody>
          <a:bodyPr wrap="square" anchor="t" lIns="0" rIns="0" tIns="0" bIns="0">
            <a:spAutoFit/>
          </a:bodyPr>
          <a:lstStyle/>
          <a:p>
            <a:pPr algn="l">
              <a:lnSpc>
                <a:spcPct val="105000"/>
              </a:lnSpc>
            </a:pPr>
            <a:r>
              <a:rPr sz="2500" b="1" i="0">
                <a:solidFill>
                  <a:srgbClr val="221F33"/>
                </a:solidFill>
                <a:latin typeface="Arial Rounded MT Bold"/>
              </a:rPr>
              <a:t>Before You Move On</a:t>
            </a:r>
          </a:p>
        </p:txBody>
      </p:sp>
      <p:pic>
        <p:nvPicPr>
          <p:cNvPr id="5" name="Picture 4" descr="_c_fl21_takehome.jpg"/>
          <p:cNvPicPr>
            <a:picLocks noChangeAspect="1"/>
          </p:cNvPicPr>
          <p:nvPr/>
        </p:nvPicPr>
        <p:blipFill>
          <a:blip r:embed="rId2"/>
          <a:stretch>
            <a:fillRect/>
          </a:stretch>
        </p:blipFill>
        <p:spPr>
          <a:xfrm>
            <a:off x="685800" y="2377440"/>
            <a:ext cx="4297680" cy="3383280"/>
          </a:xfrm>
          <a:prstGeom prst="rect">
            <a:avLst/>
          </a:prstGeom>
        </p:spPr>
      </p:pic>
      <p:sp>
        <p:nvSpPr>
          <p:cNvPr id="6" name="Rounded Rectangle 5"/>
          <p:cNvSpPr/>
          <p:nvPr/>
        </p:nvSpPr>
        <p:spPr>
          <a:xfrm>
            <a:off x="5532120" y="1051560"/>
            <a:ext cx="502920" cy="502920"/>
          </a:xfrm>
          <a:prstGeom prst="roundRect">
            <a:avLst>
              <a:gd name="adj" fmla="val 25000"/>
            </a:avLst>
          </a:prstGeom>
          <a:solidFill>
            <a:srgbClr val="6C5FE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rPr>
              <a:t>✓</a:t>
            </a:r>
          </a:p>
        </p:txBody>
      </p:sp>
      <p:sp>
        <p:nvSpPr>
          <p:cNvPr id="7" name="TextBox 6"/>
          <p:cNvSpPr txBox="1"/>
          <p:nvPr/>
        </p:nvSpPr>
        <p:spPr>
          <a:xfrm>
            <a:off x="6217920" y="1033272"/>
            <a:ext cx="5760720" cy="365760"/>
          </a:xfrm>
          <a:prstGeom prst="rect">
            <a:avLst/>
          </a:prstGeom>
          <a:noFill/>
        </p:spPr>
        <p:txBody>
          <a:bodyPr wrap="square" anchor="t" lIns="0" rIns="0" tIns="0" bIns="0">
            <a:spAutoFit/>
          </a:bodyPr>
          <a:lstStyle/>
          <a:p>
            <a:pPr algn="l">
              <a:lnSpc>
                <a:spcPct val="115000"/>
              </a:lnSpc>
            </a:pPr>
            <a:r>
              <a:rPr sz="1450" b="1" i="0">
                <a:solidFill>
                  <a:srgbClr val="221F33"/>
                </a:solidFill>
                <a:latin typeface="Arial Rounded MT Bold"/>
              </a:rPr>
              <a:t>Rewrite “is X decentralized?”</a:t>
            </a:r>
          </a:p>
        </p:txBody>
      </p:sp>
      <p:sp>
        <p:nvSpPr>
          <p:cNvPr id="8" name="TextBox 7"/>
          <p:cNvSpPr txBox="1"/>
          <p:nvPr/>
        </p:nvSpPr>
        <p:spPr>
          <a:xfrm>
            <a:off x="6217920" y="1435608"/>
            <a:ext cx="5760720" cy="822960"/>
          </a:xfrm>
          <a:prstGeom prst="rect">
            <a:avLst/>
          </a:prstGeom>
          <a:noFill/>
        </p:spPr>
        <p:txBody>
          <a:bodyPr wrap="square" anchor="t" lIns="0" rIns="0" tIns="0" bIns="0">
            <a:spAutoFit/>
          </a:bodyPr>
          <a:lstStyle/>
          <a:p>
            <a:pPr algn="l">
              <a:lnSpc>
                <a:spcPct val="130000"/>
              </a:lnSpc>
            </a:pPr>
            <a:r>
              <a:rPr sz="1050" b="0" i="0">
                <a:solidFill>
                  <a:srgbClr val="8B8899"/>
                </a:solidFill>
                <a:latin typeface="Arial"/>
              </a:rPr>
              <a:t>As three more precise questions someone could actually answer with evidence.</a:t>
            </a:r>
          </a:p>
        </p:txBody>
      </p:sp>
      <p:sp>
        <p:nvSpPr>
          <p:cNvPr id="9" name="Rounded Rectangle 8"/>
          <p:cNvSpPr/>
          <p:nvPr/>
        </p:nvSpPr>
        <p:spPr>
          <a:xfrm>
            <a:off x="5532120" y="2468880"/>
            <a:ext cx="502920" cy="502920"/>
          </a:xfrm>
          <a:prstGeom prst="roundRect">
            <a:avLst>
              <a:gd name="adj" fmla="val 25000"/>
            </a:avLst>
          </a:prstGeom>
          <a:solidFill>
            <a:srgbClr val="35C07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rPr>
              <a:t>✓</a:t>
            </a:r>
          </a:p>
        </p:txBody>
      </p:sp>
      <p:sp>
        <p:nvSpPr>
          <p:cNvPr id="10" name="TextBox 9"/>
          <p:cNvSpPr txBox="1"/>
          <p:nvPr/>
        </p:nvSpPr>
        <p:spPr>
          <a:xfrm>
            <a:off x="6217920" y="2450592"/>
            <a:ext cx="5760720" cy="365760"/>
          </a:xfrm>
          <a:prstGeom prst="rect">
            <a:avLst/>
          </a:prstGeom>
          <a:noFill/>
        </p:spPr>
        <p:txBody>
          <a:bodyPr wrap="square" anchor="t" lIns="0" rIns="0" tIns="0" bIns="0">
            <a:spAutoFit/>
          </a:bodyPr>
          <a:lstStyle/>
          <a:p>
            <a:pPr algn="l">
              <a:lnSpc>
                <a:spcPct val="115000"/>
              </a:lnSpc>
            </a:pPr>
            <a:r>
              <a:rPr sz="1450" b="1" i="0">
                <a:solidFill>
                  <a:srgbClr val="221F33"/>
                </a:solidFill>
                <a:latin typeface="Arial Rounded MT Bold"/>
              </a:rPr>
              <a:t>Justify each axis rating</a:t>
            </a:r>
          </a:p>
        </p:txBody>
      </p:sp>
      <p:sp>
        <p:nvSpPr>
          <p:cNvPr id="11" name="TextBox 10"/>
          <p:cNvSpPr txBox="1"/>
          <p:nvPr/>
        </p:nvSpPr>
        <p:spPr>
          <a:xfrm>
            <a:off x="6217920" y="2852928"/>
            <a:ext cx="5760720" cy="822960"/>
          </a:xfrm>
          <a:prstGeom prst="rect">
            <a:avLst/>
          </a:prstGeom>
          <a:noFill/>
        </p:spPr>
        <p:txBody>
          <a:bodyPr wrap="square" anchor="t" lIns="0" rIns="0" tIns="0" bIns="0">
            <a:spAutoFit/>
          </a:bodyPr>
          <a:lstStyle/>
          <a:p>
            <a:pPr algn="l">
              <a:lnSpc>
                <a:spcPct val="130000"/>
              </a:lnSpc>
            </a:pPr>
            <a:r>
              <a:rPr sz="1050" b="0" i="0">
                <a:solidFill>
                  <a:srgbClr val="8B8899"/>
                </a:solidFill>
                <a:latin typeface="Arial"/>
              </a:rPr>
              <a:t>For a network of your choice, with a specific fact — not a vibe.</a:t>
            </a:r>
          </a:p>
        </p:txBody>
      </p:sp>
      <p:sp>
        <p:nvSpPr>
          <p:cNvPr id="12" name="Rounded Rectangle 11"/>
          <p:cNvSpPr/>
          <p:nvPr/>
        </p:nvSpPr>
        <p:spPr>
          <a:xfrm>
            <a:off x="5532120" y="3886200"/>
            <a:ext cx="502920" cy="502920"/>
          </a:xfrm>
          <a:prstGeom prst="roundRect">
            <a:avLst>
              <a:gd name="adj" fmla="val 25000"/>
            </a:avLst>
          </a:prstGeom>
          <a:solidFill>
            <a:srgbClr val="F2734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rPr>
              <a:t>✓</a:t>
            </a:r>
          </a:p>
        </p:txBody>
      </p:sp>
      <p:sp>
        <p:nvSpPr>
          <p:cNvPr id="13" name="TextBox 12"/>
          <p:cNvSpPr txBox="1"/>
          <p:nvPr/>
        </p:nvSpPr>
        <p:spPr>
          <a:xfrm>
            <a:off x="6217920" y="3867912"/>
            <a:ext cx="5760720" cy="365760"/>
          </a:xfrm>
          <a:prstGeom prst="rect">
            <a:avLst/>
          </a:prstGeom>
          <a:noFill/>
        </p:spPr>
        <p:txBody>
          <a:bodyPr wrap="square" anchor="t" lIns="0" rIns="0" tIns="0" bIns="0">
            <a:spAutoFit/>
          </a:bodyPr>
          <a:lstStyle/>
          <a:p>
            <a:pPr algn="l">
              <a:lnSpc>
                <a:spcPct val="115000"/>
              </a:lnSpc>
            </a:pPr>
            <a:r>
              <a:rPr sz="1450" b="1" i="0">
                <a:solidFill>
                  <a:srgbClr val="221F33"/>
                </a:solidFill>
                <a:latin typeface="Arial Rounded MT Bold"/>
              </a:rPr>
              <a:t>Find one real mismatch</a:t>
            </a:r>
          </a:p>
        </p:txBody>
      </p:sp>
      <p:sp>
        <p:nvSpPr>
          <p:cNvPr id="14" name="TextBox 13"/>
          <p:cNvSpPr txBox="1"/>
          <p:nvPr/>
        </p:nvSpPr>
        <p:spPr>
          <a:xfrm>
            <a:off x="6217920" y="4270248"/>
            <a:ext cx="5760720" cy="822960"/>
          </a:xfrm>
          <a:prstGeom prst="rect">
            <a:avLst/>
          </a:prstGeom>
          <a:noFill/>
        </p:spPr>
        <p:txBody>
          <a:bodyPr wrap="square" anchor="t" lIns="0" rIns="0" tIns="0" bIns="0">
            <a:spAutoFit/>
          </a:bodyPr>
          <a:lstStyle/>
          <a:p>
            <a:pPr algn="l">
              <a:lnSpc>
                <a:spcPct val="130000"/>
              </a:lnSpc>
            </a:pPr>
            <a:r>
              <a:rPr sz="1050" b="0" i="0">
                <a:solidFill>
                  <a:srgbClr val="8B8899"/>
                </a:solidFill>
                <a:latin typeface="Arial"/>
              </a:rPr>
              <a:t>A system that scores differently on two of the three axes, and explain why.</a:t>
            </a:r>
          </a:p>
        </p:txBody>
      </p:sp>
      <p:sp>
        <p:nvSpPr>
          <p:cNvPr id="15" name="TextBox 14"/>
          <p:cNvSpPr txBox="1"/>
          <p:nvPr/>
        </p:nvSpPr>
        <p:spPr>
          <a:xfrm>
            <a:off x="11018520" y="6492240"/>
            <a:ext cx="960120" cy="274320"/>
          </a:xfrm>
          <a:prstGeom prst="rect">
            <a:avLst/>
          </a:prstGeom>
          <a:noFill/>
        </p:spPr>
        <p:txBody>
          <a:bodyPr wrap="square" anchor="t" lIns="0" rIns="0" tIns="0" bIns="0">
            <a:spAutoFit/>
          </a:bodyPr>
          <a:lstStyle/>
          <a:p>
            <a:pPr algn="r">
              <a:lnSpc>
                <a:spcPct val="115000"/>
              </a:lnSpc>
            </a:pPr>
            <a:r>
              <a:rPr sz="1000" b="1" i="0">
                <a:solidFill>
                  <a:srgbClr val="8B8899"/>
                </a:solidFill>
                <a:latin typeface="Courier New"/>
              </a:rPr>
              <a:t>21/22</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6C5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7044576" y="-731520"/>
            <a:ext cx="5382948" cy="8321040"/>
          </a:xfrm>
          <a:custGeom>
            <a:avLst/>
            <a:gdLst/>
            <a:ahLst/>
            <a:cxnLst/>
            <a:rect l="l" t="t" r="r" b="b"/>
            <a:pathLst>
              <a:path w="5382948" h="8321040">
                <a:moveTo>
                  <a:pt x="2693784" y="0"/>
                </a:moveTo>
                <a:lnTo>
                  <a:pt x="3459909" y="173355"/>
                </a:lnTo>
                <a:lnTo>
                  <a:pt x="4162936" y="346710"/>
                </a:lnTo>
                <a:lnTo>
                  <a:pt x="4744963" y="520065"/>
                </a:lnTo>
                <a:lnTo>
                  <a:pt x="5158054" y="693420"/>
                </a:lnTo>
                <a:lnTo>
                  <a:pt x="5368186" y="866775"/>
                </a:lnTo>
                <a:lnTo>
                  <a:pt x="5358053" y="1040130"/>
                </a:lnTo>
                <a:lnTo>
                  <a:pt x="5128489" y="1213485"/>
                </a:lnTo>
                <a:lnTo>
                  <a:pt x="4698402" y="1386840"/>
                </a:lnTo>
                <a:lnTo>
                  <a:pt x="4103213" y="1560195"/>
                </a:lnTo>
                <a:lnTo>
                  <a:pt x="3391943" y="1733550"/>
                </a:lnTo>
                <a:lnTo>
                  <a:pt x="2623172" y="1906905"/>
                </a:lnTo>
                <a:lnTo>
                  <a:pt x="1860216" y="2080260"/>
                </a:lnTo>
                <a:lnTo>
                  <a:pt x="1165914" y="2253615"/>
                </a:lnTo>
                <a:lnTo>
                  <a:pt x="597448" y="2426970"/>
                </a:lnTo>
                <a:lnTo>
                  <a:pt x="201637" y="2600325"/>
                </a:lnTo>
                <a:lnTo>
                  <a:pt x="11081" y="2773680"/>
                </a:lnTo>
                <a:lnTo>
                  <a:pt x="41473" y="2947035"/>
                </a:lnTo>
                <a:lnTo>
                  <a:pt x="290311" y="3120390"/>
                </a:lnTo>
                <a:lnTo>
                  <a:pt x="737101" y="3293745"/>
                </a:lnTo>
                <a:lnTo>
                  <a:pt x="1345044" y="3467100"/>
                </a:lnTo>
                <a:lnTo>
                  <a:pt x="2064069" y="3640455"/>
                </a:lnTo>
                <a:lnTo>
                  <a:pt x="2834959" y="3813810"/>
                </a:lnTo>
                <a:lnTo>
                  <a:pt x="3594221" y="3987165"/>
                </a:lnTo>
                <a:lnTo>
                  <a:pt x="4279322" y="4160520"/>
                </a:lnTo>
                <a:lnTo>
                  <a:pt x="4833838" y="4333875"/>
                </a:lnTo>
                <a:lnTo>
                  <a:pt x="5212098" y="4507230"/>
                </a:lnTo>
                <a:lnTo>
                  <a:pt x="5382948" y="4680585"/>
                </a:lnTo>
                <a:lnTo>
                  <a:pt x="5332317" y="4853940"/>
                </a:lnTo>
                <a:lnTo>
                  <a:pt x="5064375" y="5027295"/>
                </a:lnTo>
                <a:lnTo>
                  <a:pt x="4601190" y="5200650"/>
                </a:lnTo>
                <a:lnTo>
                  <a:pt x="3980910" y="5374005"/>
                </a:lnTo>
                <a:lnTo>
                  <a:pt x="3254621" y="5547360"/>
                </a:lnTo>
                <a:lnTo>
                  <a:pt x="2482142" y="5720715"/>
                </a:lnTo>
                <a:lnTo>
                  <a:pt x="1727093" y="5894070"/>
                </a:lnTo>
                <a:lnTo>
                  <a:pt x="1051662" y="6067425"/>
                </a:lnTo>
                <a:lnTo>
                  <a:pt x="511476" y="6240780"/>
                </a:lnTo>
                <a:lnTo>
                  <a:pt x="151027" y="6414135"/>
                </a:lnTo>
                <a:lnTo>
                  <a:pt x="0" y="6587490"/>
                </a:lnTo>
                <a:lnTo>
                  <a:pt x="70835" y="6760845"/>
                </a:lnTo>
                <a:lnTo>
                  <a:pt x="357697" y="6934200"/>
                </a:lnTo>
                <a:lnTo>
                  <a:pt x="836961" y="7107555"/>
                </a:lnTo>
                <a:lnTo>
                  <a:pt x="1469153" y="7280910"/>
                </a:lnTo>
                <a:lnTo>
                  <a:pt x="2202207" y="7454265"/>
                </a:lnTo>
                <a:lnTo>
                  <a:pt x="2975747" y="7627620"/>
                </a:lnTo>
                <a:lnTo>
                  <a:pt x="3726064" y="7800975"/>
                </a:lnTo>
                <a:lnTo>
                  <a:pt x="4391363" y="7974330"/>
                </a:lnTo>
                <a:lnTo>
                  <a:pt x="4916847" y="8147685"/>
                </a:lnTo>
                <a:lnTo>
                  <a:pt x="5259239" y="8321040"/>
                </a:lnTo>
              </a:path>
            </a:pathLst>
          </a:custGeom>
          <a:noFill/>
          <a:ln w="365760" cap="rnd">
            <a:solidFill>
              <a:srgbClr val="FDC6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548640"/>
            <a:ext cx="8229600" cy="320040"/>
          </a:xfrm>
          <a:prstGeom prst="rect">
            <a:avLst/>
          </a:prstGeom>
          <a:noFill/>
        </p:spPr>
        <p:txBody>
          <a:bodyPr wrap="square" anchor="t" lIns="0" rIns="0" tIns="0" bIns="0">
            <a:spAutoFit/>
          </a:bodyPr>
          <a:lstStyle/>
          <a:p>
            <a:pPr algn="l">
              <a:lnSpc>
                <a:spcPct val="115000"/>
              </a:lnSpc>
            </a:pPr>
            <a:r>
              <a:rPr sz="1150" b="1" i="0">
                <a:solidFill>
                  <a:srgbClr val="FDC646"/>
                </a:solidFill>
                <a:latin typeface="Arial"/>
              </a:rPr>
              <a:t>RECAP</a:t>
            </a:r>
          </a:p>
        </p:txBody>
      </p:sp>
      <p:sp>
        <p:nvSpPr>
          <p:cNvPr id="5" name="TextBox 4"/>
          <p:cNvSpPr txBox="1"/>
          <p:nvPr/>
        </p:nvSpPr>
        <p:spPr>
          <a:xfrm>
            <a:off x="685800" y="1280160"/>
            <a:ext cx="5943600" cy="2194560"/>
          </a:xfrm>
          <a:prstGeom prst="rect">
            <a:avLst/>
          </a:prstGeom>
          <a:noFill/>
        </p:spPr>
        <p:txBody>
          <a:bodyPr wrap="square" anchor="t" lIns="0" rIns="0" tIns="0" bIns="0">
            <a:spAutoFit/>
          </a:bodyPr>
          <a:lstStyle/>
          <a:p>
            <a:pPr algn="l">
              <a:lnSpc>
                <a:spcPct val="98000"/>
              </a:lnSpc>
            </a:pPr>
            <a:r>
              <a:rPr sz="5400" b="1" i="0">
                <a:solidFill>
                  <a:srgbClr val="FFFFFF"/>
                </a:solidFill>
                <a:latin typeface="Arial Rounded MT Bold"/>
              </a:rPr>
              <a:t>On To DAOs.</a:t>
            </a:r>
          </a:p>
        </p:txBody>
      </p:sp>
      <p:sp>
        <p:nvSpPr>
          <p:cNvPr id="6" name="TextBox 5"/>
          <p:cNvSpPr txBox="1"/>
          <p:nvPr/>
        </p:nvSpPr>
        <p:spPr>
          <a:xfrm>
            <a:off x="685800" y="3566160"/>
            <a:ext cx="5303520" cy="822960"/>
          </a:xfrm>
          <a:prstGeom prst="rect">
            <a:avLst/>
          </a:prstGeom>
          <a:noFill/>
        </p:spPr>
        <p:txBody>
          <a:bodyPr wrap="square" anchor="t" lIns="0" rIns="0" tIns="0" bIns="0">
            <a:spAutoFit/>
          </a:bodyPr>
          <a:lstStyle/>
          <a:p>
            <a:pPr algn="l">
              <a:lnSpc>
                <a:spcPct val="135000"/>
              </a:lnSpc>
            </a:pPr>
            <a:r>
              <a:rPr sz="1350" b="0" i="0">
                <a:solidFill>
                  <a:srgbClr val="E3E0F7"/>
                </a:solidFill>
                <a:latin typeface="Arial"/>
              </a:rPr>
              <a:t>You have the vocabulary for decentralized infrastructure. Next: what happens when the decision-making itself is decentralized too.</a:t>
            </a:r>
          </a:p>
        </p:txBody>
      </p:sp>
      <p:sp>
        <p:nvSpPr>
          <p:cNvPr id="7" name="TextBox 6"/>
          <p:cNvSpPr txBox="1"/>
          <p:nvPr/>
        </p:nvSpPr>
        <p:spPr>
          <a:xfrm>
            <a:off x="685800" y="4937760"/>
            <a:ext cx="6035040" cy="274320"/>
          </a:xfrm>
          <a:prstGeom prst="rect">
            <a:avLst/>
          </a:prstGeom>
          <a:noFill/>
        </p:spPr>
        <p:txBody>
          <a:bodyPr wrap="square" anchor="t" lIns="0" rIns="0" tIns="0" bIns="0">
            <a:spAutoFit/>
          </a:bodyPr>
          <a:lstStyle/>
          <a:p>
            <a:pPr algn="l">
              <a:lnSpc>
                <a:spcPct val="115000"/>
              </a:lnSpc>
            </a:pPr>
            <a:r>
              <a:rPr sz="1000" b="1" i="0">
                <a:solidFill>
                  <a:srgbClr val="FDC646"/>
                </a:solidFill>
                <a:latin typeface="Arial"/>
              </a:rPr>
              <a:t>REPOSITORY</a:t>
            </a:r>
          </a:p>
        </p:txBody>
      </p:sp>
      <p:sp>
        <p:nvSpPr>
          <p:cNvPr id="8" name="TextBox 7"/>
          <p:cNvSpPr txBox="1"/>
          <p:nvPr/>
        </p:nvSpPr>
        <p:spPr>
          <a:xfrm>
            <a:off x="685800" y="5230368"/>
            <a:ext cx="6035040" cy="457200"/>
          </a:xfrm>
          <a:prstGeom prst="rect">
            <a:avLst/>
          </a:prstGeom>
          <a:noFill/>
        </p:spPr>
        <p:txBody>
          <a:bodyPr wrap="square" anchor="t" lIns="0" rIns="0" tIns="0" bIns="0">
            <a:spAutoFit/>
          </a:bodyPr>
          <a:lstStyle/>
          <a:p>
            <a:pPr algn="l">
              <a:lnSpc>
                <a:spcPct val="120000"/>
              </a:lnSpc>
            </a:pPr>
            <a:r>
              <a:rPr sz="1200" b="0" i="0">
                <a:solidFill>
                  <a:srgbClr val="FFFFFF"/>
                </a:solidFill>
                <a:latin typeface="Arial"/>
              </a:rPr>
              <a:t>github.com/jadonamite/BlockchainCourse</a:t>
            </a:r>
          </a:p>
        </p:txBody>
      </p:sp>
      <p:sp>
        <p:nvSpPr>
          <p:cNvPr id="9" name="TextBox 8"/>
          <p:cNvSpPr txBox="1"/>
          <p:nvPr/>
        </p:nvSpPr>
        <p:spPr>
          <a:xfrm>
            <a:off x="685800" y="5596128"/>
            <a:ext cx="6035040" cy="274320"/>
          </a:xfrm>
          <a:prstGeom prst="rect">
            <a:avLst/>
          </a:prstGeom>
          <a:noFill/>
        </p:spPr>
        <p:txBody>
          <a:bodyPr wrap="square" anchor="t" lIns="0" rIns="0" tIns="0" bIns="0">
            <a:spAutoFit/>
          </a:bodyPr>
          <a:lstStyle/>
          <a:p>
            <a:pPr algn="l">
              <a:lnSpc>
                <a:spcPct val="115000"/>
              </a:lnSpc>
            </a:pPr>
            <a:r>
              <a:rPr sz="1000" b="1" i="0">
                <a:solidFill>
                  <a:srgbClr val="FDC646"/>
                </a:solidFill>
                <a:latin typeface="Arial"/>
              </a:rPr>
              <a:t>THIS TOPIC</a:t>
            </a:r>
          </a:p>
        </p:txBody>
      </p:sp>
      <p:sp>
        <p:nvSpPr>
          <p:cNvPr id="10" name="TextBox 9"/>
          <p:cNvSpPr txBox="1"/>
          <p:nvPr/>
        </p:nvSpPr>
        <p:spPr>
          <a:xfrm>
            <a:off x="685800" y="5888736"/>
            <a:ext cx="6035040" cy="457200"/>
          </a:xfrm>
          <a:prstGeom prst="rect">
            <a:avLst/>
          </a:prstGeom>
          <a:noFill/>
        </p:spPr>
        <p:txBody>
          <a:bodyPr wrap="square" anchor="t" lIns="0" rIns="0" tIns="0" bIns="0">
            <a:spAutoFit/>
          </a:bodyPr>
          <a:lstStyle/>
          <a:p>
            <a:pPr algn="l">
              <a:lnSpc>
                <a:spcPct val="120000"/>
              </a:lnSpc>
            </a:pPr>
            <a:r>
              <a:rPr sz="1200" b="0" i="0">
                <a:solidFill>
                  <a:srgbClr val="FFFFFF"/>
                </a:solidFill>
                <a:latin typeface="Arial"/>
              </a:rPr>
              <a:t>curriculum/week-02/02-types-and-forms-of-decentralization.md</a:t>
            </a:r>
          </a:p>
        </p:txBody>
      </p:sp>
      <p:sp>
        <p:nvSpPr>
          <p:cNvPr id="11" name="TextBox 10"/>
          <p:cNvSpPr txBox="1"/>
          <p:nvPr/>
        </p:nvSpPr>
        <p:spPr>
          <a:xfrm>
            <a:off x="685800" y="6254496"/>
            <a:ext cx="6035040" cy="274320"/>
          </a:xfrm>
          <a:prstGeom prst="rect">
            <a:avLst/>
          </a:prstGeom>
          <a:noFill/>
        </p:spPr>
        <p:txBody>
          <a:bodyPr wrap="square" anchor="t" lIns="0" rIns="0" tIns="0" bIns="0">
            <a:spAutoFit/>
          </a:bodyPr>
          <a:lstStyle/>
          <a:p>
            <a:pPr algn="l">
              <a:lnSpc>
                <a:spcPct val="115000"/>
              </a:lnSpc>
            </a:pPr>
            <a:r>
              <a:rPr sz="1000" b="1" i="0">
                <a:solidFill>
                  <a:srgbClr val="FDC646"/>
                </a:solidFill>
                <a:latin typeface="Arial"/>
              </a:rPr>
              <a:t>NEXT UP</a:t>
            </a:r>
          </a:p>
        </p:txBody>
      </p:sp>
      <p:sp>
        <p:nvSpPr>
          <p:cNvPr id="12" name="TextBox 11"/>
          <p:cNvSpPr txBox="1"/>
          <p:nvPr/>
        </p:nvSpPr>
        <p:spPr>
          <a:xfrm>
            <a:off x="685800" y="6547104"/>
            <a:ext cx="6035040" cy="457200"/>
          </a:xfrm>
          <a:prstGeom prst="rect">
            <a:avLst/>
          </a:prstGeom>
          <a:noFill/>
        </p:spPr>
        <p:txBody>
          <a:bodyPr wrap="square" anchor="t" lIns="0" rIns="0" tIns="0" bIns="0">
            <a:spAutoFit/>
          </a:bodyPr>
          <a:lstStyle/>
          <a:p>
            <a:pPr algn="l">
              <a:lnSpc>
                <a:spcPct val="120000"/>
              </a:lnSpc>
            </a:pPr>
            <a:r>
              <a:rPr sz="1200" b="0" i="0">
                <a:solidFill>
                  <a:srgbClr val="FFFFFF"/>
                </a:solidFill>
                <a:latin typeface="Arial"/>
              </a:rPr>
              <a:t>Topic 03 — DAOs</a:t>
            </a:r>
          </a:p>
        </p:txBody>
      </p:sp>
      <p:sp>
        <p:nvSpPr>
          <p:cNvPr id="13" name="TextBox 12"/>
          <p:cNvSpPr txBox="1"/>
          <p:nvPr/>
        </p:nvSpPr>
        <p:spPr>
          <a:xfrm>
            <a:off x="11018520" y="6492240"/>
            <a:ext cx="960120" cy="274320"/>
          </a:xfrm>
          <a:prstGeom prst="rect">
            <a:avLst/>
          </a:prstGeom>
          <a:noFill/>
        </p:spPr>
        <p:txBody>
          <a:bodyPr wrap="square" anchor="t" lIns="0" rIns="0" tIns="0" bIns="0">
            <a:spAutoFit/>
          </a:bodyPr>
          <a:lstStyle/>
          <a:p>
            <a:pPr algn="r">
              <a:lnSpc>
                <a:spcPct val="115000"/>
              </a:lnSpc>
            </a:pPr>
            <a:r>
              <a:rPr sz="1000" b="1" i="0">
                <a:solidFill>
                  <a:srgbClr val="C7C2E8"/>
                </a:solidFill>
                <a:latin typeface="Courier New"/>
              </a:rPr>
              <a:t>22/22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