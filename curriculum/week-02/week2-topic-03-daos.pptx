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737360" y="32004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2470947" y="1051560"/>
            <a:ext cx="3010801" cy="2286000"/>
          </a:xfrm>
          <a:custGeom>
            <a:avLst/>
            <a:gdLst/>
            <a:ahLst/>
            <a:cxnLst/>
            <a:rect l="l" t="t" r="r" b="b"/>
            <a:pathLst>
              <a:path w="3010801" h="2286000">
                <a:moveTo>
                  <a:pt x="1506693" y="0"/>
                </a:moveTo>
                <a:lnTo>
                  <a:pt x="1935203" y="47625"/>
                </a:lnTo>
                <a:lnTo>
                  <a:pt x="2328422" y="95250"/>
                </a:lnTo>
                <a:lnTo>
                  <a:pt x="2653963" y="142875"/>
                </a:lnTo>
                <a:lnTo>
                  <a:pt x="2885013" y="190500"/>
                </a:lnTo>
                <a:lnTo>
                  <a:pt x="3002545" y="238125"/>
                </a:lnTo>
                <a:lnTo>
                  <a:pt x="2996877" y="285750"/>
                </a:lnTo>
                <a:lnTo>
                  <a:pt x="2868477" y="333375"/>
                </a:lnTo>
                <a:lnTo>
                  <a:pt x="2627920" y="381000"/>
                </a:lnTo>
                <a:lnTo>
                  <a:pt x="2295017" y="428625"/>
                </a:lnTo>
                <a:lnTo>
                  <a:pt x="1897188" y="476250"/>
                </a:lnTo>
                <a:lnTo>
                  <a:pt x="1467198" y="523875"/>
                </a:lnTo>
                <a:lnTo>
                  <a:pt x="1040460" y="571500"/>
                </a:lnTo>
                <a:lnTo>
                  <a:pt x="652121" y="619125"/>
                </a:lnTo>
                <a:lnTo>
                  <a:pt x="334166" y="666750"/>
                </a:lnTo>
                <a:lnTo>
                  <a:pt x="112780" y="714375"/>
                </a:lnTo>
                <a:lnTo>
                  <a:pt x="6198" y="762000"/>
                </a:lnTo>
                <a:lnTo>
                  <a:pt x="23197" y="809625"/>
                </a:lnTo>
                <a:lnTo>
                  <a:pt x="162377" y="857250"/>
                </a:lnTo>
                <a:lnTo>
                  <a:pt x="412277" y="904875"/>
                </a:lnTo>
                <a:lnTo>
                  <a:pt x="752313" y="952500"/>
                </a:lnTo>
                <a:lnTo>
                  <a:pt x="1154479" y="1000125"/>
                </a:lnTo>
                <a:lnTo>
                  <a:pt x="1585655" y="1047750"/>
                </a:lnTo>
                <a:lnTo>
                  <a:pt x="2010327" y="1095375"/>
                </a:lnTo>
                <a:lnTo>
                  <a:pt x="2393519" y="1143000"/>
                </a:lnTo>
                <a:lnTo>
                  <a:pt x="2703672" y="1190625"/>
                </a:lnTo>
                <a:lnTo>
                  <a:pt x="2915241" y="1238250"/>
                </a:lnTo>
                <a:lnTo>
                  <a:pt x="3010801" y="1285875"/>
                </a:lnTo>
                <a:lnTo>
                  <a:pt x="2982482" y="1333500"/>
                </a:lnTo>
                <a:lnTo>
                  <a:pt x="2832617" y="1381125"/>
                </a:lnTo>
                <a:lnTo>
                  <a:pt x="2573547" y="1428750"/>
                </a:lnTo>
                <a:lnTo>
                  <a:pt x="2226611" y="1476375"/>
                </a:lnTo>
                <a:lnTo>
                  <a:pt x="1820381" y="1524000"/>
                </a:lnTo>
                <a:lnTo>
                  <a:pt x="1388317" y="1571625"/>
                </a:lnTo>
                <a:lnTo>
                  <a:pt x="966001" y="1619250"/>
                </a:lnTo>
                <a:lnTo>
                  <a:pt x="588218" y="1666875"/>
                </a:lnTo>
                <a:lnTo>
                  <a:pt x="286080" y="1714500"/>
                </a:lnTo>
                <a:lnTo>
                  <a:pt x="84473" y="1762125"/>
                </a:lnTo>
                <a:lnTo>
                  <a:pt x="0" y="1809750"/>
                </a:lnTo>
                <a:lnTo>
                  <a:pt x="39620" y="1857375"/>
                </a:lnTo>
                <a:lnTo>
                  <a:pt x="200068" y="1905000"/>
                </a:lnTo>
                <a:lnTo>
                  <a:pt x="468131" y="1952625"/>
                </a:lnTo>
                <a:lnTo>
                  <a:pt x="821730" y="2000250"/>
                </a:lnTo>
                <a:lnTo>
                  <a:pt x="1231743" y="2047875"/>
                </a:lnTo>
                <a:lnTo>
                  <a:pt x="1664401" y="2095500"/>
                </a:lnTo>
                <a:lnTo>
                  <a:pt x="2084070" y="2143125"/>
                </a:lnTo>
                <a:lnTo>
                  <a:pt x="2456186" y="2190750"/>
                </a:lnTo>
                <a:lnTo>
                  <a:pt x="2750101" y="2238375"/>
                </a:lnTo>
                <a:lnTo>
                  <a:pt x="2941609" y="2286000"/>
                </a:lnTo>
              </a:path>
            </a:pathLst>
          </a:custGeom>
          <a:noFill/>
          <a:ln w="1828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103120" y="4160520"/>
            <a:ext cx="365760" cy="365760"/>
          </a:xfrm>
          <a:prstGeom prst="ellipse">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434840"/>
            <a:ext cx="502920" cy="502920"/>
          </a:xfrm>
          <a:prstGeom prst="ellipse">
            <a:avLst/>
          </a:prstGeom>
          <a:noFill/>
          <a:ln w="31750">
            <a:solidFill>
              <a:srgbClr val="938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0292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BLOCKCHAINCOURSE · CURRICULUM</a:t>
            </a:r>
          </a:p>
        </p:txBody>
      </p:sp>
      <p:sp>
        <p:nvSpPr>
          <p:cNvPr id="8" name="TextBox 7"/>
          <p:cNvSpPr txBox="1"/>
          <p:nvPr/>
        </p:nvSpPr>
        <p:spPr>
          <a:xfrm>
            <a:off x="685800" y="914400"/>
            <a:ext cx="6035040" cy="2377440"/>
          </a:xfrm>
          <a:prstGeom prst="rect">
            <a:avLst/>
          </a:prstGeom>
          <a:noFill/>
        </p:spPr>
        <p:txBody>
          <a:bodyPr wrap="square" anchor="t" lIns="0" rIns="0" tIns="0" bIns="0">
            <a:spAutoFit/>
          </a:bodyPr>
          <a:lstStyle/>
          <a:p>
            <a:pPr algn="l">
              <a:lnSpc>
                <a:spcPct val="102000"/>
              </a:lnSpc>
            </a:pPr>
            <a:r>
              <a:rPr sz="4200" b="1" i="0">
                <a:solidFill>
                  <a:srgbClr val="FFFFFF"/>
                </a:solidFill>
                <a:latin typeface="Arial Rounded MT Bold"/>
              </a:rPr>
              <a:t>Practical Engineering
Over Hype</a:t>
            </a:r>
          </a:p>
        </p:txBody>
      </p:sp>
      <p:sp>
        <p:nvSpPr>
          <p:cNvPr id="9" name="TextBox 8"/>
          <p:cNvSpPr txBox="1"/>
          <p:nvPr/>
        </p:nvSpPr>
        <p:spPr>
          <a:xfrm>
            <a:off x="685800" y="3246120"/>
            <a:ext cx="5120640" cy="1051560"/>
          </a:xfrm>
          <a:prstGeom prst="rect">
            <a:avLst/>
          </a:prstGeom>
          <a:noFill/>
        </p:spPr>
        <p:txBody>
          <a:bodyPr wrap="square" anchor="t" lIns="0" rIns="0" tIns="0" bIns="0">
            <a:spAutoFit/>
          </a:bodyPr>
          <a:lstStyle/>
          <a:p>
            <a:pPr algn="l">
              <a:lnSpc>
                <a:spcPct val="140000"/>
              </a:lnSpc>
            </a:pPr>
            <a:r>
              <a:rPr sz="1350" b="0" i="1">
                <a:solidFill>
                  <a:srgbClr val="E3E0F7"/>
                </a:solidFill>
                <a:latin typeface="Arial"/>
              </a:rPr>
              <a:t>No memorized buzzwords, no copy-pasted templates you can't explain. Understand the mechanics first.</a:t>
            </a:r>
          </a:p>
        </p:txBody>
      </p:sp>
      <p:sp>
        <p:nvSpPr>
          <p:cNvPr id="10" name="Rounded Rectangle 9"/>
          <p:cNvSpPr/>
          <p:nvPr/>
        </p:nvSpPr>
        <p:spPr>
          <a:xfrm>
            <a:off x="685800" y="4526280"/>
            <a:ext cx="1609344" cy="45720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300" b="1">
                <a:solidFill>
                  <a:srgbClr val="221F33"/>
                </a:solidFill>
                <a:latin typeface="Arial"/>
              </a:rPr>
              <a:t>Start Learning</a:t>
            </a:r>
          </a:p>
        </p:txBody>
      </p:sp>
      <p:sp>
        <p:nvSpPr>
          <p:cNvPr id="11" name="Oval 10"/>
          <p:cNvSpPr/>
          <p:nvPr/>
        </p:nvSpPr>
        <p:spPr>
          <a:xfrm>
            <a:off x="2432304" y="4526280"/>
            <a:ext cx="457200" cy="457200"/>
          </a:xfrm>
          <a:prstGeom prst="ellipse">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800" b="1">
                <a:solidFill>
                  <a:srgbClr val="FFFFFF"/>
                </a:solidFill>
              </a:rPr>
              <a:t>→</a:t>
            </a:r>
          </a:p>
        </p:txBody>
      </p:sp>
      <p:pic>
        <p:nvPicPr>
          <p:cNvPr id="12" name="Picture 11" descr="_c_hero1.jpg"/>
          <p:cNvPicPr>
            <a:picLocks noChangeAspect="1"/>
          </p:cNvPicPr>
          <p:nvPr/>
        </p:nvPicPr>
        <p:blipFill>
          <a:blip r:embed="rId2"/>
          <a:stretch>
            <a:fillRect/>
          </a:stretch>
        </p:blipFill>
        <p:spPr>
          <a:xfrm>
            <a:off x="6949440" y="502920"/>
            <a:ext cx="4663440" cy="5852160"/>
          </a:xfrm>
          <a:prstGeom prst="rect">
            <a:avLst/>
          </a:prstGeom>
        </p:spPr>
      </p:pic>
      <p:sp>
        <p:nvSpPr>
          <p:cNvPr id="13" name="Rounded Rectangle 12"/>
          <p:cNvSpPr/>
          <p:nvPr/>
        </p:nvSpPr>
        <p:spPr>
          <a:xfrm>
            <a:off x="6720840" y="1051560"/>
            <a:ext cx="2468880" cy="8686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03720" y="1170432"/>
            <a:ext cx="2148840" cy="274320"/>
          </a:xfrm>
          <a:prstGeom prst="rect">
            <a:avLst/>
          </a:prstGeom>
          <a:noFill/>
        </p:spPr>
        <p:txBody>
          <a:bodyPr wrap="square" anchor="t" lIns="0" rIns="0" tIns="0" bIns="0">
            <a:spAutoFit/>
          </a:bodyPr>
          <a:lstStyle/>
          <a:p>
            <a:pPr algn="l">
              <a:lnSpc>
                <a:spcPct val="115000"/>
              </a:lnSpc>
            </a:pPr>
            <a:r>
              <a:rPr sz="950" b="1" i="0">
                <a:solidFill>
                  <a:srgbClr val="8B8899"/>
                </a:solidFill>
                <a:latin typeface="Arial"/>
              </a:rPr>
              <a:t>This Slide</a:t>
            </a:r>
          </a:p>
        </p:txBody>
      </p:sp>
      <p:sp>
        <p:nvSpPr>
          <p:cNvPr id="15" name="TextBox 14"/>
          <p:cNvSpPr txBox="1"/>
          <p:nvPr/>
        </p:nvSpPr>
        <p:spPr>
          <a:xfrm>
            <a:off x="6903720" y="1444752"/>
            <a:ext cx="2148840" cy="411480"/>
          </a:xfrm>
          <a:prstGeom prst="rect">
            <a:avLst/>
          </a:prstGeom>
          <a:noFill/>
        </p:spPr>
        <p:txBody>
          <a:bodyPr wrap="square" anchor="t" lIns="0" rIns="0" tIns="0" bIns="0">
            <a:spAutoFit/>
          </a:bodyPr>
          <a:lstStyle/>
          <a:p>
            <a:pPr algn="l">
              <a:lnSpc>
                <a:spcPct val="110000"/>
              </a:lnSpc>
            </a:pPr>
            <a:r>
              <a:rPr sz="1050" b="1" i="0">
                <a:solidFill>
                  <a:srgbClr val="221F33"/>
                </a:solidFill>
                <a:latin typeface="Arial"/>
              </a:rPr>
              <a:t>Week 02 · Concepts</a:t>
            </a:r>
          </a:p>
        </p:txBody>
      </p:sp>
      <p:sp>
        <p:nvSpPr>
          <p:cNvPr id="16" name="TextBox 15"/>
          <p:cNvSpPr txBox="1"/>
          <p:nvPr/>
        </p:nvSpPr>
        <p:spPr>
          <a:xfrm>
            <a:off x="685800" y="6446520"/>
            <a:ext cx="5943600" cy="274320"/>
          </a:xfrm>
          <a:prstGeom prst="rect">
            <a:avLst/>
          </a:prstGeom>
          <a:noFill/>
        </p:spPr>
        <p:txBody>
          <a:bodyPr wrap="square" anchor="t" lIns="0" rIns="0" tIns="0" bIns="0">
            <a:spAutoFit/>
          </a:bodyPr>
          <a:lstStyle/>
          <a:p>
            <a:pPr algn="l">
              <a:lnSpc>
                <a:spcPct val="115000"/>
              </a:lnSpc>
            </a:pPr>
            <a:r>
              <a:rPr sz="850" b="0" i="0">
                <a:solidFill>
                  <a:srgbClr val="C7C2E8"/>
                </a:solidFill>
                <a:latin typeface="Arial"/>
              </a:rPr>
              <a:t/>
            </a:r>
          </a:p>
        </p:txBody>
      </p:sp>
      <p:sp>
        <p:nvSpPr>
          <p:cNvPr id="17" name="TextBox 16"/>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C7C2E8"/>
                </a:solidFill>
                <a:latin typeface="Courier New"/>
              </a:rPr>
              <a:t>01/22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8B8899"/>
                </a:solidFill>
                <a:latin typeface="Arial"/>
              </a:rPr>
              <a:t>HOW THIS COURSE IS STRUCTURED</a:t>
            </a:r>
          </a:p>
        </p:txBody>
      </p:sp>
      <p:sp>
        <p:nvSpPr>
          <p:cNvPr id="4" name="TextBox 3"/>
          <p:cNvSpPr txBox="1"/>
          <p:nvPr/>
        </p:nvSpPr>
        <p:spPr>
          <a:xfrm>
            <a:off x="685800" y="914400"/>
            <a:ext cx="10515600" cy="822960"/>
          </a:xfrm>
          <a:prstGeom prst="rect">
            <a:avLst/>
          </a:prstGeom>
          <a:noFill/>
        </p:spPr>
        <p:txBody>
          <a:bodyPr wrap="square" anchor="t" lIns="0" rIns="0" tIns="0" bIns="0">
            <a:spAutoFit/>
          </a:bodyPr>
          <a:lstStyle/>
          <a:p>
            <a:pPr algn="l">
              <a:lnSpc>
                <a:spcPct val="115000"/>
              </a:lnSpc>
            </a:pPr>
            <a:r>
              <a:rPr sz="3000" b="1" i="0">
                <a:solidFill>
                  <a:srgbClr val="221F33"/>
                </a:solidFill>
                <a:latin typeface="Arial Rounded MT Bold"/>
              </a:rPr>
              <a:t>Two Halves</a:t>
            </a:r>
          </a:p>
        </p:txBody>
      </p:sp>
      <p:sp>
        <p:nvSpPr>
          <p:cNvPr id="5" name="TextBox 4"/>
          <p:cNvSpPr txBox="1"/>
          <p:nvPr/>
        </p:nvSpPr>
        <p:spPr>
          <a:xfrm>
            <a:off x="685800" y="1691640"/>
            <a:ext cx="10515600" cy="548640"/>
          </a:xfrm>
          <a:prstGeom prst="rect">
            <a:avLst/>
          </a:prstGeom>
          <a:noFill/>
        </p:spPr>
        <p:txBody>
          <a:bodyPr wrap="square" anchor="t" lIns="0" rIns="0" tIns="0" bIns="0">
            <a:spAutoFit/>
          </a:bodyPr>
          <a:lstStyle/>
          <a:p>
            <a:pPr algn="l">
              <a:lnSpc>
                <a:spcPct val="140000"/>
              </a:lnSpc>
            </a:pPr>
            <a:r>
              <a:rPr sz="1300" b="0" i="0">
                <a:solidFill>
                  <a:srgbClr val="8B8899"/>
                </a:solidFill>
                <a:latin typeface="Arial"/>
              </a:rPr>
              <a:t>Everything builds toward one goal: understand how it works, then ship something real.</a:t>
            </a:r>
          </a:p>
        </p:txBody>
      </p:sp>
      <p:sp>
        <p:nvSpPr>
          <p:cNvPr id="6" name="Rounded Rectangle 5"/>
          <p:cNvSpPr/>
          <p:nvPr/>
        </p:nvSpPr>
        <p:spPr>
          <a:xfrm>
            <a:off x="685800" y="2560320"/>
            <a:ext cx="5120640" cy="3520440"/>
          </a:xfrm>
          <a:prstGeom prst="roundRect">
            <a:avLst>
              <a:gd name="adj" fmla="val 6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6C5FE8"/>
                </a:solidFill>
                <a:latin typeface="Arial Rounded MT Bold"/>
              </a:rPr>
              <a:t>1</a:t>
            </a:r>
          </a:p>
        </p:txBody>
      </p:sp>
      <p:sp>
        <p:nvSpPr>
          <p:cNvPr id="8" name="TextBox 7"/>
          <p:cNvSpPr txBox="1"/>
          <p:nvPr/>
        </p:nvSpPr>
        <p:spPr>
          <a:xfrm>
            <a:off x="105156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Half 1 · Weeks 1-5</a:t>
            </a:r>
          </a:p>
        </p:txBody>
      </p:sp>
      <p:sp>
        <p:nvSpPr>
          <p:cNvPr id="9" name="TextBox 8"/>
          <p:cNvSpPr txBox="1"/>
          <p:nvPr/>
        </p:nvSpPr>
        <p:spPr>
          <a:xfrm>
            <a:off x="105156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Basics &amp; core concepts. Everything you need to walk into a hackathon and build something real — wallets, contracts, tokens, a working dApp.</a:t>
            </a:r>
          </a:p>
        </p:txBody>
      </p:sp>
      <p:sp>
        <p:nvSpPr>
          <p:cNvPr id="10" name="Rounded Rectangle 9"/>
          <p:cNvSpPr/>
          <p:nvPr/>
        </p:nvSpPr>
        <p:spPr>
          <a:xfrm>
            <a:off x="1051560" y="5394960"/>
            <a:ext cx="2432304" cy="3657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100" b="1">
                <a:solidFill>
                  <a:srgbClr val="6C5FE8"/>
                </a:solidFill>
                <a:latin typeface="Arial"/>
              </a:rPr>
              <a:t>◉ You are here — Week 02</a:t>
            </a:r>
          </a:p>
        </p:txBody>
      </p:sp>
      <p:sp>
        <p:nvSpPr>
          <p:cNvPr id="11" name="Rounded Rectangle 10"/>
          <p:cNvSpPr/>
          <p:nvPr/>
        </p:nvSpPr>
        <p:spPr>
          <a:xfrm>
            <a:off x="6126480" y="2560320"/>
            <a:ext cx="5120640" cy="3520440"/>
          </a:xfrm>
          <a:prstGeom prst="roundRect">
            <a:avLst>
              <a:gd name="adj" fmla="val 6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9224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35C078"/>
                </a:solidFill>
                <a:latin typeface="Arial Rounded MT Bold"/>
              </a:rPr>
              <a:t>2</a:t>
            </a:r>
          </a:p>
        </p:txBody>
      </p:sp>
      <p:sp>
        <p:nvSpPr>
          <p:cNvPr id="13" name="TextBox 12"/>
          <p:cNvSpPr txBox="1"/>
          <p:nvPr/>
        </p:nvSpPr>
        <p:spPr>
          <a:xfrm>
            <a:off x="649224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Half 2 · Weeks 6-9</a:t>
            </a:r>
          </a:p>
        </p:txBody>
      </p:sp>
      <p:sp>
        <p:nvSpPr>
          <p:cNvPr id="14" name="TextBox 13"/>
          <p:cNvSpPr txBox="1"/>
          <p:nvPr/>
        </p:nvSpPr>
        <p:spPr>
          <a:xfrm>
            <a:off x="649224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Advanced topics. Security, upgradeable contracts, Layer 2s, and the wider ecosystem — what separates a prototype from production.</a:t>
            </a:r>
          </a:p>
        </p:txBody>
      </p:sp>
      <p:sp>
        <p:nvSpPr>
          <p:cNvPr id="15" name="TextBox 14"/>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02/22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6C5FE8"/>
                </a:solidFill>
                <a:latin typeface="Arial"/>
              </a:rPr>
              <a:t>BEFORE YOU BEGIN</a:t>
            </a:r>
          </a:p>
        </p:txBody>
      </p:sp>
      <p:sp>
        <p:nvSpPr>
          <p:cNvPr id="4" name="TextBox 3"/>
          <p:cNvSpPr txBox="1"/>
          <p:nvPr/>
        </p:nvSpPr>
        <p:spPr>
          <a:xfrm>
            <a:off x="685800" y="914400"/>
            <a:ext cx="420624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Ground Rules</a:t>
            </a:r>
          </a:p>
        </p:txBody>
      </p:sp>
      <p:pic>
        <p:nvPicPr>
          <p:cNvPr id="5" name="Picture 4" descr="_c_tl3_rules.jpg"/>
          <p:cNvPicPr>
            <a:picLocks noChangeAspect="1"/>
          </p:cNvPicPr>
          <p:nvPr/>
        </p:nvPicPr>
        <p:blipFill>
          <a:blip r:embed="rId2"/>
          <a:stretch>
            <a:fillRect/>
          </a:stretch>
        </p:blipFill>
        <p:spPr>
          <a:xfrm>
            <a:off x="685800" y="2377440"/>
            <a:ext cx="4206240" cy="3291840"/>
          </a:xfrm>
          <a:prstGeom prst="rect">
            <a:avLst/>
          </a:prstGeom>
        </p:spPr>
      </p:pic>
      <p:sp>
        <p:nvSpPr>
          <p:cNvPr id="6" name="Rounded Rectangle 5"/>
          <p:cNvSpPr/>
          <p:nvPr/>
        </p:nvSpPr>
        <p:spPr>
          <a:xfrm>
            <a:off x="5486400" y="1005840"/>
            <a:ext cx="621792" cy="365760"/>
          </a:xfrm>
          <a:prstGeom prst="roundRect">
            <a:avLst>
              <a:gd name="adj" fmla="val 50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01</a:t>
            </a:r>
          </a:p>
        </p:txBody>
      </p:sp>
      <p:sp>
        <p:nvSpPr>
          <p:cNvPr id="7" name="TextBox 6"/>
          <p:cNvSpPr txBox="1"/>
          <p:nvPr/>
        </p:nvSpPr>
        <p:spPr>
          <a:xfrm>
            <a:off x="6172200" y="98755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Understand before you copy</a:t>
            </a:r>
          </a:p>
        </p:txBody>
      </p:sp>
      <p:sp>
        <p:nvSpPr>
          <p:cNvPr id="8" name="TextBox 7"/>
          <p:cNvSpPr txBox="1"/>
          <p:nvPr/>
        </p:nvSpPr>
        <p:spPr>
          <a:xfrm>
            <a:off x="6172200" y="138988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If you can't explain a line of code, don't ship it.</a:t>
            </a:r>
          </a:p>
        </p:txBody>
      </p:sp>
      <p:cxnSp>
        <p:nvCxnSpPr>
          <p:cNvPr id="9" name="Connector 8"/>
          <p:cNvCxnSpPr/>
          <p:nvPr/>
        </p:nvCxnSpPr>
        <p:spPr>
          <a:xfrm>
            <a:off x="5742432" y="141732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0" y="2057400"/>
            <a:ext cx="621792" cy="365760"/>
          </a:xfrm>
          <a:prstGeom prst="roundRect">
            <a:avLst>
              <a:gd name="adj" fmla="val 50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02</a:t>
            </a:r>
          </a:p>
        </p:txBody>
      </p:sp>
      <p:sp>
        <p:nvSpPr>
          <p:cNvPr id="11" name="TextBox 10"/>
          <p:cNvSpPr txBox="1"/>
          <p:nvPr/>
        </p:nvSpPr>
        <p:spPr>
          <a:xfrm>
            <a:off x="6172200" y="203911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Testnet first, always</a:t>
            </a:r>
          </a:p>
        </p:txBody>
      </p:sp>
      <p:sp>
        <p:nvSpPr>
          <p:cNvPr id="12" name="TextBox 11"/>
          <p:cNvSpPr txBox="1"/>
          <p:nvPr/>
        </p:nvSpPr>
        <p:spPr>
          <a:xfrm>
            <a:off x="6172200" y="244144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Never deploy something you haven't tested.</a:t>
            </a:r>
          </a:p>
        </p:txBody>
      </p:sp>
      <p:cxnSp>
        <p:nvCxnSpPr>
          <p:cNvPr id="13" name="Connector 12"/>
          <p:cNvCxnSpPr/>
          <p:nvPr/>
        </p:nvCxnSpPr>
        <p:spPr>
          <a:xfrm>
            <a:off x="5742432" y="246888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0" y="3108960"/>
            <a:ext cx="621792" cy="365760"/>
          </a:xfrm>
          <a:prstGeom prst="roundRect">
            <a:avLst>
              <a:gd name="adj" fmla="val 50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03</a:t>
            </a:r>
          </a:p>
        </p:txBody>
      </p:sp>
      <p:sp>
        <p:nvSpPr>
          <p:cNvPr id="15" name="TextBox 14"/>
          <p:cNvSpPr txBox="1"/>
          <p:nvPr/>
        </p:nvSpPr>
        <p:spPr>
          <a:xfrm>
            <a:off x="6172200" y="309067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No frontend before the CLI works</a:t>
            </a:r>
          </a:p>
        </p:txBody>
      </p:sp>
      <p:sp>
        <p:nvSpPr>
          <p:cNvPr id="16" name="TextBox 15"/>
          <p:cNvSpPr txBox="1"/>
          <p:nvPr/>
        </p:nvSpPr>
        <p:spPr>
          <a:xfrm>
            <a:off x="6172200" y="349300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Deploy and call a contract with cast first.</a:t>
            </a:r>
          </a:p>
        </p:txBody>
      </p:sp>
      <p:cxnSp>
        <p:nvCxnSpPr>
          <p:cNvPr id="17" name="Connector 16"/>
          <p:cNvCxnSpPr/>
          <p:nvPr/>
        </p:nvCxnSpPr>
        <p:spPr>
          <a:xfrm>
            <a:off x="5742432" y="352044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0" y="4160520"/>
            <a:ext cx="621792" cy="365760"/>
          </a:xfrm>
          <a:prstGeom prst="roundRect">
            <a:avLst>
              <a:gd name="adj" fmla="val 50000"/>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04</a:t>
            </a:r>
          </a:p>
        </p:txBody>
      </p:sp>
      <p:sp>
        <p:nvSpPr>
          <p:cNvPr id="19" name="TextBox 18"/>
          <p:cNvSpPr txBox="1"/>
          <p:nvPr/>
        </p:nvSpPr>
        <p:spPr>
          <a:xfrm>
            <a:off x="6172200" y="414223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Every contract gets a test</a:t>
            </a:r>
          </a:p>
        </p:txBody>
      </p:sp>
      <p:sp>
        <p:nvSpPr>
          <p:cNvPr id="20" name="TextBox 19"/>
          <p:cNvSpPr txBox="1"/>
          <p:nvPr/>
        </p:nvSpPr>
        <p:spPr>
          <a:xfrm>
            <a:off x="6172200" y="454456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An untested contract is unfinished.</a:t>
            </a:r>
          </a:p>
        </p:txBody>
      </p:sp>
      <p:sp>
        <p:nvSpPr>
          <p:cNvPr id="21" name="TextBox 20"/>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03/22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737360" y="32004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2470947" y="1051560"/>
            <a:ext cx="3010801" cy="2286000"/>
          </a:xfrm>
          <a:custGeom>
            <a:avLst/>
            <a:gdLst/>
            <a:ahLst/>
            <a:cxnLst/>
            <a:rect l="l" t="t" r="r" b="b"/>
            <a:pathLst>
              <a:path w="3010801" h="2286000">
                <a:moveTo>
                  <a:pt x="1506693" y="0"/>
                </a:moveTo>
                <a:lnTo>
                  <a:pt x="1935203" y="47625"/>
                </a:lnTo>
                <a:lnTo>
                  <a:pt x="2328422" y="95250"/>
                </a:lnTo>
                <a:lnTo>
                  <a:pt x="2653963" y="142875"/>
                </a:lnTo>
                <a:lnTo>
                  <a:pt x="2885013" y="190500"/>
                </a:lnTo>
                <a:lnTo>
                  <a:pt x="3002545" y="238125"/>
                </a:lnTo>
                <a:lnTo>
                  <a:pt x="2996877" y="285750"/>
                </a:lnTo>
                <a:lnTo>
                  <a:pt x="2868477" y="333375"/>
                </a:lnTo>
                <a:lnTo>
                  <a:pt x="2627920" y="381000"/>
                </a:lnTo>
                <a:lnTo>
                  <a:pt x="2295017" y="428625"/>
                </a:lnTo>
                <a:lnTo>
                  <a:pt x="1897188" y="476250"/>
                </a:lnTo>
                <a:lnTo>
                  <a:pt x="1467198" y="523875"/>
                </a:lnTo>
                <a:lnTo>
                  <a:pt x="1040460" y="571500"/>
                </a:lnTo>
                <a:lnTo>
                  <a:pt x="652121" y="619125"/>
                </a:lnTo>
                <a:lnTo>
                  <a:pt x="334166" y="666750"/>
                </a:lnTo>
                <a:lnTo>
                  <a:pt x="112780" y="714375"/>
                </a:lnTo>
                <a:lnTo>
                  <a:pt x="6198" y="762000"/>
                </a:lnTo>
                <a:lnTo>
                  <a:pt x="23197" y="809625"/>
                </a:lnTo>
                <a:lnTo>
                  <a:pt x="162377" y="857250"/>
                </a:lnTo>
                <a:lnTo>
                  <a:pt x="412277" y="904875"/>
                </a:lnTo>
                <a:lnTo>
                  <a:pt x="752313" y="952500"/>
                </a:lnTo>
                <a:lnTo>
                  <a:pt x="1154479" y="1000125"/>
                </a:lnTo>
                <a:lnTo>
                  <a:pt x="1585655" y="1047750"/>
                </a:lnTo>
                <a:lnTo>
                  <a:pt x="2010327" y="1095375"/>
                </a:lnTo>
                <a:lnTo>
                  <a:pt x="2393519" y="1143000"/>
                </a:lnTo>
                <a:lnTo>
                  <a:pt x="2703672" y="1190625"/>
                </a:lnTo>
                <a:lnTo>
                  <a:pt x="2915241" y="1238250"/>
                </a:lnTo>
                <a:lnTo>
                  <a:pt x="3010801" y="1285875"/>
                </a:lnTo>
                <a:lnTo>
                  <a:pt x="2982482" y="1333500"/>
                </a:lnTo>
                <a:lnTo>
                  <a:pt x="2832617" y="1381125"/>
                </a:lnTo>
                <a:lnTo>
                  <a:pt x="2573547" y="1428750"/>
                </a:lnTo>
                <a:lnTo>
                  <a:pt x="2226611" y="1476375"/>
                </a:lnTo>
                <a:lnTo>
                  <a:pt x="1820381" y="1524000"/>
                </a:lnTo>
                <a:lnTo>
                  <a:pt x="1388317" y="1571625"/>
                </a:lnTo>
                <a:lnTo>
                  <a:pt x="966001" y="1619250"/>
                </a:lnTo>
                <a:lnTo>
                  <a:pt x="588218" y="1666875"/>
                </a:lnTo>
                <a:lnTo>
                  <a:pt x="286080" y="1714500"/>
                </a:lnTo>
                <a:lnTo>
                  <a:pt x="84473" y="1762125"/>
                </a:lnTo>
                <a:lnTo>
                  <a:pt x="0" y="1809750"/>
                </a:lnTo>
                <a:lnTo>
                  <a:pt x="39620" y="1857375"/>
                </a:lnTo>
                <a:lnTo>
                  <a:pt x="200068" y="1905000"/>
                </a:lnTo>
                <a:lnTo>
                  <a:pt x="468131" y="1952625"/>
                </a:lnTo>
                <a:lnTo>
                  <a:pt x="821730" y="2000250"/>
                </a:lnTo>
                <a:lnTo>
                  <a:pt x="1231743" y="2047875"/>
                </a:lnTo>
                <a:lnTo>
                  <a:pt x="1664401" y="2095500"/>
                </a:lnTo>
                <a:lnTo>
                  <a:pt x="2084070" y="2143125"/>
                </a:lnTo>
                <a:lnTo>
                  <a:pt x="2456186" y="2190750"/>
                </a:lnTo>
                <a:lnTo>
                  <a:pt x="2750101" y="2238375"/>
                </a:lnTo>
                <a:lnTo>
                  <a:pt x="2941609" y="2286000"/>
                </a:lnTo>
              </a:path>
            </a:pathLst>
          </a:custGeom>
          <a:noFill/>
          <a:ln w="1828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103120" y="4160520"/>
            <a:ext cx="365760" cy="365760"/>
          </a:xfrm>
          <a:prstGeom prst="ellipse">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02920" y="4434840"/>
            <a:ext cx="502920" cy="502920"/>
          </a:xfrm>
          <a:prstGeom prst="ellipse">
            <a:avLst/>
          </a:prstGeom>
          <a:noFill/>
          <a:ln w="31750">
            <a:solidFill>
              <a:srgbClr val="9387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0292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BLOCKCHAINCOURSE · WEEK 02 · TOPIC 03 OF 04</a:t>
            </a:r>
          </a:p>
        </p:txBody>
      </p:sp>
      <p:sp>
        <p:nvSpPr>
          <p:cNvPr id="8" name="TextBox 7"/>
          <p:cNvSpPr txBox="1"/>
          <p:nvPr/>
        </p:nvSpPr>
        <p:spPr>
          <a:xfrm>
            <a:off x="685800" y="914400"/>
            <a:ext cx="6035040" cy="2377440"/>
          </a:xfrm>
          <a:prstGeom prst="rect">
            <a:avLst/>
          </a:prstGeom>
          <a:noFill/>
        </p:spPr>
        <p:txBody>
          <a:bodyPr wrap="square" anchor="t" lIns="0" rIns="0" tIns="0" bIns="0">
            <a:spAutoFit/>
          </a:bodyPr>
          <a:lstStyle/>
          <a:p>
            <a:pPr algn="l">
              <a:lnSpc>
                <a:spcPct val="102000"/>
              </a:lnSpc>
            </a:pPr>
            <a:r>
              <a:rPr sz="4200" b="1" i="0">
                <a:solidFill>
                  <a:srgbClr val="FFFFFF"/>
                </a:solidFill>
                <a:latin typeface="Arial Rounded MT Bold"/>
              </a:rPr>
              <a:t>DAOs</a:t>
            </a:r>
          </a:p>
        </p:txBody>
      </p:sp>
      <p:sp>
        <p:nvSpPr>
          <p:cNvPr id="9" name="TextBox 8"/>
          <p:cNvSpPr txBox="1"/>
          <p:nvPr/>
        </p:nvSpPr>
        <p:spPr>
          <a:xfrm>
            <a:off x="685800" y="3246120"/>
            <a:ext cx="5120640" cy="1051560"/>
          </a:xfrm>
          <a:prstGeom prst="rect">
            <a:avLst/>
          </a:prstGeom>
          <a:noFill/>
        </p:spPr>
        <p:txBody>
          <a:bodyPr wrap="square" anchor="t" lIns="0" rIns="0" tIns="0" bIns="0">
            <a:spAutoFit/>
          </a:bodyPr>
          <a:lstStyle/>
          <a:p>
            <a:pPr algn="l">
              <a:lnSpc>
                <a:spcPct val="140000"/>
              </a:lnSpc>
            </a:pPr>
            <a:r>
              <a:rPr sz="1350" b="0" i="1">
                <a:solidFill>
                  <a:srgbClr val="E3E0F7"/>
                </a:solidFill>
                <a:latin typeface="Arial"/>
              </a:rPr>
              <a:t>Decentralization you can actually join — no CEO, no board, rules enforced by code.</a:t>
            </a:r>
          </a:p>
        </p:txBody>
      </p:sp>
      <p:sp>
        <p:nvSpPr>
          <p:cNvPr id="10" name="Oval 9"/>
          <p:cNvSpPr/>
          <p:nvPr/>
        </p:nvSpPr>
        <p:spPr>
          <a:xfrm>
            <a:off x="685800" y="46177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0120" y="46177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234440" y="46177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_c_hero4.jpg"/>
          <p:cNvPicPr>
            <a:picLocks noChangeAspect="1"/>
          </p:cNvPicPr>
          <p:nvPr/>
        </p:nvPicPr>
        <p:blipFill>
          <a:blip r:embed="rId2"/>
          <a:stretch>
            <a:fillRect/>
          </a:stretch>
        </p:blipFill>
        <p:spPr>
          <a:xfrm>
            <a:off x="6949440" y="502920"/>
            <a:ext cx="4663440" cy="5852160"/>
          </a:xfrm>
          <a:prstGeom prst="rect">
            <a:avLst/>
          </a:prstGeom>
        </p:spPr>
      </p:pic>
      <p:sp>
        <p:nvSpPr>
          <p:cNvPr id="14" name="TextBox 13"/>
          <p:cNvSpPr txBox="1"/>
          <p:nvPr/>
        </p:nvSpPr>
        <p:spPr>
          <a:xfrm>
            <a:off x="685800" y="6446520"/>
            <a:ext cx="5943600" cy="274320"/>
          </a:xfrm>
          <a:prstGeom prst="rect">
            <a:avLst/>
          </a:prstGeom>
          <a:noFill/>
        </p:spPr>
        <p:txBody>
          <a:bodyPr wrap="square" anchor="t" lIns="0" rIns="0" tIns="0" bIns="0">
            <a:spAutoFit/>
          </a:bodyPr>
          <a:lstStyle/>
          <a:p>
            <a:pPr algn="l">
              <a:lnSpc>
                <a:spcPct val="115000"/>
              </a:lnSpc>
            </a:pPr>
            <a:r>
              <a:rPr sz="850" b="0" i="0">
                <a:solidFill>
                  <a:srgbClr val="C7C2E8"/>
                </a:solidFill>
                <a:latin typeface="Arial"/>
              </a:rPr>
              <a:t>Photo: Christina Morillo / Pexels via Wikimedia Commons, CC0</a:t>
            </a:r>
          </a:p>
        </p:txBody>
      </p:sp>
      <p:sp>
        <p:nvSpPr>
          <p:cNvPr id="15" name="TextBox 14"/>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C7C2E8"/>
                </a:solidFill>
                <a:latin typeface="Courier New"/>
              </a:rPr>
              <a:t>04/22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5_hook.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START HERE</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A Question, Not A Definition</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You now have real vocabulary for decentralization as a property of infrastructure and control. Here's the next question: what does an actual organization look like if it's decentralized from the ground up — no CEO, no board, no small group who alone can move the treasury? Is that even possible, or just a slogan?</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05/22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5_hook.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NOTICE IT, BEFORE WE NAME IT — SETUP</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A Decentralized Venture Fund, Built From Nothing</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In 2016 — Ethereum barely a year old — a group built exactly this and called it, simply, “The DAO.” Anyone could send ETH to its smart contract in exchange for voting tokens, and token holders would vote on which projects the pooled funds should fund. No company, no fund manager with sole signing authority.</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06/22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7_notice2.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NOTICE IT, BEFORE WE NAME IT — RESULT</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It Worked Remarkably Well — Until It Didn't</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The DAO raised roughly $150 million worth of ETH (about 3.6 million ETH) from thousands of independent contributors — one of the largest crowdfunding events in history, coordinated without a company. Then in June 2016, an attacker found a reentrancy bug and drained roughly 3.6 million ETH — the majority of the fund.</a:t>
            </a:r>
          </a:p>
        </p:txBody>
      </p:sp>
      <p:sp>
        <p:nvSpPr>
          <p:cNvPr id="8" name="Rounded Rectangle 7"/>
          <p:cNvSpPr/>
          <p:nvPr/>
        </p:nvSpPr>
        <p:spPr>
          <a:xfrm>
            <a:off x="685800" y="4892040"/>
            <a:ext cx="4846320" cy="1234440"/>
          </a:xfrm>
          <a:prstGeom prst="roundRect">
            <a:avLst>
              <a:gd name="adj" fmla="val 8000"/>
            </a:avLst>
          </a:prstGeom>
          <a:solidFill>
            <a:srgbClr val="F6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029200"/>
            <a:ext cx="4389120" cy="274320"/>
          </a:xfrm>
          <a:prstGeom prst="rect">
            <a:avLst/>
          </a:prstGeom>
          <a:noFill/>
        </p:spPr>
        <p:txBody>
          <a:bodyPr wrap="square" anchor="t" lIns="0" rIns="0" tIns="0" bIns="0">
            <a:spAutoFit/>
          </a:bodyPr>
          <a:lstStyle/>
          <a:p>
            <a:pPr algn="l">
              <a:lnSpc>
                <a:spcPct val="115000"/>
              </a:lnSpc>
            </a:pPr>
            <a:r>
              <a:rPr sz="950" b="1" i="0">
                <a:solidFill>
                  <a:srgbClr val="E05A3E"/>
                </a:solidFill>
                <a:latin typeface="Arial"/>
              </a:rPr>
              <a:t>EXAMPLE</a:t>
            </a:r>
          </a:p>
        </p:txBody>
      </p:sp>
      <p:sp>
        <p:nvSpPr>
          <p:cNvPr id="10" name="TextBox 9"/>
          <p:cNvSpPr txBox="1"/>
          <p:nvPr/>
        </p:nvSpPr>
        <p:spPr>
          <a:xfrm>
            <a:off x="914400" y="5321808"/>
            <a:ext cx="4389120" cy="685800"/>
          </a:xfrm>
          <a:prstGeom prst="rect">
            <a:avLst/>
          </a:prstGeom>
          <a:noFill/>
        </p:spPr>
        <p:txBody>
          <a:bodyPr wrap="square" anchor="t" lIns="0" rIns="0" tIns="0" bIns="0">
            <a:spAutoFit/>
          </a:bodyPr>
          <a:lstStyle/>
          <a:p>
            <a:pPr algn="l">
              <a:lnSpc>
                <a:spcPct val="125000"/>
              </a:lnSpc>
            </a:pPr>
            <a:r>
              <a:rPr sz="1100" b="0" i="0">
                <a:solidFill>
                  <a:srgbClr val="221F33"/>
                </a:solidFill>
                <a:latin typeface="Courier New"/>
              </a:rPr>
              <a:t>$150M raised. ~3.6M ETH later drained by one bug. No customer support line to call.</a:t>
            </a:r>
          </a:p>
        </p:txBody>
      </p:sp>
      <p:sp>
        <p:nvSpPr>
          <p:cNvPr id="11" name="Freeform 10"/>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07/22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8_name.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NOW IT HAS A NAME</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What A DAO Actually Is</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A Decentralized Autonomous Organization: an organization whose core rules — who can spend shared funds, how decisions get made — are written into smart contracts and enforced by the network, not a person with unilateral authority. Membership and voting power are usually token-based; approved proposals can execute automatically.</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08/22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9_key0.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KEY IDEA 1 / 3</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No Customer Support Line</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The code did exactly what it was written to do — nobody lied or broke consensus. The rules, as written, allowed the exploit.</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09/22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8_name.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KEY IDEA 2 / 3</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The Contentious Choice</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Let the theft stand because “the code is the law,” or intervene at the protocol level to reverse it?</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11_key2.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KEY IDEA 3 / 3</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The Hard Fork</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The chain that intervened continued as Ethereum (ETH). The minority who rejected intervention kept the original chain — Ethereum Classic (ETC), the exact same ETC from Week 1's 51%-attack case study.</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11/22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700101" y="-457200"/>
            <a:ext cx="2181754" cy="2377440"/>
          </a:xfrm>
          <a:custGeom>
            <a:avLst/>
            <a:gdLst/>
            <a:ahLst/>
            <a:cxnLst/>
            <a:rect l="l" t="t" r="r" b="b"/>
            <a:pathLst>
              <a:path w="2181754" h="2377440">
                <a:moveTo>
                  <a:pt x="1089819" y="0"/>
                </a:moveTo>
                <a:lnTo>
                  <a:pt x="1400676" y="67926"/>
                </a:lnTo>
                <a:lnTo>
                  <a:pt x="1686063" y="135853"/>
                </a:lnTo>
                <a:lnTo>
                  <a:pt x="1922596" y="203780"/>
                </a:lnTo>
                <a:lnTo>
                  <a:pt x="2090894" y="271707"/>
                </a:lnTo>
                <a:lnTo>
                  <a:pt x="2177168" y="339634"/>
                </a:lnTo>
                <a:lnTo>
                  <a:pt x="2174349" y="407561"/>
                </a:lnTo>
                <a:lnTo>
                  <a:pt x="2082667" y="475488"/>
                </a:lnTo>
                <a:lnTo>
                  <a:pt x="1909635" y="543414"/>
                </a:lnTo>
                <a:lnTo>
                  <a:pt x="1669431" y="611341"/>
                </a:lnTo>
                <a:lnTo>
                  <a:pt x="1381735" y="679268"/>
                </a:lnTo>
                <a:lnTo>
                  <a:pt x="1070121" y="747195"/>
                </a:lnTo>
                <a:lnTo>
                  <a:pt x="760121" y="815122"/>
                </a:lnTo>
                <a:lnTo>
                  <a:pt x="477135" y="883049"/>
                </a:lnTo>
                <a:lnTo>
                  <a:pt x="244350" y="950976"/>
                </a:lnTo>
                <a:lnTo>
                  <a:pt x="80839" y="1018902"/>
                </a:lnTo>
                <a:lnTo>
                  <a:pt x="0" y="1086829"/>
                </a:lnTo>
                <a:lnTo>
                  <a:pt x="8457" y="1154756"/>
                </a:lnTo>
                <a:lnTo>
                  <a:pt x="105517" y="1222683"/>
                </a:lnTo>
                <a:lnTo>
                  <a:pt x="283226" y="1290610"/>
                </a:lnTo>
                <a:lnTo>
                  <a:pt x="527024" y="1358537"/>
                </a:lnTo>
                <a:lnTo>
                  <a:pt x="816936" y="1426464"/>
                </a:lnTo>
                <a:lnTo>
                  <a:pt x="1129207" y="1494390"/>
                </a:lnTo>
                <a:lnTo>
                  <a:pt x="1438250" y="1562317"/>
                </a:lnTo>
                <a:lnTo>
                  <a:pt x="1718744" y="1630244"/>
                </a:lnTo>
                <a:lnTo>
                  <a:pt x="1947707" y="1698171"/>
                </a:lnTo>
                <a:lnTo>
                  <a:pt x="2106377" y="1766098"/>
                </a:lnTo>
                <a:lnTo>
                  <a:pt x="2181754" y="1834025"/>
                </a:lnTo>
                <a:lnTo>
                  <a:pt x="2167663" y="1901952"/>
                </a:lnTo>
                <a:lnTo>
                  <a:pt x="2065257" y="1969878"/>
                </a:lnTo>
                <a:lnTo>
                  <a:pt x="1882927" y="2037805"/>
                </a:lnTo>
                <a:lnTo>
                  <a:pt x="1635613" y="2105732"/>
                </a:lnTo>
                <a:lnTo>
                  <a:pt x="1343579" y="2173659"/>
                </a:lnTo>
                <a:lnTo>
                  <a:pt x="1030752" y="2241586"/>
                </a:lnTo>
                <a:lnTo>
                  <a:pt x="722765" y="2309513"/>
                </a:lnTo>
                <a:lnTo>
                  <a:pt x="444853" y="2377440"/>
                </a:lnTo>
              </a:path>
            </a:pathLst>
          </a:custGeom>
          <a:noFill/>
          <a:ln w="146304"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731520"/>
            <a:ext cx="777240" cy="777240"/>
          </a:xfrm>
          <a:prstGeom prst="ellipse">
            <a:avLst/>
          </a:prstGeom>
          <a:solidFill>
            <a:srgbClr val="E05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3000" b="1">
                <a:solidFill>
                  <a:srgbClr val="FFFFFF"/>
                </a:solidFill>
                <a:latin typeface="Arial Rounded MT Bold"/>
              </a:rPr>
              <a:t>?</a:t>
            </a:r>
          </a:p>
        </p:txBody>
      </p:sp>
      <p:sp>
        <p:nvSpPr>
          <p:cNvPr id="5" name="TextBox 4"/>
          <p:cNvSpPr txBox="1"/>
          <p:nvPr/>
        </p:nvSpPr>
        <p:spPr>
          <a:xfrm>
            <a:off x="1737360" y="86868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CHECK YOUR UNDERSTANDING</a:t>
            </a:r>
          </a:p>
        </p:txBody>
      </p:sp>
      <p:sp>
        <p:nvSpPr>
          <p:cNvPr id="6" name="TextBox 5"/>
          <p:cNvSpPr txBox="1"/>
          <p:nvPr/>
        </p:nvSpPr>
        <p:spPr>
          <a:xfrm>
            <a:off x="685800" y="1828800"/>
            <a:ext cx="10607040" cy="1554480"/>
          </a:xfrm>
          <a:prstGeom prst="rect">
            <a:avLst/>
          </a:prstGeom>
          <a:noFill/>
        </p:spPr>
        <p:txBody>
          <a:bodyPr wrap="square" anchor="t" lIns="0" rIns="0" tIns="0" bIns="0">
            <a:spAutoFit/>
          </a:bodyPr>
          <a:lstStyle/>
          <a:p>
            <a:pPr algn="l">
              <a:lnSpc>
                <a:spcPct val="115000"/>
              </a:lnSpc>
            </a:pPr>
            <a:r>
              <a:rPr sz="2700" b="1" i="0">
                <a:solidFill>
                  <a:srgbClr val="FFFFFF"/>
                </a:solidFill>
                <a:latin typeface="Arial Rounded MT Bold"/>
              </a:rPr>
              <a:t>If a DAO's smart contract has a bug, can “the DAO” just decide to pause it and patch it, like a company pulling a broken feature overnight?</a:t>
            </a:r>
          </a:p>
        </p:txBody>
      </p:sp>
      <p:sp>
        <p:nvSpPr>
          <p:cNvPr id="7" name="Rectangle 6"/>
          <p:cNvSpPr/>
          <p:nvPr/>
        </p:nvSpPr>
        <p:spPr>
          <a:xfrm>
            <a:off x="685800" y="3520440"/>
            <a:ext cx="2011680" cy="41148"/>
          </a:xfrm>
          <a:prstGeom prst="rect">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886200"/>
            <a:ext cx="1463040" cy="320040"/>
          </a:xfrm>
          <a:prstGeom prst="rect">
            <a:avLst/>
          </a:prstGeom>
          <a:noFill/>
        </p:spPr>
        <p:txBody>
          <a:bodyPr wrap="square" anchor="t" lIns="0" rIns="0" tIns="0" bIns="0">
            <a:spAutoFit/>
          </a:bodyPr>
          <a:lstStyle/>
          <a:p>
            <a:pPr algn="l">
              <a:lnSpc>
                <a:spcPct val="115000"/>
              </a:lnSpc>
            </a:pPr>
            <a:r>
              <a:rPr sz="1100" b="1" i="0">
                <a:solidFill>
                  <a:srgbClr val="FDC646"/>
                </a:solidFill>
                <a:latin typeface="Arial"/>
              </a:rPr>
              <a:t>ANSWER</a:t>
            </a:r>
          </a:p>
        </p:txBody>
      </p:sp>
      <p:sp>
        <p:nvSpPr>
          <p:cNvPr id="9" name="TextBox 8"/>
          <p:cNvSpPr txBox="1"/>
          <p:nvPr/>
        </p:nvSpPr>
        <p:spPr>
          <a:xfrm>
            <a:off x="685800" y="4297680"/>
            <a:ext cx="10241280" cy="2011680"/>
          </a:xfrm>
          <a:prstGeom prst="rect">
            <a:avLst/>
          </a:prstGeom>
          <a:noFill/>
        </p:spPr>
        <p:txBody>
          <a:bodyPr wrap="square" anchor="t" lIns="0" rIns="0" tIns="0" bIns="0">
            <a:spAutoFit/>
          </a:bodyPr>
          <a:lstStyle/>
          <a:p>
            <a:pPr algn="l">
              <a:lnSpc>
                <a:spcPct val="150000"/>
              </a:lnSpc>
            </a:pPr>
            <a:r>
              <a:rPr sz="1500" b="0" i="0">
                <a:solidFill>
                  <a:srgbClr val="E3E0F7"/>
                </a:solidFill>
                <a:latin typeface="Arial"/>
              </a:rPr>
              <a:t>Not unless that exact capability was deliberately built into the contract in advance — a pause function, an upgrade mechanism, an emergency multi-sig override. This is precisely why The DAO's exploit couldn't simply be undone through ordinary means: nobody had anticipated needing one. Fixing it required changing the blockchain itself.</a:t>
            </a:r>
          </a:p>
        </p:txBody>
      </p:sp>
      <p:sp>
        <p:nvSpPr>
          <p:cNvPr id="10" name="TextBox 9"/>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9A9FB8"/>
                </a:solidFill>
                <a:latin typeface="Courier New"/>
              </a:rPr>
              <a:t>12/22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9_key0.jpg"/>
          <p:cNvPicPr>
            <a:picLocks noChangeAspect="1"/>
          </p:cNvPicPr>
          <p:nvPr/>
        </p:nvPicPr>
        <p:blipFill>
          <a:blip r:embed="rId2"/>
          <a:stretch>
            <a:fillRect/>
          </a:stretch>
        </p:blipFill>
        <p:spPr>
          <a:xfrm>
            <a:off x="685800" y="1234440"/>
            <a:ext cx="4572000" cy="4297680"/>
          </a:xfrm>
          <a:prstGeom prst="rect">
            <a:avLst/>
          </a:prstGeom>
        </p:spPr>
      </p:pic>
      <p:sp>
        <p:nvSpPr>
          <p:cNvPr id="4" name="Oval 3"/>
          <p:cNvSpPr/>
          <p:nvPr/>
        </p:nvSpPr>
        <p:spPr>
          <a:xfrm>
            <a:off x="452628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0" y="640080"/>
            <a:ext cx="484632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CONNECT IT</a:t>
            </a:r>
          </a:p>
        </p:txBody>
      </p:sp>
      <p:sp>
        <p:nvSpPr>
          <p:cNvPr id="6" name="TextBox 5"/>
          <p:cNvSpPr txBox="1"/>
          <p:nvPr/>
        </p:nvSpPr>
        <p:spPr>
          <a:xfrm>
            <a:off x="630936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DAOs Didn't Stop In 2016</a:t>
            </a:r>
          </a:p>
        </p:txBody>
      </p:sp>
      <p:sp>
        <p:nvSpPr>
          <p:cNvPr id="7" name="TextBox 6"/>
          <p:cNvSpPr txBox="1"/>
          <p:nvPr/>
        </p:nvSpPr>
        <p:spPr>
          <a:xfrm>
            <a:off x="630936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Uniswap DAO — token holders vote on protocol fee changes using UNI. MakerDAO — governs the risk parameters backing the DAI stablecoin entirely through on-chain votes. Grants and treasury DAOs — pool funds and vote on which projects to fund, a direct descendant of The DAO's original idea, with the hard lessons about security (Week 6) baked in.</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13/22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FLAGSHIP CASE STUDY</a:t>
            </a:r>
          </a:p>
        </p:txBody>
      </p:sp>
      <p:sp>
        <p:nvSpPr>
          <p:cNvPr id="4" name="TextBox 3"/>
          <p:cNvSpPr txBox="1"/>
          <p:nvPr/>
        </p:nvSpPr>
        <p:spPr>
          <a:xfrm>
            <a:off x="685800" y="1005840"/>
            <a:ext cx="10515600" cy="822960"/>
          </a:xfrm>
          <a:prstGeom prst="rect">
            <a:avLst/>
          </a:prstGeom>
          <a:noFill/>
        </p:spPr>
        <p:txBody>
          <a:bodyPr wrap="square" anchor="t" lIns="0" rIns="0" tIns="0" bIns="0">
            <a:spAutoFit/>
          </a:bodyPr>
          <a:lstStyle/>
          <a:p>
            <a:pPr algn="l">
              <a:lnSpc>
                <a:spcPct val="115000"/>
              </a:lnSpc>
            </a:pPr>
            <a:r>
              <a:rPr sz="2800" b="1" i="0">
                <a:solidFill>
                  <a:srgbClr val="221F33"/>
                </a:solidFill>
                <a:latin typeface="Arial Rounded MT Bold"/>
              </a:rPr>
              <a:t>The Exact Same Ethereum Classic From Week 1</a:t>
            </a:r>
          </a:p>
        </p:txBody>
      </p:sp>
      <p:sp>
        <p:nvSpPr>
          <p:cNvPr id="5" name="Rounded Rectangle 4"/>
          <p:cNvSpPr/>
          <p:nvPr/>
        </p:nvSpPr>
        <p:spPr>
          <a:xfrm>
            <a:off x="685800" y="2286000"/>
            <a:ext cx="10789920" cy="3931920"/>
          </a:xfrm>
          <a:prstGeom prst="roundRect">
            <a:avLst>
              <a:gd name="adj" fmla="val 4000"/>
            </a:avLst>
          </a:prstGeom>
          <a:solidFill>
            <a:srgbClr val="E05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2606040"/>
            <a:ext cx="9875520" cy="3383280"/>
          </a:xfrm>
          <a:prstGeom prst="rect">
            <a:avLst/>
          </a:prstGeom>
          <a:noFill/>
        </p:spPr>
        <p:txBody>
          <a:bodyPr wrap="square" anchor="t" lIns="0" rIns="0" tIns="0" bIns="0">
            <a:spAutoFit/>
          </a:bodyPr>
          <a:lstStyle/>
          <a:p>
            <a:pPr algn="l">
              <a:lnSpc>
                <a:spcPct val="155000"/>
              </a:lnSpc>
            </a:pPr>
            <a:r>
              <a:rPr sz="1500" b="0" i="0">
                <a:solidFill>
                  <a:srgbClr val="FFFFFF"/>
                </a:solidFill>
                <a:latin typeface="Arial"/>
              </a:rPr>
              <a:t>If “Ethereum Classic” sounds familiar, it's because it is — the exact same network from Week 1's consensus topic, where you read about its real, documented 51%-attacks in 2019 and 2020. Its origin story is this event. The Ethereum community faced a genuine choice between two principles: “code is law” vs. “intervene to fix an obvious wrong.” There was no clean answer — and the split that resulted still exists today, as two separate, living blockchains.</a:t>
            </a:r>
          </a:p>
        </p:txBody>
      </p:sp>
      <p:sp>
        <p:nvSpPr>
          <p:cNvPr id="7" name="TextBox 6"/>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14/22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8B8899"/>
                </a:solidFill>
                <a:latin typeface="Arial"/>
              </a:rPr>
              <a:t>REAL-WORLD USES</a:t>
            </a:r>
          </a:p>
        </p:txBody>
      </p:sp>
      <p:sp>
        <p:nvSpPr>
          <p:cNvPr id="4" name="TextBox 3"/>
          <p:cNvSpPr txBox="1"/>
          <p:nvPr/>
        </p:nvSpPr>
        <p:spPr>
          <a:xfrm>
            <a:off x="685800" y="914400"/>
            <a:ext cx="4297680" cy="1463040"/>
          </a:xfrm>
          <a:prstGeom prst="rect">
            <a:avLst/>
          </a:prstGeom>
          <a:noFill/>
        </p:spPr>
        <p:txBody>
          <a:bodyPr wrap="square" anchor="t" lIns="0" rIns="0" tIns="0" bIns="0">
            <a:spAutoFit/>
          </a:bodyPr>
          <a:lstStyle/>
          <a:p>
            <a:pPr algn="l">
              <a:lnSpc>
                <a:spcPct val="105000"/>
              </a:lnSpc>
            </a:pPr>
            <a:r>
              <a:rPr sz="2700" b="1" i="0">
                <a:solidFill>
                  <a:srgbClr val="221F33"/>
                </a:solidFill>
                <a:latin typeface="Arial Rounded MT Bold"/>
              </a:rPr>
              <a:t>Where This Shows Up</a:t>
            </a:r>
          </a:p>
        </p:txBody>
      </p:sp>
      <p:sp>
        <p:nvSpPr>
          <p:cNvPr id="5" name="TextBox 4"/>
          <p:cNvSpPr txBox="1"/>
          <p:nvPr/>
        </p:nvSpPr>
        <p:spPr>
          <a:xfrm>
            <a:off x="685800" y="2468880"/>
            <a:ext cx="4023360" cy="2286000"/>
          </a:xfrm>
          <a:prstGeom prst="rect">
            <a:avLst/>
          </a:prstGeom>
          <a:noFill/>
        </p:spPr>
        <p:txBody>
          <a:bodyPr wrap="square" anchor="t" lIns="0" rIns="0" tIns="0" bIns="0">
            <a:spAutoFit/>
          </a:bodyPr>
          <a:lstStyle/>
          <a:p>
            <a:pPr algn="l">
              <a:lnSpc>
                <a:spcPct val="140000"/>
              </a:lnSpc>
            </a:pPr>
            <a:r>
              <a:rPr sz="1200" b="0" i="0">
                <a:solidFill>
                  <a:srgbClr val="8B8899"/>
                </a:solidFill>
                <a:latin typeface="Arial"/>
              </a:rPr>
              <a:t>The cooperative, member-governed idea behind DAOs predates blockchain by decades.</a:t>
            </a:r>
          </a:p>
        </p:txBody>
      </p:sp>
      <p:sp>
        <p:nvSpPr>
          <p:cNvPr id="6" name="Oval 5"/>
          <p:cNvSpPr/>
          <p:nvPr/>
        </p:nvSpPr>
        <p:spPr>
          <a:xfrm>
            <a:off x="82296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9728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7160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45920" y="5989320"/>
            <a:ext cx="146304" cy="146304"/>
          </a:xfrm>
          <a:prstGeom prst="ellipse">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257800" y="960120"/>
            <a:ext cx="2331720" cy="1783080"/>
          </a:xfrm>
          <a:prstGeom prst="roundRect">
            <a:avLst>
              <a:gd name="adj" fmla="val 10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40680" y="1143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6C5FE8"/>
                </a:solidFill>
              </a:rPr>
              <a:t>🦄</a:t>
            </a:r>
          </a:p>
        </p:txBody>
      </p:sp>
      <p:sp>
        <p:nvSpPr>
          <p:cNvPr id="12" name="TextBox 11"/>
          <p:cNvSpPr txBox="1"/>
          <p:nvPr/>
        </p:nvSpPr>
        <p:spPr>
          <a:xfrm>
            <a:off x="5440680" y="1737360"/>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Uniswap DAO</a:t>
            </a:r>
          </a:p>
        </p:txBody>
      </p:sp>
      <p:sp>
        <p:nvSpPr>
          <p:cNvPr id="13" name="TextBox 12"/>
          <p:cNvSpPr txBox="1"/>
          <p:nvPr/>
        </p:nvSpPr>
        <p:spPr>
          <a:xfrm>
            <a:off x="5440680" y="2157984"/>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Token holders vote on protocol fee structures using UNI tokens as voting power.</a:t>
            </a:r>
          </a:p>
        </p:txBody>
      </p:sp>
      <p:sp>
        <p:nvSpPr>
          <p:cNvPr id="14" name="Rounded Rectangle 13"/>
          <p:cNvSpPr/>
          <p:nvPr/>
        </p:nvSpPr>
        <p:spPr>
          <a:xfrm>
            <a:off x="7790688" y="960120"/>
            <a:ext cx="2331720" cy="1783080"/>
          </a:xfrm>
          <a:prstGeom prst="roundRect">
            <a:avLst>
              <a:gd name="adj" fmla="val 10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973568" y="1143000"/>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35C078"/>
                </a:solidFill>
              </a:rPr>
              <a:t>🏦</a:t>
            </a:r>
          </a:p>
        </p:txBody>
      </p:sp>
      <p:sp>
        <p:nvSpPr>
          <p:cNvPr id="16" name="TextBox 15"/>
          <p:cNvSpPr txBox="1"/>
          <p:nvPr/>
        </p:nvSpPr>
        <p:spPr>
          <a:xfrm>
            <a:off x="7973568" y="1737360"/>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MakerDAO</a:t>
            </a:r>
          </a:p>
        </p:txBody>
      </p:sp>
      <p:sp>
        <p:nvSpPr>
          <p:cNvPr id="17" name="TextBox 16"/>
          <p:cNvSpPr txBox="1"/>
          <p:nvPr/>
        </p:nvSpPr>
        <p:spPr>
          <a:xfrm>
            <a:off x="7973568" y="2157984"/>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Governs DAI's risk parameters entirely through on-chain governance votes.</a:t>
            </a:r>
          </a:p>
        </p:txBody>
      </p:sp>
      <p:sp>
        <p:nvSpPr>
          <p:cNvPr id="18" name="Rounded Rectangle 17"/>
          <p:cNvSpPr/>
          <p:nvPr/>
        </p:nvSpPr>
        <p:spPr>
          <a:xfrm>
            <a:off x="5257800" y="2944368"/>
            <a:ext cx="2331720" cy="1783080"/>
          </a:xfrm>
          <a:prstGeom prst="roundRect">
            <a:avLst>
              <a:gd name="adj" fmla="val 10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440680" y="312724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2734B"/>
                </a:solidFill>
              </a:rPr>
              <a:t>📜</a:t>
            </a:r>
          </a:p>
        </p:txBody>
      </p:sp>
      <p:sp>
        <p:nvSpPr>
          <p:cNvPr id="20" name="TextBox 19"/>
          <p:cNvSpPr txBox="1"/>
          <p:nvPr/>
        </p:nvSpPr>
        <p:spPr>
          <a:xfrm>
            <a:off x="5440680" y="3721608"/>
            <a:ext cx="1965960" cy="685800"/>
          </a:xfrm>
          <a:prstGeom prst="rect">
            <a:avLst/>
          </a:prstGeom>
          <a:noFill/>
        </p:spPr>
        <p:txBody>
          <a:bodyPr wrap="square" anchor="t" lIns="0" rIns="0" tIns="0" bIns="0">
            <a:spAutoFit/>
          </a:bodyPr>
          <a:lstStyle/>
          <a:p>
            <a:pPr algn="l">
              <a:lnSpc>
                <a:spcPct val="105000"/>
              </a:lnSpc>
            </a:pPr>
            <a:r>
              <a:rPr sz="1150" b="1" i="0">
                <a:solidFill>
                  <a:srgbClr val="FFFFFF"/>
                </a:solidFill>
                <a:latin typeface="Arial Rounded MT Bold"/>
              </a:rPr>
              <a:t>Open-Source Foundations</a:t>
            </a:r>
          </a:p>
        </p:txBody>
      </p:sp>
      <p:sp>
        <p:nvSpPr>
          <p:cNvPr id="21" name="TextBox 20"/>
          <p:cNvSpPr txBox="1"/>
          <p:nvPr/>
        </p:nvSpPr>
        <p:spPr>
          <a:xfrm>
            <a:off x="5440680" y="4462272"/>
            <a:ext cx="1965960" cy="12801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Apache-style distributed maintainer voting — DAOs make this cryptographically enforceable.</a:t>
            </a:r>
          </a:p>
        </p:txBody>
      </p:sp>
      <p:sp>
        <p:nvSpPr>
          <p:cNvPr id="22" name="Rounded Rectangle 21"/>
          <p:cNvSpPr/>
          <p:nvPr/>
        </p:nvSpPr>
        <p:spPr>
          <a:xfrm>
            <a:off x="7790688" y="2944368"/>
            <a:ext cx="2331720" cy="1783080"/>
          </a:xfrm>
          <a:prstGeom prst="roundRect">
            <a:avLst>
              <a:gd name="adj" fmla="val 10000"/>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73568" y="3127248"/>
            <a:ext cx="457200" cy="4572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DC646"/>
                </a:solidFill>
              </a:rPr>
              <a:t>🤝</a:t>
            </a:r>
          </a:p>
        </p:txBody>
      </p:sp>
      <p:sp>
        <p:nvSpPr>
          <p:cNvPr id="24" name="TextBox 23"/>
          <p:cNvSpPr txBox="1"/>
          <p:nvPr/>
        </p:nvSpPr>
        <p:spPr>
          <a:xfrm>
            <a:off x="7973568" y="3721608"/>
            <a:ext cx="1965960" cy="365760"/>
          </a:xfrm>
          <a:prstGeom prst="rect">
            <a:avLst/>
          </a:prstGeom>
          <a:noFill/>
        </p:spPr>
        <p:txBody>
          <a:bodyPr wrap="square" anchor="t" lIns="0" rIns="0" tIns="0" bIns="0">
            <a:spAutoFit/>
          </a:bodyPr>
          <a:lstStyle/>
          <a:p>
            <a:pPr algn="l">
              <a:lnSpc>
                <a:spcPct val="105000"/>
              </a:lnSpc>
            </a:pPr>
            <a:r>
              <a:rPr sz="1350" b="1" i="0">
                <a:solidFill>
                  <a:srgbClr val="FFFFFF"/>
                </a:solidFill>
                <a:latin typeface="Arial Rounded MT Bold"/>
              </a:rPr>
              <a:t>Worker Co-ops</a:t>
            </a:r>
          </a:p>
        </p:txBody>
      </p:sp>
      <p:sp>
        <p:nvSpPr>
          <p:cNvPr id="25" name="TextBox 24"/>
          <p:cNvSpPr txBox="1"/>
          <p:nvPr/>
        </p:nvSpPr>
        <p:spPr>
          <a:xfrm>
            <a:off x="7973568" y="4142232"/>
            <a:ext cx="1965960" cy="448056"/>
          </a:xfrm>
          <a:prstGeom prst="rect">
            <a:avLst/>
          </a:prstGeom>
          <a:noFill/>
        </p:spPr>
        <p:txBody>
          <a:bodyPr wrap="square" anchor="t" lIns="0" rIns="0" tIns="0" bIns="0">
            <a:spAutoFit/>
          </a:bodyPr>
          <a:lstStyle/>
          <a:p>
            <a:pPr algn="l">
              <a:lnSpc>
                <a:spcPct val="120000"/>
              </a:lnSpc>
            </a:pPr>
            <a:r>
              <a:rPr sz="950" b="0" i="0">
                <a:solidFill>
                  <a:srgbClr val="F3F1FC"/>
                </a:solidFill>
                <a:latin typeface="Arial"/>
              </a:rPr>
              <a:t>Decisions made collectively by members, not an ownership class — DAOs' older organizational ancestor.</a:t>
            </a:r>
          </a:p>
        </p:txBody>
      </p:sp>
      <p:sp>
        <p:nvSpPr>
          <p:cNvPr id="26" name="TextBox 25"/>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15/22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_c_sp5_hook.jpg"/>
          <p:cNvPicPr>
            <a:picLocks noChangeAspect="1"/>
          </p:cNvPicPr>
          <p:nvPr/>
        </p:nvPicPr>
        <p:blipFill>
          <a:blip r:embed="rId2"/>
          <a:stretch>
            <a:fillRect/>
          </a:stretch>
        </p:blipFill>
        <p:spPr>
          <a:xfrm>
            <a:off x="6949440" y="1234440"/>
            <a:ext cx="4572000" cy="4297680"/>
          </a:xfrm>
          <a:prstGeom prst="rect">
            <a:avLst/>
          </a:prstGeom>
        </p:spPr>
      </p:pic>
      <p:sp>
        <p:nvSpPr>
          <p:cNvPr id="4" name="Oval 3"/>
          <p:cNvSpPr/>
          <p:nvPr/>
        </p:nvSpPr>
        <p:spPr>
          <a:xfrm>
            <a:off x="10789920" y="868680"/>
            <a:ext cx="502920" cy="502920"/>
          </a:xfrm>
          <a:prstGeom prst="ellipse">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640080"/>
            <a:ext cx="484632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REAL-WORLD DEEP-DIVE</a:t>
            </a:r>
          </a:p>
        </p:txBody>
      </p:sp>
      <p:sp>
        <p:nvSpPr>
          <p:cNvPr id="6" name="TextBox 5"/>
          <p:cNvSpPr txBox="1"/>
          <p:nvPr/>
        </p:nvSpPr>
        <p:spPr>
          <a:xfrm>
            <a:off x="685800" y="1005840"/>
            <a:ext cx="484632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A Real, Current Governance Vote</a:t>
            </a:r>
          </a:p>
        </p:txBody>
      </p:sp>
      <p:sp>
        <p:nvSpPr>
          <p:cNvPr id="7" name="TextBox 6"/>
          <p:cNvSpPr txBox="1"/>
          <p:nvPr/>
        </p:nvSpPr>
        <p:spPr>
          <a:xfrm>
            <a:off x="685800" y="2148840"/>
            <a:ext cx="4846320" cy="2377440"/>
          </a:xfrm>
          <a:prstGeom prst="rect">
            <a:avLst/>
          </a:prstGeom>
          <a:noFill/>
        </p:spPr>
        <p:txBody>
          <a:bodyPr wrap="square" anchor="t" lIns="0" rIns="0" tIns="0" bIns="0">
            <a:spAutoFit/>
          </a:bodyPr>
          <a:lstStyle/>
          <a:p>
            <a:pPr algn="l">
              <a:lnSpc>
                <a:spcPct val="142000"/>
              </a:lnSpc>
            </a:pPr>
            <a:r>
              <a:rPr sz="1250" b="0" i="0">
                <a:solidFill>
                  <a:srgbClr val="8B8899"/>
                </a:solidFill>
                <a:latin typeface="Arial"/>
              </a:rPr>
              <a:t>Look up one active DAO — Uniswap or MakerDAO — and find a real governance proposal it voted on. What was proposed? What was the outcome? Unlike The DAO in 2016, these systems have years of hard-won security practice behind them.</a:t>
            </a:r>
          </a:p>
        </p:txBody>
      </p:sp>
      <p:sp>
        <p:nvSpPr>
          <p:cNvPr id="8" name="Freeform 7"/>
          <p:cNvSpPr/>
          <p:nvPr/>
        </p:nvSpPr>
        <p:spPr>
          <a:xfrm>
            <a:off x="10744591" y="502920"/>
            <a:ext cx="776751" cy="1051560"/>
          </a:xfrm>
          <a:custGeom>
            <a:avLst/>
            <a:gdLst/>
            <a:ahLst/>
            <a:cxnLst/>
            <a:rect l="l" t="t" r="r" b="b"/>
            <a:pathLst>
              <a:path w="776751" h="1051560">
                <a:moveTo>
                  <a:pt x="388229" y="0"/>
                </a:moveTo>
                <a:lnTo>
                  <a:pt x="499995" y="37555"/>
                </a:lnTo>
                <a:lnTo>
                  <a:pt x="602318" y="75111"/>
                </a:lnTo>
                <a:lnTo>
                  <a:pt x="686551" y="112667"/>
                </a:lnTo>
                <a:lnTo>
                  <a:pt x="745575" y="150222"/>
                </a:lnTo>
                <a:lnTo>
                  <a:pt x="774405" y="187778"/>
                </a:lnTo>
                <a:lnTo>
                  <a:pt x="770603" y="225334"/>
                </a:lnTo>
                <a:lnTo>
                  <a:pt x="734491" y="262890"/>
                </a:lnTo>
                <a:lnTo>
                  <a:pt x="669121" y="300445"/>
                </a:lnTo>
                <a:lnTo>
                  <a:pt x="580016" y="338001"/>
                </a:lnTo>
                <a:lnTo>
                  <a:pt x="474705" y="375557"/>
                </a:lnTo>
                <a:lnTo>
                  <a:pt x="362086" y="413112"/>
                </a:lnTo>
                <a:lnTo>
                  <a:pt x="251677" y="450668"/>
                </a:lnTo>
                <a:lnTo>
                  <a:pt x="152806" y="488224"/>
                </a:lnTo>
                <a:lnTo>
                  <a:pt x="73828" y="525780"/>
                </a:lnTo>
                <a:lnTo>
                  <a:pt x="21417" y="563335"/>
                </a:lnTo>
                <a:lnTo>
                  <a:pt x="0" y="600891"/>
                </a:lnTo>
                <a:lnTo>
                  <a:pt x="11388" y="638447"/>
                </a:lnTo>
                <a:lnTo>
                  <a:pt x="54618" y="676002"/>
                </a:lnTo>
                <a:lnTo>
                  <a:pt x="126038" y="713558"/>
                </a:lnTo>
                <a:lnTo>
                  <a:pt x="219613" y="751114"/>
                </a:lnTo>
                <a:lnTo>
                  <a:pt x="327435" y="788670"/>
                </a:lnTo>
                <a:lnTo>
                  <a:pt x="440394" y="826225"/>
                </a:lnTo>
                <a:lnTo>
                  <a:pt x="548946" y="863781"/>
                </a:lnTo>
                <a:lnTo>
                  <a:pt x="643917" y="901337"/>
                </a:lnTo>
                <a:lnTo>
                  <a:pt x="717282" y="938892"/>
                </a:lnTo>
                <a:lnTo>
                  <a:pt x="762844" y="976448"/>
                </a:lnTo>
                <a:lnTo>
                  <a:pt x="776751" y="1014004"/>
                </a:lnTo>
                <a:lnTo>
                  <a:pt x="757828" y="1051560"/>
                </a:lnTo>
              </a:path>
            </a:pathLst>
          </a:custGeom>
          <a:noFill/>
          <a:ln w="6858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16/22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8B8899"/>
                </a:solidFill>
                <a:latin typeface="Arial"/>
              </a:rPr>
              <a:t>COMMON MISCONCEPTIONS</a:t>
            </a:r>
          </a:p>
        </p:txBody>
      </p:sp>
      <p:sp>
        <p:nvSpPr>
          <p:cNvPr id="4" name="TextBox 3"/>
          <p:cNvSpPr txBox="1"/>
          <p:nvPr/>
        </p:nvSpPr>
        <p:spPr>
          <a:xfrm>
            <a:off x="685800" y="914400"/>
            <a:ext cx="10515600" cy="822960"/>
          </a:xfrm>
          <a:prstGeom prst="rect">
            <a:avLst/>
          </a:prstGeom>
          <a:noFill/>
        </p:spPr>
        <p:txBody>
          <a:bodyPr wrap="square" anchor="t" lIns="0" rIns="0" tIns="0" bIns="0">
            <a:spAutoFit/>
          </a:bodyPr>
          <a:lstStyle/>
          <a:p>
            <a:pPr algn="l">
              <a:lnSpc>
                <a:spcPct val="115000"/>
              </a:lnSpc>
            </a:pPr>
            <a:r>
              <a:rPr sz="3000" b="1" i="0">
                <a:solidFill>
                  <a:srgbClr val="221F33"/>
                </a:solidFill>
                <a:latin typeface="Arial Rounded MT Bold"/>
              </a:rPr>
              <a:t>Where People Get Tripped Up</a:t>
            </a:r>
          </a:p>
        </p:txBody>
      </p:sp>
      <p:sp>
        <p:nvSpPr>
          <p:cNvPr id="5" name="TextBox 4"/>
          <p:cNvSpPr txBox="1"/>
          <p:nvPr/>
        </p:nvSpPr>
        <p:spPr>
          <a:xfrm>
            <a:off x="685800" y="1691640"/>
            <a:ext cx="10515600" cy="548640"/>
          </a:xfrm>
          <a:prstGeom prst="rect">
            <a:avLst/>
          </a:prstGeom>
          <a:noFill/>
        </p:spPr>
        <p:txBody>
          <a:bodyPr wrap="square" anchor="t" lIns="0" rIns="0" tIns="0" bIns="0">
            <a:spAutoFit/>
          </a:bodyPr>
          <a:lstStyle/>
          <a:p>
            <a:pPr algn="l">
              <a:lnSpc>
                <a:spcPct val="140000"/>
              </a:lnSpc>
            </a:pPr>
            <a:r>
              <a:rPr sz="1300" b="0" i="0">
                <a:solidFill>
                  <a:srgbClr val="8B8899"/>
                </a:solidFill>
                <a:latin typeface="Arial"/>
              </a:rPr>
              <a:t>Two claims that sound reasonable, but aren't quite right.</a:t>
            </a:r>
          </a:p>
        </p:txBody>
      </p:sp>
      <p:sp>
        <p:nvSpPr>
          <p:cNvPr id="6" name="Rounded Rectangle 5"/>
          <p:cNvSpPr/>
          <p:nvPr/>
        </p:nvSpPr>
        <p:spPr>
          <a:xfrm>
            <a:off x="685800" y="2560320"/>
            <a:ext cx="5120640" cy="3520440"/>
          </a:xfrm>
          <a:prstGeom prst="roundRect">
            <a:avLst>
              <a:gd name="adj" fmla="val 6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5156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6C5FE8"/>
                </a:solidFill>
                <a:latin typeface="Arial Rounded MT Bold"/>
              </a:rPr>
              <a:t>1</a:t>
            </a:r>
          </a:p>
        </p:txBody>
      </p:sp>
      <p:sp>
        <p:nvSpPr>
          <p:cNvPr id="8" name="TextBox 7"/>
          <p:cNvSpPr txBox="1"/>
          <p:nvPr/>
        </p:nvSpPr>
        <p:spPr>
          <a:xfrm>
            <a:off x="105156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“A DAO means no leadership or structure at all.”</a:t>
            </a:r>
          </a:p>
        </p:txBody>
      </p:sp>
      <p:sp>
        <p:nvSpPr>
          <p:cNvPr id="9" name="TextBox 8"/>
          <p:cNvSpPr txBox="1"/>
          <p:nvPr/>
        </p:nvSpPr>
        <p:spPr>
          <a:xfrm>
            <a:off x="105156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Most real DAOs still have core contributor teams or multisig signers handling day-to-day execution — “decentralized” describes major decisions and fund custody, not the absence of coordination.</a:t>
            </a:r>
          </a:p>
        </p:txBody>
      </p:sp>
      <p:sp>
        <p:nvSpPr>
          <p:cNvPr id="10" name="Rounded Rectangle 9"/>
          <p:cNvSpPr/>
          <p:nvPr/>
        </p:nvSpPr>
        <p:spPr>
          <a:xfrm>
            <a:off x="6126480" y="2560320"/>
            <a:ext cx="5120640" cy="3520440"/>
          </a:xfrm>
          <a:prstGeom prst="roundRect">
            <a:avLst>
              <a:gd name="adj" fmla="val 6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92240" y="292608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35C078"/>
                </a:solidFill>
                <a:latin typeface="Arial Rounded MT Bold"/>
              </a:rPr>
              <a:t>2</a:t>
            </a:r>
          </a:p>
        </p:txBody>
      </p:sp>
      <p:sp>
        <p:nvSpPr>
          <p:cNvPr id="12" name="TextBox 11"/>
          <p:cNvSpPr txBox="1"/>
          <p:nvPr/>
        </p:nvSpPr>
        <p:spPr>
          <a:xfrm>
            <a:off x="6492240" y="3794760"/>
            <a:ext cx="4389120" cy="548640"/>
          </a:xfrm>
          <a:prstGeom prst="rect">
            <a:avLst/>
          </a:prstGeom>
          <a:noFill/>
        </p:spPr>
        <p:txBody>
          <a:bodyPr wrap="square" anchor="t" lIns="0" rIns="0" tIns="0" bIns="0">
            <a:spAutoFit/>
          </a:bodyPr>
          <a:lstStyle/>
          <a:p>
            <a:pPr algn="l">
              <a:lnSpc>
                <a:spcPct val="115000"/>
              </a:lnSpc>
            </a:pPr>
            <a:r>
              <a:rPr sz="2000" b="1" i="0">
                <a:solidFill>
                  <a:srgbClr val="FFFFFF"/>
                </a:solidFill>
                <a:latin typeface="Arial Rounded MT Bold"/>
              </a:rPr>
              <a:t>“The DAO hack proves DAOs don't work.”</a:t>
            </a:r>
          </a:p>
        </p:txBody>
      </p:sp>
      <p:sp>
        <p:nvSpPr>
          <p:cNvPr id="13" name="TextBox 12"/>
          <p:cNvSpPr txBox="1"/>
          <p:nvPr/>
        </p:nvSpPr>
        <p:spPr>
          <a:xfrm>
            <a:off x="6492240" y="4343400"/>
            <a:ext cx="4389120" cy="1554480"/>
          </a:xfrm>
          <a:prstGeom prst="rect">
            <a:avLst/>
          </a:prstGeom>
          <a:noFill/>
        </p:spPr>
        <p:txBody>
          <a:bodyPr wrap="square" anchor="t" lIns="0" rIns="0" tIns="0" bIns="0">
            <a:spAutoFit/>
          </a:bodyPr>
          <a:lstStyle/>
          <a:p>
            <a:pPr algn="l">
              <a:lnSpc>
                <a:spcPct val="140000"/>
              </a:lnSpc>
            </a:pPr>
            <a:r>
              <a:rPr sz="1300" b="0" i="0">
                <a:solidFill>
                  <a:srgbClr val="F3F1FC"/>
                </a:solidFill>
                <a:latin typeface="Arial"/>
              </a:rPr>
              <a:t>It proved this specific, early, unaudited contract had a bug — the same way one bankruptcy doesn't prove companies don't work. It's why security (Week 6) is now a first-class discipline.</a:t>
            </a:r>
          </a:p>
        </p:txBody>
      </p:sp>
      <p:sp>
        <p:nvSpPr>
          <p:cNvPr id="14" name="TextBox 13"/>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17/22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9700101" y="-457200"/>
            <a:ext cx="2181754" cy="2377440"/>
          </a:xfrm>
          <a:custGeom>
            <a:avLst/>
            <a:gdLst/>
            <a:ahLst/>
            <a:cxnLst/>
            <a:rect l="l" t="t" r="r" b="b"/>
            <a:pathLst>
              <a:path w="2181754" h="2377440">
                <a:moveTo>
                  <a:pt x="1089819" y="0"/>
                </a:moveTo>
                <a:lnTo>
                  <a:pt x="1400676" y="67926"/>
                </a:lnTo>
                <a:lnTo>
                  <a:pt x="1686063" y="135853"/>
                </a:lnTo>
                <a:lnTo>
                  <a:pt x="1922596" y="203780"/>
                </a:lnTo>
                <a:lnTo>
                  <a:pt x="2090894" y="271707"/>
                </a:lnTo>
                <a:lnTo>
                  <a:pt x="2177168" y="339634"/>
                </a:lnTo>
                <a:lnTo>
                  <a:pt x="2174349" y="407561"/>
                </a:lnTo>
                <a:lnTo>
                  <a:pt x="2082667" y="475488"/>
                </a:lnTo>
                <a:lnTo>
                  <a:pt x="1909635" y="543414"/>
                </a:lnTo>
                <a:lnTo>
                  <a:pt x="1669431" y="611341"/>
                </a:lnTo>
                <a:lnTo>
                  <a:pt x="1381735" y="679268"/>
                </a:lnTo>
                <a:lnTo>
                  <a:pt x="1070121" y="747195"/>
                </a:lnTo>
                <a:lnTo>
                  <a:pt x="760121" y="815122"/>
                </a:lnTo>
                <a:lnTo>
                  <a:pt x="477135" y="883049"/>
                </a:lnTo>
                <a:lnTo>
                  <a:pt x="244350" y="950976"/>
                </a:lnTo>
                <a:lnTo>
                  <a:pt x="80839" y="1018902"/>
                </a:lnTo>
                <a:lnTo>
                  <a:pt x="0" y="1086829"/>
                </a:lnTo>
                <a:lnTo>
                  <a:pt x="8457" y="1154756"/>
                </a:lnTo>
                <a:lnTo>
                  <a:pt x="105517" y="1222683"/>
                </a:lnTo>
                <a:lnTo>
                  <a:pt x="283226" y="1290610"/>
                </a:lnTo>
                <a:lnTo>
                  <a:pt x="527024" y="1358537"/>
                </a:lnTo>
                <a:lnTo>
                  <a:pt x="816936" y="1426464"/>
                </a:lnTo>
                <a:lnTo>
                  <a:pt x="1129207" y="1494390"/>
                </a:lnTo>
                <a:lnTo>
                  <a:pt x="1438250" y="1562317"/>
                </a:lnTo>
                <a:lnTo>
                  <a:pt x="1718744" y="1630244"/>
                </a:lnTo>
                <a:lnTo>
                  <a:pt x="1947707" y="1698171"/>
                </a:lnTo>
                <a:lnTo>
                  <a:pt x="2106377" y="1766098"/>
                </a:lnTo>
                <a:lnTo>
                  <a:pt x="2181754" y="1834025"/>
                </a:lnTo>
                <a:lnTo>
                  <a:pt x="2167663" y="1901952"/>
                </a:lnTo>
                <a:lnTo>
                  <a:pt x="2065257" y="1969878"/>
                </a:lnTo>
                <a:lnTo>
                  <a:pt x="1882927" y="2037805"/>
                </a:lnTo>
                <a:lnTo>
                  <a:pt x="1635613" y="2105732"/>
                </a:lnTo>
                <a:lnTo>
                  <a:pt x="1343579" y="2173659"/>
                </a:lnTo>
                <a:lnTo>
                  <a:pt x="1030752" y="2241586"/>
                </a:lnTo>
                <a:lnTo>
                  <a:pt x="722765" y="2309513"/>
                </a:lnTo>
                <a:lnTo>
                  <a:pt x="444853" y="2377440"/>
                </a:lnTo>
              </a:path>
            </a:pathLst>
          </a:custGeom>
          <a:noFill/>
          <a:ln w="146304"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85800" y="731520"/>
            <a:ext cx="777240" cy="777240"/>
          </a:xfrm>
          <a:prstGeom prst="ellipse">
            <a:avLst/>
          </a:prstGeom>
          <a:solidFill>
            <a:srgbClr val="E05A3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3000" b="1">
                <a:solidFill>
                  <a:srgbClr val="FFFFFF"/>
                </a:solidFill>
                <a:latin typeface="Arial Rounded MT Bold"/>
              </a:rPr>
              <a:t>?</a:t>
            </a:r>
          </a:p>
        </p:txBody>
      </p:sp>
      <p:sp>
        <p:nvSpPr>
          <p:cNvPr id="5" name="TextBox 4"/>
          <p:cNvSpPr txBox="1"/>
          <p:nvPr/>
        </p:nvSpPr>
        <p:spPr>
          <a:xfrm>
            <a:off x="1737360" y="86868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ONE MORE CHECK</a:t>
            </a:r>
          </a:p>
        </p:txBody>
      </p:sp>
      <p:sp>
        <p:nvSpPr>
          <p:cNvPr id="6" name="TextBox 5"/>
          <p:cNvSpPr txBox="1"/>
          <p:nvPr/>
        </p:nvSpPr>
        <p:spPr>
          <a:xfrm>
            <a:off x="685800" y="1828800"/>
            <a:ext cx="10607040" cy="1554480"/>
          </a:xfrm>
          <a:prstGeom prst="rect">
            <a:avLst/>
          </a:prstGeom>
          <a:noFill/>
        </p:spPr>
        <p:txBody>
          <a:bodyPr wrap="square" anchor="t" lIns="0" rIns="0" tIns="0" bIns="0">
            <a:spAutoFit/>
          </a:bodyPr>
          <a:lstStyle/>
          <a:p>
            <a:pPr algn="l">
              <a:lnSpc>
                <a:spcPct val="115000"/>
              </a:lnSpc>
            </a:pPr>
            <a:r>
              <a:rPr sz="2700" b="1" i="0">
                <a:solidFill>
                  <a:srgbClr val="FFFFFF"/>
                </a:solidFill>
                <a:latin typeface="Arial Rounded MT Bold"/>
              </a:rPr>
              <a:t>Why couldn't Ethereum's developers just quietly rewrite the one transaction that stole the funds, without anyone noticing?</a:t>
            </a:r>
          </a:p>
        </p:txBody>
      </p:sp>
      <p:sp>
        <p:nvSpPr>
          <p:cNvPr id="7" name="Rectangle 6"/>
          <p:cNvSpPr/>
          <p:nvPr/>
        </p:nvSpPr>
        <p:spPr>
          <a:xfrm>
            <a:off x="685800" y="3520440"/>
            <a:ext cx="2011680" cy="41148"/>
          </a:xfrm>
          <a:prstGeom prst="rect">
            <a:avLst/>
          </a:prstGeom>
          <a:solidFill>
            <a:srgbClr val="FDC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886200"/>
            <a:ext cx="1463040" cy="320040"/>
          </a:xfrm>
          <a:prstGeom prst="rect">
            <a:avLst/>
          </a:prstGeom>
          <a:noFill/>
        </p:spPr>
        <p:txBody>
          <a:bodyPr wrap="square" anchor="t" lIns="0" rIns="0" tIns="0" bIns="0">
            <a:spAutoFit/>
          </a:bodyPr>
          <a:lstStyle/>
          <a:p>
            <a:pPr algn="l">
              <a:lnSpc>
                <a:spcPct val="115000"/>
              </a:lnSpc>
            </a:pPr>
            <a:r>
              <a:rPr sz="1100" b="1" i="0">
                <a:solidFill>
                  <a:srgbClr val="FDC646"/>
                </a:solidFill>
                <a:latin typeface="Arial"/>
              </a:rPr>
              <a:t>ANSWER</a:t>
            </a:r>
          </a:p>
        </p:txBody>
      </p:sp>
      <p:sp>
        <p:nvSpPr>
          <p:cNvPr id="9" name="TextBox 8"/>
          <p:cNvSpPr txBox="1"/>
          <p:nvPr/>
        </p:nvSpPr>
        <p:spPr>
          <a:xfrm>
            <a:off x="685800" y="4297680"/>
            <a:ext cx="10241280" cy="2011680"/>
          </a:xfrm>
          <a:prstGeom prst="rect">
            <a:avLst/>
          </a:prstGeom>
          <a:noFill/>
        </p:spPr>
        <p:txBody>
          <a:bodyPr wrap="square" anchor="t" lIns="0" rIns="0" tIns="0" bIns="0">
            <a:spAutoFit/>
          </a:bodyPr>
          <a:lstStyle/>
          <a:p>
            <a:pPr algn="l">
              <a:lnSpc>
                <a:spcPct val="150000"/>
              </a:lnSpc>
            </a:pPr>
            <a:r>
              <a:rPr sz="1500" b="0" i="0">
                <a:solidFill>
                  <a:srgbClr val="E3E0F7"/>
                </a:solidFill>
                <a:latin typeface="Arial"/>
              </a:rPr>
              <a:t>Because every node independently verifies the chain's history using the hashing and consensus mechanisms from Week 1 — a quiet, undetected rewrite is exactly what that system is built to make impossible. Any change had to be an open, network-wide hard fork that every node could see and choose whether to adopt — exactly why it split into two chains instead of one silent fix.</a:t>
            </a:r>
          </a:p>
        </p:txBody>
      </p:sp>
      <p:sp>
        <p:nvSpPr>
          <p:cNvPr id="10" name="TextBox 9"/>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9A9FB8"/>
                </a:solidFill>
                <a:latin typeface="Courier New"/>
              </a:rPr>
              <a:t>18/22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6C5FE8"/>
                </a:solidFill>
                <a:latin typeface="Arial"/>
              </a:rPr>
              <a:t>HANDS-ON PRACTICE</a:t>
            </a:r>
          </a:p>
        </p:txBody>
      </p:sp>
      <p:sp>
        <p:nvSpPr>
          <p:cNvPr id="4" name="TextBox 3"/>
          <p:cNvSpPr txBox="1"/>
          <p:nvPr/>
        </p:nvSpPr>
        <p:spPr>
          <a:xfrm>
            <a:off x="685800" y="914400"/>
            <a:ext cx="420624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Do This Now</a:t>
            </a:r>
          </a:p>
        </p:txBody>
      </p:sp>
      <p:pic>
        <p:nvPicPr>
          <p:cNvPr id="5" name="Picture 4" descr="_c_tl19_practice.jpg"/>
          <p:cNvPicPr>
            <a:picLocks noChangeAspect="1"/>
          </p:cNvPicPr>
          <p:nvPr/>
        </p:nvPicPr>
        <p:blipFill>
          <a:blip r:embed="rId2"/>
          <a:stretch>
            <a:fillRect/>
          </a:stretch>
        </p:blipFill>
        <p:spPr>
          <a:xfrm>
            <a:off x="685800" y="2377440"/>
            <a:ext cx="4206240" cy="3291840"/>
          </a:xfrm>
          <a:prstGeom prst="rect">
            <a:avLst/>
          </a:prstGeom>
        </p:spPr>
      </p:pic>
      <p:sp>
        <p:nvSpPr>
          <p:cNvPr id="6" name="Rounded Rectangle 5"/>
          <p:cNvSpPr/>
          <p:nvPr/>
        </p:nvSpPr>
        <p:spPr>
          <a:xfrm>
            <a:off x="5486400" y="1005840"/>
            <a:ext cx="621792" cy="365760"/>
          </a:xfrm>
          <a:prstGeom prst="roundRect">
            <a:avLst>
              <a:gd name="adj" fmla="val 50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01</a:t>
            </a:r>
          </a:p>
        </p:txBody>
      </p:sp>
      <p:sp>
        <p:nvSpPr>
          <p:cNvPr id="7" name="TextBox 6"/>
          <p:cNvSpPr txBox="1"/>
          <p:nvPr/>
        </p:nvSpPr>
        <p:spPr>
          <a:xfrm>
            <a:off x="6172200" y="98755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Find a real governance proposal</a:t>
            </a:r>
          </a:p>
        </p:txBody>
      </p:sp>
      <p:sp>
        <p:nvSpPr>
          <p:cNvPr id="8" name="TextBox 7"/>
          <p:cNvSpPr txBox="1"/>
          <p:nvPr/>
        </p:nvSpPr>
        <p:spPr>
          <a:xfrm>
            <a:off x="6172200" y="138988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From Uniswap, MakerDAO, or any active DAO — what was proposed, what happened?</a:t>
            </a:r>
          </a:p>
        </p:txBody>
      </p:sp>
      <p:cxnSp>
        <p:nvCxnSpPr>
          <p:cNvPr id="9" name="Connector 8"/>
          <p:cNvCxnSpPr/>
          <p:nvPr/>
        </p:nvCxnSpPr>
        <p:spPr>
          <a:xfrm>
            <a:off x="5742432" y="141732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486400" y="2057400"/>
            <a:ext cx="621792" cy="365760"/>
          </a:xfrm>
          <a:prstGeom prst="roundRect">
            <a:avLst>
              <a:gd name="adj" fmla="val 50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02</a:t>
            </a:r>
          </a:p>
        </p:txBody>
      </p:sp>
      <p:sp>
        <p:nvSpPr>
          <p:cNvPr id="11" name="TextBox 10"/>
          <p:cNvSpPr txBox="1"/>
          <p:nvPr/>
        </p:nvSpPr>
        <p:spPr>
          <a:xfrm>
            <a:off x="6172200" y="203911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Write The DAO's timeline</a:t>
            </a:r>
          </a:p>
        </p:txBody>
      </p:sp>
      <p:sp>
        <p:nvSpPr>
          <p:cNvPr id="12" name="TextBox 11"/>
          <p:cNvSpPr txBox="1"/>
          <p:nvPr/>
        </p:nvSpPr>
        <p:spPr>
          <a:xfrm>
            <a:off x="6172200" y="244144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One paragraph, launch to the ETH/ETC split, in your own words.</a:t>
            </a:r>
          </a:p>
        </p:txBody>
      </p:sp>
      <p:cxnSp>
        <p:nvCxnSpPr>
          <p:cNvPr id="13" name="Connector 12"/>
          <p:cNvCxnSpPr/>
          <p:nvPr/>
        </p:nvCxnSpPr>
        <p:spPr>
          <a:xfrm>
            <a:off x="5742432" y="2468880"/>
            <a:ext cx="0" cy="640080"/>
          </a:xfrm>
          <a:prstGeom prst="line">
            <a:avLst/>
          </a:prstGeom>
          <a:ln w="19050">
            <a:solidFill>
              <a:srgbClr val="ECEAF3"/>
            </a:solidFill>
            <a:prstDash val="sysDash"/>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0" y="3108960"/>
            <a:ext cx="621792" cy="365760"/>
          </a:xfrm>
          <a:prstGeom prst="roundRect">
            <a:avLst>
              <a:gd name="adj" fmla="val 50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lIns="228600" rIns="228600" wrap="none"/>
          <a:lstStyle/>
          <a:p>
            <a:pPr algn="ctr"/>
            <a:r>
              <a:rPr sz="1200" b="1">
                <a:solidFill>
                  <a:srgbClr val="FFFFFF"/>
                </a:solidFill>
                <a:latin typeface="Arial"/>
              </a:rPr>
              <a:t>03</a:t>
            </a:r>
          </a:p>
        </p:txBody>
      </p:sp>
      <p:sp>
        <p:nvSpPr>
          <p:cNvPr id="15" name="TextBox 14"/>
          <p:cNvSpPr txBox="1"/>
          <p:nvPr/>
        </p:nvSpPr>
        <p:spPr>
          <a:xfrm>
            <a:off x="6172200" y="3090672"/>
            <a:ext cx="548640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Compare to Week 1's ETC case study</a:t>
            </a:r>
          </a:p>
        </p:txBody>
      </p:sp>
      <p:sp>
        <p:nvSpPr>
          <p:cNvPr id="16" name="TextBox 15"/>
          <p:cNvSpPr txBox="1"/>
          <p:nvPr/>
        </p:nvSpPr>
        <p:spPr>
          <a:xfrm>
            <a:off x="6172200" y="3493008"/>
            <a:ext cx="5486400" cy="54864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Same network — connect the 2016 origin to the 2019/2020 attacks.</a:t>
            </a:r>
          </a:p>
        </p:txBody>
      </p:sp>
      <p:sp>
        <p:nvSpPr>
          <p:cNvPr id="17" name="TextBox 16"/>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19/22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40080"/>
            <a:ext cx="822960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RESOURCES</a:t>
            </a:r>
          </a:p>
        </p:txBody>
      </p:sp>
      <p:sp>
        <p:nvSpPr>
          <p:cNvPr id="4" name="TextBox 3"/>
          <p:cNvSpPr txBox="1"/>
          <p:nvPr/>
        </p:nvSpPr>
        <p:spPr>
          <a:xfrm>
            <a:off x="685800" y="1051560"/>
            <a:ext cx="10058400" cy="914400"/>
          </a:xfrm>
          <a:prstGeom prst="rect">
            <a:avLst/>
          </a:prstGeom>
          <a:noFill/>
        </p:spPr>
        <p:txBody>
          <a:bodyPr wrap="square" anchor="t" lIns="0" rIns="0" tIns="0" bIns="0">
            <a:spAutoFit/>
          </a:bodyPr>
          <a:lstStyle/>
          <a:p>
            <a:pPr algn="l">
              <a:lnSpc>
                <a:spcPct val="115000"/>
              </a:lnSpc>
            </a:pPr>
            <a:r>
              <a:rPr sz="3000" b="1" i="0">
                <a:solidFill>
                  <a:srgbClr val="221F33"/>
                </a:solidFill>
                <a:latin typeface="Arial Rounded MT Bold"/>
              </a:rPr>
              <a:t>Watch, Read, Explore</a:t>
            </a:r>
          </a:p>
        </p:txBody>
      </p:sp>
      <p:sp>
        <p:nvSpPr>
          <p:cNvPr id="5" name="TextBox 4"/>
          <p:cNvSpPr txBox="1"/>
          <p:nvPr/>
        </p:nvSpPr>
        <p:spPr>
          <a:xfrm>
            <a:off x="685800" y="2286000"/>
            <a:ext cx="274320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RECOMMENDED VIDEOS</a:t>
            </a:r>
          </a:p>
        </p:txBody>
      </p:sp>
      <p:sp>
        <p:nvSpPr>
          <p:cNvPr id="6" name="TextBox 5"/>
          <p:cNvSpPr txBox="1"/>
          <p:nvPr/>
        </p:nvSpPr>
        <p:spPr>
          <a:xfrm>
            <a:off x="685800" y="2651760"/>
            <a:ext cx="10058400" cy="822960"/>
          </a:xfrm>
          <a:prstGeom prst="rect">
            <a:avLst/>
          </a:prstGeom>
          <a:noFill/>
        </p:spPr>
        <p:txBody>
          <a:bodyPr wrap="square" anchor="t" lIns="0" rIns="0" tIns="0" bIns="0">
            <a:spAutoFit/>
          </a:bodyPr>
          <a:lstStyle/>
          <a:p>
            <a:pPr algn="l">
              <a:lnSpc>
                <a:spcPct val="140000"/>
              </a:lnSpc>
            </a:pPr>
            <a:r>
              <a:rPr sz="1400" b="0" i="0">
                <a:solidFill>
                  <a:srgbClr val="8B8899"/>
                </a:solidFill>
                <a:latin typeface="Arial"/>
              </a:rPr>
              <a:t>Explained: What Is A DAO? | Crypto 101</a:t>
            </a:r>
          </a:p>
        </p:txBody>
      </p:sp>
      <p:sp>
        <p:nvSpPr>
          <p:cNvPr id="7" name="TextBox 6"/>
          <p:cNvSpPr txBox="1"/>
          <p:nvPr/>
        </p:nvSpPr>
        <p:spPr>
          <a:xfrm>
            <a:off x="685800" y="3474720"/>
            <a:ext cx="274320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WHERE TO READ MORE</a:t>
            </a:r>
          </a:p>
        </p:txBody>
      </p:sp>
      <p:sp>
        <p:nvSpPr>
          <p:cNvPr id="8" name="TextBox 7"/>
          <p:cNvSpPr txBox="1"/>
          <p:nvPr/>
        </p:nvSpPr>
        <p:spPr>
          <a:xfrm>
            <a:off x="685800" y="3840480"/>
            <a:ext cx="10058400" cy="822960"/>
          </a:xfrm>
          <a:prstGeom prst="rect">
            <a:avLst/>
          </a:prstGeom>
          <a:noFill/>
        </p:spPr>
        <p:txBody>
          <a:bodyPr wrap="square" anchor="t" lIns="0" rIns="0" tIns="0" bIns="0">
            <a:spAutoFit/>
          </a:bodyPr>
          <a:lstStyle/>
          <a:p>
            <a:pPr algn="l">
              <a:lnSpc>
                <a:spcPct val="140000"/>
              </a:lnSpc>
            </a:pPr>
            <a:r>
              <a:rPr sz="1400" b="0" i="0">
                <a:solidFill>
                  <a:srgbClr val="8B8899"/>
                </a:solidFill>
                <a:latin typeface="Arial"/>
              </a:rPr>
              <a:t>“The DAO” on Wikipedia has a detailed, well-sourced account of the 2016 event.</a:t>
            </a:r>
          </a:p>
        </p:txBody>
      </p:sp>
      <p:sp>
        <p:nvSpPr>
          <p:cNvPr id="9" name="TextBox 8"/>
          <p:cNvSpPr txBox="1"/>
          <p:nvPr/>
        </p:nvSpPr>
        <p:spPr>
          <a:xfrm>
            <a:off x="685800" y="4663440"/>
            <a:ext cx="2743200" cy="320040"/>
          </a:xfrm>
          <a:prstGeom prst="rect">
            <a:avLst/>
          </a:prstGeom>
          <a:noFill/>
        </p:spPr>
        <p:txBody>
          <a:bodyPr wrap="square" anchor="t" lIns="0" rIns="0" tIns="0" bIns="0">
            <a:spAutoFit/>
          </a:bodyPr>
          <a:lstStyle/>
          <a:p>
            <a:pPr algn="l">
              <a:lnSpc>
                <a:spcPct val="115000"/>
              </a:lnSpc>
            </a:pPr>
            <a:r>
              <a:rPr sz="1150" b="1" i="0">
                <a:solidFill>
                  <a:srgbClr val="E05A3E"/>
                </a:solidFill>
                <a:latin typeface="Arial"/>
              </a:rPr>
              <a:t>PRACTICE SITE</a:t>
            </a:r>
          </a:p>
        </p:txBody>
      </p:sp>
      <p:sp>
        <p:nvSpPr>
          <p:cNvPr id="10" name="TextBox 9"/>
          <p:cNvSpPr txBox="1"/>
          <p:nvPr/>
        </p:nvSpPr>
        <p:spPr>
          <a:xfrm>
            <a:off x="685800" y="5029200"/>
            <a:ext cx="10058400" cy="822960"/>
          </a:xfrm>
          <a:prstGeom prst="rect">
            <a:avLst/>
          </a:prstGeom>
          <a:noFill/>
        </p:spPr>
        <p:txBody>
          <a:bodyPr wrap="square" anchor="t" lIns="0" rIns="0" tIns="0" bIns="0">
            <a:spAutoFit/>
          </a:bodyPr>
          <a:lstStyle/>
          <a:p>
            <a:pPr algn="l">
              <a:lnSpc>
                <a:spcPct val="140000"/>
              </a:lnSpc>
            </a:pPr>
            <a:r>
              <a:rPr sz="1400" b="0" i="0">
                <a:solidFill>
                  <a:srgbClr val="8B8899"/>
                </a:solidFill>
                <a:latin typeface="Arial"/>
              </a:rPr>
              <a:t>Uniswap governance forum or MakerDAO governance portal — read real, current proposals.</a:t>
            </a:r>
          </a:p>
        </p:txBody>
      </p:sp>
      <p:sp>
        <p:nvSpPr>
          <p:cNvPr id="11" name="TextBox 10"/>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20/22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6C5FE8"/>
                </a:solidFill>
                <a:latin typeface="Arial"/>
              </a:rPr>
              <a:t>TAKE-HOME ASSIGNMENT</a:t>
            </a:r>
          </a:p>
        </p:txBody>
      </p:sp>
      <p:sp>
        <p:nvSpPr>
          <p:cNvPr id="4" name="TextBox 3"/>
          <p:cNvSpPr txBox="1"/>
          <p:nvPr/>
        </p:nvSpPr>
        <p:spPr>
          <a:xfrm>
            <a:off x="685800" y="914400"/>
            <a:ext cx="4297680" cy="1280160"/>
          </a:xfrm>
          <a:prstGeom prst="rect">
            <a:avLst/>
          </a:prstGeom>
          <a:noFill/>
        </p:spPr>
        <p:txBody>
          <a:bodyPr wrap="square" anchor="t" lIns="0" rIns="0" tIns="0" bIns="0">
            <a:spAutoFit/>
          </a:bodyPr>
          <a:lstStyle/>
          <a:p>
            <a:pPr algn="l">
              <a:lnSpc>
                <a:spcPct val="105000"/>
              </a:lnSpc>
            </a:pPr>
            <a:r>
              <a:rPr sz="2500" b="1" i="0">
                <a:solidFill>
                  <a:srgbClr val="221F33"/>
                </a:solidFill>
                <a:latin typeface="Arial Rounded MT Bold"/>
              </a:rPr>
              <a:t>Before You Move On</a:t>
            </a:r>
          </a:p>
        </p:txBody>
      </p:sp>
      <p:pic>
        <p:nvPicPr>
          <p:cNvPr id="5" name="Picture 4" descr="_c_fl21_takehome.jpg"/>
          <p:cNvPicPr>
            <a:picLocks noChangeAspect="1"/>
          </p:cNvPicPr>
          <p:nvPr/>
        </p:nvPicPr>
        <p:blipFill>
          <a:blip r:embed="rId2"/>
          <a:stretch>
            <a:fillRect/>
          </a:stretch>
        </p:blipFill>
        <p:spPr>
          <a:xfrm>
            <a:off x="685800" y="2377440"/>
            <a:ext cx="4297680" cy="3383280"/>
          </a:xfrm>
          <a:prstGeom prst="rect">
            <a:avLst/>
          </a:prstGeom>
        </p:spPr>
      </p:pic>
      <p:sp>
        <p:nvSpPr>
          <p:cNvPr id="6" name="Rounded Rectangle 5"/>
          <p:cNvSpPr/>
          <p:nvPr/>
        </p:nvSpPr>
        <p:spPr>
          <a:xfrm>
            <a:off x="5532120" y="1051560"/>
            <a:ext cx="502920" cy="502920"/>
          </a:xfrm>
          <a:prstGeom prst="roundRect">
            <a:avLst>
              <a:gd name="adj" fmla="val 25000"/>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a:t>
            </a:r>
          </a:p>
        </p:txBody>
      </p:sp>
      <p:sp>
        <p:nvSpPr>
          <p:cNvPr id="7" name="TextBox 6"/>
          <p:cNvSpPr txBox="1"/>
          <p:nvPr/>
        </p:nvSpPr>
        <p:spPr>
          <a:xfrm>
            <a:off x="6217920" y="1033272"/>
            <a:ext cx="576072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Explain the philosophical split</a:t>
            </a:r>
          </a:p>
        </p:txBody>
      </p:sp>
      <p:sp>
        <p:nvSpPr>
          <p:cNvPr id="8" name="TextBox 7"/>
          <p:cNvSpPr txBox="1"/>
          <p:nvPr/>
        </p:nvSpPr>
        <p:spPr>
          <a:xfrm>
            <a:off x="6217920" y="1435608"/>
            <a:ext cx="5760720" cy="82296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Why was this a genuine disagreement, not just a technical problem?</a:t>
            </a:r>
          </a:p>
        </p:txBody>
      </p:sp>
      <p:sp>
        <p:nvSpPr>
          <p:cNvPr id="9" name="Rounded Rectangle 8"/>
          <p:cNvSpPr/>
          <p:nvPr/>
        </p:nvSpPr>
        <p:spPr>
          <a:xfrm>
            <a:off x="5532120" y="2468880"/>
            <a:ext cx="502920" cy="502920"/>
          </a:xfrm>
          <a:prstGeom prst="roundRect">
            <a:avLst>
              <a:gd name="adj" fmla="val 25000"/>
            </a:avLst>
          </a:prstGeom>
          <a:solidFill>
            <a:srgbClr val="35C07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a:t>
            </a:r>
          </a:p>
        </p:txBody>
      </p:sp>
      <p:sp>
        <p:nvSpPr>
          <p:cNvPr id="10" name="TextBox 9"/>
          <p:cNvSpPr txBox="1"/>
          <p:nvPr/>
        </p:nvSpPr>
        <p:spPr>
          <a:xfrm>
            <a:off x="6217920" y="2450592"/>
            <a:ext cx="576072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Take a side</a:t>
            </a:r>
          </a:p>
        </p:txBody>
      </p:sp>
      <p:sp>
        <p:nvSpPr>
          <p:cNvPr id="11" name="TextBox 10"/>
          <p:cNvSpPr txBox="1"/>
          <p:nvPr/>
        </p:nvSpPr>
        <p:spPr>
          <a:xfrm>
            <a:off x="6217920" y="2852928"/>
            <a:ext cx="5760720" cy="82296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“Code is law” vs. “intervene to fix a wrong” — which do you find more convincing, and why?</a:t>
            </a:r>
          </a:p>
        </p:txBody>
      </p:sp>
      <p:sp>
        <p:nvSpPr>
          <p:cNvPr id="12" name="Rounded Rectangle 11"/>
          <p:cNvSpPr/>
          <p:nvPr/>
        </p:nvSpPr>
        <p:spPr>
          <a:xfrm>
            <a:off x="5532120" y="3886200"/>
            <a:ext cx="502920" cy="502920"/>
          </a:xfrm>
          <a:prstGeom prst="roundRect">
            <a:avLst>
              <a:gd name="adj" fmla="val 25000"/>
            </a:avLst>
          </a:prstGeom>
          <a:solidFill>
            <a:srgbClr val="F2734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1">
                <a:solidFill>
                  <a:srgbClr val="FFFFFF"/>
                </a:solidFill>
              </a:rPr>
              <a:t>✓</a:t>
            </a:r>
          </a:p>
        </p:txBody>
      </p:sp>
      <p:sp>
        <p:nvSpPr>
          <p:cNvPr id="13" name="TextBox 12"/>
          <p:cNvSpPr txBox="1"/>
          <p:nvPr/>
        </p:nvSpPr>
        <p:spPr>
          <a:xfrm>
            <a:off x="6217920" y="3867912"/>
            <a:ext cx="5760720" cy="365760"/>
          </a:xfrm>
          <a:prstGeom prst="rect">
            <a:avLst/>
          </a:prstGeom>
          <a:noFill/>
        </p:spPr>
        <p:txBody>
          <a:bodyPr wrap="square" anchor="t" lIns="0" rIns="0" tIns="0" bIns="0">
            <a:spAutoFit/>
          </a:bodyPr>
          <a:lstStyle/>
          <a:p>
            <a:pPr algn="l">
              <a:lnSpc>
                <a:spcPct val="115000"/>
              </a:lnSpc>
            </a:pPr>
            <a:r>
              <a:rPr sz="1450" b="1" i="0">
                <a:solidFill>
                  <a:srgbClr val="221F33"/>
                </a:solidFill>
                <a:latin typeface="Arial Rounded MT Bold"/>
              </a:rPr>
              <a:t>Connect it to Week 1</a:t>
            </a:r>
          </a:p>
        </p:txBody>
      </p:sp>
      <p:sp>
        <p:nvSpPr>
          <p:cNvPr id="14" name="TextBox 13"/>
          <p:cNvSpPr txBox="1"/>
          <p:nvPr/>
        </p:nvSpPr>
        <p:spPr>
          <a:xfrm>
            <a:off x="6217920" y="4270248"/>
            <a:ext cx="5760720" cy="822960"/>
          </a:xfrm>
          <a:prstGeom prst="rect">
            <a:avLst/>
          </a:prstGeom>
          <a:noFill/>
        </p:spPr>
        <p:txBody>
          <a:bodyPr wrap="square" anchor="t" lIns="0" rIns="0" tIns="0" bIns="0">
            <a:spAutoFit/>
          </a:bodyPr>
          <a:lstStyle/>
          <a:p>
            <a:pPr algn="l">
              <a:lnSpc>
                <a:spcPct val="130000"/>
              </a:lnSpc>
            </a:pPr>
            <a:r>
              <a:rPr sz="1050" b="0" i="0">
                <a:solidFill>
                  <a:srgbClr val="8B8899"/>
                </a:solidFill>
                <a:latin typeface="Arial"/>
              </a:rPr>
              <a:t>How does this origin story change how you read Ethereum Classic's 51%-attacks?</a:t>
            </a:r>
          </a:p>
        </p:txBody>
      </p:sp>
      <p:sp>
        <p:nvSpPr>
          <p:cNvPr id="15" name="TextBox 14"/>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8B8899"/>
                </a:solidFill>
                <a:latin typeface="Courier New"/>
              </a:rPr>
              <a:t>21/22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6C5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7044576" y="-731520"/>
            <a:ext cx="5382948" cy="8321040"/>
          </a:xfrm>
          <a:custGeom>
            <a:avLst/>
            <a:gdLst/>
            <a:ahLst/>
            <a:cxnLst/>
            <a:rect l="l" t="t" r="r" b="b"/>
            <a:pathLst>
              <a:path w="5382948" h="8321040">
                <a:moveTo>
                  <a:pt x="2693784" y="0"/>
                </a:moveTo>
                <a:lnTo>
                  <a:pt x="3459909" y="173355"/>
                </a:lnTo>
                <a:lnTo>
                  <a:pt x="4162936" y="346710"/>
                </a:lnTo>
                <a:lnTo>
                  <a:pt x="4744963" y="520065"/>
                </a:lnTo>
                <a:lnTo>
                  <a:pt x="5158054" y="693420"/>
                </a:lnTo>
                <a:lnTo>
                  <a:pt x="5368186" y="866775"/>
                </a:lnTo>
                <a:lnTo>
                  <a:pt x="5358053" y="1040130"/>
                </a:lnTo>
                <a:lnTo>
                  <a:pt x="5128489" y="1213485"/>
                </a:lnTo>
                <a:lnTo>
                  <a:pt x="4698402" y="1386840"/>
                </a:lnTo>
                <a:lnTo>
                  <a:pt x="4103213" y="1560195"/>
                </a:lnTo>
                <a:lnTo>
                  <a:pt x="3391943" y="1733550"/>
                </a:lnTo>
                <a:lnTo>
                  <a:pt x="2623172" y="1906905"/>
                </a:lnTo>
                <a:lnTo>
                  <a:pt x="1860216" y="2080260"/>
                </a:lnTo>
                <a:lnTo>
                  <a:pt x="1165914" y="2253615"/>
                </a:lnTo>
                <a:lnTo>
                  <a:pt x="597448" y="2426970"/>
                </a:lnTo>
                <a:lnTo>
                  <a:pt x="201637" y="2600325"/>
                </a:lnTo>
                <a:lnTo>
                  <a:pt x="11081" y="2773680"/>
                </a:lnTo>
                <a:lnTo>
                  <a:pt x="41473" y="2947035"/>
                </a:lnTo>
                <a:lnTo>
                  <a:pt x="290311" y="3120390"/>
                </a:lnTo>
                <a:lnTo>
                  <a:pt x="737101" y="3293745"/>
                </a:lnTo>
                <a:lnTo>
                  <a:pt x="1345044" y="3467100"/>
                </a:lnTo>
                <a:lnTo>
                  <a:pt x="2064069" y="3640455"/>
                </a:lnTo>
                <a:lnTo>
                  <a:pt x="2834959" y="3813810"/>
                </a:lnTo>
                <a:lnTo>
                  <a:pt x="3594221" y="3987165"/>
                </a:lnTo>
                <a:lnTo>
                  <a:pt x="4279322" y="4160520"/>
                </a:lnTo>
                <a:lnTo>
                  <a:pt x="4833838" y="4333875"/>
                </a:lnTo>
                <a:lnTo>
                  <a:pt x="5212098" y="4507230"/>
                </a:lnTo>
                <a:lnTo>
                  <a:pt x="5382948" y="4680585"/>
                </a:lnTo>
                <a:lnTo>
                  <a:pt x="5332317" y="4853940"/>
                </a:lnTo>
                <a:lnTo>
                  <a:pt x="5064375" y="5027295"/>
                </a:lnTo>
                <a:lnTo>
                  <a:pt x="4601190" y="5200650"/>
                </a:lnTo>
                <a:lnTo>
                  <a:pt x="3980910" y="5374005"/>
                </a:lnTo>
                <a:lnTo>
                  <a:pt x="3254621" y="5547360"/>
                </a:lnTo>
                <a:lnTo>
                  <a:pt x="2482142" y="5720715"/>
                </a:lnTo>
                <a:lnTo>
                  <a:pt x="1727093" y="5894070"/>
                </a:lnTo>
                <a:lnTo>
                  <a:pt x="1051662" y="6067425"/>
                </a:lnTo>
                <a:lnTo>
                  <a:pt x="511476" y="6240780"/>
                </a:lnTo>
                <a:lnTo>
                  <a:pt x="151027" y="6414135"/>
                </a:lnTo>
                <a:lnTo>
                  <a:pt x="0" y="6587490"/>
                </a:lnTo>
                <a:lnTo>
                  <a:pt x="70835" y="6760845"/>
                </a:lnTo>
                <a:lnTo>
                  <a:pt x="357697" y="6934200"/>
                </a:lnTo>
                <a:lnTo>
                  <a:pt x="836961" y="7107555"/>
                </a:lnTo>
                <a:lnTo>
                  <a:pt x="1469153" y="7280910"/>
                </a:lnTo>
                <a:lnTo>
                  <a:pt x="2202207" y="7454265"/>
                </a:lnTo>
                <a:lnTo>
                  <a:pt x="2975747" y="7627620"/>
                </a:lnTo>
                <a:lnTo>
                  <a:pt x="3726064" y="7800975"/>
                </a:lnTo>
                <a:lnTo>
                  <a:pt x="4391363" y="7974330"/>
                </a:lnTo>
                <a:lnTo>
                  <a:pt x="4916847" y="8147685"/>
                </a:lnTo>
                <a:lnTo>
                  <a:pt x="5259239" y="8321040"/>
                </a:lnTo>
              </a:path>
            </a:pathLst>
          </a:custGeom>
          <a:noFill/>
          <a:ln w="365760" cap="rnd">
            <a:solidFill>
              <a:srgbClr val="FDC6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548640"/>
            <a:ext cx="8229600" cy="320040"/>
          </a:xfrm>
          <a:prstGeom prst="rect">
            <a:avLst/>
          </a:prstGeom>
          <a:noFill/>
        </p:spPr>
        <p:txBody>
          <a:bodyPr wrap="square" anchor="t" lIns="0" rIns="0" tIns="0" bIns="0">
            <a:spAutoFit/>
          </a:bodyPr>
          <a:lstStyle/>
          <a:p>
            <a:pPr algn="l">
              <a:lnSpc>
                <a:spcPct val="115000"/>
              </a:lnSpc>
            </a:pPr>
            <a:r>
              <a:rPr sz="1150" b="1" i="0">
                <a:solidFill>
                  <a:srgbClr val="FDC646"/>
                </a:solidFill>
                <a:latin typeface="Arial"/>
              </a:rPr>
              <a:t>RECAP</a:t>
            </a:r>
          </a:p>
        </p:txBody>
      </p:sp>
      <p:sp>
        <p:nvSpPr>
          <p:cNvPr id="5" name="TextBox 4"/>
          <p:cNvSpPr txBox="1"/>
          <p:nvPr/>
        </p:nvSpPr>
        <p:spPr>
          <a:xfrm>
            <a:off x="685800" y="1280160"/>
            <a:ext cx="5943600" cy="2194560"/>
          </a:xfrm>
          <a:prstGeom prst="rect">
            <a:avLst/>
          </a:prstGeom>
          <a:noFill/>
        </p:spPr>
        <p:txBody>
          <a:bodyPr wrap="square" anchor="t" lIns="0" rIns="0" tIns="0" bIns="0">
            <a:spAutoFit/>
          </a:bodyPr>
          <a:lstStyle/>
          <a:p>
            <a:pPr algn="l">
              <a:lnSpc>
                <a:spcPct val="98000"/>
              </a:lnSpc>
            </a:pPr>
            <a:r>
              <a:rPr sz="5400" b="1" i="0">
                <a:solidFill>
                  <a:srgbClr val="FFFFFF"/>
                </a:solidFill>
                <a:latin typeface="Arial Rounded MT Bold"/>
              </a:rPr>
              <a:t>On To Smart Contracts.</a:t>
            </a:r>
          </a:p>
        </p:txBody>
      </p:sp>
      <p:sp>
        <p:nvSpPr>
          <p:cNvPr id="6" name="TextBox 5"/>
          <p:cNvSpPr txBox="1"/>
          <p:nvPr/>
        </p:nvSpPr>
        <p:spPr>
          <a:xfrm>
            <a:off x="685800" y="3566160"/>
            <a:ext cx="5303520" cy="822960"/>
          </a:xfrm>
          <a:prstGeom prst="rect">
            <a:avLst/>
          </a:prstGeom>
          <a:noFill/>
        </p:spPr>
        <p:txBody>
          <a:bodyPr wrap="square" anchor="t" lIns="0" rIns="0" tIns="0" bIns="0">
            <a:spAutoFit/>
          </a:bodyPr>
          <a:lstStyle/>
          <a:p>
            <a:pPr algn="l">
              <a:lnSpc>
                <a:spcPct val="135000"/>
              </a:lnSpc>
            </a:pPr>
            <a:r>
              <a:rPr sz="1350" b="0" i="0">
                <a:solidFill>
                  <a:srgbClr val="E3E0F7"/>
                </a:solidFill>
                <a:latin typeface="Arial"/>
              </a:rPr>
              <a:t>You've seen what a DAO is built from. Next: a first, code-free look at the actual thing every DAO — and every dApp — is made of.</a:t>
            </a:r>
          </a:p>
        </p:txBody>
      </p:sp>
      <p:sp>
        <p:nvSpPr>
          <p:cNvPr id="7" name="TextBox 6"/>
          <p:cNvSpPr txBox="1"/>
          <p:nvPr/>
        </p:nvSpPr>
        <p:spPr>
          <a:xfrm>
            <a:off x="685800" y="4937760"/>
            <a:ext cx="6035040" cy="274320"/>
          </a:xfrm>
          <a:prstGeom prst="rect">
            <a:avLst/>
          </a:prstGeom>
          <a:noFill/>
        </p:spPr>
        <p:txBody>
          <a:bodyPr wrap="square" anchor="t" lIns="0" rIns="0" tIns="0" bIns="0">
            <a:spAutoFit/>
          </a:bodyPr>
          <a:lstStyle/>
          <a:p>
            <a:pPr algn="l">
              <a:lnSpc>
                <a:spcPct val="115000"/>
              </a:lnSpc>
            </a:pPr>
            <a:r>
              <a:rPr sz="1000" b="1" i="0">
                <a:solidFill>
                  <a:srgbClr val="FDC646"/>
                </a:solidFill>
                <a:latin typeface="Arial"/>
              </a:rPr>
              <a:t>REPOSITORY</a:t>
            </a:r>
          </a:p>
        </p:txBody>
      </p:sp>
      <p:sp>
        <p:nvSpPr>
          <p:cNvPr id="8" name="TextBox 7"/>
          <p:cNvSpPr txBox="1"/>
          <p:nvPr/>
        </p:nvSpPr>
        <p:spPr>
          <a:xfrm>
            <a:off x="685800" y="5230368"/>
            <a:ext cx="6035040" cy="457200"/>
          </a:xfrm>
          <a:prstGeom prst="rect">
            <a:avLst/>
          </a:prstGeom>
          <a:noFill/>
        </p:spPr>
        <p:txBody>
          <a:bodyPr wrap="square" anchor="t" lIns="0" rIns="0" tIns="0" bIns="0">
            <a:spAutoFit/>
          </a:bodyPr>
          <a:lstStyle/>
          <a:p>
            <a:pPr algn="l">
              <a:lnSpc>
                <a:spcPct val="120000"/>
              </a:lnSpc>
            </a:pPr>
            <a:r>
              <a:rPr sz="1200" b="0" i="0">
                <a:solidFill>
                  <a:srgbClr val="FFFFFF"/>
                </a:solidFill>
                <a:latin typeface="Arial"/>
              </a:rPr>
              <a:t>github.com/jadonamite/BlockchainCourse</a:t>
            </a:r>
          </a:p>
        </p:txBody>
      </p:sp>
      <p:sp>
        <p:nvSpPr>
          <p:cNvPr id="9" name="TextBox 8"/>
          <p:cNvSpPr txBox="1"/>
          <p:nvPr/>
        </p:nvSpPr>
        <p:spPr>
          <a:xfrm>
            <a:off x="685800" y="5596128"/>
            <a:ext cx="6035040" cy="274320"/>
          </a:xfrm>
          <a:prstGeom prst="rect">
            <a:avLst/>
          </a:prstGeom>
          <a:noFill/>
        </p:spPr>
        <p:txBody>
          <a:bodyPr wrap="square" anchor="t" lIns="0" rIns="0" tIns="0" bIns="0">
            <a:spAutoFit/>
          </a:bodyPr>
          <a:lstStyle/>
          <a:p>
            <a:pPr algn="l">
              <a:lnSpc>
                <a:spcPct val="115000"/>
              </a:lnSpc>
            </a:pPr>
            <a:r>
              <a:rPr sz="1000" b="1" i="0">
                <a:solidFill>
                  <a:srgbClr val="FDC646"/>
                </a:solidFill>
                <a:latin typeface="Arial"/>
              </a:rPr>
              <a:t>THIS TOPIC</a:t>
            </a:r>
          </a:p>
        </p:txBody>
      </p:sp>
      <p:sp>
        <p:nvSpPr>
          <p:cNvPr id="10" name="TextBox 9"/>
          <p:cNvSpPr txBox="1"/>
          <p:nvPr/>
        </p:nvSpPr>
        <p:spPr>
          <a:xfrm>
            <a:off x="685800" y="5888736"/>
            <a:ext cx="6035040" cy="457200"/>
          </a:xfrm>
          <a:prstGeom prst="rect">
            <a:avLst/>
          </a:prstGeom>
          <a:noFill/>
        </p:spPr>
        <p:txBody>
          <a:bodyPr wrap="square" anchor="t" lIns="0" rIns="0" tIns="0" bIns="0">
            <a:spAutoFit/>
          </a:bodyPr>
          <a:lstStyle/>
          <a:p>
            <a:pPr algn="l">
              <a:lnSpc>
                <a:spcPct val="120000"/>
              </a:lnSpc>
            </a:pPr>
            <a:r>
              <a:rPr sz="1200" b="0" i="0">
                <a:solidFill>
                  <a:srgbClr val="FFFFFF"/>
                </a:solidFill>
                <a:latin typeface="Arial"/>
              </a:rPr>
              <a:t>curriculum/week-02/03-daos.md</a:t>
            </a:r>
          </a:p>
        </p:txBody>
      </p:sp>
      <p:sp>
        <p:nvSpPr>
          <p:cNvPr id="11" name="TextBox 10"/>
          <p:cNvSpPr txBox="1"/>
          <p:nvPr/>
        </p:nvSpPr>
        <p:spPr>
          <a:xfrm>
            <a:off x="685800" y="6254496"/>
            <a:ext cx="6035040" cy="274320"/>
          </a:xfrm>
          <a:prstGeom prst="rect">
            <a:avLst/>
          </a:prstGeom>
          <a:noFill/>
        </p:spPr>
        <p:txBody>
          <a:bodyPr wrap="square" anchor="t" lIns="0" rIns="0" tIns="0" bIns="0">
            <a:spAutoFit/>
          </a:bodyPr>
          <a:lstStyle/>
          <a:p>
            <a:pPr algn="l">
              <a:lnSpc>
                <a:spcPct val="115000"/>
              </a:lnSpc>
            </a:pPr>
            <a:r>
              <a:rPr sz="1000" b="1" i="0">
                <a:solidFill>
                  <a:srgbClr val="FDC646"/>
                </a:solidFill>
                <a:latin typeface="Arial"/>
              </a:rPr>
              <a:t>NEXT UP</a:t>
            </a:r>
          </a:p>
        </p:txBody>
      </p:sp>
      <p:sp>
        <p:nvSpPr>
          <p:cNvPr id="12" name="TextBox 11"/>
          <p:cNvSpPr txBox="1"/>
          <p:nvPr/>
        </p:nvSpPr>
        <p:spPr>
          <a:xfrm>
            <a:off x="685800" y="6547104"/>
            <a:ext cx="6035040" cy="457200"/>
          </a:xfrm>
          <a:prstGeom prst="rect">
            <a:avLst/>
          </a:prstGeom>
          <a:noFill/>
        </p:spPr>
        <p:txBody>
          <a:bodyPr wrap="square" anchor="t" lIns="0" rIns="0" tIns="0" bIns="0">
            <a:spAutoFit/>
          </a:bodyPr>
          <a:lstStyle/>
          <a:p>
            <a:pPr algn="l">
              <a:lnSpc>
                <a:spcPct val="120000"/>
              </a:lnSpc>
            </a:pPr>
            <a:r>
              <a:rPr sz="1200" b="0" i="0">
                <a:solidFill>
                  <a:srgbClr val="FFFFFF"/>
                </a:solidFill>
                <a:latin typeface="Arial"/>
              </a:rPr>
              <a:t>Topic 04 — What A Smart Contract Is</a:t>
            </a:r>
          </a:p>
        </p:txBody>
      </p:sp>
      <p:sp>
        <p:nvSpPr>
          <p:cNvPr id="13" name="TextBox 12"/>
          <p:cNvSpPr txBox="1"/>
          <p:nvPr/>
        </p:nvSpPr>
        <p:spPr>
          <a:xfrm>
            <a:off x="11018520" y="6492240"/>
            <a:ext cx="960120" cy="274320"/>
          </a:xfrm>
          <a:prstGeom prst="rect">
            <a:avLst/>
          </a:prstGeom>
          <a:noFill/>
        </p:spPr>
        <p:txBody>
          <a:bodyPr wrap="square" anchor="t" lIns="0" rIns="0" tIns="0" bIns="0">
            <a:spAutoFit/>
          </a:bodyPr>
          <a:lstStyle/>
          <a:p>
            <a:pPr algn="r">
              <a:lnSpc>
                <a:spcPct val="115000"/>
              </a:lnSpc>
            </a:pPr>
            <a:r>
              <a:rPr sz="1000" b="1" i="0">
                <a:solidFill>
                  <a:srgbClr val="C7C2E8"/>
                </a:solidFill>
                <a:latin typeface="Courier New"/>
              </a:rPr>
              <a:t>22/22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