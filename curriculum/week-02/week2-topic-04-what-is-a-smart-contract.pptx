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737360" y="32004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2470947" y="1051560"/>
            <a:ext cx="3010801" cy="2286000"/>
          </a:xfrm>
          <a:custGeom>
            <a:avLst/>
            <a:gdLst/>
            <a:ahLst/>
            <a:cxnLst/>
            <a:rect l="l" t="t" r="r" b="b"/>
            <a:pathLst>
              <a:path w="3010801" h="2286000">
                <a:moveTo>
                  <a:pt x="1506693" y="0"/>
                </a:moveTo>
                <a:lnTo>
                  <a:pt x="1935203" y="47625"/>
                </a:lnTo>
                <a:lnTo>
                  <a:pt x="2328422" y="95250"/>
                </a:lnTo>
                <a:lnTo>
                  <a:pt x="2653963" y="142875"/>
                </a:lnTo>
                <a:lnTo>
                  <a:pt x="2885013" y="190500"/>
                </a:lnTo>
                <a:lnTo>
                  <a:pt x="3002545" y="238125"/>
                </a:lnTo>
                <a:lnTo>
                  <a:pt x="2996877" y="285750"/>
                </a:lnTo>
                <a:lnTo>
                  <a:pt x="2868477" y="333375"/>
                </a:lnTo>
                <a:lnTo>
                  <a:pt x="2627920" y="381000"/>
                </a:lnTo>
                <a:lnTo>
                  <a:pt x="2295017" y="428625"/>
                </a:lnTo>
                <a:lnTo>
                  <a:pt x="1897188" y="476250"/>
                </a:lnTo>
                <a:lnTo>
                  <a:pt x="1467198" y="523875"/>
                </a:lnTo>
                <a:lnTo>
                  <a:pt x="1040460" y="571500"/>
                </a:lnTo>
                <a:lnTo>
                  <a:pt x="652121" y="619125"/>
                </a:lnTo>
                <a:lnTo>
                  <a:pt x="334166" y="666750"/>
                </a:lnTo>
                <a:lnTo>
                  <a:pt x="112780" y="714375"/>
                </a:lnTo>
                <a:lnTo>
                  <a:pt x="6198" y="762000"/>
                </a:lnTo>
                <a:lnTo>
                  <a:pt x="23197" y="809625"/>
                </a:lnTo>
                <a:lnTo>
                  <a:pt x="162377" y="857250"/>
                </a:lnTo>
                <a:lnTo>
                  <a:pt x="412277" y="904875"/>
                </a:lnTo>
                <a:lnTo>
                  <a:pt x="752313" y="952500"/>
                </a:lnTo>
                <a:lnTo>
                  <a:pt x="1154479" y="1000125"/>
                </a:lnTo>
                <a:lnTo>
                  <a:pt x="1585655" y="1047750"/>
                </a:lnTo>
                <a:lnTo>
                  <a:pt x="2010327" y="1095375"/>
                </a:lnTo>
                <a:lnTo>
                  <a:pt x="2393519" y="1143000"/>
                </a:lnTo>
                <a:lnTo>
                  <a:pt x="2703672" y="1190625"/>
                </a:lnTo>
                <a:lnTo>
                  <a:pt x="2915241" y="1238250"/>
                </a:lnTo>
                <a:lnTo>
                  <a:pt x="3010801" y="1285875"/>
                </a:lnTo>
                <a:lnTo>
                  <a:pt x="2982482" y="1333500"/>
                </a:lnTo>
                <a:lnTo>
                  <a:pt x="2832617" y="1381125"/>
                </a:lnTo>
                <a:lnTo>
                  <a:pt x="2573547" y="1428750"/>
                </a:lnTo>
                <a:lnTo>
                  <a:pt x="2226611" y="1476375"/>
                </a:lnTo>
                <a:lnTo>
                  <a:pt x="1820381" y="1524000"/>
                </a:lnTo>
                <a:lnTo>
                  <a:pt x="1388317" y="1571625"/>
                </a:lnTo>
                <a:lnTo>
                  <a:pt x="966001" y="1619250"/>
                </a:lnTo>
                <a:lnTo>
                  <a:pt x="588218" y="1666875"/>
                </a:lnTo>
                <a:lnTo>
                  <a:pt x="286080" y="1714500"/>
                </a:lnTo>
                <a:lnTo>
                  <a:pt x="84473" y="1762125"/>
                </a:lnTo>
                <a:lnTo>
                  <a:pt x="0" y="1809750"/>
                </a:lnTo>
                <a:lnTo>
                  <a:pt x="39620" y="1857375"/>
                </a:lnTo>
                <a:lnTo>
                  <a:pt x="200068" y="1905000"/>
                </a:lnTo>
                <a:lnTo>
                  <a:pt x="468131" y="1952625"/>
                </a:lnTo>
                <a:lnTo>
                  <a:pt x="821730" y="2000250"/>
                </a:lnTo>
                <a:lnTo>
                  <a:pt x="1231743" y="2047875"/>
                </a:lnTo>
                <a:lnTo>
                  <a:pt x="1664401" y="2095500"/>
                </a:lnTo>
                <a:lnTo>
                  <a:pt x="2084070" y="2143125"/>
                </a:lnTo>
                <a:lnTo>
                  <a:pt x="2456186" y="2190750"/>
                </a:lnTo>
                <a:lnTo>
                  <a:pt x="2750101" y="2238375"/>
                </a:lnTo>
                <a:lnTo>
                  <a:pt x="2941609" y="2286000"/>
                </a:lnTo>
              </a:path>
            </a:pathLst>
          </a:custGeom>
          <a:noFill/>
          <a:ln w="1828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103120" y="4160520"/>
            <a:ext cx="365760" cy="365760"/>
          </a:xfrm>
          <a:prstGeom prst="ellipse">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434840"/>
            <a:ext cx="502920" cy="502920"/>
          </a:xfrm>
          <a:prstGeom prst="ellipse">
            <a:avLst/>
          </a:prstGeom>
          <a:noFill/>
          <a:ln w="31750">
            <a:solidFill>
              <a:srgbClr val="938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0292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BLOCKCHAINCOURSE · CURRICULUM</a:t>
            </a:r>
          </a:p>
        </p:txBody>
      </p:sp>
      <p:sp>
        <p:nvSpPr>
          <p:cNvPr id="8" name="TextBox 7"/>
          <p:cNvSpPr txBox="1"/>
          <p:nvPr/>
        </p:nvSpPr>
        <p:spPr>
          <a:xfrm>
            <a:off x="685800" y="914400"/>
            <a:ext cx="6035040" cy="2377440"/>
          </a:xfrm>
          <a:prstGeom prst="rect">
            <a:avLst/>
          </a:prstGeom>
          <a:noFill/>
        </p:spPr>
        <p:txBody>
          <a:bodyPr wrap="square" anchor="t" lIns="0" rIns="0" tIns="0" bIns="0">
            <a:spAutoFit/>
          </a:bodyPr>
          <a:lstStyle/>
          <a:p>
            <a:pPr algn="l">
              <a:lnSpc>
                <a:spcPct val="102000"/>
              </a:lnSpc>
            </a:pPr>
            <a:r>
              <a:rPr sz="4200" b="1" i="0">
                <a:solidFill>
                  <a:srgbClr val="FFFFFF"/>
                </a:solidFill>
                <a:latin typeface="Arial Rounded MT Bold"/>
              </a:rPr>
              <a:t>Practical Engineering
Over Hype</a:t>
            </a:r>
          </a:p>
        </p:txBody>
      </p:sp>
      <p:sp>
        <p:nvSpPr>
          <p:cNvPr id="9" name="TextBox 8"/>
          <p:cNvSpPr txBox="1"/>
          <p:nvPr/>
        </p:nvSpPr>
        <p:spPr>
          <a:xfrm>
            <a:off x="685800" y="3246120"/>
            <a:ext cx="5120640" cy="1051560"/>
          </a:xfrm>
          <a:prstGeom prst="rect">
            <a:avLst/>
          </a:prstGeom>
          <a:noFill/>
        </p:spPr>
        <p:txBody>
          <a:bodyPr wrap="square" anchor="t" lIns="0" rIns="0" tIns="0" bIns="0">
            <a:spAutoFit/>
          </a:bodyPr>
          <a:lstStyle/>
          <a:p>
            <a:pPr algn="l">
              <a:lnSpc>
                <a:spcPct val="140000"/>
              </a:lnSpc>
            </a:pPr>
            <a:r>
              <a:rPr sz="1350" b="0" i="1">
                <a:solidFill>
                  <a:srgbClr val="E3E0F7"/>
                </a:solidFill>
                <a:latin typeface="Arial"/>
              </a:rPr>
              <a:t>No memorized buzzwords, no copy-pasted templates you can't explain. Understand the mechanics first.</a:t>
            </a:r>
          </a:p>
        </p:txBody>
      </p:sp>
      <p:sp>
        <p:nvSpPr>
          <p:cNvPr id="10" name="Rounded Rectangle 9"/>
          <p:cNvSpPr/>
          <p:nvPr/>
        </p:nvSpPr>
        <p:spPr>
          <a:xfrm>
            <a:off x="685800" y="4526280"/>
            <a:ext cx="1609344" cy="4572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300" b="1">
                <a:solidFill>
                  <a:srgbClr val="221F33"/>
                </a:solidFill>
                <a:latin typeface="Arial"/>
              </a:rPr>
              <a:t>Start Learning</a:t>
            </a:r>
          </a:p>
        </p:txBody>
      </p:sp>
      <p:sp>
        <p:nvSpPr>
          <p:cNvPr id="11" name="Oval 10"/>
          <p:cNvSpPr/>
          <p:nvPr/>
        </p:nvSpPr>
        <p:spPr>
          <a:xfrm>
            <a:off x="2432304" y="4526280"/>
            <a:ext cx="457200" cy="457200"/>
          </a:xfrm>
          <a:prstGeom prst="ellipse">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rPr>
              <a:t>→</a:t>
            </a:r>
          </a:p>
        </p:txBody>
      </p:sp>
      <p:pic>
        <p:nvPicPr>
          <p:cNvPr id="12" name="Picture 11" descr="_c_hero1.jpg"/>
          <p:cNvPicPr>
            <a:picLocks noChangeAspect="1"/>
          </p:cNvPicPr>
          <p:nvPr/>
        </p:nvPicPr>
        <p:blipFill>
          <a:blip r:embed="rId2"/>
          <a:stretch>
            <a:fillRect/>
          </a:stretch>
        </p:blipFill>
        <p:spPr>
          <a:xfrm>
            <a:off x="6949440" y="502920"/>
            <a:ext cx="4663440" cy="5852160"/>
          </a:xfrm>
          <a:prstGeom prst="rect">
            <a:avLst/>
          </a:prstGeom>
        </p:spPr>
      </p:pic>
      <p:sp>
        <p:nvSpPr>
          <p:cNvPr id="13" name="Rounded Rectangle 12"/>
          <p:cNvSpPr/>
          <p:nvPr/>
        </p:nvSpPr>
        <p:spPr>
          <a:xfrm>
            <a:off x="6720840" y="1051560"/>
            <a:ext cx="2468880" cy="8686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03720" y="1170432"/>
            <a:ext cx="2148840" cy="274320"/>
          </a:xfrm>
          <a:prstGeom prst="rect">
            <a:avLst/>
          </a:prstGeom>
          <a:noFill/>
        </p:spPr>
        <p:txBody>
          <a:bodyPr wrap="square" anchor="t" lIns="0" rIns="0" tIns="0" bIns="0">
            <a:spAutoFit/>
          </a:bodyPr>
          <a:lstStyle/>
          <a:p>
            <a:pPr algn="l">
              <a:lnSpc>
                <a:spcPct val="115000"/>
              </a:lnSpc>
            </a:pPr>
            <a:r>
              <a:rPr sz="950" b="1" i="0">
                <a:solidFill>
                  <a:srgbClr val="8B8899"/>
                </a:solidFill>
                <a:latin typeface="Arial"/>
              </a:rPr>
              <a:t>This Slide</a:t>
            </a:r>
          </a:p>
        </p:txBody>
      </p:sp>
      <p:sp>
        <p:nvSpPr>
          <p:cNvPr id="15" name="TextBox 14"/>
          <p:cNvSpPr txBox="1"/>
          <p:nvPr/>
        </p:nvSpPr>
        <p:spPr>
          <a:xfrm>
            <a:off x="6903720" y="1444752"/>
            <a:ext cx="2148840" cy="411480"/>
          </a:xfrm>
          <a:prstGeom prst="rect">
            <a:avLst/>
          </a:prstGeom>
          <a:noFill/>
        </p:spPr>
        <p:txBody>
          <a:bodyPr wrap="square" anchor="t" lIns="0" rIns="0" tIns="0" bIns="0">
            <a:spAutoFit/>
          </a:bodyPr>
          <a:lstStyle/>
          <a:p>
            <a:pPr algn="l">
              <a:lnSpc>
                <a:spcPct val="110000"/>
              </a:lnSpc>
            </a:pPr>
            <a:r>
              <a:rPr sz="1050" b="1" i="0">
                <a:solidFill>
                  <a:srgbClr val="221F33"/>
                </a:solidFill>
                <a:latin typeface="Arial"/>
              </a:rPr>
              <a:t>Week 02 · Concepts</a:t>
            </a:r>
          </a:p>
        </p:txBody>
      </p:sp>
      <p:sp>
        <p:nvSpPr>
          <p:cNvPr id="16" name="TextBox 15"/>
          <p:cNvSpPr txBox="1"/>
          <p:nvPr/>
        </p:nvSpPr>
        <p:spPr>
          <a:xfrm>
            <a:off x="685800" y="6446520"/>
            <a:ext cx="5943600" cy="274320"/>
          </a:xfrm>
          <a:prstGeom prst="rect">
            <a:avLst/>
          </a:prstGeom>
          <a:noFill/>
        </p:spPr>
        <p:txBody>
          <a:bodyPr wrap="square" anchor="t" lIns="0" rIns="0" tIns="0" bIns="0">
            <a:spAutoFit/>
          </a:bodyPr>
          <a:lstStyle/>
          <a:p>
            <a:pPr algn="l">
              <a:lnSpc>
                <a:spcPct val="115000"/>
              </a:lnSpc>
            </a:pPr>
            <a:r>
              <a:rPr sz="850" b="0" i="0">
                <a:solidFill>
                  <a:srgbClr val="C7C2E8"/>
                </a:solidFill>
                <a:latin typeface="Arial"/>
              </a:rPr>
              <a:t/>
            </a:r>
          </a:p>
        </p:txBody>
      </p:sp>
      <p:sp>
        <p:nvSpPr>
          <p:cNvPr id="17" name="TextBox 16"/>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C7C2E8"/>
                </a:solidFill>
                <a:latin typeface="Courier New"/>
              </a:rPr>
              <a:t>01/22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8B8899"/>
                </a:solidFill>
                <a:latin typeface="Arial"/>
              </a:rPr>
              <a:t>HOW THIS COURSE IS STRUCTURED</a:t>
            </a:r>
          </a:p>
        </p:txBody>
      </p:sp>
      <p:sp>
        <p:nvSpPr>
          <p:cNvPr id="4" name="TextBox 3"/>
          <p:cNvSpPr txBox="1"/>
          <p:nvPr/>
        </p:nvSpPr>
        <p:spPr>
          <a:xfrm>
            <a:off x="685800" y="914400"/>
            <a:ext cx="10515600" cy="822960"/>
          </a:xfrm>
          <a:prstGeom prst="rect">
            <a:avLst/>
          </a:prstGeom>
          <a:noFill/>
        </p:spPr>
        <p:txBody>
          <a:bodyPr wrap="square" anchor="t" lIns="0" rIns="0" tIns="0" bIns="0">
            <a:spAutoFit/>
          </a:bodyPr>
          <a:lstStyle/>
          <a:p>
            <a:pPr algn="l">
              <a:lnSpc>
                <a:spcPct val="115000"/>
              </a:lnSpc>
            </a:pPr>
            <a:r>
              <a:rPr sz="3000" b="1" i="0">
                <a:solidFill>
                  <a:srgbClr val="221F33"/>
                </a:solidFill>
                <a:latin typeface="Arial Rounded MT Bold"/>
              </a:rPr>
              <a:t>Two Halves</a:t>
            </a:r>
          </a:p>
        </p:txBody>
      </p:sp>
      <p:sp>
        <p:nvSpPr>
          <p:cNvPr id="5" name="TextBox 4"/>
          <p:cNvSpPr txBox="1"/>
          <p:nvPr/>
        </p:nvSpPr>
        <p:spPr>
          <a:xfrm>
            <a:off x="685800" y="1691640"/>
            <a:ext cx="10515600" cy="548640"/>
          </a:xfrm>
          <a:prstGeom prst="rect">
            <a:avLst/>
          </a:prstGeom>
          <a:noFill/>
        </p:spPr>
        <p:txBody>
          <a:bodyPr wrap="square" anchor="t" lIns="0" rIns="0" tIns="0" bIns="0">
            <a:spAutoFit/>
          </a:bodyPr>
          <a:lstStyle/>
          <a:p>
            <a:pPr algn="l">
              <a:lnSpc>
                <a:spcPct val="140000"/>
              </a:lnSpc>
            </a:pPr>
            <a:r>
              <a:rPr sz="1300" b="0" i="0">
                <a:solidFill>
                  <a:srgbClr val="8B8899"/>
                </a:solidFill>
                <a:latin typeface="Arial"/>
              </a:rPr>
              <a:t>Everything builds toward one goal: understand how it works, then ship something real.</a:t>
            </a:r>
          </a:p>
        </p:txBody>
      </p:sp>
      <p:sp>
        <p:nvSpPr>
          <p:cNvPr id="6" name="Rounded Rectangle 5"/>
          <p:cNvSpPr/>
          <p:nvPr/>
        </p:nvSpPr>
        <p:spPr>
          <a:xfrm>
            <a:off x="685800" y="2560320"/>
            <a:ext cx="5120640" cy="3520440"/>
          </a:xfrm>
          <a:prstGeom prst="roundRect">
            <a:avLst>
              <a:gd name="adj" fmla="val 6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29260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6C5FE8"/>
                </a:solidFill>
                <a:latin typeface="Arial Rounded MT Bold"/>
              </a:rPr>
              <a:t>1</a:t>
            </a:r>
          </a:p>
        </p:txBody>
      </p:sp>
      <p:sp>
        <p:nvSpPr>
          <p:cNvPr id="8" name="TextBox 7"/>
          <p:cNvSpPr txBox="1"/>
          <p:nvPr/>
        </p:nvSpPr>
        <p:spPr>
          <a:xfrm>
            <a:off x="1051560" y="3794760"/>
            <a:ext cx="4389120" cy="548640"/>
          </a:xfrm>
          <a:prstGeom prst="rect">
            <a:avLst/>
          </a:prstGeom>
          <a:noFill/>
        </p:spPr>
        <p:txBody>
          <a:bodyPr wrap="square" anchor="t" lIns="0" rIns="0" tIns="0" bIns="0">
            <a:spAutoFit/>
          </a:bodyPr>
          <a:lstStyle/>
          <a:p>
            <a:pPr algn="l">
              <a:lnSpc>
                <a:spcPct val="115000"/>
              </a:lnSpc>
            </a:pPr>
            <a:r>
              <a:rPr sz="2000" b="1" i="0">
                <a:solidFill>
                  <a:srgbClr val="FFFFFF"/>
                </a:solidFill>
                <a:latin typeface="Arial Rounded MT Bold"/>
              </a:rPr>
              <a:t>Half 1 · Weeks 1-5</a:t>
            </a:r>
          </a:p>
        </p:txBody>
      </p:sp>
      <p:sp>
        <p:nvSpPr>
          <p:cNvPr id="9" name="TextBox 8"/>
          <p:cNvSpPr txBox="1"/>
          <p:nvPr/>
        </p:nvSpPr>
        <p:spPr>
          <a:xfrm>
            <a:off x="1051560" y="4343400"/>
            <a:ext cx="4389120" cy="1554480"/>
          </a:xfrm>
          <a:prstGeom prst="rect">
            <a:avLst/>
          </a:prstGeom>
          <a:noFill/>
        </p:spPr>
        <p:txBody>
          <a:bodyPr wrap="square" anchor="t" lIns="0" rIns="0" tIns="0" bIns="0">
            <a:spAutoFit/>
          </a:bodyPr>
          <a:lstStyle/>
          <a:p>
            <a:pPr algn="l">
              <a:lnSpc>
                <a:spcPct val="140000"/>
              </a:lnSpc>
            </a:pPr>
            <a:r>
              <a:rPr sz="1300" b="0" i="0">
                <a:solidFill>
                  <a:srgbClr val="F3F1FC"/>
                </a:solidFill>
                <a:latin typeface="Arial"/>
              </a:rPr>
              <a:t>Basics &amp; core concepts. Everything you need to walk into a hackathon and build something real — wallets, contracts, tokens, a working dApp.</a:t>
            </a:r>
          </a:p>
        </p:txBody>
      </p:sp>
      <p:sp>
        <p:nvSpPr>
          <p:cNvPr id="10" name="Rounded Rectangle 9"/>
          <p:cNvSpPr/>
          <p:nvPr/>
        </p:nvSpPr>
        <p:spPr>
          <a:xfrm>
            <a:off x="1051560" y="5394960"/>
            <a:ext cx="2432304" cy="3657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100" b="1">
                <a:solidFill>
                  <a:srgbClr val="6C5FE8"/>
                </a:solidFill>
                <a:latin typeface="Arial"/>
              </a:rPr>
              <a:t>◉ You are here — Week 02</a:t>
            </a:r>
          </a:p>
        </p:txBody>
      </p:sp>
      <p:sp>
        <p:nvSpPr>
          <p:cNvPr id="11" name="Rounded Rectangle 10"/>
          <p:cNvSpPr/>
          <p:nvPr/>
        </p:nvSpPr>
        <p:spPr>
          <a:xfrm>
            <a:off x="6126480" y="2560320"/>
            <a:ext cx="5120640" cy="3520440"/>
          </a:xfrm>
          <a:prstGeom prst="roundRect">
            <a:avLst>
              <a:gd name="adj" fmla="val 6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92240" y="29260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35C078"/>
                </a:solidFill>
                <a:latin typeface="Arial Rounded MT Bold"/>
              </a:rPr>
              <a:t>2</a:t>
            </a:r>
          </a:p>
        </p:txBody>
      </p:sp>
      <p:sp>
        <p:nvSpPr>
          <p:cNvPr id="13" name="TextBox 12"/>
          <p:cNvSpPr txBox="1"/>
          <p:nvPr/>
        </p:nvSpPr>
        <p:spPr>
          <a:xfrm>
            <a:off x="6492240" y="3794760"/>
            <a:ext cx="4389120" cy="548640"/>
          </a:xfrm>
          <a:prstGeom prst="rect">
            <a:avLst/>
          </a:prstGeom>
          <a:noFill/>
        </p:spPr>
        <p:txBody>
          <a:bodyPr wrap="square" anchor="t" lIns="0" rIns="0" tIns="0" bIns="0">
            <a:spAutoFit/>
          </a:bodyPr>
          <a:lstStyle/>
          <a:p>
            <a:pPr algn="l">
              <a:lnSpc>
                <a:spcPct val="115000"/>
              </a:lnSpc>
            </a:pPr>
            <a:r>
              <a:rPr sz="2000" b="1" i="0">
                <a:solidFill>
                  <a:srgbClr val="FFFFFF"/>
                </a:solidFill>
                <a:latin typeface="Arial Rounded MT Bold"/>
              </a:rPr>
              <a:t>Half 2 · Weeks 6-9</a:t>
            </a:r>
          </a:p>
        </p:txBody>
      </p:sp>
      <p:sp>
        <p:nvSpPr>
          <p:cNvPr id="14" name="TextBox 13"/>
          <p:cNvSpPr txBox="1"/>
          <p:nvPr/>
        </p:nvSpPr>
        <p:spPr>
          <a:xfrm>
            <a:off x="6492240" y="4343400"/>
            <a:ext cx="4389120" cy="1554480"/>
          </a:xfrm>
          <a:prstGeom prst="rect">
            <a:avLst/>
          </a:prstGeom>
          <a:noFill/>
        </p:spPr>
        <p:txBody>
          <a:bodyPr wrap="square" anchor="t" lIns="0" rIns="0" tIns="0" bIns="0">
            <a:spAutoFit/>
          </a:bodyPr>
          <a:lstStyle/>
          <a:p>
            <a:pPr algn="l">
              <a:lnSpc>
                <a:spcPct val="140000"/>
              </a:lnSpc>
            </a:pPr>
            <a:r>
              <a:rPr sz="1300" b="0" i="0">
                <a:solidFill>
                  <a:srgbClr val="F3F1FC"/>
                </a:solidFill>
                <a:latin typeface="Arial"/>
              </a:rPr>
              <a:t>Advanced topics. Security, upgradeable contracts, Layer 2s, and the wider ecosystem — what separates a prototype from production.</a:t>
            </a:r>
          </a:p>
        </p:txBody>
      </p:sp>
      <p:sp>
        <p:nvSpPr>
          <p:cNvPr id="15" name="TextBox 14"/>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02/22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6C5FE8"/>
                </a:solidFill>
                <a:latin typeface="Arial"/>
              </a:rPr>
              <a:t>BEFORE YOU BEGIN</a:t>
            </a:r>
          </a:p>
        </p:txBody>
      </p:sp>
      <p:sp>
        <p:nvSpPr>
          <p:cNvPr id="4" name="TextBox 3"/>
          <p:cNvSpPr txBox="1"/>
          <p:nvPr/>
        </p:nvSpPr>
        <p:spPr>
          <a:xfrm>
            <a:off x="685800" y="914400"/>
            <a:ext cx="420624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Ground Rules</a:t>
            </a:r>
          </a:p>
        </p:txBody>
      </p:sp>
      <p:pic>
        <p:nvPicPr>
          <p:cNvPr id="5" name="Picture 4" descr="_c_tl3_rules.jpg"/>
          <p:cNvPicPr>
            <a:picLocks noChangeAspect="1"/>
          </p:cNvPicPr>
          <p:nvPr/>
        </p:nvPicPr>
        <p:blipFill>
          <a:blip r:embed="rId2"/>
          <a:stretch>
            <a:fillRect/>
          </a:stretch>
        </p:blipFill>
        <p:spPr>
          <a:xfrm>
            <a:off x="685800" y="2377440"/>
            <a:ext cx="4206240" cy="3291840"/>
          </a:xfrm>
          <a:prstGeom prst="rect">
            <a:avLst/>
          </a:prstGeom>
        </p:spPr>
      </p:pic>
      <p:sp>
        <p:nvSpPr>
          <p:cNvPr id="6" name="Rounded Rectangle 5"/>
          <p:cNvSpPr/>
          <p:nvPr/>
        </p:nvSpPr>
        <p:spPr>
          <a:xfrm>
            <a:off x="5486400" y="1005840"/>
            <a:ext cx="621792" cy="365760"/>
          </a:xfrm>
          <a:prstGeom prst="roundRect">
            <a:avLst>
              <a:gd name="adj" fmla="val 50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01</a:t>
            </a:r>
          </a:p>
        </p:txBody>
      </p:sp>
      <p:sp>
        <p:nvSpPr>
          <p:cNvPr id="7" name="TextBox 6"/>
          <p:cNvSpPr txBox="1"/>
          <p:nvPr/>
        </p:nvSpPr>
        <p:spPr>
          <a:xfrm>
            <a:off x="6172200" y="98755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Understand before you copy</a:t>
            </a:r>
          </a:p>
        </p:txBody>
      </p:sp>
      <p:sp>
        <p:nvSpPr>
          <p:cNvPr id="8" name="TextBox 7"/>
          <p:cNvSpPr txBox="1"/>
          <p:nvPr/>
        </p:nvSpPr>
        <p:spPr>
          <a:xfrm>
            <a:off x="6172200" y="138988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If you can't explain a line of code, don't ship it.</a:t>
            </a:r>
          </a:p>
        </p:txBody>
      </p:sp>
      <p:cxnSp>
        <p:nvCxnSpPr>
          <p:cNvPr id="9" name="Connector 8"/>
          <p:cNvCxnSpPr/>
          <p:nvPr/>
        </p:nvCxnSpPr>
        <p:spPr>
          <a:xfrm>
            <a:off x="5742432" y="141732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0" y="2057400"/>
            <a:ext cx="621792" cy="365760"/>
          </a:xfrm>
          <a:prstGeom prst="roundRect">
            <a:avLst>
              <a:gd name="adj" fmla="val 50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02</a:t>
            </a:r>
          </a:p>
        </p:txBody>
      </p:sp>
      <p:sp>
        <p:nvSpPr>
          <p:cNvPr id="11" name="TextBox 10"/>
          <p:cNvSpPr txBox="1"/>
          <p:nvPr/>
        </p:nvSpPr>
        <p:spPr>
          <a:xfrm>
            <a:off x="6172200" y="203911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Testnet first, always</a:t>
            </a:r>
          </a:p>
        </p:txBody>
      </p:sp>
      <p:sp>
        <p:nvSpPr>
          <p:cNvPr id="12" name="TextBox 11"/>
          <p:cNvSpPr txBox="1"/>
          <p:nvPr/>
        </p:nvSpPr>
        <p:spPr>
          <a:xfrm>
            <a:off x="6172200" y="244144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Never deploy something you haven't tested.</a:t>
            </a:r>
          </a:p>
        </p:txBody>
      </p:sp>
      <p:cxnSp>
        <p:nvCxnSpPr>
          <p:cNvPr id="13" name="Connector 12"/>
          <p:cNvCxnSpPr/>
          <p:nvPr/>
        </p:nvCxnSpPr>
        <p:spPr>
          <a:xfrm>
            <a:off x="5742432" y="246888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0" y="3108960"/>
            <a:ext cx="621792" cy="365760"/>
          </a:xfrm>
          <a:prstGeom prst="roundRect">
            <a:avLst>
              <a:gd name="adj" fmla="val 50000"/>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03</a:t>
            </a:r>
          </a:p>
        </p:txBody>
      </p:sp>
      <p:sp>
        <p:nvSpPr>
          <p:cNvPr id="15" name="TextBox 14"/>
          <p:cNvSpPr txBox="1"/>
          <p:nvPr/>
        </p:nvSpPr>
        <p:spPr>
          <a:xfrm>
            <a:off x="6172200" y="309067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No frontend before the CLI works</a:t>
            </a:r>
          </a:p>
        </p:txBody>
      </p:sp>
      <p:sp>
        <p:nvSpPr>
          <p:cNvPr id="16" name="TextBox 15"/>
          <p:cNvSpPr txBox="1"/>
          <p:nvPr/>
        </p:nvSpPr>
        <p:spPr>
          <a:xfrm>
            <a:off x="6172200" y="349300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Deploy and call a contract with cast first.</a:t>
            </a:r>
          </a:p>
        </p:txBody>
      </p:sp>
      <p:cxnSp>
        <p:nvCxnSpPr>
          <p:cNvPr id="17" name="Connector 16"/>
          <p:cNvCxnSpPr/>
          <p:nvPr/>
        </p:nvCxnSpPr>
        <p:spPr>
          <a:xfrm>
            <a:off x="5742432" y="352044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0" y="4160520"/>
            <a:ext cx="621792" cy="365760"/>
          </a:xfrm>
          <a:prstGeom prst="roundRect">
            <a:avLst>
              <a:gd name="adj" fmla="val 50000"/>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04</a:t>
            </a:r>
          </a:p>
        </p:txBody>
      </p:sp>
      <p:sp>
        <p:nvSpPr>
          <p:cNvPr id="19" name="TextBox 18"/>
          <p:cNvSpPr txBox="1"/>
          <p:nvPr/>
        </p:nvSpPr>
        <p:spPr>
          <a:xfrm>
            <a:off x="6172200" y="414223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Every contract gets a test</a:t>
            </a:r>
          </a:p>
        </p:txBody>
      </p:sp>
      <p:sp>
        <p:nvSpPr>
          <p:cNvPr id="20" name="TextBox 19"/>
          <p:cNvSpPr txBox="1"/>
          <p:nvPr/>
        </p:nvSpPr>
        <p:spPr>
          <a:xfrm>
            <a:off x="6172200" y="454456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An untested contract is unfinished.</a:t>
            </a:r>
          </a:p>
        </p:txBody>
      </p:sp>
      <p:sp>
        <p:nvSpPr>
          <p:cNvPr id="21" name="TextBox 20"/>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03/22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737360" y="32004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2470947" y="1051560"/>
            <a:ext cx="3010801" cy="2286000"/>
          </a:xfrm>
          <a:custGeom>
            <a:avLst/>
            <a:gdLst/>
            <a:ahLst/>
            <a:cxnLst/>
            <a:rect l="l" t="t" r="r" b="b"/>
            <a:pathLst>
              <a:path w="3010801" h="2286000">
                <a:moveTo>
                  <a:pt x="1506693" y="0"/>
                </a:moveTo>
                <a:lnTo>
                  <a:pt x="1935203" y="47625"/>
                </a:lnTo>
                <a:lnTo>
                  <a:pt x="2328422" y="95250"/>
                </a:lnTo>
                <a:lnTo>
                  <a:pt x="2653963" y="142875"/>
                </a:lnTo>
                <a:lnTo>
                  <a:pt x="2885013" y="190500"/>
                </a:lnTo>
                <a:lnTo>
                  <a:pt x="3002545" y="238125"/>
                </a:lnTo>
                <a:lnTo>
                  <a:pt x="2996877" y="285750"/>
                </a:lnTo>
                <a:lnTo>
                  <a:pt x="2868477" y="333375"/>
                </a:lnTo>
                <a:lnTo>
                  <a:pt x="2627920" y="381000"/>
                </a:lnTo>
                <a:lnTo>
                  <a:pt x="2295017" y="428625"/>
                </a:lnTo>
                <a:lnTo>
                  <a:pt x="1897188" y="476250"/>
                </a:lnTo>
                <a:lnTo>
                  <a:pt x="1467198" y="523875"/>
                </a:lnTo>
                <a:lnTo>
                  <a:pt x="1040460" y="571500"/>
                </a:lnTo>
                <a:lnTo>
                  <a:pt x="652121" y="619125"/>
                </a:lnTo>
                <a:lnTo>
                  <a:pt x="334166" y="666750"/>
                </a:lnTo>
                <a:lnTo>
                  <a:pt x="112780" y="714375"/>
                </a:lnTo>
                <a:lnTo>
                  <a:pt x="6198" y="762000"/>
                </a:lnTo>
                <a:lnTo>
                  <a:pt x="23197" y="809625"/>
                </a:lnTo>
                <a:lnTo>
                  <a:pt x="162377" y="857250"/>
                </a:lnTo>
                <a:lnTo>
                  <a:pt x="412277" y="904875"/>
                </a:lnTo>
                <a:lnTo>
                  <a:pt x="752313" y="952500"/>
                </a:lnTo>
                <a:lnTo>
                  <a:pt x="1154479" y="1000125"/>
                </a:lnTo>
                <a:lnTo>
                  <a:pt x="1585655" y="1047750"/>
                </a:lnTo>
                <a:lnTo>
                  <a:pt x="2010327" y="1095375"/>
                </a:lnTo>
                <a:lnTo>
                  <a:pt x="2393519" y="1143000"/>
                </a:lnTo>
                <a:lnTo>
                  <a:pt x="2703672" y="1190625"/>
                </a:lnTo>
                <a:lnTo>
                  <a:pt x="2915241" y="1238250"/>
                </a:lnTo>
                <a:lnTo>
                  <a:pt x="3010801" y="1285875"/>
                </a:lnTo>
                <a:lnTo>
                  <a:pt x="2982482" y="1333500"/>
                </a:lnTo>
                <a:lnTo>
                  <a:pt x="2832617" y="1381125"/>
                </a:lnTo>
                <a:lnTo>
                  <a:pt x="2573547" y="1428750"/>
                </a:lnTo>
                <a:lnTo>
                  <a:pt x="2226611" y="1476375"/>
                </a:lnTo>
                <a:lnTo>
                  <a:pt x="1820381" y="1524000"/>
                </a:lnTo>
                <a:lnTo>
                  <a:pt x="1388317" y="1571625"/>
                </a:lnTo>
                <a:lnTo>
                  <a:pt x="966001" y="1619250"/>
                </a:lnTo>
                <a:lnTo>
                  <a:pt x="588218" y="1666875"/>
                </a:lnTo>
                <a:lnTo>
                  <a:pt x="286080" y="1714500"/>
                </a:lnTo>
                <a:lnTo>
                  <a:pt x="84473" y="1762125"/>
                </a:lnTo>
                <a:lnTo>
                  <a:pt x="0" y="1809750"/>
                </a:lnTo>
                <a:lnTo>
                  <a:pt x="39620" y="1857375"/>
                </a:lnTo>
                <a:lnTo>
                  <a:pt x="200068" y="1905000"/>
                </a:lnTo>
                <a:lnTo>
                  <a:pt x="468131" y="1952625"/>
                </a:lnTo>
                <a:lnTo>
                  <a:pt x="821730" y="2000250"/>
                </a:lnTo>
                <a:lnTo>
                  <a:pt x="1231743" y="2047875"/>
                </a:lnTo>
                <a:lnTo>
                  <a:pt x="1664401" y="2095500"/>
                </a:lnTo>
                <a:lnTo>
                  <a:pt x="2084070" y="2143125"/>
                </a:lnTo>
                <a:lnTo>
                  <a:pt x="2456186" y="2190750"/>
                </a:lnTo>
                <a:lnTo>
                  <a:pt x="2750101" y="2238375"/>
                </a:lnTo>
                <a:lnTo>
                  <a:pt x="2941609" y="2286000"/>
                </a:lnTo>
              </a:path>
            </a:pathLst>
          </a:custGeom>
          <a:noFill/>
          <a:ln w="1828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103120" y="4160520"/>
            <a:ext cx="365760" cy="365760"/>
          </a:xfrm>
          <a:prstGeom prst="ellipse">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434840"/>
            <a:ext cx="502920" cy="502920"/>
          </a:xfrm>
          <a:prstGeom prst="ellipse">
            <a:avLst/>
          </a:prstGeom>
          <a:noFill/>
          <a:ln w="31750">
            <a:solidFill>
              <a:srgbClr val="938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0292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BLOCKCHAINCOURSE · WEEK 02 · TOPIC 04 OF 04</a:t>
            </a:r>
          </a:p>
        </p:txBody>
      </p:sp>
      <p:sp>
        <p:nvSpPr>
          <p:cNvPr id="8" name="TextBox 7"/>
          <p:cNvSpPr txBox="1"/>
          <p:nvPr/>
        </p:nvSpPr>
        <p:spPr>
          <a:xfrm>
            <a:off x="685800" y="914400"/>
            <a:ext cx="6035040" cy="2377440"/>
          </a:xfrm>
          <a:prstGeom prst="rect">
            <a:avLst/>
          </a:prstGeom>
          <a:noFill/>
        </p:spPr>
        <p:txBody>
          <a:bodyPr wrap="square" anchor="t" lIns="0" rIns="0" tIns="0" bIns="0">
            <a:spAutoFit/>
          </a:bodyPr>
          <a:lstStyle/>
          <a:p>
            <a:pPr algn="l">
              <a:lnSpc>
                <a:spcPct val="102000"/>
              </a:lnSpc>
            </a:pPr>
            <a:r>
              <a:rPr sz="4200" b="1" i="0">
                <a:solidFill>
                  <a:srgbClr val="FFFFFF"/>
                </a:solidFill>
                <a:latin typeface="Arial Rounded MT Bold"/>
              </a:rPr>
              <a:t>What A Smart Contract Is</a:t>
            </a:r>
          </a:p>
        </p:txBody>
      </p:sp>
      <p:sp>
        <p:nvSpPr>
          <p:cNvPr id="9" name="TextBox 8"/>
          <p:cNvSpPr txBox="1"/>
          <p:nvPr/>
        </p:nvSpPr>
        <p:spPr>
          <a:xfrm>
            <a:off x="685800" y="3246120"/>
            <a:ext cx="5120640" cy="1051560"/>
          </a:xfrm>
          <a:prstGeom prst="rect">
            <a:avLst/>
          </a:prstGeom>
          <a:noFill/>
        </p:spPr>
        <p:txBody>
          <a:bodyPr wrap="square" anchor="t" lIns="0" rIns="0" tIns="0" bIns="0">
            <a:spAutoFit/>
          </a:bodyPr>
          <a:lstStyle/>
          <a:p>
            <a:pPr algn="l">
              <a:lnSpc>
                <a:spcPct val="140000"/>
              </a:lnSpc>
            </a:pPr>
            <a:r>
              <a:rPr sz="1350" b="0" i="1">
                <a:solidFill>
                  <a:srgbClr val="E3E0F7"/>
                </a:solidFill>
                <a:latin typeface="Arial"/>
              </a:rPr>
              <a:t>A first, code-free look at the actual thing every dApp is made of.</a:t>
            </a:r>
          </a:p>
        </p:txBody>
      </p:sp>
      <p:sp>
        <p:nvSpPr>
          <p:cNvPr id="10" name="Oval 9"/>
          <p:cNvSpPr/>
          <p:nvPr/>
        </p:nvSpPr>
        <p:spPr>
          <a:xfrm>
            <a:off x="685800" y="46177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0120" y="46177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34440" y="46177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_c_hero4.jpg"/>
          <p:cNvPicPr>
            <a:picLocks noChangeAspect="1"/>
          </p:cNvPicPr>
          <p:nvPr/>
        </p:nvPicPr>
        <p:blipFill>
          <a:blip r:embed="rId2"/>
          <a:stretch>
            <a:fillRect/>
          </a:stretch>
        </p:blipFill>
        <p:spPr>
          <a:xfrm>
            <a:off x="6949440" y="502920"/>
            <a:ext cx="4663440" cy="5852160"/>
          </a:xfrm>
          <a:prstGeom prst="rect">
            <a:avLst/>
          </a:prstGeom>
        </p:spPr>
      </p:pic>
      <p:sp>
        <p:nvSpPr>
          <p:cNvPr id="14" name="TextBox 13"/>
          <p:cNvSpPr txBox="1"/>
          <p:nvPr/>
        </p:nvSpPr>
        <p:spPr>
          <a:xfrm>
            <a:off x="685800" y="6446520"/>
            <a:ext cx="5943600" cy="274320"/>
          </a:xfrm>
          <a:prstGeom prst="rect">
            <a:avLst/>
          </a:prstGeom>
          <a:noFill/>
        </p:spPr>
        <p:txBody>
          <a:bodyPr wrap="square" anchor="t" lIns="0" rIns="0" tIns="0" bIns="0">
            <a:spAutoFit/>
          </a:bodyPr>
          <a:lstStyle/>
          <a:p>
            <a:pPr algn="l">
              <a:lnSpc>
                <a:spcPct val="115000"/>
              </a:lnSpc>
            </a:pPr>
            <a:r>
              <a:rPr sz="850" b="0" i="0">
                <a:solidFill>
                  <a:srgbClr val="C7C2E8"/>
                </a:solidFill>
                <a:latin typeface="Arial"/>
              </a:rPr>
              <a:t>Photo: ぶる♂ / Wikimedia Commons, CC BY-SA 3.0</a:t>
            </a:r>
          </a:p>
        </p:txBody>
      </p:sp>
      <p:sp>
        <p:nvSpPr>
          <p:cNvPr id="15" name="TextBox 14"/>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C7C2E8"/>
                </a:solidFill>
                <a:latin typeface="Courier New"/>
              </a:rPr>
              <a:t>04/22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5_hook.jpg"/>
          <p:cNvPicPr>
            <a:picLocks noChangeAspect="1"/>
          </p:cNvPicPr>
          <p:nvPr/>
        </p:nvPicPr>
        <p:blipFill>
          <a:blip r:embed="rId2"/>
          <a:stretch>
            <a:fillRect/>
          </a:stretch>
        </p:blipFill>
        <p:spPr>
          <a:xfrm>
            <a:off x="6949440" y="1234440"/>
            <a:ext cx="4572000" cy="4297680"/>
          </a:xfrm>
          <a:prstGeom prst="rect">
            <a:avLst/>
          </a:prstGeom>
        </p:spPr>
      </p:pic>
      <p:sp>
        <p:nvSpPr>
          <p:cNvPr id="4" name="Oval 3"/>
          <p:cNvSpPr/>
          <p:nvPr/>
        </p:nvSpPr>
        <p:spPr>
          <a:xfrm>
            <a:off x="1078992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0080"/>
            <a:ext cx="4846320" cy="320040"/>
          </a:xfrm>
          <a:prstGeom prst="rect">
            <a:avLst/>
          </a:prstGeom>
          <a:noFill/>
        </p:spPr>
        <p:txBody>
          <a:bodyPr wrap="square" anchor="t" lIns="0" rIns="0" tIns="0" bIns="0">
            <a:spAutoFit/>
          </a:bodyPr>
          <a:lstStyle/>
          <a:p>
            <a:pPr algn="l">
              <a:lnSpc>
                <a:spcPct val="115000"/>
              </a:lnSpc>
            </a:pPr>
            <a:r>
              <a:rPr sz="1150" b="1" i="0">
                <a:solidFill>
                  <a:srgbClr val="0F9B8E"/>
                </a:solidFill>
                <a:latin typeface="Arial"/>
              </a:rPr>
              <a:t>START HERE</a:t>
            </a:r>
          </a:p>
        </p:txBody>
      </p:sp>
      <p:sp>
        <p:nvSpPr>
          <p:cNvPr id="6" name="TextBox 5"/>
          <p:cNvSpPr txBox="1"/>
          <p:nvPr/>
        </p:nvSpPr>
        <p:spPr>
          <a:xfrm>
            <a:off x="68580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A Question, Not A Definition</a:t>
            </a:r>
          </a:p>
        </p:txBody>
      </p:sp>
      <p:sp>
        <p:nvSpPr>
          <p:cNvPr id="7" name="TextBox 6"/>
          <p:cNvSpPr txBox="1"/>
          <p:nvPr/>
        </p:nvSpPr>
        <p:spPr>
          <a:xfrm>
            <a:off x="68580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Three topics in, you've used the phrase “smart contract” a dozen times without actually looking at one. The DAO was “a smart contract.” DeFi protocols are “smart contracts.” But what does one actually look like, physically, and how does a network with no central computer manage to run code at all?</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05/22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6_notice1.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0F9B8E"/>
                </a:solidFill>
                <a:latin typeface="Arial"/>
              </a:rPr>
              <a:t>NOTICE IT, BEFORE WE NAME IT — SETUP</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A Plain Text File, Nothing Exotic</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pragma solidity ^0.8.24; contract Counter { uint256 public count; function increment() public { count += 1; } } — that's a real, complete smart contract. contract Counter { ... } looks like a class definition in any object-oriented language: a named container with data (count) and behavior (increment).</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06/22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7_notice2.jpg"/>
          <p:cNvPicPr>
            <a:picLocks noChangeAspect="1"/>
          </p:cNvPicPr>
          <p:nvPr/>
        </p:nvPicPr>
        <p:blipFill>
          <a:blip r:embed="rId2"/>
          <a:stretch>
            <a:fillRect/>
          </a:stretch>
        </p:blipFill>
        <p:spPr>
          <a:xfrm>
            <a:off x="6949440" y="1234440"/>
            <a:ext cx="4572000" cy="4297680"/>
          </a:xfrm>
          <a:prstGeom prst="rect">
            <a:avLst/>
          </a:prstGeom>
        </p:spPr>
      </p:pic>
      <p:sp>
        <p:nvSpPr>
          <p:cNvPr id="4" name="Oval 3"/>
          <p:cNvSpPr/>
          <p:nvPr/>
        </p:nvSpPr>
        <p:spPr>
          <a:xfrm>
            <a:off x="1078992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0080"/>
            <a:ext cx="4846320" cy="320040"/>
          </a:xfrm>
          <a:prstGeom prst="rect">
            <a:avLst/>
          </a:prstGeom>
          <a:noFill/>
        </p:spPr>
        <p:txBody>
          <a:bodyPr wrap="square" anchor="t" lIns="0" rIns="0" tIns="0" bIns="0">
            <a:spAutoFit/>
          </a:bodyPr>
          <a:lstStyle/>
          <a:p>
            <a:pPr algn="l">
              <a:lnSpc>
                <a:spcPct val="115000"/>
              </a:lnSpc>
            </a:pPr>
            <a:r>
              <a:rPr sz="1150" b="1" i="0">
                <a:solidFill>
                  <a:srgbClr val="0F9B8E"/>
                </a:solidFill>
                <a:latin typeface="Arial"/>
              </a:rPr>
              <a:t>NOTICE IT, BEFORE WE NAME IT — RESULT</a:t>
            </a:r>
          </a:p>
        </p:txBody>
      </p:sp>
      <p:sp>
        <p:nvSpPr>
          <p:cNvPr id="6" name="TextBox 5"/>
          <p:cNvSpPr txBox="1"/>
          <p:nvPr/>
        </p:nvSpPr>
        <p:spPr>
          <a:xfrm>
            <a:off x="68580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What Happens After It's Written Is The Interesting Part</a:t>
            </a:r>
          </a:p>
        </p:txBody>
      </p:sp>
      <p:sp>
        <p:nvSpPr>
          <p:cNvPr id="7" name="TextBox 6"/>
          <p:cNvSpPr txBox="1"/>
          <p:nvPr/>
        </p:nvSpPr>
        <p:spPr>
          <a:xfrm>
            <a:off x="68580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An ordinary program runs on one computer when someone launches it. This file, once deployed, gets compiled into bytecode and stored at a permanent address. From then on, every node on the network can execute that exact bytecode, and whenever someone calls increment(), every node that processes the transaction runs the same computation and must arrive at the identical result.</a:t>
            </a:r>
          </a:p>
        </p:txBody>
      </p:sp>
      <p:sp>
        <p:nvSpPr>
          <p:cNvPr id="8" name="Rounded Rectangle 7"/>
          <p:cNvSpPr/>
          <p:nvPr/>
        </p:nvSpPr>
        <p:spPr>
          <a:xfrm>
            <a:off x="685800" y="4892040"/>
            <a:ext cx="4846320" cy="1234440"/>
          </a:xfrm>
          <a:prstGeom prst="roundRect">
            <a:avLst>
              <a:gd name="adj" fmla="val 8000"/>
            </a:avLst>
          </a:prstGeom>
          <a:solidFill>
            <a:srgbClr val="F6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29200"/>
            <a:ext cx="4389120" cy="274320"/>
          </a:xfrm>
          <a:prstGeom prst="rect">
            <a:avLst/>
          </a:prstGeom>
          <a:noFill/>
        </p:spPr>
        <p:txBody>
          <a:bodyPr wrap="square" anchor="t" lIns="0" rIns="0" tIns="0" bIns="0">
            <a:spAutoFit/>
          </a:bodyPr>
          <a:lstStyle/>
          <a:p>
            <a:pPr algn="l">
              <a:lnSpc>
                <a:spcPct val="115000"/>
              </a:lnSpc>
            </a:pPr>
            <a:r>
              <a:rPr sz="950" b="1" i="0">
                <a:solidFill>
                  <a:srgbClr val="0F9B8E"/>
                </a:solidFill>
                <a:latin typeface="Arial"/>
              </a:rPr>
              <a:t>EXAMPLE</a:t>
            </a:r>
          </a:p>
        </p:txBody>
      </p:sp>
      <p:sp>
        <p:nvSpPr>
          <p:cNvPr id="10" name="TextBox 9"/>
          <p:cNvSpPr txBox="1"/>
          <p:nvPr/>
        </p:nvSpPr>
        <p:spPr>
          <a:xfrm>
            <a:off x="914400" y="5321808"/>
            <a:ext cx="4389120" cy="685800"/>
          </a:xfrm>
          <a:prstGeom prst="rect">
            <a:avLst/>
          </a:prstGeom>
          <a:noFill/>
        </p:spPr>
        <p:txBody>
          <a:bodyPr wrap="square" anchor="t" lIns="0" rIns="0" tIns="0" bIns="0">
            <a:spAutoFit/>
          </a:bodyPr>
          <a:lstStyle/>
          <a:p>
            <a:pPr algn="l">
              <a:lnSpc>
                <a:spcPct val="125000"/>
              </a:lnSpc>
            </a:pPr>
            <a:r>
              <a:rPr sz="1100" b="0" i="0">
                <a:solidFill>
                  <a:srgbClr val="221F33"/>
                </a:solidFill>
                <a:latin typeface="Courier New"/>
              </a:rPr>
              <a:t>No “the server is down” — as long as the network exists, the contract exists, identically everywhere.</a:t>
            </a:r>
          </a:p>
        </p:txBody>
      </p:sp>
      <p:sp>
        <p:nvSpPr>
          <p:cNvPr id="11" name="Freeform 10"/>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07/22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8_name.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0F9B8E"/>
                </a:solidFill>
                <a:latin typeface="Arial"/>
              </a:rPr>
              <a:t>NOW IT HAS A NAME</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Code + Storage + Address, Enforced By The Network</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A smart contract is code describing state and functions, compiled to bytecode and deployed via a transaction, executed identically by every node — which is why execution must be fully deterministic and gas-metered — and enforced by the network's rules, not a company's internal policy.</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08/22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9_key0.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0F9B8E"/>
                </a:solidFill>
                <a:latin typeface="Arial"/>
              </a:rPr>
              <a:t>KEY IDEA 1 / 3</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Deployment Is Just A Transaction</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The contract's compiled bytecode, with no specific recipient — the network computes a new address and stores the bytecode there.</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09/22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5_hook.jpg"/>
          <p:cNvPicPr>
            <a:picLocks noChangeAspect="1"/>
          </p:cNvPicPr>
          <p:nvPr/>
        </p:nvPicPr>
        <p:blipFill>
          <a:blip r:embed="rId2"/>
          <a:stretch>
            <a:fillRect/>
          </a:stretch>
        </p:blipFill>
        <p:spPr>
          <a:xfrm>
            <a:off x="6949440" y="1234440"/>
            <a:ext cx="4572000" cy="4297680"/>
          </a:xfrm>
          <a:prstGeom prst="rect">
            <a:avLst/>
          </a:prstGeom>
        </p:spPr>
      </p:pic>
      <p:sp>
        <p:nvSpPr>
          <p:cNvPr id="4" name="Oval 3"/>
          <p:cNvSpPr/>
          <p:nvPr/>
        </p:nvSpPr>
        <p:spPr>
          <a:xfrm>
            <a:off x="1078992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0080"/>
            <a:ext cx="4846320" cy="320040"/>
          </a:xfrm>
          <a:prstGeom prst="rect">
            <a:avLst/>
          </a:prstGeom>
          <a:noFill/>
        </p:spPr>
        <p:txBody>
          <a:bodyPr wrap="square" anchor="t" lIns="0" rIns="0" tIns="0" bIns="0">
            <a:spAutoFit/>
          </a:bodyPr>
          <a:lstStyle/>
          <a:p>
            <a:pPr algn="l">
              <a:lnSpc>
                <a:spcPct val="115000"/>
              </a:lnSpc>
            </a:pPr>
            <a:r>
              <a:rPr sz="1150" b="1" i="0">
                <a:solidFill>
                  <a:srgbClr val="0F9B8E"/>
                </a:solidFill>
                <a:latin typeface="Arial"/>
              </a:rPr>
              <a:t>KEY IDEA 2 / 3</a:t>
            </a:r>
          </a:p>
        </p:txBody>
      </p:sp>
      <p:sp>
        <p:nvSpPr>
          <p:cNvPr id="6" name="TextBox 5"/>
          <p:cNvSpPr txBox="1"/>
          <p:nvPr/>
        </p:nvSpPr>
        <p:spPr>
          <a:xfrm>
            <a:off x="68580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Execution Must Be Deterministic</a:t>
            </a:r>
          </a:p>
        </p:txBody>
      </p:sp>
      <p:sp>
        <p:nvSpPr>
          <p:cNvPr id="7" name="TextBox 6"/>
          <p:cNvSpPr txBox="1"/>
          <p:nvPr/>
        </p:nvSpPr>
        <p:spPr>
          <a:xfrm>
            <a:off x="68580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Every node computing the same result from the same input is the only way thousands of independent computers stay in agreement (Week 1, Topic 04).</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10/22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11_key2.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0F9B8E"/>
                </a:solidFill>
                <a:latin typeface="Arial"/>
              </a:rPr>
              <a:t>KEY IDEA 3 / 3</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No Default Patch Button</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Once deployed, logic is fixed unless an upgrade mechanism was deliberately designed in advance — Topic 03's DAO lesson, again.</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11/22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700101" y="-457200"/>
            <a:ext cx="2181754" cy="2377440"/>
          </a:xfrm>
          <a:custGeom>
            <a:avLst/>
            <a:gdLst/>
            <a:ahLst/>
            <a:cxnLst/>
            <a:rect l="l" t="t" r="r" b="b"/>
            <a:pathLst>
              <a:path w="2181754" h="2377440">
                <a:moveTo>
                  <a:pt x="1089819" y="0"/>
                </a:moveTo>
                <a:lnTo>
                  <a:pt x="1400676" y="67926"/>
                </a:lnTo>
                <a:lnTo>
                  <a:pt x="1686063" y="135853"/>
                </a:lnTo>
                <a:lnTo>
                  <a:pt x="1922596" y="203780"/>
                </a:lnTo>
                <a:lnTo>
                  <a:pt x="2090894" y="271707"/>
                </a:lnTo>
                <a:lnTo>
                  <a:pt x="2177168" y="339634"/>
                </a:lnTo>
                <a:lnTo>
                  <a:pt x="2174349" y="407561"/>
                </a:lnTo>
                <a:lnTo>
                  <a:pt x="2082667" y="475488"/>
                </a:lnTo>
                <a:lnTo>
                  <a:pt x="1909635" y="543414"/>
                </a:lnTo>
                <a:lnTo>
                  <a:pt x="1669431" y="611341"/>
                </a:lnTo>
                <a:lnTo>
                  <a:pt x="1381735" y="679268"/>
                </a:lnTo>
                <a:lnTo>
                  <a:pt x="1070121" y="747195"/>
                </a:lnTo>
                <a:lnTo>
                  <a:pt x="760121" y="815122"/>
                </a:lnTo>
                <a:lnTo>
                  <a:pt x="477135" y="883049"/>
                </a:lnTo>
                <a:lnTo>
                  <a:pt x="244350" y="950976"/>
                </a:lnTo>
                <a:lnTo>
                  <a:pt x="80839" y="1018902"/>
                </a:lnTo>
                <a:lnTo>
                  <a:pt x="0" y="1086829"/>
                </a:lnTo>
                <a:lnTo>
                  <a:pt x="8457" y="1154756"/>
                </a:lnTo>
                <a:lnTo>
                  <a:pt x="105517" y="1222683"/>
                </a:lnTo>
                <a:lnTo>
                  <a:pt x="283226" y="1290610"/>
                </a:lnTo>
                <a:lnTo>
                  <a:pt x="527024" y="1358537"/>
                </a:lnTo>
                <a:lnTo>
                  <a:pt x="816936" y="1426464"/>
                </a:lnTo>
                <a:lnTo>
                  <a:pt x="1129207" y="1494390"/>
                </a:lnTo>
                <a:lnTo>
                  <a:pt x="1438250" y="1562317"/>
                </a:lnTo>
                <a:lnTo>
                  <a:pt x="1718744" y="1630244"/>
                </a:lnTo>
                <a:lnTo>
                  <a:pt x="1947707" y="1698171"/>
                </a:lnTo>
                <a:lnTo>
                  <a:pt x="2106377" y="1766098"/>
                </a:lnTo>
                <a:lnTo>
                  <a:pt x="2181754" y="1834025"/>
                </a:lnTo>
                <a:lnTo>
                  <a:pt x="2167663" y="1901952"/>
                </a:lnTo>
                <a:lnTo>
                  <a:pt x="2065257" y="1969878"/>
                </a:lnTo>
                <a:lnTo>
                  <a:pt x="1882927" y="2037805"/>
                </a:lnTo>
                <a:lnTo>
                  <a:pt x="1635613" y="2105732"/>
                </a:lnTo>
                <a:lnTo>
                  <a:pt x="1343579" y="2173659"/>
                </a:lnTo>
                <a:lnTo>
                  <a:pt x="1030752" y="2241586"/>
                </a:lnTo>
                <a:lnTo>
                  <a:pt x="722765" y="2309513"/>
                </a:lnTo>
                <a:lnTo>
                  <a:pt x="444853" y="2377440"/>
                </a:lnTo>
              </a:path>
            </a:pathLst>
          </a:custGeom>
          <a:noFill/>
          <a:ln w="146304"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85800" y="731520"/>
            <a:ext cx="777240" cy="777240"/>
          </a:xfrm>
          <a:prstGeom prst="ellipse">
            <a:avLst/>
          </a:prstGeom>
          <a:solidFill>
            <a:srgbClr val="0F9B8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3000" b="1">
                <a:solidFill>
                  <a:srgbClr val="FFFFFF"/>
                </a:solidFill>
                <a:latin typeface="Arial Rounded MT Bold"/>
              </a:rPr>
              <a:t>?</a:t>
            </a:r>
          </a:p>
        </p:txBody>
      </p:sp>
      <p:sp>
        <p:nvSpPr>
          <p:cNvPr id="5" name="TextBox 4"/>
          <p:cNvSpPr txBox="1"/>
          <p:nvPr/>
        </p:nvSpPr>
        <p:spPr>
          <a:xfrm>
            <a:off x="1737360" y="86868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CHECK YOUR UNDERSTANDING</a:t>
            </a:r>
          </a:p>
        </p:txBody>
      </p:sp>
      <p:sp>
        <p:nvSpPr>
          <p:cNvPr id="6" name="TextBox 5"/>
          <p:cNvSpPr txBox="1"/>
          <p:nvPr/>
        </p:nvSpPr>
        <p:spPr>
          <a:xfrm>
            <a:off x="685800" y="1828800"/>
            <a:ext cx="10607040" cy="1554480"/>
          </a:xfrm>
          <a:prstGeom prst="rect">
            <a:avLst/>
          </a:prstGeom>
          <a:noFill/>
        </p:spPr>
        <p:txBody>
          <a:bodyPr wrap="square" anchor="t" lIns="0" rIns="0" tIns="0" bIns="0">
            <a:spAutoFit/>
          </a:bodyPr>
          <a:lstStyle/>
          <a:p>
            <a:pPr algn="l">
              <a:lnSpc>
                <a:spcPct val="115000"/>
              </a:lnSpc>
            </a:pPr>
            <a:r>
              <a:rPr sz="2700" b="1" i="0">
                <a:solidFill>
                  <a:srgbClr val="FFFFFF"/>
                </a:solidFill>
                <a:latin typeface="Arial Rounded MT Bold"/>
              </a:rPr>
              <a:t>If a smart contract has a bug that lets anyone drain its funds, can the team that wrote it just push a fix overnight?</a:t>
            </a:r>
          </a:p>
        </p:txBody>
      </p:sp>
      <p:sp>
        <p:nvSpPr>
          <p:cNvPr id="7" name="Rectangle 6"/>
          <p:cNvSpPr/>
          <p:nvPr/>
        </p:nvSpPr>
        <p:spPr>
          <a:xfrm>
            <a:off x="685800" y="3520440"/>
            <a:ext cx="2011680" cy="41148"/>
          </a:xfrm>
          <a:prstGeom prst="rect">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886200"/>
            <a:ext cx="1463040" cy="320040"/>
          </a:xfrm>
          <a:prstGeom prst="rect">
            <a:avLst/>
          </a:prstGeom>
          <a:noFill/>
        </p:spPr>
        <p:txBody>
          <a:bodyPr wrap="square" anchor="t" lIns="0" rIns="0" tIns="0" bIns="0">
            <a:spAutoFit/>
          </a:bodyPr>
          <a:lstStyle/>
          <a:p>
            <a:pPr algn="l">
              <a:lnSpc>
                <a:spcPct val="115000"/>
              </a:lnSpc>
            </a:pPr>
            <a:r>
              <a:rPr sz="1100" b="1" i="0">
                <a:solidFill>
                  <a:srgbClr val="FDC646"/>
                </a:solidFill>
                <a:latin typeface="Arial"/>
              </a:rPr>
              <a:t>ANSWER</a:t>
            </a:r>
          </a:p>
        </p:txBody>
      </p:sp>
      <p:sp>
        <p:nvSpPr>
          <p:cNvPr id="9" name="TextBox 8"/>
          <p:cNvSpPr txBox="1"/>
          <p:nvPr/>
        </p:nvSpPr>
        <p:spPr>
          <a:xfrm>
            <a:off x="685800" y="4297680"/>
            <a:ext cx="10241280" cy="2011680"/>
          </a:xfrm>
          <a:prstGeom prst="rect">
            <a:avLst/>
          </a:prstGeom>
          <a:noFill/>
        </p:spPr>
        <p:txBody>
          <a:bodyPr wrap="square" anchor="t" lIns="0" rIns="0" tIns="0" bIns="0">
            <a:spAutoFit/>
          </a:bodyPr>
          <a:lstStyle/>
          <a:p>
            <a:pPr algn="l">
              <a:lnSpc>
                <a:spcPct val="150000"/>
              </a:lnSpc>
            </a:pPr>
            <a:r>
              <a:rPr sz="1500" b="0" i="0">
                <a:solidFill>
                  <a:srgbClr val="E3E0F7"/>
                </a:solidFill>
                <a:latin typeface="Arial"/>
              </a:rPr>
              <a:t>Not by default — this is the exact lesson from The DAO. Once deployed, a contract's logic is fixed unless it was specifically designed with an upgrade mechanism, a deliberate, non-default design decision with real trade-offs (Week 7). “We'll patch it later” doesn't work here the way it does for ordinary software.</a:t>
            </a:r>
          </a:p>
        </p:txBody>
      </p:sp>
      <p:sp>
        <p:nvSpPr>
          <p:cNvPr id="10" name="TextBox 9"/>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9A9FB8"/>
                </a:solidFill>
                <a:latin typeface="Courier New"/>
              </a:rPr>
              <a:t>12/22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6_notice1.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0F9B8E"/>
                </a:solidFill>
                <a:latin typeface="Arial"/>
              </a:rPr>
              <a:t>CONNECT IT</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Next Week, This Stops Being Abstract</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Next week, you write a contract like this yourself, compile it, and use real tools to look at exactly what's described here: the actual compiled bytecode, the actual storage slot holding count, and the actual deployment transaction — a real transaction hash you can look up.</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13/22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0F9B8E"/>
                </a:solidFill>
                <a:latin typeface="Arial"/>
              </a:rPr>
              <a:t>FLAGSHIP CASE STUDY</a:t>
            </a:r>
          </a:p>
        </p:txBody>
      </p:sp>
      <p:sp>
        <p:nvSpPr>
          <p:cNvPr id="4" name="TextBox 3"/>
          <p:cNvSpPr txBox="1"/>
          <p:nvPr/>
        </p:nvSpPr>
        <p:spPr>
          <a:xfrm>
            <a:off x="685800" y="1005840"/>
            <a:ext cx="10515600" cy="822960"/>
          </a:xfrm>
          <a:prstGeom prst="rect">
            <a:avLst/>
          </a:prstGeom>
          <a:noFill/>
        </p:spPr>
        <p:txBody>
          <a:bodyPr wrap="square" anchor="t" lIns="0" rIns="0" tIns="0" bIns="0">
            <a:spAutoFit/>
          </a:bodyPr>
          <a:lstStyle/>
          <a:p>
            <a:pPr algn="l">
              <a:lnSpc>
                <a:spcPct val="115000"/>
              </a:lnSpc>
            </a:pPr>
            <a:r>
              <a:rPr sz="2800" b="1" i="0">
                <a:solidFill>
                  <a:srgbClr val="221F33"/>
                </a:solidFill>
                <a:latin typeface="Arial Rounded MT Bold"/>
              </a:rPr>
              <a:t>Nick Szabo's Vending Machine, Three Decades Early</a:t>
            </a:r>
          </a:p>
        </p:txBody>
      </p:sp>
      <p:sp>
        <p:nvSpPr>
          <p:cNvPr id="5" name="Rounded Rectangle 4"/>
          <p:cNvSpPr/>
          <p:nvPr/>
        </p:nvSpPr>
        <p:spPr>
          <a:xfrm>
            <a:off x="685800" y="2286000"/>
            <a:ext cx="10789920" cy="3931920"/>
          </a:xfrm>
          <a:prstGeom prst="roundRect">
            <a:avLst>
              <a:gd name="adj" fmla="val 4000"/>
            </a:avLst>
          </a:prstGeom>
          <a:solidFill>
            <a:srgbClr val="0F9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606040"/>
            <a:ext cx="9875520" cy="3383280"/>
          </a:xfrm>
          <a:prstGeom prst="rect">
            <a:avLst/>
          </a:prstGeom>
          <a:noFill/>
        </p:spPr>
        <p:txBody>
          <a:bodyPr wrap="square" anchor="t" lIns="0" rIns="0" tIns="0" bIns="0">
            <a:spAutoFit/>
          </a:bodyPr>
          <a:lstStyle/>
          <a:p>
            <a:pPr algn="l">
              <a:lnSpc>
                <a:spcPct val="155000"/>
              </a:lnSpc>
            </a:pPr>
            <a:r>
              <a:rPr sz="1500" b="0" i="0">
                <a:solidFill>
                  <a:srgbClr val="FFFFFF"/>
                </a:solidFill>
                <a:latin typeface="Arial"/>
              </a:rPr>
              <a:t>The term “smart contract” was coined in the 1990s by Nick Szabo — well before blockchains existed — using a vending machine as the defining analogy. Put in the right amount, select an option, and the machine mechanically guarantees the outcome. No cashier, no trust required — the rules are enforced by the mechanism itself. A blockchain smart contract is the same idea, with a global network of independent computers standing in for the vending machine's internal mechanics.</a:t>
            </a:r>
          </a:p>
        </p:txBody>
      </p:sp>
      <p:sp>
        <p:nvSpPr>
          <p:cNvPr id="7" name="TextBox 6"/>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14/22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8B8899"/>
                </a:solidFill>
                <a:latin typeface="Arial"/>
              </a:rPr>
              <a:t>REAL-WORLD USES</a:t>
            </a:r>
          </a:p>
        </p:txBody>
      </p:sp>
      <p:sp>
        <p:nvSpPr>
          <p:cNvPr id="4" name="TextBox 3"/>
          <p:cNvSpPr txBox="1"/>
          <p:nvPr/>
        </p:nvSpPr>
        <p:spPr>
          <a:xfrm>
            <a:off x="685800" y="914400"/>
            <a:ext cx="4297680" cy="1463040"/>
          </a:xfrm>
          <a:prstGeom prst="rect">
            <a:avLst/>
          </a:prstGeom>
          <a:noFill/>
        </p:spPr>
        <p:txBody>
          <a:bodyPr wrap="square" anchor="t" lIns="0" rIns="0" tIns="0" bIns="0">
            <a:spAutoFit/>
          </a:bodyPr>
          <a:lstStyle/>
          <a:p>
            <a:pPr algn="l">
              <a:lnSpc>
                <a:spcPct val="105000"/>
              </a:lnSpc>
            </a:pPr>
            <a:r>
              <a:rPr sz="2700" b="1" i="0">
                <a:solidFill>
                  <a:srgbClr val="221F33"/>
                </a:solidFill>
                <a:latin typeface="Arial Rounded MT Bold"/>
              </a:rPr>
              <a:t>Where This Shows Up</a:t>
            </a:r>
          </a:p>
        </p:txBody>
      </p:sp>
      <p:sp>
        <p:nvSpPr>
          <p:cNvPr id="5" name="TextBox 4"/>
          <p:cNvSpPr txBox="1"/>
          <p:nvPr/>
        </p:nvSpPr>
        <p:spPr>
          <a:xfrm>
            <a:off x="685800" y="2468880"/>
            <a:ext cx="4023360" cy="2286000"/>
          </a:xfrm>
          <a:prstGeom prst="rect">
            <a:avLst/>
          </a:prstGeom>
          <a:noFill/>
        </p:spPr>
        <p:txBody>
          <a:bodyPr wrap="square" anchor="t" lIns="0" rIns="0" tIns="0" bIns="0">
            <a:spAutoFit/>
          </a:bodyPr>
          <a:lstStyle/>
          <a:p>
            <a:pPr algn="l">
              <a:lnSpc>
                <a:spcPct val="140000"/>
              </a:lnSpc>
            </a:pPr>
            <a:r>
              <a:rPr sz="1200" b="0" i="0">
                <a:solidFill>
                  <a:srgbClr val="8B8899"/>
                </a:solidFill>
                <a:latin typeface="Arial"/>
              </a:rPr>
              <a:t>Every one of these is, underneath, the exact same code + storage + address model as the six-line Counter contract.</a:t>
            </a:r>
          </a:p>
        </p:txBody>
      </p:sp>
      <p:sp>
        <p:nvSpPr>
          <p:cNvPr id="6" name="Oval 5"/>
          <p:cNvSpPr/>
          <p:nvPr/>
        </p:nvSpPr>
        <p:spPr>
          <a:xfrm>
            <a:off x="822960" y="59893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97280" y="59893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71600" y="59893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45920" y="59893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57800" y="960120"/>
            <a:ext cx="2331720" cy="1783080"/>
          </a:xfrm>
          <a:prstGeom prst="roundRect">
            <a:avLst>
              <a:gd name="adj" fmla="val 10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40680" y="114300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6C5FE8"/>
                </a:solidFill>
              </a:rPr>
              <a:t>🥤</a:t>
            </a:r>
          </a:p>
        </p:txBody>
      </p:sp>
      <p:sp>
        <p:nvSpPr>
          <p:cNvPr id="12" name="TextBox 11"/>
          <p:cNvSpPr txBox="1"/>
          <p:nvPr/>
        </p:nvSpPr>
        <p:spPr>
          <a:xfrm>
            <a:off x="5440680" y="1737360"/>
            <a:ext cx="1965960" cy="365760"/>
          </a:xfrm>
          <a:prstGeom prst="rect">
            <a:avLst/>
          </a:prstGeom>
          <a:noFill/>
        </p:spPr>
        <p:txBody>
          <a:bodyPr wrap="square" anchor="t" lIns="0" rIns="0" tIns="0" bIns="0">
            <a:spAutoFit/>
          </a:bodyPr>
          <a:lstStyle/>
          <a:p>
            <a:pPr algn="l">
              <a:lnSpc>
                <a:spcPct val="105000"/>
              </a:lnSpc>
            </a:pPr>
            <a:r>
              <a:rPr sz="1350" b="1" i="0">
                <a:solidFill>
                  <a:srgbClr val="FFFFFF"/>
                </a:solidFill>
                <a:latin typeface="Arial Rounded MT Bold"/>
              </a:rPr>
              <a:t>Vending Machines</a:t>
            </a:r>
          </a:p>
        </p:txBody>
      </p:sp>
      <p:sp>
        <p:nvSpPr>
          <p:cNvPr id="13" name="TextBox 12"/>
          <p:cNvSpPr txBox="1"/>
          <p:nvPr/>
        </p:nvSpPr>
        <p:spPr>
          <a:xfrm>
            <a:off x="5440680" y="2157984"/>
            <a:ext cx="1965960" cy="448056"/>
          </a:xfrm>
          <a:prstGeom prst="rect">
            <a:avLst/>
          </a:prstGeom>
          <a:noFill/>
        </p:spPr>
        <p:txBody>
          <a:bodyPr wrap="square" anchor="t" lIns="0" rIns="0" tIns="0" bIns="0">
            <a:spAutoFit/>
          </a:bodyPr>
          <a:lstStyle/>
          <a:p>
            <a:pPr algn="l">
              <a:lnSpc>
                <a:spcPct val="120000"/>
              </a:lnSpc>
            </a:pPr>
            <a:r>
              <a:rPr sz="950" b="0" i="0">
                <a:solidFill>
                  <a:srgbClr val="F3F1FC"/>
                </a:solidFill>
                <a:latin typeface="Arial"/>
              </a:rPr>
              <a:t>Szabo's original analogy — mechanical rule enforcement with no cashier required.</a:t>
            </a:r>
          </a:p>
        </p:txBody>
      </p:sp>
      <p:sp>
        <p:nvSpPr>
          <p:cNvPr id="14" name="Rounded Rectangle 13"/>
          <p:cNvSpPr/>
          <p:nvPr/>
        </p:nvSpPr>
        <p:spPr>
          <a:xfrm>
            <a:off x="7790688" y="960120"/>
            <a:ext cx="2331720" cy="1783080"/>
          </a:xfrm>
          <a:prstGeom prst="roundRect">
            <a:avLst>
              <a:gd name="adj" fmla="val 10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973568" y="114300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35C078"/>
                </a:solidFill>
              </a:rPr>
              <a:t>🔒</a:t>
            </a:r>
          </a:p>
        </p:txBody>
      </p:sp>
      <p:sp>
        <p:nvSpPr>
          <p:cNvPr id="16" name="TextBox 15"/>
          <p:cNvSpPr txBox="1"/>
          <p:nvPr/>
        </p:nvSpPr>
        <p:spPr>
          <a:xfrm>
            <a:off x="7973568" y="1737360"/>
            <a:ext cx="1965960" cy="365760"/>
          </a:xfrm>
          <a:prstGeom prst="rect">
            <a:avLst/>
          </a:prstGeom>
          <a:noFill/>
        </p:spPr>
        <p:txBody>
          <a:bodyPr wrap="square" anchor="t" lIns="0" rIns="0" tIns="0" bIns="0">
            <a:spAutoFit/>
          </a:bodyPr>
          <a:lstStyle/>
          <a:p>
            <a:pPr algn="l">
              <a:lnSpc>
                <a:spcPct val="105000"/>
              </a:lnSpc>
            </a:pPr>
            <a:r>
              <a:rPr sz="1350" b="1" i="0">
                <a:solidFill>
                  <a:srgbClr val="FFFFFF"/>
                </a:solidFill>
                <a:latin typeface="Arial Rounded MT Bold"/>
              </a:rPr>
              <a:t>Escrow Services</a:t>
            </a:r>
          </a:p>
        </p:txBody>
      </p:sp>
      <p:sp>
        <p:nvSpPr>
          <p:cNvPr id="17" name="TextBox 16"/>
          <p:cNvSpPr txBox="1"/>
          <p:nvPr/>
        </p:nvSpPr>
        <p:spPr>
          <a:xfrm>
            <a:off x="7973568" y="2157984"/>
            <a:ext cx="1965960" cy="448056"/>
          </a:xfrm>
          <a:prstGeom prst="rect">
            <a:avLst/>
          </a:prstGeom>
          <a:noFill/>
        </p:spPr>
        <p:txBody>
          <a:bodyPr wrap="square" anchor="t" lIns="0" rIns="0" tIns="0" bIns="0">
            <a:spAutoFit/>
          </a:bodyPr>
          <a:lstStyle/>
          <a:p>
            <a:pPr algn="l">
              <a:lnSpc>
                <a:spcPct val="120000"/>
              </a:lnSpc>
            </a:pPr>
            <a:r>
              <a:rPr sz="950" b="0" i="0">
                <a:solidFill>
                  <a:srgbClr val="F3F1FC"/>
                </a:solidFill>
                <a:latin typeface="Arial"/>
              </a:rPr>
              <a:t>Traditionally a trusted third party; a contract can hold and release funds automatically instead.</a:t>
            </a:r>
          </a:p>
        </p:txBody>
      </p:sp>
      <p:sp>
        <p:nvSpPr>
          <p:cNvPr id="18" name="Rounded Rectangle 17"/>
          <p:cNvSpPr/>
          <p:nvPr/>
        </p:nvSpPr>
        <p:spPr>
          <a:xfrm>
            <a:off x="5257800" y="2944368"/>
            <a:ext cx="2331720" cy="1783080"/>
          </a:xfrm>
          <a:prstGeom prst="roundRect">
            <a:avLst>
              <a:gd name="adj" fmla="val 10000"/>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440680" y="312724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2734B"/>
                </a:solidFill>
              </a:rPr>
              <a:t>🖼</a:t>
            </a:r>
          </a:p>
        </p:txBody>
      </p:sp>
      <p:sp>
        <p:nvSpPr>
          <p:cNvPr id="20" name="TextBox 19"/>
          <p:cNvSpPr txBox="1"/>
          <p:nvPr/>
        </p:nvSpPr>
        <p:spPr>
          <a:xfrm>
            <a:off x="5440680" y="3721608"/>
            <a:ext cx="1965960" cy="365760"/>
          </a:xfrm>
          <a:prstGeom prst="rect">
            <a:avLst/>
          </a:prstGeom>
          <a:noFill/>
        </p:spPr>
        <p:txBody>
          <a:bodyPr wrap="square" anchor="t" lIns="0" rIns="0" tIns="0" bIns="0">
            <a:spAutoFit/>
          </a:bodyPr>
          <a:lstStyle/>
          <a:p>
            <a:pPr algn="l">
              <a:lnSpc>
                <a:spcPct val="105000"/>
              </a:lnSpc>
            </a:pPr>
            <a:r>
              <a:rPr sz="1350" b="1" i="0">
                <a:solidFill>
                  <a:srgbClr val="FFFFFF"/>
                </a:solidFill>
                <a:latin typeface="Arial Rounded MT Bold"/>
              </a:rPr>
              <a:t>NFT Marketplaces</a:t>
            </a:r>
          </a:p>
        </p:txBody>
      </p:sp>
      <p:sp>
        <p:nvSpPr>
          <p:cNvPr id="21" name="TextBox 20"/>
          <p:cNvSpPr txBox="1"/>
          <p:nvPr/>
        </p:nvSpPr>
        <p:spPr>
          <a:xfrm>
            <a:off x="5440680" y="4142232"/>
            <a:ext cx="1965960" cy="448056"/>
          </a:xfrm>
          <a:prstGeom prst="rect">
            <a:avLst/>
          </a:prstGeom>
          <a:noFill/>
        </p:spPr>
        <p:txBody>
          <a:bodyPr wrap="square" anchor="t" lIns="0" rIns="0" tIns="0" bIns="0">
            <a:spAutoFit/>
          </a:bodyPr>
          <a:lstStyle/>
          <a:p>
            <a:pPr algn="l">
              <a:lnSpc>
                <a:spcPct val="120000"/>
              </a:lnSpc>
            </a:pPr>
            <a:r>
              <a:rPr sz="950" b="0" i="0">
                <a:solidFill>
                  <a:srgbClr val="F3F1FC"/>
                </a:solidFill>
                <a:latin typeface="Arial"/>
              </a:rPr>
              <a:t>Larger, more carefully engineered versions of the same code+storage+address model.</a:t>
            </a:r>
          </a:p>
        </p:txBody>
      </p:sp>
      <p:sp>
        <p:nvSpPr>
          <p:cNvPr id="22" name="Rounded Rectangle 21"/>
          <p:cNvSpPr/>
          <p:nvPr/>
        </p:nvSpPr>
        <p:spPr>
          <a:xfrm>
            <a:off x="7790688" y="2944368"/>
            <a:ext cx="2331720" cy="1783080"/>
          </a:xfrm>
          <a:prstGeom prst="roundRect">
            <a:avLst>
              <a:gd name="adj" fmla="val 10000"/>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73568" y="312724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DC646"/>
                </a:solidFill>
              </a:rPr>
              <a:t>🏛</a:t>
            </a:r>
          </a:p>
        </p:txBody>
      </p:sp>
      <p:sp>
        <p:nvSpPr>
          <p:cNvPr id="24" name="TextBox 23"/>
          <p:cNvSpPr txBox="1"/>
          <p:nvPr/>
        </p:nvSpPr>
        <p:spPr>
          <a:xfrm>
            <a:off x="7973568" y="3721608"/>
            <a:ext cx="1965960" cy="365760"/>
          </a:xfrm>
          <a:prstGeom prst="rect">
            <a:avLst/>
          </a:prstGeom>
          <a:noFill/>
        </p:spPr>
        <p:txBody>
          <a:bodyPr wrap="square" anchor="t" lIns="0" rIns="0" tIns="0" bIns="0">
            <a:spAutoFit/>
          </a:bodyPr>
          <a:lstStyle/>
          <a:p>
            <a:pPr algn="l">
              <a:lnSpc>
                <a:spcPct val="105000"/>
              </a:lnSpc>
            </a:pPr>
            <a:r>
              <a:rPr sz="1350" b="1" i="0">
                <a:solidFill>
                  <a:srgbClr val="FFFFFF"/>
                </a:solidFill>
                <a:latin typeface="Arial Rounded MT Bold"/>
              </a:rPr>
              <a:t>DAO Treasuries</a:t>
            </a:r>
          </a:p>
        </p:txBody>
      </p:sp>
      <p:sp>
        <p:nvSpPr>
          <p:cNvPr id="25" name="TextBox 24"/>
          <p:cNvSpPr txBox="1"/>
          <p:nvPr/>
        </p:nvSpPr>
        <p:spPr>
          <a:xfrm>
            <a:off x="7973568" y="4142232"/>
            <a:ext cx="1965960" cy="448056"/>
          </a:xfrm>
          <a:prstGeom prst="rect">
            <a:avLst/>
          </a:prstGeom>
          <a:noFill/>
        </p:spPr>
        <p:txBody>
          <a:bodyPr wrap="square" anchor="t" lIns="0" rIns="0" tIns="0" bIns="0">
            <a:spAutoFit/>
          </a:bodyPr>
          <a:lstStyle/>
          <a:p>
            <a:pPr algn="l">
              <a:lnSpc>
                <a:spcPct val="120000"/>
              </a:lnSpc>
            </a:pPr>
            <a:r>
              <a:rPr sz="950" b="0" i="0">
                <a:solidFill>
                  <a:srgbClr val="F3F1FC"/>
                </a:solidFill>
                <a:latin typeface="Arial"/>
              </a:rPr>
              <a:t>From Topic 03 — fund custody and voting logic, enforced the same way.</a:t>
            </a:r>
          </a:p>
        </p:txBody>
      </p:sp>
      <p:sp>
        <p:nvSpPr>
          <p:cNvPr id="26" name="TextBox 25"/>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15/22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7_notice2.jpg"/>
          <p:cNvPicPr>
            <a:picLocks noChangeAspect="1"/>
          </p:cNvPicPr>
          <p:nvPr/>
        </p:nvPicPr>
        <p:blipFill>
          <a:blip r:embed="rId2"/>
          <a:stretch>
            <a:fillRect/>
          </a:stretch>
        </p:blipFill>
        <p:spPr>
          <a:xfrm>
            <a:off x="6949440" y="1234440"/>
            <a:ext cx="4572000" cy="4297680"/>
          </a:xfrm>
          <a:prstGeom prst="rect">
            <a:avLst/>
          </a:prstGeom>
        </p:spPr>
      </p:pic>
      <p:sp>
        <p:nvSpPr>
          <p:cNvPr id="4" name="Oval 3"/>
          <p:cNvSpPr/>
          <p:nvPr/>
        </p:nvSpPr>
        <p:spPr>
          <a:xfrm>
            <a:off x="1078992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0080"/>
            <a:ext cx="4846320" cy="320040"/>
          </a:xfrm>
          <a:prstGeom prst="rect">
            <a:avLst/>
          </a:prstGeom>
          <a:noFill/>
        </p:spPr>
        <p:txBody>
          <a:bodyPr wrap="square" anchor="t" lIns="0" rIns="0" tIns="0" bIns="0">
            <a:spAutoFit/>
          </a:bodyPr>
          <a:lstStyle/>
          <a:p>
            <a:pPr algn="l">
              <a:lnSpc>
                <a:spcPct val="115000"/>
              </a:lnSpc>
            </a:pPr>
            <a:r>
              <a:rPr sz="1150" b="1" i="0">
                <a:solidFill>
                  <a:srgbClr val="0F9B8E"/>
                </a:solidFill>
                <a:latin typeface="Arial"/>
              </a:rPr>
              <a:t>REAL-WORLD DEEP-DIVE</a:t>
            </a:r>
          </a:p>
        </p:txBody>
      </p:sp>
      <p:sp>
        <p:nvSpPr>
          <p:cNvPr id="6" name="TextBox 5"/>
          <p:cNvSpPr txBox="1"/>
          <p:nvPr/>
        </p:nvSpPr>
        <p:spPr>
          <a:xfrm>
            <a:off x="68580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Read A Real Verified Contract</a:t>
            </a:r>
          </a:p>
        </p:txBody>
      </p:sp>
      <p:sp>
        <p:nvSpPr>
          <p:cNvPr id="7" name="TextBox 6"/>
          <p:cNvSpPr txBox="1"/>
          <p:nvPr/>
        </p:nvSpPr>
        <p:spPr>
          <a:xfrm>
            <a:off x="68580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Find any well-known token or protocol on Etherscan and just read its source code — don't worry about understanding every line yet, just notice the shape: contract, state variables, functions. The exact same pattern from this topic's six-line Counter, just at real-world scale and stakes.</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16/22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8B8899"/>
                </a:solidFill>
                <a:latin typeface="Arial"/>
              </a:rPr>
              <a:t>COMMON MISCONCEPTIONS</a:t>
            </a:r>
          </a:p>
        </p:txBody>
      </p:sp>
      <p:sp>
        <p:nvSpPr>
          <p:cNvPr id="4" name="TextBox 3"/>
          <p:cNvSpPr txBox="1"/>
          <p:nvPr/>
        </p:nvSpPr>
        <p:spPr>
          <a:xfrm>
            <a:off x="685800" y="914400"/>
            <a:ext cx="10515600" cy="822960"/>
          </a:xfrm>
          <a:prstGeom prst="rect">
            <a:avLst/>
          </a:prstGeom>
          <a:noFill/>
        </p:spPr>
        <p:txBody>
          <a:bodyPr wrap="square" anchor="t" lIns="0" rIns="0" tIns="0" bIns="0">
            <a:spAutoFit/>
          </a:bodyPr>
          <a:lstStyle/>
          <a:p>
            <a:pPr algn="l">
              <a:lnSpc>
                <a:spcPct val="115000"/>
              </a:lnSpc>
            </a:pPr>
            <a:r>
              <a:rPr sz="3000" b="1" i="0">
                <a:solidFill>
                  <a:srgbClr val="221F33"/>
                </a:solidFill>
                <a:latin typeface="Arial Rounded MT Bold"/>
              </a:rPr>
              <a:t>Where People Get Tripped Up</a:t>
            </a:r>
          </a:p>
        </p:txBody>
      </p:sp>
      <p:sp>
        <p:nvSpPr>
          <p:cNvPr id="5" name="TextBox 4"/>
          <p:cNvSpPr txBox="1"/>
          <p:nvPr/>
        </p:nvSpPr>
        <p:spPr>
          <a:xfrm>
            <a:off x="685800" y="1691640"/>
            <a:ext cx="10515600" cy="548640"/>
          </a:xfrm>
          <a:prstGeom prst="rect">
            <a:avLst/>
          </a:prstGeom>
          <a:noFill/>
        </p:spPr>
        <p:txBody>
          <a:bodyPr wrap="square" anchor="t" lIns="0" rIns="0" tIns="0" bIns="0">
            <a:spAutoFit/>
          </a:bodyPr>
          <a:lstStyle/>
          <a:p>
            <a:pPr algn="l">
              <a:lnSpc>
                <a:spcPct val="140000"/>
              </a:lnSpc>
            </a:pPr>
            <a:r>
              <a:rPr sz="1300" b="0" i="0">
                <a:solidFill>
                  <a:srgbClr val="8B8899"/>
                </a:solidFill>
                <a:latin typeface="Arial"/>
              </a:rPr>
              <a:t>Two claims that sound reasonable, but aren't quite right.</a:t>
            </a:r>
          </a:p>
        </p:txBody>
      </p:sp>
      <p:sp>
        <p:nvSpPr>
          <p:cNvPr id="6" name="Rounded Rectangle 5"/>
          <p:cNvSpPr/>
          <p:nvPr/>
        </p:nvSpPr>
        <p:spPr>
          <a:xfrm>
            <a:off x="685800" y="2560320"/>
            <a:ext cx="5120640" cy="3520440"/>
          </a:xfrm>
          <a:prstGeom prst="roundRect">
            <a:avLst>
              <a:gd name="adj" fmla="val 6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29260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6C5FE8"/>
                </a:solidFill>
                <a:latin typeface="Arial Rounded MT Bold"/>
              </a:rPr>
              <a:t>1</a:t>
            </a:r>
          </a:p>
        </p:txBody>
      </p:sp>
      <p:sp>
        <p:nvSpPr>
          <p:cNvPr id="8" name="TextBox 7"/>
          <p:cNvSpPr txBox="1"/>
          <p:nvPr/>
        </p:nvSpPr>
        <p:spPr>
          <a:xfrm>
            <a:off x="1051560" y="3794760"/>
            <a:ext cx="4389120" cy="548640"/>
          </a:xfrm>
          <a:prstGeom prst="rect">
            <a:avLst/>
          </a:prstGeom>
          <a:noFill/>
        </p:spPr>
        <p:txBody>
          <a:bodyPr wrap="square" anchor="t" lIns="0" rIns="0" tIns="0" bIns="0">
            <a:spAutoFit/>
          </a:bodyPr>
          <a:lstStyle/>
          <a:p>
            <a:pPr algn="l">
              <a:lnSpc>
                <a:spcPct val="115000"/>
              </a:lnSpc>
            </a:pPr>
            <a:r>
              <a:rPr sz="2000" b="1" i="0">
                <a:solidFill>
                  <a:srgbClr val="FFFFFF"/>
                </a:solidFill>
                <a:latin typeface="Arial Rounded MT Bold"/>
              </a:rPr>
              <a:t>“A smart contract is a legal contract.”</a:t>
            </a:r>
          </a:p>
        </p:txBody>
      </p:sp>
      <p:sp>
        <p:nvSpPr>
          <p:cNvPr id="9" name="TextBox 8"/>
          <p:cNvSpPr txBox="1"/>
          <p:nvPr/>
        </p:nvSpPr>
        <p:spPr>
          <a:xfrm>
            <a:off x="1051560" y="4343400"/>
            <a:ext cx="4389120" cy="1554480"/>
          </a:xfrm>
          <a:prstGeom prst="rect">
            <a:avLst/>
          </a:prstGeom>
          <a:noFill/>
        </p:spPr>
        <p:txBody>
          <a:bodyPr wrap="square" anchor="t" lIns="0" rIns="0" tIns="0" bIns="0">
            <a:spAutoFit/>
          </a:bodyPr>
          <a:lstStyle/>
          <a:p>
            <a:pPr algn="l">
              <a:lnSpc>
                <a:spcPct val="140000"/>
              </a:lnSpc>
            </a:pPr>
            <a:r>
              <a:rPr sz="1300" b="0" i="0">
                <a:solidFill>
                  <a:srgbClr val="F3F1FC"/>
                </a:solidFill>
                <a:latin typeface="Arial"/>
              </a:rPr>
              <a:t>Not inherently — it's a program that automatically enforces rules. Whether it's also legally binding depends on jurisdiction, a separate, still-evolving question.</a:t>
            </a:r>
          </a:p>
        </p:txBody>
      </p:sp>
      <p:sp>
        <p:nvSpPr>
          <p:cNvPr id="10" name="Rounded Rectangle 9"/>
          <p:cNvSpPr/>
          <p:nvPr/>
        </p:nvSpPr>
        <p:spPr>
          <a:xfrm>
            <a:off x="6126480" y="2560320"/>
            <a:ext cx="5120640" cy="3520440"/>
          </a:xfrm>
          <a:prstGeom prst="roundRect">
            <a:avLst>
              <a:gd name="adj" fmla="val 6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92240" y="29260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35C078"/>
                </a:solidFill>
                <a:latin typeface="Arial Rounded MT Bold"/>
              </a:rPr>
              <a:t>2</a:t>
            </a:r>
          </a:p>
        </p:txBody>
      </p:sp>
      <p:sp>
        <p:nvSpPr>
          <p:cNvPr id="12" name="TextBox 11"/>
          <p:cNvSpPr txBox="1"/>
          <p:nvPr/>
        </p:nvSpPr>
        <p:spPr>
          <a:xfrm>
            <a:off x="6492240" y="3794760"/>
            <a:ext cx="4389120" cy="548640"/>
          </a:xfrm>
          <a:prstGeom prst="rect">
            <a:avLst/>
          </a:prstGeom>
          <a:noFill/>
        </p:spPr>
        <p:txBody>
          <a:bodyPr wrap="square" anchor="t" lIns="0" rIns="0" tIns="0" bIns="0">
            <a:spAutoFit/>
          </a:bodyPr>
          <a:lstStyle/>
          <a:p>
            <a:pPr algn="l">
              <a:lnSpc>
                <a:spcPct val="115000"/>
              </a:lnSpc>
            </a:pPr>
            <a:r>
              <a:rPr sz="2000" b="1" i="0">
                <a:solidFill>
                  <a:srgbClr val="FFFFFF"/>
                </a:solidFill>
                <a:latin typeface="Arial Rounded MT Bold"/>
              </a:rPr>
              <a:t>“Smart contracts can access anything on the internet.”</a:t>
            </a:r>
          </a:p>
        </p:txBody>
      </p:sp>
      <p:sp>
        <p:nvSpPr>
          <p:cNvPr id="13" name="TextBox 12"/>
          <p:cNvSpPr txBox="1"/>
          <p:nvPr/>
        </p:nvSpPr>
        <p:spPr>
          <a:xfrm>
            <a:off x="6492240" y="4343400"/>
            <a:ext cx="4389120" cy="1554480"/>
          </a:xfrm>
          <a:prstGeom prst="rect">
            <a:avLst/>
          </a:prstGeom>
          <a:noFill/>
        </p:spPr>
        <p:txBody>
          <a:bodyPr wrap="square" anchor="t" lIns="0" rIns="0" tIns="0" bIns="0">
            <a:spAutoFit/>
          </a:bodyPr>
          <a:lstStyle/>
          <a:p>
            <a:pPr algn="l">
              <a:lnSpc>
                <a:spcPct val="140000"/>
              </a:lnSpc>
            </a:pPr>
            <a:r>
              <a:rPr sz="1300" b="0" i="0">
                <a:solidFill>
                  <a:srgbClr val="F3F1FC"/>
                </a:solidFill>
                <a:latin typeface="Arial"/>
              </a:rPr>
              <a:t>They can't, by default — only data already on-chain or submitted in a transaction. Real-world data needs a deliberate oracle mechanism (Week 7).</a:t>
            </a:r>
          </a:p>
        </p:txBody>
      </p:sp>
      <p:sp>
        <p:nvSpPr>
          <p:cNvPr id="14" name="TextBox 13"/>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17/22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700101" y="-457200"/>
            <a:ext cx="2181754" cy="2377440"/>
          </a:xfrm>
          <a:custGeom>
            <a:avLst/>
            <a:gdLst/>
            <a:ahLst/>
            <a:cxnLst/>
            <a:rect l="l" t="t" r="r" b="b"/>
            <a:pathLst>
              <a:path w="2181754" h="2377440">
                <a:moveTo>
                  <a:pt x="1089819" y="0"/>
                </a:moveTo>
                <a:lnTo>
                  <a:pt x="1400676" y="67926"/>
                </a:lnTo>
                <a:lnTo>
                  <a:pt x="1686063" y="135853"/>
                </a:lnTo>
                <a:lnTo>
                  <a:pt x="1922596" y="203780"/>
                </a:lnTo>
                <a:lnTo>
                  <a:pt x="2090894" y="271707"/>
                </a:lnTo>
                <a:lnTo>
                  <a:pt x="2177168" y="339634"/>
                </a:lnTo>
                <a:lnTo>
                  <a:pt x="2174349" y="407561"/>
                </a:lnTo>
                <a:lnTo>
                  <a:pt x="2082667" y="475488"/>
                </a:lnTo>
                <a:lnTo>
                  <a:pt x="1909635" y="543414"/>
                </a:lnTo>
                <a:lnTo>
                  <a:pt x="1669431" y="611341"/>
                </a:lnTo>
                <a:lnTo>
                  <a:pt x="1381735" y="679268"/>
                </a:lnTo>
                <a:lnTo>
                  <a:pt x="1070121" y="747195"/>
                </a:lnTo>
                <a:lnTo>
                  <a:pt x="760121" y="815122"/>
                </a:lnTo>
                <a:lnTo>
                  <a:pt x="477135" y="883049"/>
                </a:lnTo>
                <a:lnTo>
                  <a:pt x="244350" y="950976"/>
                </a:lnTo>
                <a:lnTo>
                  <a:pt x="80839" y="1018902"/>
                </a:lnTo>
                <a:lnTo>
                  <a:pt x="0" y="1086829"/>
                </a:lnTo>
                <a:lnTo>
                  <a:pt x="8457" y="1154756"/>
                </a:lnTo>
                <a:lnTo>
                  <a:pt x="105517" y="1222683"/>
                </a:lnTo>
                <a:lnTo>
                  <a:pt x="283226" y="1290610"/>
                </a:lnTo>
                <a:lnTo>
                  <a:pt x="527024" y="1358537"/>
                </a:lnTo>
                <a:lnTo>
                  <a:pt x="816936" y="1426464"/>
                </a:lnTo>
                <a:lnTo>
                  <a:pt x="1129207" y="1494390"/>
                </a:lnTo>
                <a:lnTo>
                  <a:pt x="1438250" y="1562317"/>
                </a:lnTo>
                <a:lnTo>
                  <a:pt x="1718744" y="1630244"/>
                </a:lnTo>
                <a:lnTo>
                  <a:pt x="1947707" y="1698171"/>
                </a:lnTo>
                <a:lnTo>
                  <a:pt x="2106377" y="1766098"/>
                </a:lnTo>
                <a:lnTo>
                  <a:pt x="2181754" y="1834025"/>
                </a:lnTo>
                <a:lnTo>
                  <a:pt x="2167663" y="1901952"/>
                </a:lnTo>
                <a:lnTo>
                  <a:pt x="2065257" y="1969878"/>
                </a:lnTo>
                <a:lnTo>
                  <a:pt x="1882927" y="2037805"/>
                </a:lnTo>
                <a:lnTo>
                  <a:pt x="1635613" y="2105732"/>
                </a:lnTo>
                <a:lnTo>
                  <a:pt x="1343579" y="2173659"/>
                </a:lnTo>
                <a:lnTo>
                  <a:pt x="1030752" y="2241586"/>
                </a:lnTo>
                <a:lnTo>
                  <a:pt x="722765" y="2309513"/>
                </a:lnTo>
                <a:lnTo>
                  <a:pt x="444853" y="2377440"/>
                </a:lnTo>
              </a:path>
            </a:pathLst>
          </a:custGeom>
          <a:noFill/>
          <a:ln w="146304"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85800" y="731520"/>
            <a:ext cx="777240" cy="777240"/>
          </a:xfrm>
          <a:prstGeom prst="ellipse">
            <a:avLst/>
          </a:prstGeom>
          <a:solidFill>
            <a:srgbClr val="0F9B8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3000" b="1">
                <a:solidFill>
                  <a:srgbClr val="FFFFFF"/>
                </a:solidFill>
                <a:latin typeface="Arial Rounded MT Bold"/>
              </a:rPr>
              <a:t>?</a:t>
            </a:r>
          </a:p>
        </p:txBody>
      </p:sp>
      <p:sp>
        <p:nvSpPr>
          <p:cNvPr id="5" name="TextBox 4"/>
          <p:cNvSpPr txBox="1"/>
          <p:nvPr/>
        </p:nvSpPr>
        <p:spPr>
          <a:xfrm>
            <a:off x="1737360" y="86868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ONE MORE CHECK</a:t>
            </a:r>
          </a:p>
        </p:txBody>
      </p:sp>
      <p:sp>
        <p:nvSpPr>
          <p:cNvPr id="6" name="TextBox 5"/>
          <p:cNvSpPr txBox="1"/>
          <p:nvPr/>
        </p:nvSpPr>
        <p:spPr>
          <a:xfrm>
            <a:off x="685800" y="1828800"/>
            <a:ext cx="10607040" cy="1554480"/>
          </a:xfrm>
          <a:prstGeom prst="rect">
            <a:avLst/>
          </a:prstGeom>
          <a:noFill/>
        </p:spPr>
        <p:txBody>
          <a:bodyPr wrap="square" anchor="t" lIns="0" rIns="0" tIns="0" bIns="0">
            <a:spAutoFit/>
          </a:bodyPr>
          <a:lstStyle/>
          <a:p>
            <a:pPr algn="l">
              <a:lnSpc>
                <a:spcPct val="115000"/>
              </a:lnSpc>
            </a:pPr>
            <a:r>
              <a:rPr sz="2700" b="1" i="0">
                <a:solidFill>
                  <a:srgbClr val="FFFFFF"/>
                </a:solidFill>
                <a:latin typeface="Arial Rounded MT Bold"/>
              </a:rPr>
              <a:t>Why does a vending machine need no cashier, and a smart contract need no company to enforce it — is that really the same property?</a:t>
            </a:r>
          </a:p>
        </p:txBody>
      </p:sp>
      <p:sp>
        <p:nvSpPr>
          <p:cNvPr id="7" name="Rectangle 6"/>
          <p:cNvSpPr/>
          <p:nvPr/>
        </p:nvSpPr>
        <p:spPr>
          <a:xfrm>
            <a:off x="685800" y="3520440"/>
            <a:ext cx="2011680" cy="41148"/>
          </a:xfrm>
          <a:prstGeom prst="rect">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886200"/>
            <a:ext cx="1463040" cy="320040"/>
          </a:xfrm>
          <a:prstGeom prst="rect">
            <a:avLst/>
          </a:prstGeom>
          <a:noFill/>
        </p:spPr>
        <p:txBody>
          <a:bodyPr wrap="square" anchor="t" lIns="0" rIns="0" tIns="0" bIns="0">
            <a:spAutoFit/>
          </a:bodyPr>
          <a:lstStyle/>
          <a:p>
            <a:pPr algn="l">
              <a:lnSpc>
                <a:spcPct val="115000"/>
              </a:lnSpc>
            </a:pPr>
            <a:r>
              <a:rPr sz="1100" b="1" i="0">
                <a:solidFill>
                  <a:srgbClr val="FDC646"/>
                </a:solidFill>
                <a:latin typeface="Arial"/>
              </a:rPr>
              <a:t>ANSWER</a:t>
            </a:r>
          </a:p>
        </p:txBody>
      </p:sp>
      <p:sp>
        <p:nvSpPr>
          <p:cNvPr id="9" name="TextBox 8"/>
          <p:cNvSpPr txBox="1"/>
          <p:nvPr/>
        </p:nvSpPr>
        <p:spPr>
          <a:xfrm>
            <a:off x="685800" y="4297680"/>
            <a:ext cx="10241280" cy="2011680"/>
          </a:xfrm>
          <a:prstGeom prst="rect">
            <a:avLst/>
          </a:prstGeom>
          <a:noFill/>
        </p:spPr>
        <p:txBody>
          <a:bodyPr wrap="square" anchor="t" lIns="0" rIns="0" tIns="0" bIns="0">
            <a:spAutoFit/>
          </a:bodyPr>
          <a:lstStyle/>
          <a:p>
            <a:pPr algn="l">
              <a:lnSpc>
                <a:spcPct val="150000"/>
              </a:lnSpc>
            </a:pPr>
            <a:r>
              <a:rPr sz="1500" b="0" i="0">
                <a:solidFill>
                  <a:srgbClr val="E3E0F7"/>
                </a:solidFill>
                <a:latin typeface="Arial"/>
              </a:rPr>
              <a:t>Yes — viewed from two angles. “No cashier required” means the rules are enforced by the mechanism itself, not a trusted human in the loop. “No company can quietly change the rules” means nobody can override that mechanism after the fact either. Both are the same underlying idea: the rules are enforced by the system, not anyone's ongoing goodwill.</a:t>
            </a:r>
          </a:p>
        </p:txBody>
      </p:sp>
      <p:sp>
        <p:nvSpPr>
          <p:cNvPr id="10" name="TextBox 9"/>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9A9FB8"/>
                </a:solidFill>
                <a:latin typeface="Courier New"/>
              </a:rPr>
              <a:t>18/22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6C5FE8"/>
                </a:solidFill>
                <a:latin typeface="Arial"/>
              </a:rPr>
              <a:t>HANDS-ON PRACTICE</a:t>
            </a:r>
          </a:p>
        </p:txBody>
      </p:sp>
      <p:sp>
        <p:nvSpPr>
          <p:cNvPr id="4" name="TextBox 3"/>
          <p:cNvSpPr txBox="1"/>
          <p:nvPr/>
        </p:nvSpPr>
        <p:spPr>
          <a:xfrm>
            <a:off x="685800" y="914400"/>
            <a:ext cx="420624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Do This Now</a:t>
            </a:r>
          </a:p>
        </p:txBody>
      </p:sp>
      <p:pic>
        <p:nvPicPr>
          <p:cNvPr id="5" name="Picture 4" descr="_c_tl19_practice.jpg"/>
          <p:cNvPicPr>
            <a:picLocks noChangeAspect="1"/>
          </p:cNvPicPr>
          <p:nvPr/>
        </p:nvPicPr>
        <p:blipFill>
          <a:blip r:embed="rId2"/>
          <a:stretch>
            <a:fillRect/>
          </a:stretch>
        </p:blipFill>
        <p:spPr>
          <a:xfrm>
            <a:off x="685800" y="2377440"/>
            <a:ext cx="4206240" cy="3291840"/>
          </a:xfrm>
          <a:prstGeom prst="rect">
            <a:avLst/>
          </a:prstGeom>
        </p:spPr>
      </p:pic>
      <p:sp>
        <p:nvSpPr>
          <p:cNvPr id="6" name="Rounded Rectangle 5"/>
          <p:cNvSpPr/>
          <p:nvPr/>
        </p:nvSpPr>
        <p:spPr>
          <a:xfrm>
            <a:off x="5486400" y="1005840"/>
            <a:ext cx="621792" cy="365760"/>
          </a:xfrm>
          <a:prstGeom prst="roundRect">
            <a:avLst>
              <a:gd name="adj" fmla="val 50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01</a:t>
            </a:r>
          </a:p>
        </p:txBody>
      </p:sp>
      <p:sp>
        <p:nvSpPr>
          <p:cNvPr id="7" name="TextBox 6"/>
          <p:cNvSpPr txBox="1"/>
          <p:nvPr/>
        </p:nvSpPr>
        <p:spPr>
          <a:xfrm>
            <a:off x="6172200" y="98755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Read a verified contract on Etherscan</a:t>
            </a:r>
          </a:p>
        </p:txBody>
      </p:sp>
      <p:sp>
        <p:nvSpPr>
          <p:cNvPr id="8" name="TextBox 7"/>
          <p:cNvSpPr txBox="1"/>
          <p:nvPr/>
        </p:nvSpPr>
        <p:spPr>
          <a:xfrm>
            <a:off x="6172200" y="138988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Search any well-known token — just notice the shape, not every line.</a:t>
            </a:r>
          </a:p>
        </p:txBody>
      </p:sp>
      <p:cxnSp>
        <p:nvCxnSpPr>
          <p:cNvPr id="9" name="Connector 8"/>
          <p:cNvCxnSpPr/>
          <p:nvPr/>
        </p:nvCxnSpPr>
        <p:spPr>
          <a:xfrm>
            <a:off x="5742432" y="141732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0" y="2057400"/>
            <a:ext cx="621792" cy="365760"/>
          </a:xfrm>
          <a:prstGeom prst="roundRect">
            <a:avLst>
              <a:gd name="adj" fmla="val 50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02</a:t>
            </a:r>
          </a:p>
        </p:txBody>
      </p:sp>
      <p:sp>
        <p:nvSpPr>
          <p:cNvPr id="11" name="TextBox 10"/>
          <p:cNvSpPr txBox="1"/>
          <p:nvPr/>
        </p:nvSpPr>
        <p:spPr>
          <a:xfrm>
            <a:off x="6172200" y="203911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Sketch a raffle contract</a:t>
            </a:r>
          </a:p>
        </p:txBody>
      </p:sp>
      <p:sp>
        <p:nvSpPr>
          <p:cNvPr id="12" name="TextBox 11"/>
          <p:cNvSpPr txBox="1"/>
          <p:nvPr/>
        </p:nvSpPr>
        <p:spPr>
          <a:xfrm>
            <a:off x="6172200" y="244144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On paper: what state would it need, what functions?</a:t>
            </a:r>
          </a:p>
        </p:txBody>
      </p:sp>
      <p:cxnSp>
        <p:nvCxnSpPr>
          <p:cNvPr id="13" name="Connector 12"/>
          <p:cNvCxnSpPr/>
          <p:nvPr/>
        </p:nvCxnSpPr>
        <p:spPr>
          <a:xfrm>
            <a:off x="5742432" y="246888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0" y="3108960"/>
            <a:ext cx="621792" cy="365760"/>
          </a:xfrm>
          <a:prstGeom prst="roundRect">
            <a:avLst>
              <a:gd name="adj" fmla="val 50000"/>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03</a:t>
            </a:r>
          </a:p>
        </p:txBody>
      </p:sp>
      <p:sp>
        <p:nvSpPr>
          <p:cNvPr id="15" name="TextBox 14"/>
          <p:cNvSpPr txBox="1"/>
          <p:nvPr/>
        </p:nvSpPr>
        <p:spPr>
          <a:xfrm>
            <a:off x="6172200" y="309067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Re-read Counter.sol</a:t>
            </a:r>
          </a:p>
        </p:txBody>
      </p:sp>
      <p:sp>
        <p:nvSpPr>
          <p:cNvPr id="16" name="TextBox 15"/>
          <p:cNvSpPr txBox="1"/>
          <p:nvPr/>
        </p:nvSpPr>
        <p:spPr>
          <a:xfrm>
            <a:off x="6172200" y="349300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Confirm you can now name what each line is for, even without writing Solidity yet.</a:t>
            </a:r>
          </a:p>
        </p:txBody>
      </p:sp>
      <p:sp>
        <p:nvSpPr>
          <p:cNvPr id="17" name="TextBox 16"/>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19/22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40080"/>
            <a:ext cx="8229600" cy="320040"/>
          </a:xfrm>
          <a:prstGeom prst="rect">
            <a:avLst/>
          </a:prstGeom>
          <a:noFill/>
        </p:spPr>
        <p:txBody>
          <a:bodyPr wrap="square" anchor="t" lIns="0" rIns="0" tIns="0" bIns="0">
            <a:spAutoFit/>
          </a:bodyPr>
          <a:lstStyle/>
          <a:p>
            <a:pPr algn="l">
              <a:lnSpc>
                <a:spcPct val="115000"/>
              </a:lnSpc>
            </a:pPr>
            <a:r>
              <a:rPr sz="1150" b="1" i="0">
                <a:solidFill>
                  <a:srgbClr val="0F9B8E"/>
                </a:solidFill>
                <a:latin typeface="Arial"/>
              </a:rPr>
              <a:t>RESOURCES</a:t>
            </a:r>
          </a:p>
        </p:txBody>
      </p:sp>
      <p:sp>
        <p:nvSpPr>
          <p:cNvPr id="4" name="TextBox 3"/>
          <p:cNvSpPr txBox="1"/>
          <p:nvPr/>
        </p:nvSpPr>
        <p:spPr>
          <a:xfrm>
            <a:off x="685800" y="1051560"/>
            <a:ext cx="10058400" cy="914400"/>
          </a:xfrm>
          <a:prstGeom prst="rect">
            <a:avLst/>
          </a:prstGeom>
          <a:noFill/>
        </p:spPr>
        <p:txBody>
          <a:bodyPr wrap="square" anchor="t" lIns="0" rIns="0" tIns="0" bIns="0">
            <a:spAutoFit/>
          </a:bodyPr>
          <a:lstStyle/>
          <a:p>
            <a:pPr algn="l">
              <a:lnSpc>
                <a:spcPct val="115000"/>
              </a:lnSpc>
            </a:pPr>
            <a:r>
              <a:rPr sz="3000" b="1" i="0">
                <a:solidFill>
                  <a:srgbClr val="221F33"/>
                </a:solidFill>
                <a:latin typeface="Arial Rounded MT Bold"/>
              </a:rPr>
              <a:t>Watch, Read, Explore</a:t>
            </a:r>
          </a:p>
        </p:txBody>
      </p:sp>
      <p:sp>
        <p:nvSpPr>
          <p:cNvPr id="5" name="TextBox 4"/>
          <p:cNvSpPr txBox="1"/>
          <p:nvPr/>
        </p:nvSpPr>
        <p:spPr>
          <a:xfrm>
            <a:off x="685800" y="2286000"/>
            <a:ext cx="2743200" cy="320040"/>
          </a:xfrm>
          <a:prstGeom prst="rect">
            <a:avLst/>
          </a:prstGeom>
          <a:noFill/>
        </p:spPr>
        <p:txBody>
          <a:bodyPr wrap="square" anchor="t" lIns="0" rIns="0" tIns="0" bIns="0">
            <a:spAutoFit/>
          </a:bodyPr>
          <a:lstStyle/>
          <a:p>
            <a:pPr algn="l">
              <a:lnSpc>
                <a:spcPct val="115000"/>
              </a:lnSpc>
            </a:pPr>
            <a:r>
              <a:rPr sz="1150" b="1" i="0">
                <a:solidFill>
                  <a:srgbClr val="0F9B8E"/>
                </a:solidFill>
                <a:latin typeface="Arial"/>
              </a:rPr>
              <a:t>RECOMMENDED VIDEOS</a:t>
            </a:r>
          </a:p>
        </p:txBody>
      </p:sp>
      <p:sp>
        <p:nvSpPr>
          <p:cNvPr id="6" name="TextBox 5"/>
          <p:cNvSpPr txBox="1"/>
          <p:nvPr/>
        </p:nvSpPr>
        <p:spPr>
          <a:xfrm>
            <a:off x="685800" y="2651760"/>
            <a:ext cx="10058400" cy="822960"/>
          </a:xfrm>
          <a:prstGeom prst="rect">
            <a:avLst/>
          </a:prstGeom>
          <a:noFill/>
        </p:spPr>
        <p:txBody>
          <a:bodyPr wrap="square" anchor="t" lIns="0" rIns="0" tIns="0" bIns="0">
            <a:spAutoFit/>
          </a:bodyPr>
          <a:lstStyle/>
          <a:p>
            <a:pPr algn="l">
              <a:lnSpc>
                <a:spcPct val="140000"/>
              </a:lnSpc>
            </a:pPr>
            <a:r>
              <a:rPr sz="1400" b="0" i="0">
                <a:solidFill>
                  <a:srgbClr val="8B8899"/>
                </a:solidFill>
                <a:latin typeface="Arial"/>
              </a:rPr>
              <a:t>Smart contracts - Simply Explained</a:t>
            </a:r>
          </a:p>
        </p:txBody>
      </p:sp>
      <p:sp>
        <p:nvSpPr>
          <p:cNvPr id="7" name="TextBox 6"/>
          <p:cNvSpPr txBox="1"/>
          <p:nvPr/>
        </p:nvSpPr>
        <p:spPr>
          <a:xfrm>
            <a:off x="685800" y="3474720"/>
            <a:ext cx="2743200" cy="320040"/>
          </a:xfrm>
          <a:prstGeom prst="rect">
            <a:avLst/>
          </a:prstGeom>
          <a:noFill/>
        </p:spPr>
        <p:txBody>
          <a:bodyPr wrap="square" anchor="t" lIns="0" rIns="0" tIns="0" bIns="0">
            <a:spAutoFit/>
          </a:bodyPr>
          <a:lstStyle/>
          <a:p>
            <a:pPr algn="l">
              <a:lnSpc>
                <a:spcPct val="115000"/>
              </a:lnSpc>
            </a:pPr>
            <a:r>
              <a:rPr sz="1150" b="1" i="0">
                <a:solidFill>
                  <a:srgbClr val="0F9B8E"/>
                </a:solidFill>
                <a:latin typeface="Arial"/>
              </a:rPr>
              <a:t>PRACTICE SITE</a:t>
            </a:r>
          </a:p>
        </p:txBody>
      </p:sp>
      <p:sp>
        <p:nvSpPr>
          <p:cNvPr id="8" name="TextBox 7"/>
          <p:cNvSpPr txBox="1"/>
          <p:nvPr/>
        </p:nvSpPr>
        <p:spPr>
          <a:xfrm>
            <a:off x="685800" y="3840480"/>
            <a:ext cx="10058400" cy="822960"/>
          </a:xfrm>
          <a:prstGeom prst="rect">
            <a:avLst/>
          </a:prstGeom>
          <a:noFill/>
        </p:spPr>
        <p:txBody>
          <a:bodyPr wrap="square" anchor="t" lIns="0" rIns="0" tIns="0" bIns="0">
            <a:spAutoFit/>
          </a:bodyPr>
          <a:lstStyle/>
          <a:p>
            <a:pPr algn="l">
              <a:lnSpc>
                <a:spcPct val="140000"/>
              </a:lnSpc>
            </a:pPr>
            <a:r>
              <a:rPr sz="1400" b="0" i="0">
                <a:solidFill>
                  <a:srgbClr val="8B8899"/>
                </a:solidFill>
                <a:latin typeface="Arial"/>
              </a:rPr>
              <a:t>Any verified contract on etherscan.io — read real, production Solidity.</a:t>
            </a: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20/22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6C5FE8"/>
                </a:solidFill>
                <a:latin typeface="Arial"/>
              </a:rPr>
              <a:t>TAKE-HOME ASSIGNMENT</a:t>
            </a:r>
          </a:p>
        </p:txBody>
      </p:sp>
      <p:sp>
        <p:nvSpPr>
          <p:cNvPr id="4" name="TextBox 3"/>
          <p:cNvSpPr txBox="1"/>
          <p:nvPr/>
        </p:nvSpPr>
        <p:spPr>
          <a:xfrm>
            <a:off x="685800" y="914400"/>
            <a:ext cx="429768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Before You Move On</a:t>
            </a:r>
          </a:p>
        </p:txBody>
      </p:sp>
      <p:pic>
        <p:nvPicPr>
          <p:cNvPr id="5" name="Picture 4" descr="_c_fl21_takehome.jpg"/>
          <p:cNvPicPr>
            <a:picLocks noChangeAspect="1"/>
          </p:cNvPicPr>
          <p:nvPr/>
        </p:nvPicPr>
        <p:blipFill>
          <a:blip r:embed="rId2"/>
          <a:stretch>
            <a:fillRect/>
          </a:stretch>
        </p:blipFill>
        <p:spPr>
          <a:xfrm>
            <a:off x="685800" y="2377440"/>
            <a:ext cx="4297680" cy="3383280"/>
          </a:xfrm>
          <a:prstGeom prst="rect">
            <a:avLst/>
          </a:prstGeom>
        </p:spPr>
      </p:pic>
      <p:sp>
        <p:nvSpPr>
          <p:cNvPr id="6" name="Rounded Rectangle 5"/>
          <p:cNvSpPr/>
          <p:nvPr/>
        </p:nvSpPr>
        <p:spPr>
          <a:xfrm>
            <a:off x="5532120" y="1051560"/>
            <a:ext cx="502920" cy="502920"/>
          </a:xfrm>
          <a:prstGeom prst="roundRect">
            <a:avLst>
              <a:gd name="adj" fmla="val 25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a:t>
            </a:r>
          </a:p>
        </p:txBody>
      </p:sp>
      <p:sp>
        <p:nvSpPr>
          <p:cNvPr id="7" name="TextBox 6"/>
          <p:cNvSpPr txBox="1"/>
          <p:nvPr/>
        </p:nvSpPr>
        <p:spPr>
          <a:xfrm>
            <a:off x="6217920" y="1033272"/>
            <a:ext cx="576072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Explain the vending-machine analogy</a:t>
            </a:r>
          </a:p>
        </p:txBody>
      </p:sp>
      <p:sp>
        <p:nvSpPr>
          <p:cNvPr id="8" name="TextBox 7"/>
          <p:cNvSpPr txBox="1"/>
          <p:nvPr/>
        </p:nvSpPr>
        <p:spPr>
          <a:xfrm>
            <a:off x="6217920" y="1435608"/>
            <a:ext cx="5760720" cy="82296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Why are “no cashier” and “rules can't be quietly changed” the same property, viewed two ways?</a:t>
            </a:r>
          </a:p>
        </p:txBody>
      </p:sp>
      <p:sp>
        <p:nvSpPr>
          <p:cNvPr id="9" name="Rounded Rectangle 8"/>
          <p:cNvSpPr/>
          <p:nvPr/>
        </p:nvSpPr>
        <p:spPr>
          <a:xfrm>
            <a:off x="5532120" y="2468880"/>
            <a:ext cx="502920" cy="502920"/>
          </a:xfrm>
          <a:prstGeom prst="roundRect">
            <a:avLst>
              <a:gd name="adj" fmla="val 25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a:t>
            </a:r>
          </a:p>
        </p:txBody>
      </p:sp>
      <p:sp>
        <p:nvSpPr>
          <p:cNvPr id="10" name="TextBox 9"/>
          <p:cNvSpPr txBox="1"/>
          <p:nvPr/>
        </p:nvSpPr>
        <p:spPr>
          <a:xfrm>
            <a:off x="6217920" y="2450592"/>
            <a:ext cx="576072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Identify the 3 pieces</a:t>
            </a:r>
          </a:p>
        </p:txBody>
      </p:sp>
      <p:sp>
        <p:nvSpPr>
          <p:cNvPr id="11" name="TextBox 10"/>
          <p:cNvSpPr txBox="1"/>
          <p:nvPr/>
        </p:nvSpPr>
        <p:spPr>
          <a:xfrm>
            <a:off x="6217920" y="2852928"/>
            <a:ext cx="5760720" cy="82296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In a contract you find on Etherscan: where's the code, the state, and the address?</a:t>
            </a:r>
          </a:p>
        </p:txBody>
      </p:sp>
      <p:sp>
        <p:nvSpPr>
          <p:cNvPr id="12" name="Rounded Rectangle 11"/>
          <p:cNvSpPr/>
          <p:nvPr/>
        </p:nvSpPr>
        <p:spPr>
          <a:xfrm>
            <a:off x="5532120" y="3886200"/>
            <a:ext cx="502920" cy="502920"/>
          </a:xfrm>
          <a:prstGeom prst="roundRect">
            <a:avLst>
              <a:gd name="adj" fmla="val 25000"/>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a:t>
            </a:r>
          </a:p>
        </p:txBody>
      </p:sp>
      <p:sp>
        <p:nvSpPr>
          <p:cNvPr id="13" name="TextBox 12"/>
          <p:cNvSpPr txBox="1"/>
          <p:nvPr/>
        </p:nvSpPr>
        <p:spPr>
          <a:xfrm>
            <a:off x="6217920" y="3867912"/>
            <a:ext cx="576072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Preview Week 3</a:t>
            </a:r>
          </a:p>
        </p:txBody>
      </p:sp>
      <p:sp>
        <p:nvSpPr>
          <p:cNvPr id="14" name="TextBox 13"/>
          <p:cNvSpPr txBox="1"/>
          <p:nvPr/>
        </p:nvSpPr>
        <p:spPr>
          <a:xfrm>
            <a:off x="6217920" y="4270248"/>
            <a:ext cx="5760720" cy="82296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Write down one question you still have about how deployment actually works — bring it to Week 3.</a:t>
            </a:r>
          </a:p>
        </p:txBody>
      </p:sp>
      <p:sp>
        <p:nvSpPr>
          <p:cNvPr id="15" name="TextBox 14"/>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21/22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7044576" y="-731520"/>
            <a:ext cx="5382948" cy="8321040"/>
          </a:xfrm>
          <a:custGeom>
            <a:avLst/>
            <a:gdLst/>
            <a:ahLst/>
            <a:cxnLst/>
            <a:rect l="l" t="t" r="r" b="b"/>
            <a:pathLst>
              <a:path w="5382948" h="8321040">
                <a:moveTo>
                  <a:pt x="2693784" y="0"/>
                </a:moveTo>
                <a:lnTo>
                  <a:pt x="3459909" y="173355"/>
                </a:lnTo>
                <a:lnTo>
                  <a:pt x="4162936" y="346710"/>
                </a:lnTo>
                <a:lnTo>
                  <a:pt x="4744963" y="520065"/>
                </a:lnTo>
                <a:lnTo>
                  <a:pt x="5158054" y="693420"/>
                </a:lnTo>
                <a:lnTo>
                  <a:pt x="5368186" y="866775"/>
                </a:lnTo>
                <a:lnTo>
                  <a:pt x="5358053" y="1040130"/>
                </a:lnTo>
                <a:lnTo>
                  <a:pt x="5128489" y="1213485"/>
                </a:lnTo>
                <a:lnTo>
                  <a:pt x="4698402" y="1386840"/>
                </a:lnTo>
                <a:lnTo>
                  <a:pt x="4103213" y="1560195"/>
                </a:lnTo>
                <a:lnTo>
                  <a:pt x="3391943" y="1733550"/>
                </a:lnTo>
                <a:lnTo>
                  <a:pt x="2623172" y="1906905"/>
                </a:lnTo>
                <a:lnTo>
                  <a:pt x="1860216" y="2080260"/>
                </a:lnTo>
                <a:lnTo>
                  <a:pt x="1165914" y="2253615"/>
                </a:lnTo>
                <a:lnTo>
                  <a:pt x="597448" y="2426970"/>
                </a:lnTo>
                <a:lnTo>
                  <a:pt x="201637" y="2600325"/>
                </a:lnTo>
                <a:lnTo>
                  <a:pt x="11081" y="2773680"/>
                </a:lnTo>
                <a:lnTo>
                  <a:pt x="41473" y="2947035"/>
                </a:lnTo>
                <a:lnTo>
                  <a:pt x="290311" y="3120390"/>
                </a:lnTo>
                <a:lnTo>
                  <a:pt x="737101" y="3293745"/>
                </a:lnTo>
                <a:lnTo>
                  <a:pt x="1345044" y="3467100"/>
                </a:lnTo>
                <a:lnTo>
                  <a:pt x="2064069" y="3640455"/>
                </a:lnTo>
                <a:lnTo>
                  <a:pt x="2834959" y="3813810"/>
                </a:lnTo>
                <a:lnTo>
                  <a:pt x="3594221" y="3987165"/>
                </a:lnTo>
                <a:lnTo>
                  <a:pt x="4279322" y="4160520"/>
                </a:lnTo>
                <a:lnTo>
                  <a:pt x="4833838" y="4333875"/>
                </a:lnTo>
                <a:lnTo>
                  <a:pt x="5212098" y="4507230"/>
                </a:lnTo>
                <a:lnTo>
                  <a:pt x="5382948" y="4680585"/>
                </a:lnTo>
                <a:lnTo>
                  <a:pt x="5332317" y="4853940"/>
                </a:lnTo>
                <a:lnTo>
                  <a:pt x="5064375" y="5027295"/>
                </a:lnTo>
                <a:lnTo>
                  <a:pt x="4601190" y="5200650"/>
                </a:lnTo>
                <a:lnTo>
                  <a:pt x="3980910" y="5374005"/>
                </a:lnTo>
                <a:lnTo>
                  <a:pt x="3254621" y="5547360"/>
                </a:lnTo>
                <a:lnTo>
                  <a:pt x="2482142" y="5720715"/>
                </a:lnTo>
                <a:lnTo>
                  <a:pt x="1727093" y="5894070"/>
                </a:lnTo>
                <a:lnTo>
                  <a:pt x="1051662" y="6067425"/>
                </a:lnTo>
                <a:lnTo>
                  <a:pt x="511476" y="6240780"/>
                </a:lnTo>
                <a:lnTo>
                  <a:pt x="151027" y="6414135"/>
                </a:lnTo>
                <a:lnTo>
                  <a:pt x="0" y="6587490"/>
                </a:lnTo>
                <a:lnTo>
                  <a:pt x="70835" y="6760845"/>
                </a:lnTo>
                <a:lnTo>
                  <a:pt x="357697" y="6934200"/>
                </a:lnTo>
                <a:lnTo>
                  <a:pt x="836961" y="7107555"/>
                </a:lnTo>
                <a:lnTo>
                  <a:pt x="1469153" y="7280910"/>
                </a:lnTo>
                <a:lnTo>
                  <a:pt x="2202207" y="7454265"/>
                </a:lnTo>
                <a:lnTo>
                  <a:pt x="2975747" y="7627620"/>
                </a:lnTo>
                <a:lnTo>
                  <a:pt x="3726064" y="7800975"/>
                </a:lnTo>
                <a:lnTo>
                  <a:pt x="4391363" y="7974330"/>
                </a:lnTo>
                <a:lnTo>
                  <a:pt x="4916847" y="8147685"/>
                </a:lnTo>
                <a:lnTo>
                  <a:pt x="5259239" y="8321040"/>
                </a:lnTo>
              </a:path>
            </a:pathLst>
          </a:custGeom>
          <a:noFill/>
          <a:ln w="36576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RECAP</a:t>
            </a:r>
          </a:p>
        </p:txBody>
      </p:sp>
      <p:sp>
        <p:nvSpPr>
          <p:cNvPr id="5" name="TextBox 4"/>
          <p:cNvSpPr txBox="1"/>
          <p:nvPr/>
        </p:nvSpPr>
        <p:spPr>
          <a:xfrm>
            <a:off x="685800" y="1280160"/>
            <a:ext cx="5943600" cy="2194560"/>
          </a:xfrm>
          <a:prstGeom prst="rect">
            <a:avLst/>
          </a:prstGeom>
          <a:noFill/>
        </p:spPr>
        <p:txBody>
          <a:bodyPr wrap="square" anchor="t" lIns="0" rIns="0" tIns="0" bIns="0">
            <a:spAutoFit/>
          </a:bodyPr>
          <a:lstStyle/>
          <a:p>
            <a:pPr algn="l">
              <a:lnSpc>
                <a:spcPct val="98000"/>
              </a:lnSpc>
            </a:pPr>
            <a:r>
              <a:rPr sz="5400" b="1" i="0">
                <a:solidFill>
                  <a:srgbClr val="FFFFFF"/>
                </a:solidFill>
                <a:latin typeface="Arial Rounded MT Bold"/>
              </a:rPr>
              <a:t>On To Week 3.</a:t>
            </a:r>
          </a:p>
        </p:txBody>
      </p:sp>
      <p:sp>
        <p:nvSpPr>
          <p:cNvPr id="6" name="TextBox 5"/>
          <p:cNvSpPr txBox="1"/>
          <p:nvPr/>
        </p:nvSpPr>
        <p:spPr>
          <a:xfrm>
            <a:off x="685800" y="3566160"/>
            <a:ext cx="5303520" cy="822960"/>
          </a:xfrm>
          <a:prstGeom prst="rect">
            <a:avLst/>
          </a:prstGeom>
          <a:noFill/>
        </p:spPr>
        <p:txBody>
          <a:bodyPr wrap="square" anchor="t" lIns="0" rIns="0" tIns="0" bIns="0">
            <a:spAutoFit/>
          </a:bodyPr>
          <a:lstStyle/>
          <a:p>
            <a:pPr algn="l">
              <a:lnSpc>
                <a:spcPct val="135000"/>
              </a:lnSpc>
            </a:pPr>
            <a:r>
              <a:rPr sz="1350" b="0" i="0">
                <a:solidFill>
                  <a:srgbClr val="E3E0F7"/>
                </a:solidFill>
                <a:latin typeface="Arial"/>
              </a:rPr>
              <a:t>You've read a smart contract's shape. Next week you write, test, deploy, and verify a real one — with real tools, not just description.</a:t>
            </a:r>
          </a:p>
        </p:txBody>
      </p:sp>
      <p:sp>
        <p:nvSpPr>
          <p:cNvPr id="7" name="TextBox 6"/>
          <p:cNvSpPr txBox="1"/>
          <p:nvPr/>
        </p:nvSpPr>
        <p:spPr>
          <a:xfrm>
            <a:off x="685800" y="4937760"/>
            <a:ext cx="6035040" cy="274320"/>
          </a:xfrm>
          <a:prstGeom prst="rect">
            <a:avLst/>
          </a:prstGeom>
          <a:noFill/>
        </p:spPr>
        <p:txBody>
          <a:bodyPr wrap="square" anchor="t" lIns="0" rIns="0" tIns="0" bIns="0">
            <a:spAutoFit/>
          </a:bodyPr>
          <a:lstStyle/>
          <a:p>
            <a:pPr algn="l">
              <a:lnSpc>
                <a:spcPct val="115000"/>
              </a:lnSpc>
            </a:pPr>
            <a:r>
              <a:rPr sz="1000" b="1" i="0">
                <a:solidFill>
                  <a:srgbClr val="FDC646"/>
                </a:solidFill>
                <a:latin typeface="Arial"/>
              </a:rPr>
              <a:t>REPOSITORY</a:t>
            </a:r>
          </a:p>
        </p:txBody>
      </p:sp>
      <p:sp>
        <p:nvSpPr>
          <p:cNvPr id="8" name="TextBox 7"/>
          <p:cNvSpPr txBox="1"/>
          <p:nvPr/>
        </p:nvSpPr>
        <p:spPr>
          <a:xfrm>
            <a:off x="685800" y="5230368"/>
            <a:ext cx="6035040" cy="457200"/>
          </a:xfrm>
          <a:prstGeom prst="rect">
            <a:avLst/>
          </a:prstGeom>
          <a:noFill/>
        </p:spPr>
        <p:txBody>
          <a:bodyPr wrap="square" anchor="t" lIns="0" rIns="0" tIns="0" bIns="0">
            <a:spAutoFit/>
          </a:bodyPr>
          <a:lstStyle/>
          <a:p>
            <a:pPr algn="l">
              <a:lnSpc>
                <a:spcPct val="120000"/>
              </a:lnSpc>
            </a:pPr>
            <a:r>
              <a:rPr sz="1200" b="0" i="0">
                <a:solidFill>
                  <a:srgbClr val="FFFFFF"/>
                </a:solidFill>
                <a:latin typeface="Arial"/>
              </a:rPr>
              <a:t>github.com/jadonamite/BlockchainCourse</a:t>
            </a:r>
          </a:p>
        </p:txBody>
      </p:sp>
      <p:sp>
        <p:nvSpPr>
          <p:cNvPr id="9" name="TextBox 8"/>
          <p:cNvSpPr txBox="1"/>
          <p:nvPr/>
        </p:nvSpPr>
        <p:spPr>
          <a:xfrm>
            <a:off x="685800" y="5596128"/>
            <a:ext cx="6035040" cy="274320"/>
          </a:xfrm>
          <a:prstGeom prst="rect">
            <a:avLst/>
          </a:prstGeom>
          <a:noFill/>
        </p:spPr>
        <p:txBody>
          <a:bodyPr wrap="square" anchor="t" lIns="0" rIns="0" tIns="0" bIns="0">
            <a:spAutoFit/>
          </a:bodyPr>
          <a:lstStyle/>
          <a:p>
            <a:pPr algn="l">
              <a:lnSpc>
                <a:spcPct val="115000"/>
              </a:lnSpc>
            </a:pPr>
            <a:r>
              <a:rPr sz="1000" b="1" i="0">
                <a:solidFill>
                  <a:srgbClr val="FDC646"/>
                </a:solidFill>
                <a:latin typeface="Arial"/>
              </a:rPr>
              <a:t>THIS TOPIC</a:t>
            </a:r>
          </a:p>
        </p:txBody>
      </p:sp>
      <p:sp>
        <p:nvSpPr>
          <p:cNvPr id="10" name="TextBox 9"/>
          <p:cNvSpPr txBox="1"/>
          <p:nvPr/>
        </p:nvSpPr>
        <p:spPr>
          <a:xfrm>
            <a:off x="685800" y="5888736"/>
            <a:ext cx="6035040" cy="457200"/>
          </a:xfrm>
          <a:prstGeom prst="rect">
            <a:avLst/>
          </a:prstGeom>
          <a:noFill/>
        </p:spPr>
        <p:txBody>
          <a:bodyPr wrap="square" anchor="t" lIns="0" rIns="0" tIns="0" bIns="0">
            <a:spAutoFit/>
          </a:bodyPr>
          <a:lstStyle/>
          <a:p>
            <a:pPr algn="l">
              <a:lnSpc>
                <a:spcPct val="120000"/>
              </a:lnSpc>
            </a:pPr>
            <a:r>
              <a:rPr sz="1200" b="0" i="0">
                <a:solidFill>
                  <a:srgbClr val="FFFFFF"/>
                </a:solidFill>
                <a:latin typeface="Arial"/>
              </a:rPr>
              <a:t>curriculum/week-02/04-what-is-a-smart-contract.md</a:t>
            </a:r>
          </a:p>
        </p:txBody>
      </p:sp>
      <p:sp>
        <p:nvSpPr>
          <p:cNvPr id="11" name="TextBox 10"/>
          <p:cNvSpPr txBox="1"/>
          <p:nvPr/>
        </p:nvSpPr>
        <p:spPr>
          <a:xfrm>
            <a:off x="685800" y="6254496"/>
            <a:ext cx="6035040" cy="274320"/>
          </a:xfrm>
          <a:prstGeom prst="rect">
            <a:avLst/>
          </a:prstGeom>
          <a:noFill/>
        </p:spPr>
        <p:txBody>
          <a:bodyPr wrap="square" anchor="t" lIns="0" rIns="0" tIns="0" bIns="0">
            <a:spAutoFit/>
          </a:bodyPr>
          <a:lstStyle/>
          <a:p>
            <a:pPr algn="l">
              <a:lnSpc>
                <a:spcPct val="115000"/>
              </a:lnSpc>
            </a:pPr>
            <a:r>
              <a:rPr sz="1000" b="1" i="0">
                <a:solidFill>
                  <a:srgbClr val="FDC646"/>
                </a:solidFill>
                <a:latin typeface="Arial"/>
              </a:rPr>
              <a:t>NEXT UP</a:t>
            </a:r>
          </a:p>
        </p:txBody>
      </p:sp>
      <p:sp>
        <p:nvSpPr>
          <p:cNvPr id="12" name="TextBox 11"/>
          <p:cNvSpPr txBox="1"/>
          <p:nvPr/>
        </p:nvSpPr>
        <p:spPr>
          <a:xfrm>
            <a:off x="685800" y="6547104"/>
            <a:ext cx="6035040" cy="457200"/>
          </a:xfrm>
          <a:prstGeom prst="rect">
            <a:avLst/>
          </a:prstGeom>
          <a:noFill/>
        </p:spPr>
        <p:txBody>
          <a:bodyPr wrap="square" anchor="t" lIns="0" rIns="0" tIns="0" bIns="0">
            <a:spAutoFit/>
          </a:bodyPr>
          <a:lstStyle/>
          <a:p>
            <a:pPr algn="l">
              <a:lnSpc>
                <a:spcPct val="120000"/>
              </a:lnSpc>
            </a:pPr>
            <a:r>
              <a:rPr sz="1200" b="0" i="0">
                <a:solidFill>
                  <a:srgbClr val="FFFFFF"/>
                </a:solidFill>
                <a:latin typeface="Arial"/>
              </a:rPr>
              <a:t>Week 03 — Writing &amp; Deploying Your First Smart Contract</a:t>
            </a:r>
          </a:p>
        </p:txBody>
      </p:sp>
      <p:sp>
        <p:nvSpPr>
          <p:cNvPr id="13" name="TextBox 12"/>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C7C2E8"/>
                </a:solidFill>
                <a:latin typeface="Courier New"/>
              </a:rPr>
              <a:t>22/22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