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737360" y="32004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470947" y="1051560"/>
            <a:ext cx="3010801" cy="2286000"/>
          </a:xfrm>
          <a:custGeom>
            <a:avLst/>
            <a:gdLst/>
            <a:ahLst/>
            <a:cxnLst/>
            <a:rect l="l" t="t" r="r" b="b"/>
            <a:pathLst>
              <a:path w="3010801" h="2286000">
                <a:moveTo>
                  <a:pt x="1506693" y="0"/>
                </a:moveTo>
                <a:lnTo>
                  <a:pt x="1935203" y="47625"/>
                </a:lnTo>
                <a:lnTo>
                  <a:pt x="2328422" y="95250"/>
                </a:lnTo>
                <a:lnTo>
                  <a:pt x="2653963" y="142875"/>
                </a:lnTo>
                <a:lnTo>
                  <a:pt x="2885013" y="190500"/>
                </a:lnTo>
                <a:lnTo>
                  <a:pt x="3002545" y="238125"/>
                </a:lnTo>
                <a:lnTo>
                  <a:pt x="2996877" y="285750"/>
                </a:lnTo>
                <a:lnTo>
                  <a:pt x="2868477" y="333375"/>
                </a:lnTo>
                <a:lnTo>
                  <a:pt x="2627920" y="381000"/>
                </a:lnTo>
                <a:lnTo>
                  <a:pt x="2295017" y="428625"/>
                </a:lnTo>
                <a:lnTo>
                  <a:pt x="1897188" y="476250"/>
                </a:lnTo>
                <a:lnTo>
                  <a:pt x="1467198" y="523875"/>
                </a:lnTo>
                <a:lnTo>
                  <a:pt x="1040460" y="571500"/>
                </a:lnTo>
                <a:lnTo>
                  <a:pt x="652121" y="619125"/>
                </a:lnTo>
                <a:lnTo>
                  <a:pt x="334166" y="666750"/>
                </a:lnTo>
                <a:lnTo>
                  <a:pt x="112780" y="714375"/>
                </a:lnTo>
                <a:lnTo>
                  <a:pt x="6198" y="762000"/>
                </a:lnTo>
                <a:lnTo>
                  <a:pt x="23197" y="809625"/>
                </a:lnTo>
                <a:lnTo>
                  <a:pt x="162377" y="857250"/>
                </a:lnTo>
                <a:lnTo>
                  <a:pt x="412277" y="904875"/>
                </a:lnTo>
                <a:lnTo>
                  <a:pt x="752313" y="952500"/>
                </a:lnTo>
                <a:lnTo>
                  <a:pt x="1154479" y="1000125"/>
                </a:lnTo>
                <a:lnTo>
                  <a:pt x="1585655" y="1047750"/>
                </a:lnTo>
                <a:lnTo>
                  <a:pt x="2010327" y="1095375"/>
                </a:lnTo>
                <a:lnTo>
                  <a:pt x="2393519" y="1143000"/>
                </a:lnTo>
                <a:lnTo>
                  <a:pt x="2703672" y="1190625"/>
                </a:lnTo>
                <a:lnTo>
                  <a:pt x="2915241" y="1238250"/>
                </a:lnTo>
                <a:lnTo>
                  <a:pt x="3010801" y="1285875"/>
                </a:lnTo>
                <a:lnTo>
                  <a:pt x="2982482" y="1333500"/>
                </a:lnTo>
                <a:lnTo>
                  <a:pt x="2832617" y="1381125"/>
                </a:lnTo>
                <a:lnTo>
                  <a:pt x="2573547" y="1428750"/>
                </a:lnTo>
                <a:lnTo>
                  <a:pt x="2226611" y="1476375"/>
                </a:lnTo>
                <a:lnTo>
                  <a:pt x="1820381" y="1524000"/>
                </a:lnTo>
                <a:lnTo>
                  <a:pt x="1388317" y="1571625"/>
                </a:lnTo>
                <a:lnTo>
                  <a:pt x="966001" y="1619250"/>
                </a:lnTo>
                <a:lnTo>
                  <a:pt x="588218" y="1666875"/>
                </a:lnTo>
                <a:lnTo>
                  <a:pt x="286080" y="1714500"/>
                </a:lnTo>
                <a:lnTo>
                  <a:pt x="84473" y="1762125"/>
                </a:lnTo>
                <a:lnTo>
                  <a:pt x="0" y="1809750"/>
                </a:lnTo>
                <a:lnTo>
                  <a:pt x="39620" y="1857375"/>
                </a:lnTo>
                <a:lnTo>
                  <a:pt x="200068" y="1905000"/>
                </a:lnTo>
                <a:lnTo>
                  <a:pt x="468131" y="1952625"/>
                </a:lnTo>
                <a:lnTo>
                  <a:pt x="821730" y="2000250"/>
                </a:lnTo>
                <a:lnTo>
                  <a:pt x="1231743" y="2047875"/>
                </a:lnTo>
                <a:lnTo>
                  <a:pt x="1664401" y="2095500"/>
                </a:lnTo>
                <a:lnTo>
                  <a:pt x="2084070" y="2143125"/>
                </a:lnTo>
                <a:lnTo>
                  <a:pt x="2456186" y="2190750"/>
                </a:lnTo>
                <a:lnTo>
                  <a:pt x="2750101" y="2238375"/>
                </a:lnTo>
                <a:lnTo>
                  <a:pt x="2941609" y="2286000"/>
                </a:lnTo>
              </a:path>
            </a:pathLst>
          </a:custGeom>
          <a:noFill/>
          <a:ln w="1828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103120" y="4160520"/>
            <a:ext cx="365760" cy="36576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434840"/>
            <a:ext cx="502920" cy="502920"/>
          </a:xfrm>
          <a:prstGeom prst="ellipse">
            <a:avLst/>
          </a:prstGeom>
          <a:noFill/>
          <a:ln w="31750">
            <a:solidFill>
              <a:srgbClr val="938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0292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BLOCKCHAINCOURSE · CURRICULUM</a:t>
            </a:r>
          </a:p>
        </p:txBody>
      </p:sp>
      <p:sp>
        <p:nvSpPr>
          <p:cNvPr id="8" name="TextBox 7"/>
          <p:cNvSpPr txBox="1"/>
          <p:nvPr/>
        </p:nvSpPr>
        <p:spPr>
          <a:xfrm>
            <a:off x="685800" y="914400"/>
            <a:ext cx="6035040" cy="2377440"/>
          </a:xfrm>
          <a:prstGeom prst="rect">
            <a:avLst/>
          </a:prstGeom>
          <a:noFill/>
        </p:spPr>
        <p:txBody>
          <a:bodyPr wrap="square" anchor="t" lIns="0" rIns="0" tIns="0" bIns="0">
            <a:spAutoFit/>
          </a:bodyPr>
          <a:lstStyle/>
          <a:p>
            <a:pPr algn="l">
              <a:lnSpc>
                <a:spcPct val="102000"/>
              </a:lnSpc>
            </a:pPr>
            <a:r>
              <a:rPr sz="4200" b="1" i="0">
                <a:solidFill>
                  <a:srgbClr val="FFFFFF"/>
                </a:solidFill>
                <a:latin typeface="Arial Rounded MT Bold"/>
              </a:rPr>
              <a:t>Practical Engineering
Over Hype</a:t>
            </a:r>
          </a:p>
        </p:txBody>
      </p:sp>
      <p:sp>
        <p:nvSpPr>
          <p:cNvPr id="9" name="TextBox 8"/>
          <p:cNvSpPr txBox="1"/>
          <p:nvPr/>
        </p:nvSpPr>
        <p:spPr>
          <a:xfrm>
            <a:off x="685800" y="3246120"/>
            <a:ext cx="5120640" cy="1051560"/>
          </a:xfrm>
          <a:prstGeom prst="rect">
            <a:avLst/>
          </a:prstGeom>
          <a:noFill/>
        </p:spPr>
        <p:txBody>
          <a:bodyPr wrap="square" anchor="t" lIns="0" rIns="0" tIns="0" bIns="0">
            <a:spAutoFit/>
          </a:bodyPr>
          <a:lstStyle/>
          <a:p>
            <a:pPr algn="l">
              <a:lnSpc>
                <a:spcPct val="140000"/>
              </a:lnSpc>
            </a:pPr>
            <a:r>
              <a:rPr sz="1350" b="0" i="1">
                <a:solidFill>
                  <a:srgbClr val="E3E0F7"/>
                </a:solidFill>
                <a:latin typeface="Arial"/>
              </a:rPr>
              <a:t>No memorized buzzwords, no copy-pasted templates you can't explain. Understand the mechanics first.</a:t>
            </a:r>
          </a:p>
        </p:txBody>
      </p:sp>
      <p:sp>
        <p:nvSpPr>
          <p:cNvPr id="10" name="Rounded Rectangle 9"/>
          <p:cNvSpPr/>
          <p:nvPr/>
        </p:nvSpPr>
        <p:spPr>
          <a:xfrm>
            <a:off x="685800" y="4526280"/>
            <a:ext cx="1609344" cy="457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300" b="1">
                <a:solidFill>
                  <a:srgbClr val="221F33"/>
                </a:solidFill>
                <a:latin typeface="Arial"/>
              </a:rPr>
              <a:t>Start Learning</a:t>
            </a:r>
          </a:p>
        </p:txBody>
      </p:sp>
      <p:sp>
        <p:nvSpPr>
          <p:cNvPr id="11" name="Oval 10"/>
          <p:cNvSpPr/>
          <p:nvPr/>
        </p:nvSpPr>
        <p:spPr>
          <a:xfrm>
            <a:off x="2432304" y="4526280"/>
            <a:ext cx="457200" cy="45720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a:t>
            </a:r>
          </a:p>
        </p:txBody>
      </p:sp>
      <p:pic>
        <p:nvPicPr>
          <p:cNvPr id="12" name="Picture 11" descr="_c_hero1.jpg"/>
          <p:cNvPicPr>
            <a:picLocks noChangeAspect="1"/>
          </p:cNvPicPr>
          <p:nvPr/>
        </p:nvPicPr>
        <p:blipFill>
          <a:blip r:embed="rId2"/>
          <a:stretch>
            <a:fillRect/>
          </a:stretch>
        </p:blipFill>
        <p:spPr>
          <a:xfrm>
            <a:off x="6949440" y="502920"/>
            <a:ext cx="4663440" cy="5852160"/>
          </a:xfrm>
          <a:prstGeom prst="rect">
            <a:avLst/>
          </a:prstGeom>
        </p:spPr>
      </p:pic>
      <p:sp>
        <p:nvSpPr>
          <p:cNvPr id="13" name="Rounded Rectangle 12"/>
          <p:cNvSpPr/>
          <p:nvPr/>
        </p:nvSpPr>
        <p:spPr>
          <a:xfrm>
            <a:off x="6720840" y="1051560"/>
            <a:ext cx="2468880" cy="8686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1170432"/>
            <a:ext cx="2148840" cy="274320"/>
          </a:xfrm>
          <a:prstGeom prst="rect">
            <a:avLst/>
          </a:prstGeom>
          <a:noFill/>
        </p:spPr>
        <p:txBody>
          <a:bodyPr wrap="square" anchor="t" lIns="0" rIns="0" tIns="0" bIns="0">
            <a:spAutoFit/>
          </a:bodyPr>
          <a:lstStyle/>
          <a:p>
            <a:pPr algn="l">
              <a:lnSpc>
                <a:spcPct val="115000"/>
              </a:lnSpc>
            </a:pPr>
            <a:r>
              <a:rPr sz="950" b="1" i="0">
                <a:solidFill>
                  <a:srgbClr val="8B8899"/>
                </a:solidFill>
                <a:latin typeface="Arial"/>
              </a:rPr>
              <a:t>This Slide</a:t>
            </a:r>
          </a:p>
        </p:txBody>
      </p:sp>
      <p:sp>
        <p:nvSpPr>
          <p:cNvPr id="15" name="TextBox 14"/>
          <p:cNvSpPr txBox="1"/>
          <p:nvPr/>
        </p:nvSpPr>
        <p:spPr>
          <a:xfrm>
            <a:off x="6903720" y="1444752"/>
            <a:ext cx="2148840" cy="411480"/>
          </a:xfrm>
          <a:prstGeom prst="rect">
            <a:avLst/>
          </a:prstGeom>
          <a:noFill/>
        </p:spPr>
        <p:txBody>
          <a:bodyPr wrap="square" anchor="t" lIns="0" rIns="0" tIns="0" bIns="0">
            <a:spAutoFit/>
          </a:bodyPr>
          <a:lstStyle/>
          <a:p>
            <a:pPr algn="l">
              <a:lnSpc>
                <a:spcPct val="110000"/>
              </a:lnSpc>
            </a:pPr>
            <a:r>
              <a:rPr sz="1050" b="1" i="0">
                <a:solidFill>
                  <a:srgbClr val="221F33"/>
                </a:solidFill>
                <a:latin typeface="Arial"/>
              </a:rPr>
              <a:t>Week 02 · Concepts</a:t>
            </a:r>
          </a:p>
        </p:txBody>
      </p:sp>
      <p:sp>
        <p:nvSpPr>
          <p:cNvPr id="16" name="TextBox 15"/>
          <p:cNvSpPr txBox="1"/>
          <p:nvPr/>
        </p:nvSpPr>
        <p:spPr>
          <a:xfrm>
            <a:off x="685800" y="6446520"/>
            <a:ext cx="5943600" cy="274320"/>
          </a:xfrm>
          <a:prstGeom prst="rect">
            <a:avLst/>
          </a:prstGeom>
          <a:noFill/>
        </p:spPr>
        <p:txBody>
          <a:bodyPr wrap="square" anchor="t" lIns="0" rIns="0" tIns="0" bIns="0">
            <a:spAutoFit/>
          </a:bodyPr>
          <a:lstStyle/>
          <a:p>
            <a:pPr algn="l">
              <a:lnSpc>
                <a:spcPct val="115000"/>
              </a:lnSpc>
            </a:pPr>
            <a:r>
              <a:rPr sz="850" b="0" i="0">
                <a:solidFill>
                  <a:srgbClr val="C7C2E8"/>
                </a:solidFill>
                <a:latin typeface="Arial"/>
              </a:rPr>
              <a:t/>
            </a:r>
          </a:p>
        </p:txBody>
      </p:sp>
      <p:sp>
        <p:nvSpPr>
          <p:cNvPr id="17" name="TextBox 1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01/22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HOW THIS COURSE IS STRUCTURED</a:t>
            </a:r>
          </a:p>
        </p:txBody>
      </p:sp>
      <p:sp>
        <p:nvSpPr>
          <p:cNvPr id="4" name="TextBox 3"/>
          <p:cNvSpPr txBox="1"/>
          <p:nvPr/>
        </p:nvSpPr>
        <p:spPr>
          <a:xfrm>
            <a:off x="685800" y="914400"/>
            <a:ext cx="10515600" cy="82296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Two Halves</a:t>
            </a:r>
          </a:p>
        </p:txBody>
      </p:sp>
      <p:sp>
        <p:nvSpPr>
          <p:cNvPr id="5" name="TextBox 4"/>
          <p:cNvSpPr txBox="1"/>
          <p:nvPr/>
        </p:nvSpPr>
        <p:spPr>
          <a:xfrm>
            <a:off x="685800" y="1691640"/>
            <a:ext cx="10515600" cy="548640"/>
          </a:xfrm>
          <a:prstGeom prst="rect">
            <a:avLst/>
          </a:prstGeom>
          <a:noFill/>
        </p:spPr>
        <p:txBody>
          <a:bodyPr wrap="square" anchor="t" lIns="0" rIns="0" tIns="0" bIns="0">
            <a:spAutoFit/>
          </a:bodyPr>
          <a:lstStyle/>
          <a:p>
            <a:pPr algn="l">
              <a:lnSpc>
                <a:spcPct val="140000"/>
              </a:lnSpc>
            </a:pPr>
            <a:r>
              <a:rPr sz="1300" b="0" i="0">
                <a:solidFill>
                  <a:srgbClr val="8B8899"/>
                </a:solidFill>
                <a:latin typeface="Arial"/>
              </a:rPr>
              <a:t>Everything builds toward one goal: understand how it works, then ship something real.</a:t>
            </a:r>
          </a:p>
        </p:txBody>
      </p:sp>
      <p:sp>
        <p:nvSpPr>
          <p:cNvPr id="6" name="Rounded Rectangle 5"/>
          <p:cNvSpPr/>
          <p:nvPr/>
        </p:nvSpPr>
        <p:spPr>
          <a:xfrm>
            <a:off x="685800" y="2560320"/>
            <a:ext cx="5120640" cy="3520440"/>
          </a:xfrm>
          <a:prstGeom prst="roundRect">
            <a:avLst>
              <a:gd name="adj" fmla="val 6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6C5FE8"/>
                </a:solidFill>
                <a:latin typeface="Arial Rounded MT Bold"/>
              </a:rPr>
              <a:t>1</a:t>
            </a:r>
          </a:p>
        </p:txBody>
      </p:sp>
      <p:sp>
        <p:nvSpPr>
          <p:cNvPr id="8" name="TextBox 7"/>
          <p:cNvSpPr txBox="1"/>
          <p:nvPr/>
        </p:nvSpPr>
        <p:spPr>
          <a:xfrm>
            <a:off x="105156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Half 1 · Weeks 1-5</a:t>
            </a:r>
          </a:p>
        </p:txBody>
      </p:sp>
      <p:sp>
        <p:nvSpPr>
          <p:cNvPr id="9" name="TextBox 8"/>
          <p:cNvSpPr txBox="1"/>
          <p:nvPr/>
        </p:nvSpPr>
        <p:spPr>
          <a:xfrm>
            <a:off x="105156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Basics &amp; core concepts. Everything you need to walk into a hackathon and build something real — wallets, contracts, tokens, a working dApp.</a:t>
            </a:r>
          </a:p>
        </p:txBody>
      </p:sp>
      <p:sp>
        <p:nvSpPr>
          <p:cNvPr id="10" name="Rounded Rectangle 9"/>
          <p:cNvSpPr/>
          <p:nvPr/>
        </p:nvSpPr>
        <p:spPr>
          <a:xfrm>
            <a:off x="1051560" y="5394960"/>
            <a:ext cx="2432304"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100" b="1">
                <a:solidFill>
                  <a:srgbClr val="6C5FE8"/>
                </a:solidFill>
                <a:latin typeface="Arial"/>
              </a:rPr>
              <a:t>◉ You are here — Week 02</a:t>
            </a:r>
          </a:p>
        </p:txBody>
      </p:sp>
      <p:sp>
        <p:nvSpPr>
          <p:cNvPr id="11" name="Rounded Rectangle 10"/>
          <p:cNvSpPr/>
          <p:nvPr/>
        </p:nvSpPr>
        <p:spPr>
          <a:xfrm>
            <a:off x="6126480" y="2560320"/>
            <a:ext cx="5120640" cy="3520440"/>
          </a:xfrm>
          <a:prstGeom prst="roundRect">
            <a:avLst>
              <a:gd name="adj" fmla="val 6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9224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35C078"/>
                </a:solidFill>
                <a:latin typeface="Arial Rounded MT Bold"/>
              </a:rPr>
              <a:t>2</a:t>
            </a:r>
          </a:p>
        </p:txBody>
      </p:sp>
      <p:sp>
        <p:nvSpPr>
          <p:cNvPr id="13" name="TextBox 12"/>
          <p:cNvSpPr txBox="1"/>
          <p:nvPr/>
        </p:nvSpPr>
        <p:spPr>
          <a:xfrm>
            <a:off x="649224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Half 2 · Weeks 6-9</a:t>
            </a:r>
          </a:p>
        </p:txBody>
      </p:sp>
      <p:sp>
        <p:nvSpPr>
          <p:cNvPr id="14" name="TextBox 13"/>
          <p:cNvSpPr txBox="1"/>
          <p:nvPr/>
        </p:nvSpPr>
        <p:spPr>
          <a:xfrm>
            <a:off x="649224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Advanced topics. Security, upgradeable contracts, Layer 2s, and the wider ecosystem — what separates a prototype from production.</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02/22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BEFORE YOU BEGIN</a:t>
            </a:r>
          </a:p>
        </p:txBody>
      </p:sp>
      <p:sp>
        <p:nvSpPr>
          <p:cNvPr id="4" name="TextBox 3"/>
          <p:cNvSpPr txBox="1"/>
          <p:nvPr/>
        </p:nvSpPr>
        <p:spPr>
          <a:xfrm>
            <a:off x="685800" y="914400"/>
            <a:ext cx="420624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Ground Rules</a:t>
            </a:r>
          </a:p>
        </p:txBody>
      </p:sp>
      <p:pic>
        <p:nvPicPr>
          <p:cNvPr id="5" name="Picture 4" descr="_c_tl3_rules.jpg"/>
          <p:cNvPicPr>
            <a:picLocks noChangeAspect="1"/>
          </p:cNvPicPr>
          <p:nvPr/>
        </p:nvPicPr>
        <p:blipFill>
          <a:blip r:embed="rId2"/>
          <a:stretch>
            <a:fillRect/>
          </a:stretch>
        </p:blipFill>
        <p:spPr>
          <a:xfrm>
            <a:off x="685800" y="2377440"/>
            <a:ext cx="4206240" cy="3291840"/>
          </a:xfrm>
          <a:prstGeom prst="rect">
            <a:avLst/>
          </a:prstGeom>
        </p:spPr>
      </p:pic>
      <p:sp>
        <p:nvSpPr>
          <p:cNvPr id="6" name="Rounded Rectangle 5"/>
          <p:cNvSpPr/>
          <p:nvPr/>
        </p:nvSpPr>
        <p:spPr>
          <a:xfrm>
            <a:off x="5486400" y="1005840"/>
            <a:ext cx="621792" cy="365760"/>
          </a:xfrm>
          <a:prstGeom prst="roundRect">
            <a:avLst>
              <a:gd name="adj" fmla="val 5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01</a:t>
            </a:r>
          </a:p>
        </p:txBody>
      </p:sp>
      <p:sp>
        <p:nvSpPr>
          <p:cNvPr id="7" name="TextBox 6"/>
          <p:cNvSpPr txBox="1"/>
          <p:nvPr/>
        </p:nvSpPr>
        <p:spPr>
          <a:xfrm>
            <a:off x="6172200" y="98755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Understand before you copy</a:t>
            </a:r>
          </a:p>
        </p:txBody>
      </p:sp>
      <p:sp>
        <p:nvSpPr>
          <p:cNvPr id="8" name="TextBox 7"/>
          <p:cNvSpPr txBox="1"/>
          <p:nvPr/>
        </p:nvSpPr>
        <p:spPr>
          <a:xfrm>
            <a:off x="6172200" y="138988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If you can't explain a line of code, don't ship it.</a:t>
            </a:r>
          </a:p>
        </p:txBody>
      </p:sp>
      <p:cxnSp>
        <p:nvCxnSpPr>
          <p:cNvPr id="9" name="Connector 8"/>
          <p:cNvCxnSpPr/>
          <p:nvPr/>
        </p:nvCxnSpPr>
        <p:spPr>
          <a:xfrm>
            <a:off x="5742432" y="141732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0" y="2057400"/>
            <a:ext cx="621792" cy="365760"/>
          </a:xfrm>
          <a:prstGeom prst="roundRect">
            <a:avLst>
              <a:gd name="adj" fmla="val 5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02</a:t>
            </a:r>
          </a:p>
        </p:txBody>
      </p:sp>
      <p:sp>
        <p:nvSpPr>
          <p:cNvPr id="11" name="TextBox 10"/>
          <p:cNvSpPr txBox="1"/>
          <p:nvPr/>
        </p:nvSpPr>
        <p:spPr>
          <a:xfrm>
            <a:off x="6172200" y="203911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Testnet first, always</a:t>
            </a:r>
          </a:p>
        </p:txBody>
      </p:sp>
      <p:sp>
        <p:nvSpPr>
          <p:cNvPr id="12" name="TextBox 11"/>
          <p:cNvSpPr txBox="1"/>
          <p:nvPr/>
        </p:nvSpPr>
        <p:spPr>
          <a:xfrm>
            <a:off x="6172200" y="244144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Never deploy something you haven't tested.</a:t>
            </a:r>
          </a:p>
        </p:txBody>
      </p:sp>
      <p:cxnSp>
        <p:nvCxnSpPr>
          <p:cNvPr id="13" name="Connector 12"/>
          <p:cNvCxnSpPr/>
          <p:nvPr/>
        </p:nvCxnSpPr>
        <p:spPr>
          <a:xfrm>
            <a:off x="5742432" y="246888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0" y="3108960"/>
            <a:ext cx="621792" cy="365760"/>
          </a:xfrm>
          <a:prstGeom prst="roundRect">
            <a:avLst>
              <a:gd name="adj" fmla="val 5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03</a:t>
            </a:r>
          </a:p>
        </p:txBody>
      </p:sp>
      <p:sp>
        <p:nvSpPr>
          <p:cNvPr id="15" name="TextBox 14"/>
          <p:cNvSpPr txBox="1"/>
          <p:nvPr/>
        </p:nvSpPr>
        <p:spPr>
          <a:xfrm>
            <a:off x="6172200" y="309067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No frontend before the CLI works</a:t>
            </a:r>
          </a:p>
        </p:txBody>
      </p:sp>
      <p:sp>
        <p:nvSpPr>
          <p:cNvPr id="16" name="TextBox 15"/>
          <p:cNvSpPr txBox="1"/>
          <p:nvPr/>
        </p:nvSpPr>
        <p:spPr>
          <a:xfrm>
            <a:off x="6172200" y="349300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Deploy and call a contract with cast first.</a:t>
            </a:r>
          </a:p>
        </p:txBody>
      </p:sp>
      <p:cxnSp>
        <p:nvCxnSpPr>
          <p:cNvPr id="17" name="Connector 16"/>
          <p:cNvCxnSpPr/>
          <p:nvPr/>
        </p:nvCxnSpPr>
        <p:spPr>
          <a:xfrm>
            <a:off x="5742432" y="352044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0" y="4160520"/>
            <a:ext cx="621792" cy="365760"/>
          </a:xfrm>
          <a:prstGeom prst="roundRect">
            <a:avLst>
              <a:gd name="adj" fmla="val 50000"/>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04</a:t>
            </a:r>
          </a:p>
        </p:txBody>
      </p:sp>
      <p:sp>
        <p:nvSpPr>
          <p:cNvPr id="19" name="TextBox 18"/>
          <p:cNvSpPr txBox="1"/>
          <p:nvPr/>
        </p:nvSpPr>
        <p:spPr>
          <a:xfrm>
            <a:off x="6172200" y="414223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Every contract gets a test</a:t>
            </a:r>
          </a:p>
        </p:txBody>
      </p:sp>
      <p:sp>
        <p:nvSpPr>
          <p:cNvPr id="20" name="TextBox 19"/>
          <p:cNvSpPr txBox="1"/>
          <p:nvPr/>
        </p:nvSpPr>
        <p:spPr>
          <a:xfrm>
            <a:off x="6172200" y="454456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An untested contract is unfinished.</a:t>
            </a:r>
          </a:p>
        </p:txBody>
      </p:sp>
      <p:sp>
        <p:nvSpPr>
          <p:cNvPr id="21" name="TextBox 20"/>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03/22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737360" y="32004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470947" y="1051560"/>
            <a:ext cx="3010801" cy="2286000"/>
          </a:xfrm>
          <a:custGeom>
            <a:avLst/>
            <a:gdLst/>
            <a:ahLst/>
            <a:cxnLst/>
            <a:rect l="l" t="t" r="r" b="b"/>
            <a:pathLst>
              <a:path w="3010801" h="2286000">
                <a:moveTo>
                  <a:pt x="1506693" y="0"/>
                </a:moveTo>
                <a:lnTo>
                  <a:pt x="1935203" y="47625"/>
                </a:lnTo>
                <a:lnTo>
                  <a:pt x="2328422" y="95250"/>
                </a:lnTo>
                <a:lnTo>
                  <a:pt x="2653963" y="142875"/>
                </a:lnTo>
                <a:lnTo>
                  <a:pt x="2885013" y="190500"/>
                </a:lnTo>
                <a:lnTo>
                  <a:pt x="3002545" y="238125"/>
                </a:lnTo>
                <a:lnTo>
                  <a:pt x="2996877" y="285750"/>
                </a:lnTo>
                <a:lnTo>
                  <a:pt x="2868477" y="333375"/>
                </a:lnTo>
                <a:lnTo>
                  <a:pt x="2627920" y="381000"/>
                </a:lnTo>
                <a:lnTo>
                  <a:pt x="2295017" y="428625"/>
                </a:lnTo>
                <a:lnTo>
                  <a:pt x="1897188" y="476250"/>
                </a:lnTo>
                <a:lnTo>
                  <a:pt x="1467198" y="523875"/>
                </a:lnTo>
                <a:lnTo>
                  <a:pt x="1040460" y="571500"/>
                </a:lnTo>
                <a:lnTo>
                  <a:pt x="652121" y="619125"/>
                </a:lnTo>
                <a:lnTo>
                  <a:pt x="334166" y="666750"/>
                </a:lnTo>
                <a:lnTo>
                  <a:pt x="112780" y="714375"/>
                </a:lnTo>
                <a:lnTo>
                  <a:pt x="6198" y="762000"/>
                </a:lnTo>
                <a:lnTo>
                  <a:pt x="23197" y="809625"/>
                </a:lnTo>
                <a:lnTo>
                  <a:pt x="162377" y="857250"/>
                </a:lnTo>
                <a:lnTo>
                  <a:pt x="412277" y="904875"/>
                </a:lnTo>
                <a:lnTo>
                  <a:pt x="752313" y="952500"/>
                </a:lnTo>
                <a:lnTo>
                  <a:pt x="1154479" y="1000125"/>
                </a:lnTo>
                <a:lnTo>
                  <a:pt x="1585655" y="1047750"/>
                </a:lnTo>
                <a:lnTo>
                  <a:pt x="2010327" y="1095375"/>
                </a:lnTo>
                <a:lnTo>
                  <a:pt x="2393519" y="1143000"/>
                </a:lnTo>
                <a:lnTo>
                  <a:pt x="2703672" y="1190625"/>
                </a:lnTo>
                <a:lnTo>
                  <a:pt x="2915241" y="1238250"/>
                </a:lnTo>
                <a:lnTo>
                  <a:pt x="3010801" y="1285875"/>
                </a:lnTo>
                <a:lnTo>
                  <a:pt x="2982482" y="1333500"/>
                </a:lnTo>
                <a:lnTo>
                  <a:pt x="2832617" y="1381125"/>
                </a:lnTo>
                <a:lnTo>
                  <a:pt x="2573547" y="1428750"/>
                </a:lnTo>
                <a:lnTo>
                  <a:pt x="2226611" y="1476375"/>
                </a:lnTo>
                <a:lnTo>
                  <a:pt x="1820381" y="1524000"/>
                </a:lnTo>
                <a:lnTo>
                  <a:pt x="1388317" y="1571625"/>
                </a:lnTo>
                <a:lnTo>
                  <a:pt x="966001" y="1619250"/>
                </a:lnTo>
                <a:lnTo>
                  <a:pt x="588218" y="1666875"/>
                </a:lnTo>
                <a:lnTo>
                  <a:pt x="286080" y="1714500"/>
                </a:lnTo>
                <a:lnTo>
                  <a:pt x="84473" y="1762125"/>
                </a:lnTo>
                <a:lnTo>
                  <a:pt x="0" y="1809750"/>
                </a:lnTo>
                <a:lnTo>
                  <a:pt x="39620" y="1857375"/>
                </a:lnTo>
                <a:lnTo>
                  <a:pt x="200068" y="1905000"/>
                </a:lnTo>
                <a:lnTo>
                  <a:pt x="468131" y="1952625"/>
                </a:lnTo>
                <a:lnTo>
                  <a:pt x="821730" y="2000250"/>
                </a:lnTo>
                <a:lnTo>
                  <a:pt x="1231743" y="2047875"/>
                </a:lnTo>
                <a:lnTo>
                  <a:pt x="1664401" y="2095500"/>
                </a:lnTo>
                <a:lnTo>
                  <a:pt x="2084070" y="2143125"/>
                </a:lnTo>
                <a:lnTo>
                  <a:pt x="2456186" y="2190750"/>
                </a:lnTo>
                <a:lnTo>
                  <a:pt x="2750101" y="2238375"/>
                </a:lnTo>
                <a:lnTo>
                  <a:pt x="2941609" y="2286000"/>
                </a:lnTo>
              </a:path>
            </a:pathLst>
          </a:custGeom>
          <a:noFill/>
          <a:ln w="1828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103120" y="4160520"/>
            <a:ext cx="365760" cy="36576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434840"/>
            <a:ext cx="502920" cy="502920"/>
          </a:xfrm>
          <a:prstGeom prst="ellipse">
            <a:avLst/>
          </a:prstGeom>
          <a:noFill/>
          <a:ln w="31750">
            <a:solidFill>
              <a:srgbClr val="938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0292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BLOCKCHAINCOURSE · WEEK 02 · TOPIC 01 OF 04</a:t>
            </a:r>
          </a:p>
        </p:txBody>
      </p:sp>
      <p:sp>
        <p:nvSpPr>
          <p:cNvPr id="8" name="TextBox 7"/>
          <p:cNvSpPr txBox="1"/>
          <p:nvPr/>
        </p:nvSpPr>
        <p:spPr>
          <a:xfrm>
            <a:off x="685800" y="914400"/>
            <a:ext cx="6035040" cy="2377440"/>
          </a:xfrm>
          <a:prstGeom prst="rect">
            <a:avLst/>
          </a:prstGeom>
          <a:noFill/>
        </p:spPr>
        <p:txBody>
          <a:bodyPr wrap="square" anchor="t" lIns="0" rIns="0" tIns="0" bIns="0">
            <a:spAutoFit/>
          </a:bodyPr>
          <a:lstStyle/>
          <a:p>
            <a:pPr algn="l">
              <a:lnSpc>
                <a:spcPct val="102000"/>
              </a:lnSpc>
            </a:pPr>
            <a:r>
              <a:rPr sz="4200" b="1" i="0">
                <a:solidFill>
                  <a:srgbClr val="FFFFFF"/>
                </a:solidFill>
                <a:latin typeface="Arial Rounded MT Bold"/>
              </a:rPr>
              <a:t>Decentralization</a:t>
            </a:r>
          </a:p>
        </p:txBody>
      </p:sp>
      <p:sp>
        <p:nvSpPr>
          <p:cNvPr id="9" name="TextBox 8"/>
          <p:cNvSpPr txBox="1"/>
          <p:nvPr/>
        </p:nvSpPr>
        <p:spPr>
          <a:xfrm>
            <a:off x="685800" y="3246120"/>
            <a:ext cx="5120640" cy="1051560"/>
          </a:xfrm>
          <a:prstGeom prst="rect">
            <a:avLst/>
          </a:prstGeom>
          <a:noFill/>
        </p:spPr>
        <p:txBody>
          <a:bodyPr wrap="square" anchor="t" lIns="0" rIns="0" tIns="0" bIns="0">
            <a:spAutoFit/>
          </a:bodyPr>
          <a:lstStyle/>
          <a:p>
            <a:pPr algn="l">
              <a:lnSpc>
                <a:spcPct val="140000"/>
              </a:lnSpc>
            </a:pPr>
            <a:r>
              <a:rPr sz="1350" b="0" i="1">
                <a:solidFill>
                  <a:srgbClr val="E3E0F7"/>
                </a:solidFill>
                <a:latin typeface="Arial"/>
              </a:rPr>
              <a:t>No single party who can unilaterally change the rules or the recorded history.</a:t>
            </a:r>
          </a:p>
        </p:txBody>
      </p:sp>
      <p:sp>
        <p:nvSpPr>
          <p:cNvPr id="10" name="Oval 9"/>
          <p:cNvSpPr/>
          <p:nvPr/>
        </p:nvSpPr>
        <p:spPr>
          <a:xfrm>
            <a:off x="68580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3444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_c_hero4.jpg"/>
          <p:cNvPicPr>
            <a:picLocks noChangeAspect="1"/>
          </p:cNvPicPr>
          <p:nvPr/>
        </p:nvPicPr>
        <p:blipFill>
          <a:blip r:embed="rId2"/>
          <a:stretch>
            <a:fillRect/>
          </a:stretch>
        </p:blipFill>
        <p:spPr>
          <a:xfrm>
            <a:off x="6949440" y="502920"/>
            <a:ext cx="4663440" cy="5852160"/>
          </a:xfrm>
          <a:prstGeom prst="rect">
            <a:avLst/>
          </a:prstGeom>
        </p:spPr>
      </p:pic>
      <p:sp>
        <p:nvSpPr>
          <p:cNvPr id="14" name="TextBox 13"/>
          <p:cNvSpPr txBox="1"/>
          <p:nvPr/>
        </p:nvSpPr>
        <p:spPr>
          <a:xfrm>
            <a:off x="685800" y="6446520"/>
            <a:ext cx="5943600" cy="274320"/>
          </a:xfrm>
          <a:prstGeom prst="rect">
            <a:avLst/>
          </a:prstGeom>
          <a:noFill/>
        </p:spPr>
        <p:txBody>
          <a:bodyPr wrap="square" anchor="t" lIns="0" rIns="0" tIns="0" bIns="0">
            <a:spAutoFit/>
          </a:bodyPr>
          <a:lstStyle/>
          <a:p>
            <a:pPr algn="l">
              <a:lnSpc>
                <a:spcPct val="115000"/>
              </a:lnSpc>
            </a:pPr>
            <a:r>
              <a:rPr sz="850" b="0" i="0">
                <a:solidFill>
                  <a:srgbClr val="C7C2E8"/>
                </a:solidFill>
                <a:latin typeface="Arial"/>
              </a:rPr>
              <a:t>Photo: ProjectManhattan / Wikimedia Commons, CC BY-SA 3.0</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04/22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5_hook.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START HERE</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A Question, Not A Definition</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When you send money through your bank's app, who are you actually trusting to make sure the transaction is real, and that your balance doesn't just get quietly changed? Sit with that for a second — the honest answer is: the bank. One institution's internal database is the single source of truth for what you own.</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05/22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6_notice1.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NOTICE IT, BEFORE WE NAME IT — SETUP</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What Happens When That One Party Fails</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What happens if the bank's database goes down for a day? You can't spend your own money — not because it's gone, but because the one place that says how much you have is unreachable. What happens if the bank makes an error, or gets hacked? You have no independent way to check — there's no second copy anywhere else to compare against.</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06/22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7_notice2.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NOTICE IT, BEFORE WE NAME IT — RESULT</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Compare That To What You Already Built</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When you looked up your Week 1 testnet transaction on Etherscan, that data wasn't coming from one company's private database — it was independently confirmed by thousands of separate computers, each verifying it using the hashing, signing, and consensus mechanisms you already understand.</a:t>
            </a:r>
          </a:p>
        </p:txBody>
      </p:sp>
      <p:sp>
        <p:nvSpPr>
          <p:cNvPr id="8" name="Rounded Rectangle 7"/>
          <p:cNvSpPr/>
          <p:nvPr/>
        </p:nvSpPr>
        <p:spPr>
          <a:xfrm>
            <a:off x="685800" y="4892040"/>
            <a:ext cx="4846320" cy="1234440"/>
          </a:xfrm>
          <a:prstGeom prst="roundRect">
            <a:avLst>
              <a:gd name="adj" fmla="val 8000"/>
            </a:avLst>
          </a:prstGeom>
          <a:solidFill>
            <a:srgbClr val="F6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29200"/>
            <a:ext cx="4389120" cy="274320"/>
          </a:xfrm>
          <a:prstGeom prst="rect">
            <a:avLst/>
          </a:prstGeom>
          <a:noFill/>
        </p:spPr>
        <p:txBody>
          <a:bodyPr wrap="square" anchor="t" lIns="0" rIns="0" tIns="0" bIns="0">
            <a:spAutoFit/>
          </a:bodyPr>
          <a:lstStyle/>
          <a:p>
            <a:pPr algn="l">
              <a:lnSpc>
                <a:spcPct val="115000"/>
              </a:lnSpc>
            </a:pPr>
            <a:r>
              <a:rPr sz="950" b="1" i="0">
                <a:solidFill>
                  <a:srgbClr val="228BC4"/>
                </a:solidFill>
                <a:latin typeface="Arial"/>
              </a:rPr>
              <a:t>EXAMPLE</a:t>
            </a:r>
          </a:p>
        </p:txBody>
      </p:sp>
      <p:sp>
        <p:nvSpPr>
          <p:cNvPr id="10" name="TextBox 9"/>
          <p:cNvSpPr txBox="1"/>
          <p:nvPr/>
        </p:nvSpPr>
        <p:spPr>
          <a:xfrm>
            <a:off x="914400" y="5321808"/>
            <a:ext cx="4389120" cy="685800"/>
          </a:xfrm>
          <a:prstGeom prst="rect">
            <a:avLst/>
          </a:prstGeom>
          <a:noFill/>
        </p:spPr>
        <p:txBody>
          <a:bodyPr wrap="square" anchor="t" lIns="0" rIns="0" tIns="0" bIns="0">
            <a:spAutoFit/>
          </a:bodyPr>
          <a:lstStyle/>
          <a:p>
            <a:pPr algn="l">
              <a:lnSpc>
                <a:spcPct val="125000"/>
              </a:lnSpc>
            </a:pPr>
            <a:r>
              <a:rPr sz="1100" b="0" i="0">
                <a:solidFill>
                  <a:srgbClr val="221F33"/>
                </a:solidFill>
                <a:latin typeface="Courier New"/>
              </a:rPr>
              <a:t>No single database to freeze, hack, or quietly edit.</a:t>
            </a:r>
          </a:p>
        </p:txBody>
      </p:sp>
      <p:sp>
        <p:nvSpPr>
          <p:cNvPr id="11" name="Freeform 10"/>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8_name.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NOW IT HAS A NAME</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Centralized, Distributed, Decentralized</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Centralized: one party controls the source of truth. Distributed: work spread across many machines, but one party still controls all of them. Decentralized: both work AND control are spread across independent, mutually distrusting parties — none can unilaterally rewrite history without the others rejecting it.</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08/22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6_notice1.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KEY IDEA 1 / 3</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Centralized</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One party controls the source of truth — your bank's ledger, a company's single production database.</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09/22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7_notice2.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KEY IDEA 2 / 3</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Distributed</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Work spread across many machines, one party still controls all of them — a company's servers across five data centers, still one company's decision.</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5_hook.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KEY IDEA 3 / 3</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Decentralized</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Both work and control spread across independent parties — no single node, however large, can quietly edit history.</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11/22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700101" y="-457200"/>
            <a:ext cx="2181754" cy="2377440"/>
          </a:xfrm>
          <a:custGeom>
            <a:avLst/>
            <a:gdLst/>
            <a:ahLst/>
            <a:cxnLst/>
            <a:rect l="l" t="t" r="r" b="b"/>
            <a:pathLst>
              <a:path w="2181754" h="2377440">
                <a:moveTo>
                  <a:pt x="1089819" y="0"/>
                </a:moveTo>
                <a:lnTo>
                  <a:pt x="1400676" y="67926"/>
                </a:lnTo>
                <a:lnTo>
                  <a:pt x="1686063" y="135853"/>
                </a:lnTo>
                <a:lnTo>
                  <a:pt x="1922596" y="203780"/>
                </a:lnTo>
                <a:lnTo>
                  <a:pt x="2090894" y="271707"/>
                </a:lnTo>
                <a:lnTo>
                  <a:pt x="2177168" y="339634"/>
                </a:lnTo>
                <a:lnTo>
                  <a:pt x="2174349" y="407561"/>
                </a:lnTo>
                <a:lnTo>
                  <a:pt x="2082667" y="475488"/>
                </a:lnTo>
                <a:lnTo>
                  <a:pt x="1909635" y="543414"/>
                </a:lnTo>
                <a:lnTo>
                  <a:pt x="1669431" y="611341"/>
                </a:lnTo>
                <a:lnTo>
                  <a:pt x="1381735" y="679268"/>
                </a:lnTo>
                <a:lnTo>
                  <a:pt x="1070121" y="747195"/>
                </a:lnTo>
                <a:lnTo>
                  <a:pt x="760121" y="815122"/>
                </a:lnTo>
                <a:lnTo>
                  <a:pt x="477135" y="883049"/>
                </a:lnTo>
                <a:lnTo>
                  <a:pt x="244350" y="950976"/>
                </a:lnTo>
                <a:lnTo>
                  <a:pt x="80839" y="1018902"/>
                </a:lnTo>
                <a:lnTo>
                  <a:pt x="0" y="1086829"/>
                </a:lnTo>
                <a:lnTo>
                  <a:pt x="8457" y="1154756"/>
                </a:lnTo>
                <a:lnTo>
                  <a:pt x="105517" y="1222683"/>
                </a:lnTo>
                <a:lnTo>
                  <a:pt x="283226" y="1290610"/>
                </a:lnTo>
                <a:lnTo>
                  <a:pt x="527024" y="1358537"/>
                </a:lnTo>
                <a:lnTo>
                  <a:pt x="816936" y="1426464"/>
                </a:lnTo>
                <a:lnTo>
                  <a:pt x="1129207" y="1494390"/>
                </a:lnTo>
                <a:lnTo>
                  <a:pt x="1438250" y="1562317"/>
                </a:lnTo>
                <a:lnTo>
                  <a:pt x="1718744" y="1630244"/>
                </a:lnTo>
                <a:lnTo>
                  <a:pt x="1947707" y="1698171"/>
                </a:lnTo>
                <a:lnTo>
                  <a:pt x="2106377" y="1766098"/>
                </a:lnTo>
                <a:lnTo>
                  <a:pt x="2181754" y="1834025"/>
                </a:lnTo>
                <a:lnTo>
                  <a:pt x="2167663" y="1901952"/>
                </a:lnTo>
                <a:lnTo>
                  <a:pt x="2065257" y="1969878"/>
                </a:lnTo>
                <a:lnTo>
                  <a:pt x="1882927" y="2037805"/>
                </a:lnTo>
                <a:lnTo>
                  <a:pt x="1635613" y="2105732"/>
                </a:lnTo>
                <a:lnTo>
                  <a:pt x="1343579" y="2173659"/>
                </a:lnTo>
                <a:lnTo>
                  <a:pt x="1030752" y="2241586"/>
                </a:lnTo>
                <a:lnTo>
                  <a:pt x="722765" y="2309513"/>
                </a:lnTo>
                <a:lnTo>
                  <a:pt x="444853" y="2377440"/>
                </a:lnTo>
              </a:path>
            </a:pathLst>
          </a:custGeom>
          <a:noFill/>
          <a:ln w="146304"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731520"/>
            <a:ext cx="777240" cy="777240"/>
          </a:xfrm>
          <a:prstGeom prst="ellipse">
            <a:avLst/>
          </a:prstGeom>
          <a:solidFill>
            <a:srgbClr val="228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3000" b="1">
                <a:solidFill>
                  <a:srgbClr val="FFFFFF"/>
                </a:solidFill>
                <a:latin typeface="Arial Rounded MT Bold"/>
              </a:rPr>
              <a:t>?</a:t>
            </a:r>
          </a:p>
        </p:txBody>
      </p:sp>
      <p:sp>
        <p:nvSpPr>
          <p:cNvPr id="5" name="TextBox 4"/>
          <p:cNvSpPr txBox="1"/>
          <p:nvPr/>
        </p:nvSpPr>
        <p:spPr>
          <a:xfrm>
            <a:off x="1737360" y="86868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CHECK YOUR UNDERSTANDING</a:t>
            </a:r>
          </a:p>
        </p:txBody>
      </p:sp>
      <p:sp>
        <p:nvSpPr>
          <p:cNvPr id="6" name="TextBox 5"/>
          <p:cNvSpPr txBox="1"/>
          <p:nvPr/>
        </p:nvSpPr>
        <p:spPr>
          <a:xfrm>
            <a:off x="685800" y="1828800"/>
            <a:ext cx="10607040" cy="1554480"/>
          </a:xfrm>
          <a:prstGeom prst="rect">
            <a:avLst/>
          </a:prstGeom>
          <a:noFill/>
        </p:spPr>
        <p:txBody>
          <a:bodyPr wrap="square" anchor="t" lIns="0" rIns="0" tIns="0" bIns="0">
            <a:spAutoFit/>
          </a:bodyPr>
          <a:lstStyle/>
          <a:p>
            <a:pPr algn="l">
              <a:lnSpc>
                <a:spcPct val="115000"/>
              </a:lnSpc>
            </a:pPr>
            <a:r>
              <a:rPr sz="2700" b="1" i="0">
                <a:solidFill>
                  <a:srgbClr val="FFFFFF"/>
                </a:solidFill>
                <a:latin typeface="Arial Rounded MT Bold"/>
              </a:rPr>
              <a:t>Is a company's cloud infrastructure — spread across five AWS data centers on three continents — “decentralized”?</a:t>
            </a:r>
          </a:p>
        </p:txBody>
      </p:sp>
      <p:sp>
        <p:nvSpPr>
          <p:cNvPr id="7" name="Rectangle 6"/>
          <p:cNvSpPr/>
          <p:nvPr/>
        </p:nvSpPr>
        <p:spPr>
          <a:xfrm>
            <a:off x="685800" y="3520440"/>
            <a:ext cx="2011680" cy="41148"/>
          </a:xfrm>
          <a:prstGeom prst="rect">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886200"/>
            <a:ext cx="1463040" cy="320040"/>
          </a:xfrm>
          <a:prstGeom prst="rect">
            <a:avLst/>
          </a:prstGeom>
          <a:noFill/>
        </p:spPr>
        <p:txBody>
          <a:bodyPr wrap="square" anchor="t" lIns="0" rIns="0" tIns="0" bIns="0">
            <a:spAutoFit/>
          </a:bodyPr>
          <a:lstStyle/>
          <a:p>
            <a:pPr algn="l">
              <a:lnSpc>
                <a:spcPct val="115000"/>
              </a:lnSpc>
            </a:pPr>
            <a:r>
              <a:rPr sz="1100" b="1" i="0">
                <a:solidFill>
                  <a:srgbClr val="FDC646"/>
                </a:solidFill>
                <a:latin typeface="Arial"/>
              </a:rPr>
              <a:t>ANSWER</a:t>
            </a:r>
          </a:p>
        </p:txBody>
      </p:sp>
      <p:sp>
        <p:nvSpPr>
          <p:cNvPr id="9" name="TextBox 8"/>
          <p:cNvSpPr txBox="1"/>
          <p:nvPr/>
        </p:nvSpPr>
        <p:spPr>
          <a:xfrm>
            <a:off x="685800" y="4297680"/>
            <a:ext cx="10241280" cy="2011680"/>
          </a:xfrm>
          <a:prstGeom prst="rect">
            <a:avLst/>
          </a:prstGeom>
          <a:noFill/>
        </p:spPr>
        <p:txBody>
          <a:bodyPr wrap="square" anchor="t" lIns="0" rIns="0" tIns="0" bIns="0">
            <a:spAutoFit/>
          </a:bodyPr>
          <a:lstStyle/>
          <a:p>
            <a:pPr algn="l">
              <a:lnSpc>
                <a:spcPct val="150000"/>
              </a:lnSpc>
            </a:pPr>
            <a:r>
              <a:rPr sz="1500" b="0" i="0">
                <a:solidFill>
                  <a:srgbClr val="E3E0F7"/>
                </a:solidFill>
                <a:latin typeface="Arial"/>
              </a:rPr>
              <a:t>No — it's distributed, not decentralized. It may survive one data center going offline, but one company still makes every decision about every one of those machines. Decentralization is about who controls the system, not how many machines it runs on.</a:t>
            </a:r>
          </a:p>
        </p:txBody>
      </p:sp>
      <p:sp>
        <p:nvSpPr>
          <p:cNvPr id="10" name="TextBox 9"/>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9A9FB8"/>
                </a:solidFill>
                <a:latin typeface="Courier New"/>
              </a:rPr>
              <a:t>12/22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13_connect.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CONNECT IT</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A Spectrum You Already Have Intuitions About</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A company wiki is centralized — one team can edit or delete anything. Wikipedia lets anyone contribute, but hosting and final moderation sit with one nonprofit. BitTorrent has no central host at all — thousands of independent peers hold pieces of a file, and no single peer can make it disappear. Bitcoin and Ethereum sit closer to the BitTorrent end, for the ledger specifically.</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13/22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FLAGSHIP CASE STUDY</a:t>
            </a:r>
          </a:p>
        </p:txBody>
      </p:sp>
      <p:sp>
        <p:nvSpPr>
          <p:cNvPr id="4" name="TextBox 3"/>
          <p:cNvSpPr txBox="1"/>
          <p:nvPr/>
        </p:nvSpPr>
        <p:spPr>
          <a:xfrm>
            <a:off x="685800" y="1005840"/>
            <a:ext cx="10515600" cy="822960"/>
          </a:xfrm>
          <a:prstGeom prst="rect">
            <a:avLst/>
          </a:prstGeom>
          <a:noFill/>
        </p:spPr>
        <p:txBody>
          <a:bodyPr wrap="square" anchor="t" lIns="0" rIns="0" tIns="0" bIns="0">
            <a:spAutoFit/>
          </a:bodyPr>
          <a:lstStyle/>
          <a:p>
            <a:pPr algn="l">
              <a:lnSpc>
                <a:spcPct val="115000"/>
              </a:lnSpc>
            </a:pPr>
            <a:r>
              <a:rPr sz="2800" b="1" i="0">
                <a:solidFill>
                  <a:srgbClr val="221F33"/>
                </a:solidFill>
                <a:latin typeface="Arial Rounded MT Bold"/>
              </a:rPr>
              <a:t>Why Hashing, Signing, And Consensus Aren't Separate From Decentralization</a:t>
            </a:r>
          </a:p>
        </p:txBody>
      </p:sp>
      <p:sp>
        <p:nvSpPr>
          <p:cNvPr id="5" name="Rounded Rectangle 4"/>
          <p:cNvSpPr/>
          <p:nvPr/>
        </p:nvSpPr>
        <p:spPr>
          <a:xfrm>
            <a:off x="685800" y="2286000"/>
            <a:ext cx="10789920" cy="3931920"/>
          </a:xfrm>
          <a:prstGeom prst="roundRect">
            <a:avLst>
              <a:gd name="adj" fmla="val 4000"/>
            </a:avLst>
          </a:prstGeom>
          <a:solidFill>
            <a:srgbClr val="228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06040"/>
            <a:ext cx="9875520" cy="3383280"/>
          </a:xfrm>
          <a:prstGeom prst="rect">
            <a:avLst/>
          </a:prstGeom>
          <a:noFill/>
        </p:spPr>
        <p:txBody>
          <a:bodyPr wrap="square" anchor="t" lIns="0" rIns="0" tIns="0" bIns="0">
            <a:spAutoFit/>
          </a:bodyPr>
          <a:lstStyle/>
          <a:p>
            <a:pPr algn="l">
              <a:lnSpc>
                <a:spcPct val="155000"/>
              </a:lnSpc>
            </a:pPr>
            <a:r>
              <a:rPr sz="1500" b="0" i="0">
                <a:solidFill>
                  <a:srgbClr val="FFFFFF"/>
                </a:solidFill>
                <a:latin typeface="Arial"/>
              </a:rPr>
              <a:t>Week 1 spent three topics on cryptographic mechanics before ever saying the word “decentralization.” That wasn't a detour — hashing, signing, and consensus are the actual engineering mechanisms that make a system with no central authority still trustworthy. Take any one away, and decentralization stops being credible: without hashing, tampering goes undetected; without signing, anyone could forge a transaction; without consensus, the network can't agree on one shared truth.</a:t>
            </a:r>
          </a:p>
        </p:txBody>
      </p:sp>
      <p:sp>
        <p:nvSpPr>
          <p:cNvPr id="7" name="TextBox 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14/22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REAL-WORLD USES</a:t>
            </a:r>
          </a:p>
        </p:txBody>
      </p:sp>
      <p:sp>
        <p:nvSpPr>
          <p:cNvPr id="4" name="TextBox 3"/>
          <p:cNvSpPr txBox="1"/>
          <p:nvPr/>
        </p:nvSpPr>
        <p:spPr>
          <a:xfrm>
            <a:off x="685800" y="914400"/>
            <a:ext cx="4297680" cy="1463040"/>
          </a:xfrm>
          <a:prstGeom prst="rect">
            <a:avLst/>
          </a:prstGeom>
          <a:noFill/>
        </p:spPr>
        <p:txBody>
          <a:bodyPr wrap="square" anchor="t" lIns="0" rIns="0" tIns="0" bIns="0">
            <a:spAutoFit/>
          </a:bodyPr>
          <a:lstStyle/>
          <a:p>
            <a:pPr algn="l">
              <a:lnSpc>
                <a:spcPct val="105000"/>
              </a:lnSpc>
            </a:pPr>
            <a:r>
              <a:rPr sz="2700" b="1" i="0">
                <a:solidFill>
                  <a:srgbClr val="221F33"/>
                </a:solidFill>
                <a:latin typeface="Arial Rounded MT Bold"/>
              </a:rPr>
              <a:t>Where This Shows Up</a:t>
            </a:r>
          </a:p>
        </p:txBody>
      </p:sp>
      <p:sp>
        <p:nvSpPr>
          <p:cNvPr id="5" name="TextBox 4"/>
          <p:cNvSpPr txBox="1"/>
          <p:nvPr/>
        </p:nvSpPr>
        <p:spPr>
          <a:xfrm>
            <a:off x="685800" y="2468880"/>
            <a:ext cx="4023360" cy="2286000"/>
          </a:xfrm>
          <a:prstGeom prst="rect">
            <a:avLst/>
          </a:prstGeom>
          <a:noFill/>
        </p:spPr>
        <p:txBody>
          <a:bodyPr wrap="square" anchor="t" lIns="0" rIns="0" tIns="0" bIns="0">
            <a:spAutoFit/>
          </a:bodyPr>
          <a:lstStyle/>
          <a:p>
            <a:pPr algn="l">
              <a:lnSpc>
                <a:spcPct val="140000"/>
              </a:lnSpc>
            </a:pPr>
            <a:r>
              <a:rPr sz="1200" b="0" i="0">
                <a:solidFill>
                  <a:srgbClr val="8B8899"/>
                </a:solidFill>
                <a:latin typeface="Arial"/>
              </a:rPr>
              <a:t>Decentralization shows up anywhere a single point of control or failure is a problem worth solving.</a:t>
            </a:r>
          </a:p>
        </p:txBody>
      </p:sp>
      <p:sp>
        <p:nvSpPr>
          <p:cNvPr id="6" name="Oval 5"/>
          <p:cNvSpPr/>
          <p:nvPr/>
        </p:nvSpPr>
        <p:spPr>
          <a:xfrm>
            <a:off x="82296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728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4592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57800" y="960120"/>
            <a:ext cx="2331720" cy="1783080"/>
          </a:xfrm>
          <a:prstGeom prst="roundRect">
            <a:avLst>
              <a:gd name="adj" fmla="val 1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40680" y="1143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6C5FE8"/>
                </a:solidFill>
              </a:rPr>
              <a:t>◈</a:t>
            </a:r>
          </a:p>
        </p:txBody>
      </p:sp>
      <p:sp>
        <p:nvSpPr>
          <p:cNvPr id="12" name="TextBox 11"/>
          <p:cNvSpPr txBox="1"/>
          <p:nvPr/>
        </p:nvSpPr>
        <p:spPr>
          <a:xfrm>
            <a:off x="5440680" y="1737360"/>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DNS</a:t>
            </a:r>
          </a:p>
        </p:txBody>
      </p:sp>
      <p:sp>
        <p:nvSpPr>
          <p:cNvPr id="13" name="TextBox 12"/>
          <p:cNvSpPr txBox="1"/>
          <p:nvPr/>
        </p:nvSpPr>
        <p:spPr>
          <a:xfrm>
            <a:off x="5440680" y="2157984"/>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Many independent servers, but top-level domain control sits with a few registries.</a:t>
            </a:r>
          </a:p>
        </p:txBody>
      </p:sp>
      <p:sp>
        <p:nvSpPr>
          <p:cNvPr id="14" name="Rounded Rectangle 13"/>
          <p:cNvSpPr/>
          <p:nvPr/>
        </p:nvSpPr>
        <p:spPr>
          <a:xfrm>
            <a:off x="7790688" y="960120"/>
            <a:ext cx="2331720" cy="1783080"/>
          </a:xfrm>
          <a:prstGeom prst="roundRect">
            <a:avLst>
              <a:gd name="adj" fmla="val 1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73568" y="1143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35C078"/>
                </a:solidFill>
              </a:rPr>
              <a:t>◇</a:t>
            </a:r>
          </a:p>
        </p:txBody>
      </p:sp>
      <p:sp>
        <p:nvSpPr>
          <p:cNvPr id="16" name="TextBox 15"/>
          <p:cNvSpPr txBox="1"/>
          <p:nvPr/>
        </p:nvSpPr>
        <p:spPr>
          <a:xfrm>
            <a:off x="7973568" y="1737360"/>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Open-Source Dev</a:t>
            </a:r>
          </a:p>
        </p:txBody>
      </p:sp>
      <p:sp>
        <p:nvSpPr>
          <p:cNvPr id="17" name="TextBox 16"/>
          <p:cNvSpPr txBox="1"/>
          <p:nvPr/>
        </p:nvSpPr>
        <p:spPr>
          <a:xfrm>
            <a:off x="7973568" y="2157984"/>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Anyone can fork a repo and keep developing independently of the official maintainers.</a:t>
            </a:r>
          </a:p>
        </p:txBody>
      </p:sp>
      <p:sp>
        <p:nvSpPr>
          <p:cNvPr id="18" name="Rounded Rectangle 17"/>
          <p:cNvSpPr/>
          <p:nvPr/>
        </p:nvSpPr>
        <p:spPr>
          <a:xfrm>
            <a:off x="5257800" y="2944368"/>
            <a:ext cx="2331720" cy="1783080"/>
          </a:xfrm>
          <a:prstGeom prst="roundRect">
            <a:avLst>
              <a:gd name="adj" fmla="val 1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440680" y="312724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2734B"/>
                </a:solidFill>
              </a:rPr>
              <a:t>✉</a:t>
            </a:r>
          </a:p>
        </p:txBody>
      </p:sp>
      <p:sp>
        <p:nvSpPr>
          <p:cNvPr id="20" name="TextBox 19"/>
          <p:cNvSpPr txBox="1"/>
          <p:nvPr/>
        </p:nvSpPr>
        <p:spPr>
          <a:xfrm>
            <a:off x="5440680" y="3721608"/>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Email (SMTP)</a:t>
            </a:r>
          </a:p>
        </p:txBody>
      </p:sp>
      <p:sp>
        <p:nvSpPr>
          <p:cNvPr id="21" name="TextBox 20"/>
          <p:cNvSpPr txBox="1"/>
          <p:nvPr/>
        </p:nvSpPr>
        <p:spPr>
          <a:xfrm>
            <a:off x="5440680" y="4142232"/>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Anyone can run a mail server, but a handful of providers handle most real traffic.</a:t>
            </a:r>
          </a:p>
        </p:txBody>
      </p:sp>
      <p:sp>
        <p:nvSpPr>
          <p:cNvPr id="22" name="Rounded Rectangle 21"/>
          <p:cNvSpPr/>
          <p:nvPr/>
        </p:nvSpPr>
        <p:spPr>
          <a:xfrm>
            <a:off x="7790688" y="2944368"/>
            <a:ext cx="2331720" cy="1783080"/>
          </a:xfrm>
          <a:prstGeom prst="roundRect">
            <a:avLst>
              <a:gd name="adj" fmla="val 10000"/>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73568" y="312724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DC646"/>
                </a:solidFill>
              </a:rPr>
              <a:t>◆</a:t>
            </a:r>
          </a:p>
        </p:txBody>
      </p:sp>
      <p:sp>
        <p:nvSpPr>
          <p:cNvPr id="24" name="TextBox 23"/>
          <p:cNvSpPr txBox="1"/>
          <p:nvPr/>
        </p:nvSpPr>
        <p:spPr>
          <a:xfrm>
            <a:off x="7973568" y="3721608"/>
            <a:ext cx="1965960" cy="685800"/>
          </a:xfrm>
          <a:prstGeom prst="rect">
            <a:avLst/>
          </a:prstGeom>
          <a:noFill/>
        </p:spPr>
        <p:txBody>
          <a:bodyPr wrap="square" anchor="t" lIns="0" rIns="0" tIns="0" bIns="0">
            <a:spAutoFit/>
          </a:bodyPr>
          <a:lstStyle/>
          <a:p>
            <a:pPr algn="l">
              <a:lnSpc>
                <a:spcPct val="105000"/>
              </a:lnSpc>
            </a:pPr>
            <a:r>
              <a:rPr sz="1150" b="1" i="0">
                <a:solidFill>
                  <a:srgbClr val="FFFFFF"/>
                </a:solidFill>
                <a:latin typeface="Arial Rounded MT Bold"/>
              </a:rPr>
              <a:t>Public Blockchains</a:t>
            </a:r>
          </a:p>
        </p:txBody>
      </p:sp>
      <p:sp>
        <p:nvSpPr>
          <p:cNvPr id="25" name="TextBox 24"/>
          <p:cNvSpPr txBox="1"/>
          <p:nvPr/>
        </p:nvSpPr>
        <p:spPr>
          <a:xfrm>
            <a:off x="7973568" y="4462272"/>
            <a:ext cx="1965960" cy="12801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Thousands of independent nodes — no single party can rewrite accepted history.</a:t>
            </a:r>
          </a:p>
        </p:txBody>
      </p:sp>
      <p:sp>
        <p:nvSpPr>
          <p:cNvPr id="26" name="TextBox 25"/>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15/22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5_hook.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REAL-WORLD DEEP-DIVE</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Email: Decentralized By Design, Centralized In Practice</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SMTP — the protocol email runs on — is architecturally decentralized: anyone can stand up a mail server. But in practice, a handful of providers (Gmail, Outlook) handle the overwhelming majority of real-world email. The protocol didn't fail — adoption patterns concentrated control anyway. This exact tension gets a precise name in the next topic.</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16/22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COMMON MISCONCEPTIONS</a:t>
            </a:r>
          </a:p>
        </p:txBody>
      </p:sp>
      <p:sp>
        <p:nvSpPr>
          <p:cNvPr id="4" name="TextBox 3"/>
          <p:cNvSpPr txBox="1"/>
          <p:nvPr/>
        </p:nvSpPr>
        <p:spPr>
          <a:xfrm>
            <a:off x="685800" y="914400"/>
            <a:ext cx="10515600" cy="82296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Where People Get Tripped Up</a:t>
            </a:r>
          </a:p>
        </p:txBody>
      </p:sp>
      <p:sp>
        <p:nvSpPr>
          <p:cNvPr id="5" name="TextBox 4"/>
          <p:cNvSpPr txBox="1"/>
          <p:nvPr/>
        </p:nvSpPr>
        <p:spPr>
          <a:xfrm>
            <a:off x="685800" y="1691640"/>
            <a:ext cx="10515600" cy="548640"/>
          </a:xfrm>
          <a:prstGeom prst="rect">
            <a:avLst/>
          </a:prstGeom>
          <a:noFill/>
        </p:spPr>
        <p:txBody>
          <a:bodyPr wrap="square" anchor="t" lIns="0" rIns="0" tIns="0" bIns="0">
            <a:spAutoFit/>
          </a:bodyPr>
          <a:lstStyle/>
          <a:p>
            <a:pPr algn="l">
              <a:lnSpc>
                <a:spcPct val="140000"/>
              </a:lnSpc>
            </a:pPr>
            <a:r>
              <a:rPr sz="1300" b="0" i="0">
                <a:solidFill>
                  <a:srgbClr val="8B8899"/>
                </a:solidFill>
                <a:latin typeface="Arial"/>
              </a:rPr>
              <a:t>Two claims that sound reasonable, but aren't quite right.</a:t>
            </a:r>
          </a:p>
        </p:txBody>
      </p:sp>
      <p:sp>
        <p:nvSpPr>
          <p:cNvPr id="6" name="Rounded Rectangle 5"/>
          <p:cNvSpPr/>
          <p:nvPr/>
        </p:nvSpPr>
        <p:spPr>
          <a:xfrm>
            <a:off x="685800" y="2560320"/>
            <a:ext cx="5120640" cy="3520440"/>
          </a:xfrm>
          <a:prstGeom prst="roundRect">
            <a:avLst>
              <a:gd name="adj" fmla="val 6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6C5FE8"/>
                </a:solidFill>
                <a:latin typeface="Arial Rounded MT Bold"/>
              </a:rPr>
              <a:t>1</a:t>
            </a:r>
          </a:p>
        </p:txBody>
      </p:sp>
      <p:sp>
        <p:nvSpPr>
          <p:cNvPr id="8" name="TextBox 7"/>
          <p:cNvSpPr txBox="1"/>
          <p:nvPr/>
        </p:nvSpPr>
        <p:spPr>
          <a:xfrm>
            <a:off x="105156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“Decentralized just means 'on a lot of computers.'”</a:t>
            </a:r>
          </a:p>
        </p:txBody>
      </p:sp>
      <p:sp>
        <p:nvSpPr>
          <p:cNvPr id="9" name="TextBox 8"/>
          <p:cNvSpPr txBox="1"/>
          <p:nvPr/>
        </p:nvSpPr>
        <p:spPr>
          <a:xfrm>
            <a:off x="105156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That's distribution, not decentralization. The number of machines tells you nothing about who controls them.</a:t>
            </a:r>
          </a:p>
        </p:txBody>
      </p:sp>
      <p:sp>
        <p:nvSpPr>
          <p:cNvPr id="10" name="Rounded Rectangle 9"/>
          <p:cNvSpPr/>
          <p:nvPr/>
        </p:nvSpPr>
        <p:spPr>
          <a:xfrm>
            <a:off x="6126480" y="2560320"/>
            <a:ext cx="5120640" cy="3520440"/>
          </a:xfrm>
          <a:prstGeom prst="roundRect">
            <a:avLst>
              <a:gd name="adj" fmla="val 6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9224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35C078"/>
                </a:solidFill>
                <a:latin typeface="Arial Rounded MT Bold"/>
              </a:rPr>
              <a:t>2</a:t>
            </a:r>
          </a:p>
        </p:txBody>
      </p:sp>
      <p:sp>
        <p:nvSpPr>
          <p:cNvPr id="12" name="TextBox 11"/>
          <p:cNvSpPr txBox="1"/>
          <p:nvPr/>
        </p:nvSpPr>
        <p:spPr>
          <a:xfrm>
            <a:off x="649224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“Decentralization is all-or-nothing.”</a:t>
            </a:r>
          </a:p>
        </p:txBody>
      </p:sp>
      <p:sp>
        <p:nvSpPr>
          <p:cNvPr id="13" name="TextBox 12"/>
          <p:cNvSpPr txBox="1"/>
          <p:nvPr/>
        </p:nvSpPr>
        <p:spPr>
          <a:xfrm>
            <a:off x="649224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It isn't — a system can be decentralized in design while becoming centralized in practice, like email.</a:t>
            </a:r>
          </a:p>
        </p:txBody>
      </p:sp>
      <p:sp>
        <p:nvSpPr>
          <p:cNvPr id="14" name="TextBox 13"/>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17/22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700101" y="-457200"/>
            <a:ext cx="2181754" cy="2377440"/>
          </a:xfrm>
          <a:custGeom>
            <a:avLst/>
            <a:gdLst/>
            <a:ahLst/>
            <a:cxnLst/>
            <a:rect l="l" t="t" r="r" b="b"/>
            <a:pathLst>
              <a:path w="2181754" h="2377440">
                <a:moveTo>
                  <a:pt x="1089819" y="0"/>
                </a:moveTo>
                <a:lnTo>
                  <a:pt x="1400676" y="67926"/>
                </a:lnTo>
                <a:lnTo>
                  <a:pt x="1686063" y="135853"/>
                </a:lnTo>
                <a:lnTo>
                  <a:pt x="1922596" y="203780"/>
                </a:lnTo>
                <a:lnTo>
                  <a:pt x="2090894" y="271707"/>
                </a:lnTo>
                <a:lnTo>
                  <a:pt x="2177168" y="339634"/>
                </a:lnTo>
                <a:lnTo>
                  <a:pt x="2174349" y="407561"/>
                </a:lnTo>
                <a:lnTo>
                  <a:pt x="2082667" y="475488"/>
                </a:lnTo>
                <a:lnTo>
                  <a:pt x="1909635" y="543414"/>
                </a:lnTo>
                <a:lnTo>
                  <a:pt x="1669431" y="611341"/>
                </a:lnTo>
                <a:lnTo>
                  <a:pt x="1381735" y="679268"/>
                </a:lnTo>
                <a:lnTo>
                  <a:pt x="1070121" y="747195"/>
                </a:lnTo>
                <a:lnTo>
                  <a:pt x="760121" y="815122"/>
                </a:lnTo>
                <a:lnTo>
                  <a:pt x="477135" y="883049"/>
                </a:lnTo>
                <a:lnTo>
                  <a:pt x="244350" y="950976"/>
                </a:lnTo>
                <a:lnTo>
                  <a:pt x="80839" y="1018902"/>
                </a:lnTo>
                <a:lnTo>
                  <a:pt x="0" y="1086829"/>
                </a:lnTo>
                <a:lnTo>
                  <a:pt x="8457" y="1154756"/>
                </a:lnTo>
                <a:lnTo>
                  <a:pt x="105517" y="1222683"/>
                </a:lnTo>
                <a:lnTo>
                  <a:pt x="283226" y="1290610"/>
                </a:lnTo>
                <a:lnTo>
                  <a:pt x="527024" y="1358537"/>
                </a:lnTo>
                <a:lnTo>
                  <a:pt x="816936" y="1426464"/>
                </a:lnTo>
                <a:lnTo>
                  <a:pt x="1129207" y="1494390"/>
                </a:lnTo>
                <a:lnTo>
                  <a:pt x="1438250" y="1562317"/>
                </a:lnTo>
                <a:lnTo>
                  <a:pt x="1718744" y="1630244"/>
                </a:lnTo>
                <a:lnTo>
                  <a:pt x="1947707" y="1698171"/>
                </a:lnTo>
                <a:lnTo>
                  <a:pt x="2106377" y="1766098"/>
                </a:lnTo>
                <a:lnTo>
                  <a:pt x="2181754" y="1834025"/>
                </a:lnTo>
                <a:lnTo>
                  <a:pt x="2167663" y="1901952"/>
                </a:lnTo>
                <a:lnTo>
                  <a:pt x="2065257" y="1969878"/>
                </a:lnTo>
                <a:lnTo>
                  <a:pt x="1882927" y="2037805"/>
                </a:lnTo>
                <a:lnTo>
                  <a:pt x="1635613" y="2105732"/>
                </a:lnTo>
                <a:lnTo>
                  <a:pt x="1343579" y="2173659"/>
                </a:lnTo>
                <a:lnTo>
                  <a:pt x="1030752" y="2241586"/>
                </a:lnTo>
                <a:lnTo>
                  <a:pt x="722765" y="2309513"/>
                </a:lnTo>
                <a:lnTo>
                  <a:pt x="444853" y="2377440"/>
                </a:lnTo>
              </a:path>
            </a:pathLst>
          </a:custGeom>
          <a:noFill/>
          <a:ln w="146304"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731520"/>
            <a:ext cx="777240" cy="777240"/>
          </a:xfrm>
          <a:prstGeom prst="ellipse">
            <a:avLst/>
          </a:prstGeom>
          <a:solidFill>
            <a:srgbClr val="228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3000" b="1">
                <a:solidFill>
                  <a:srgbClr val="FFFFFF"/>
                </a:solidFill>
                <a:latin typeface="Arial Rounded MT Bold"/>
              </a:rPr>
              <a:t>?</a:t>
            </a:r>
          </a:p>
        </p:txBody>
      </p:sp>
      <p:sp>
        <p:nvSpPr>
          <p:cNvPr id="5" name="TextBox 4"/>
          <p:cNvSpPr txBox="1"/>
          <p:nvPr/>
        </p:nvSpPr>
        <p:spPr>
          <a:xfrm>
            <a:off x="1737360" y="86868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ONE MORE CHECK</a:t>
            </a:r>
          </a:p>
        </p:txBody>
      </p:sp>
      <p:sp>
        <p:nvSpPr>
          <p:cNvPr id="6" name="TextBox 5"/>
          <p:cNvSpPr txBox="1"/>
          <p:nvPr/>
        </p:nvSpPr>
        <p:spPr>
          <a:xfrm>
            <a:off x="685800" y="1828800"/>
            <a:ext cx="10607040" cy="1554480"/>
          </a:xfrm>
          <a:prstGeom prst="rect">
            <a:avLst/>
          </a:prstGeom>
          <a:noFill/>
        </p:spPr>
        <p:txBody>
          <a:bodyPr wrap="square" anchor="t" lIns="0" rIns="0" tIns="0" bIns="0">
            <a:spAutoFit/>
          </a:bodyPr>
          <a:lstStyle/>
          <a:p>
            <a:pPr algn="l">
              <a:lnSpc>
                <a:spcPct val="115000"/>
              </a:lnSpc>
            </a:pPr>
            <a:r>
              <a:rPr sz="2700" b="1" i="0">
                <a:solidFill>
                  <a:srgbClr val="FFFFFF"/>
                </a:solidFill>
                <a:latin typeface="Arial Rounded MT Bold"/>
              </a:rPr>
              <a:t>If Wikipedia lets anyone edit an article, why isn't Wikipedia considered fully decentralized?</a:t>
            </a:r>
          </a:p>
        </p:txBody>
      </p:sp>
      <p:sp>
        <p:nvSpPr>
          <p:cNvPr id="7" name="Rectangle 6"/>
          <p:cNvSpPr/>
          <p:nvPr/>
        </p:nvSpPr>
        <p:spPr>
          <a:xfrm>
            <a:off x="685800" y="3520440"/>
            <a:ext cx="2011680" cy="41148"/>
          </a:xfrm>
          <a:prstGeom prst="rect">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886200"/>
            <a:ext cx="1463040" cy="320040"/>
          </a:xfrm>
          <a:prstGeom prst="rect">
            <a:avLst/>
          </a:prstGeom>
          <a:noFill/>
        </p:spPr>
        <p:txBody>
          <a:bodyPr wrap="square" anchor="t" lIns="0" rIns="0" tIns="0" bIns="0">
            <a:spAutoFit/>
          </a:bodyPr>
          <a:lstStyle/>
          <a:p>
            <a:pPr algn="l">
              <a:lnSpc>
                <a:spcPct val="115000"/>
              </a:lnSpc>
            </a:pPr>
            <a:r>
              <a:rPr sz="1100" b="1" i="0">
                <a:solidFill>
                  <a:srgbClr val="FDC646"/>
                </a:solidFill>
                <a:latin typeface="Arial"/>
              </a:rPr>
              <a:t>ANSWER</a:t>
            </a:r>
          </a:p>
        </p:txBody>
      </p:sp>
      <p:sp>
        <p:nvSpPr>
          <p:cNvPr id="9" name="TextBox 8"/>
          <p:cNvSpPr txBox="1"/>
          <p:nvPr/>
        </p:nvSpPr>
        <p:spPr>
          <a:xfrm>
            <a:off x="685800" y="4297680"/>
            <a:ext cx="10241280" cy="2011680"/>
          </a:xfrm>
          <a:prstGeom prst="rect">
            <a:avLst/>
          </a:prstGeom>
          <a:noFill/>
        </p:spPr>
        <p:txBody>
          <a:bodyPr wrap="square" anchor="t" lIns="0" rIns="0" tIns="0" bIns="0">
            <a:spAutoFit/>
          </a:bodyPr>
          <a:lstStyle/>
          <a:p>
            <a:pPr algn="l">
              <a:lnSpc>
                <a:spcPct val="150000"/>
              </a:lnSpc>
            </a:pPr>
            <a:r>
              <a:rPr sz="1500" b="0" i="0">
                <a:solidFill>
                  <a:srgbClr val="E3E0F7"/>
                </a:solidFill>
                <a:latin typeface="Arial"/>
              </a:rPr>
              <a:t>Because editing being open doesn't mean control is distributed. Hosting, final moderation authority, and the ability to ban an editor or roll back the entire site sit with one nonprofit organization. Contribution is open; ultimate control is not — and it's control that decentralization is actually about.</a:t>
            </a:r>
          </a:p>
        </p:txBody>
      </p:sp>
      <p:sp>
        <p:nvSpPr>
          <p:cNvPr id="10" name="TextBox 9"/>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9A9FB8"/>
                </a:solidFill>
                <a:latin typeface="Courier New"/>
              </a:rPr>
              <a:t>18/22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HANDS-ON PRACTICE</a:t>
            </a:r>
          </a:p>
        </p:txBody>
      </p:sp>
      <p:sp>
        <p:nvSpPr>
          <p:cNvPr id="4" name="TextBox 3"/>
          <p:cNvSpPr txBox="1"/>
          <p:nvPr/>
        </p:nvSpPr>
        <p:spPr>
          <a:xfrm>
            <a:off x="685800" y="914400"/>
            <a:ext cx="420624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Do This Now</a:t>
            </a:r>
          </a:p>
        </p:txBody>
      </p:sp>
      <p:pic>
        <p:nvPicPr>
          <p:cNvPr id="5" name="Picture 4" descr="_c_tl3_rules.jpg"/>
          <p:cNvPicPr>
            <a:picLocks noChangeAspect="1"/>
          </p:cNvPicPr>
          <p:nvPr/>
        </p:nvPicPr>
        <p:blipFill>
          <a:blip r:embed="rId2"/>
          <a:stretch>
            <a:fillRect/>
          </a:stretch>
        </p:blipFill>
        <p:spPr>
          <a:xfrm>
            <a:off x="685800" y="2377440"/>
            <a:ext cx="4206240" cy="3291840"/>
          </a:xfrm>
          <a:prstGeom prst="rect">
            <a:avLst/>
          </a:prstGeom>
        </p:spPr>
      </p:pic>
      <p:sp>
        <p:nvSpPr>
          <p:cNvPr id="6" name="Rounded Rectangle 5"/>
          <p:cNvSpPr/>
          <p:nvPr/>
        </p:nvSpPr>
        <p:spPr>
          <a:xfrm>
            <a:off x="5486400" y="1005840"/>
            <a:ext cx="621792" cy="365760"/>
          </a:xfrm>
          <a:prstGeom prst="roundRect">
            <a:avLst>
              <a:gd name="adj" fmla="val 5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01</a:t>
            </a:r>
          </a:p>
        </p:txBody>
      </p:sp>
      <p:sp>
        <p:nvSpPr>
          <p:cNvPr id="7" name="TextBox 6"/>
          <p:cNvSpPr txBox="1"/>
          <p:nvPr/>
        </p:nvSpPr>
        <p:spPr>
          <a:xfrm>
            <a:off x="6172200" y="98755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Classify 3 systems you use daily</a:t>
            </a:r>
          </a:p>
        </p:txBody>
      </p:sp>
      <p:sp>
        <p:nvSpPr>
          <p:cNvPr id="8" name="TextBox 7"/>
          <p:cNvSpPr txBox="1"/>
          <p:nvPr/>
        </p:nvSpPr>
        <p:spPr>
          <a:xfrm>
            <a:off x="6172200" y="138988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A messaging app, a payment app, a social network — centralized, distributed, or decentralized?</a:t>
            </a:r>
          </a:p>
        </p:txBody>
      </p:sp>
      <p:cxnSp>
        <p:nvCxnSpPr>
          <p:cNvPr id="9" name="Connector 8"/>
          <p:cNvCxnSpPr/>
          <p:nvPr/>
        </p:nvCxnSpPr>
        <p:spPr>
          <a:xfrm>
            <a:off x="5742432" y="141732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0" y="2057400"/>
            <a:ext cx="621792" cy="365760"/>
          </a:xfrm>
          <a:prstGeom prst="roundRect">
            <a:avLst>
              <a:gd name="adj" fmla="val 5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02</a:t>
            </a:r>
          </a:p>
        </p:txBody>
      </p:sp>
      <p:sp>
        <p:nvSpPr>
          <p:cNvPr id="11" name="TextBox 10"/>
          <p:cNvSpPr txBox="1"/>
          <p:nvPr/>
        </p:nvSpPr>
        <p:spPr>
          <a:xfrm>
            <a:off x="6172200" y="203911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Justify each classification</a:t>
            </a:r>
          </a:p>
        </p:txBody>
      </p:sp>
      <p:sp>
        <p:nvSpPr>
          <p:cNvPr id="12" name="TextBox 11"/>
          <p:cNvSpPr txBox="1"/>
          <p:nvPr/>
        </p:nvSpPr>
        <p:spPr>
          <a:xfrm>
            <a:off x="6172200" y="244144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Specifically: who could unilaterally change or delete your data?</a:t>
            </a:r>
          </a:p>
        </p:txBody>
      </p:sp>
      <p:cxnSp>
        <p:nvCxnSpPr>
          <p:cNvPr id="13" name="Connector 12"/>
          <p:cNvCxnSpPr/>
          <p:nvPr/>
        </p:nvCxnSpPr>
        <p:spPr>
          <a:xfrm>
            <a:off x="5742432" y="246888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0" y="3108960"/>
            <a:ext cx="621792" cy="365760"/>
          </a:xfrm>
          <a:prstGeom prst="roundRect">
            <a:avLst>
              <a:gd name="adj" fmla="val 5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03</a:t>
            </a:r>
          </a:p>
        </p:txBody>
      </p:sp>
      <p:sp>
        <p:nvSpPr>
          <p:cNvPr id="15" name="TextBox 14"/>
          <p:cNvSpPr txBox="1"/>
          <p:nvPr/>
        </p:nvSpPr>
        <p:spPr>
          <a:xfrm>
            <a:off x="6172200" y="309067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Revisit your Week 1 transaction</a:t>
            </a:r>
          </a:p>
        </p:txBody>
      </p:sp>
      <p:sp>
        <p:nvSpPr>
          <p:cNvPr id="16" name="TextBox 15"/>
          <p:cNvSpPr txBox="1"/>
          <p:nvPr/>
        </p:nvSpPr>
        <p:spPr>
          <a:xfrm>
            <a:off x="6172200" y="349300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Write down who would have to agree to falsify that Etherscan record.</a:t>
            </a:r>
          </a:p>
        </p:txBody>
      </p:sp>
      <p:sp>
        <p:nvSpPr>
          <p:cNvPr id="17" name="TextBox 1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19/22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822960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RESOURCES</a:t>
            </a:r>
          </a:p>
        </p:txBody>
      </p:sp>
      <p:sp>
        <p:nvSpPr>
          <p:cNvPr id="4" name="TextBox 3"/>
          <p:cNvSpPr txBox="1"/>
          <p:nvPr/>
        </p:nvSpPr>
        <p:spPr>
          <a:xfrm>
            <a:off x="685800" y="1051560"/>
            <a:ext cx="10058400" cy="91440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Watch, Read, Explore</a:t>
            </a:r>
          </a:p>
        </p:txBody>
      </p:sp>
      <p:sp>
        <p:nvSpPr>
          <p:cNvPr id="5" name="TextBox 4"/>
          <p:cNvSpPr txBox="1"/>
          <p:nvPr/>
        </p:nvSpPr>
        <p:spPr>
          <a:xfrm>
            <a:off x="685800" y="2286000"/>
            <a:ext cx="274320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RECOMMENDED VIDEOS</a:t>
            </a:r>
          </a:p>
        </p:txBody>
      </p:sp>
      <p:sp>
        <p:nvSpPr>
          <p:cNvPr id="6" name="TextBox 5"/>
          <p:cNvSpPr txBox="1"/>
          <p:nvPr/>
        </p:nvSpPr>
        <p:spPr>
          <a:xfrm>
            <a:off x="685800" y="2651760"/>
            <a:ext cx="10058400" cy="822960"/>
          </a:xfrm>
          <a:prstGeom prst="rect">
            <a:avLst/>
          </a:prstGeom>
          <a:noFill/>
        </p:spPr>
        <p:txBody>
          <a:bodyPr wrap="square" anchor="t" lIns="0" rIns="0" tIns="0" bIns="0">
            <a:spAutoFit/>
          </a:bodyPr>
          <a:lstStyle/>
          <a:p>
            <a:pPr algn="l">
              <a:lnSpc>
                <a:spcPct val="140000"/>
              </a:lnSpc>
            </a:pPr>
            <a:r>
              <a:rPr sz="1400" b="0" i="0">
                <a:solidFill>
                  <a:srgbClr val="8B8899"/>
                </a:solidFill>
                <a:latin typeface="Arial"/>
              </a:rPr>
              <a:t>Decentralization Explained: No Central Authority | Blockchain Basics for Beginners</a:t>
            </a:r>
          </a:p>
        </p:txBody>
      </p:sp>
      <p:sp>
        <p:nvSpPr>
          <p:cNvPr id="7" name="TextBox 6"/>
          <p:cNvSpPr txBox="1"/>
          <p:nvPr/>
        </p:nvSpPr>
        <p:spPr>
          <a:xfrm>
            <a:off x="685800" y="3474720"/>
            <a:ext cx="2743200" cy="320040"/>
          </a:xfrm>
          <a:prstGeom prst="rect">
            <a:avLst/>
          </a:prstGeom>
          <a:noFill/>
        </p:spPr>
        <p:txBody>
          <a:bodyPr wrap="square" anchor="t" lIns="0" rIns="0" tIns="0" bIns="0">
            <a:spAutoFit/>
          </a:bodyPr>
          <a:lstStyle/>
          <a:p>
            <a:pPr algn="l">
              <a:lnSpc>
                <a:spcPct val="115000"/>
              </a:lnSpc>
            </a:pPr>
            <a:r>
              <a:rPr sz="1150" b="1" i="0">
                <a:solidFill>
                  <a:srgbClr val="228BC4"/>
                </a:solidFill>
                <a:latin typeface="Arial"/>
              </a:rPr>
              <a:t>PRACTICE SITE</a:t>
            </a:r>
          </a:p>
        </p:txBody>
      </p:sp>
      <p:sp>
        <p:nvSpPr>
          <p:cNvPr id="8" name="TextBox 7"/>
          <p:cNvSpPr txBox="1"/>
          <p:nvPr/>
        </p:nvSpPr>
        <p:spPr>
          <a:xfrm>
            <a:off x="685800" y="3840480"/>
            <a:ext cx="10058400" cy="822960"/>
          </a:xfrm>
          <a:prstGeom prst="rect">
            <a:avLst/>
          </a:prstGeom>
          <a:noFill/>
        </p:spPr>
        <p:txBody>
          <a:bodyPr wrap="square" anchor="t" lIns="0" rIns="0" tIns="0" bIns="0">
            <a:spAutoFit/>
          </a:bodyPr>
          <a:lstStyle/>
          <a:p>
            <a:pPr algn="l">
              <a:lnSpc>
                <a:spcPct val="140000"/>
              </a:lnSpc>
            </a:pPr>
            <a:r>
              <a:rPr sz="1400" b="0" i="0">
                <a:solidFill>
                  <a:srgbClr val="8B8899"/>
                </a:solidFill>
                <a:latin typeface="Arial"/>
              </a:rPr>
              <a:t>Your own Week 1 Etherscan transaction — revisit it with this topic's lens.</a:t>
            </a: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TAKE-HOME ASSIGNMENT</a:t>
            </a:r>
          </a:p>
        </p:txBody>
      </p:sp>
      <p:sp>
        <p:nvSpPr>
          <p:cNvPr id="4" name="TextBox 3"/>
          <p:cNvSpPr txBox="1"/>
          <p:nvPr/>
        </p:nvSpPr>
        <p:spPr>
          <a:xfrm>
            <a:off x="685800" y="914400"/>
            <a:ext cx="429768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Before You Move On</a:t>
            </a:r>
          </a:p>
        </p:txBody>
      </p:sp>
      <p:pic>
        <p:nvPicPr>
          <p:cNvPr id="5" name="Picture 4" descr="_c_fl21_takehome.jpg"/>
          <p:cNvPicPr>
            <a:picLocks noChangeAspect="1"/>
          </p:cNvPicPr>
          <p:nvPr/>
        </p:nvPicPr>
        <p:blipFill>
          <a:blip r:embed="rId2"/>
          <a:stretch>
            <a:fillRect/>
          </a:stretch>
        </p:blipFill>
        <p:spPr>
          <a:xfrm>
            <a:off x="685800" y="2377440"/>
            <a:ext cx="4297680" cy="3383280"/>
          </a:xfrm>
          <a:prstGeom prst="rect">
            <a:avLst/>
          </a:prstGeom>
        </p:spPr>
      </p:pic>
      <p:sp>
        <p:nvSpPr>
          <p:cNvPr id="6" name="Rounded Rectangle 5"/>
          <p:cNvSpPr/>
          <p:nvPr/>
        </p:nvSpPr>
        <p:spPr>
          <a:xfrm>
            <a:off x="5532120" y="1051560"/>
            <a:ext cx="502920" cy="502920"/>
          </a:xfrm>
          <a:prstGeom prst="roundRect">
            <a:avLst>
              <a:gd name="adj" fmla="val 25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7" name="TextBox 6"/>
          <p:cNvSpPr txBox="1"/>
          <p:nvPr/>
        </p:nvSpPr>
        <p:spPr>
          <a:xfrm>
            <a:off x="6217920" y="103327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Pick a real system</a:t>
            </a:r>
          </a:p>
        </p:txBody>
      </p:sp>
      <p:sp>
        <p:nvSpPr>
          <p:cNvPr id="8" name="TextBox 7"/>
          <p:cNvSpPr txBox="1"/>
          <p:nvPr/>
        </p:nvSpPr>
        <p:spPr>
          <a:xfrm>
            <a:off x="6217920" y="143560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A company, app, or service you use — what would have to be true for it to become genuinely decentralized?</a:t>
            </a:r>
          </a:p>
        </p:txBody>
      </p:sp>
      <p:sp>
        <p:nvSpPr>
          <p:cNvPr id="9" name="Rounded Rectangle 8"/>
          <p:cNvSpPr/>
          <p:nvPr/>
        </p:nvSpPr>
        <p:spPr>
          <a:xfrm>
            <a:off x="5532120" y="2468880"/>
            <a:ext cx="502920" cy="502920"/>
          </a:xfrm>
          <a:prstGeom prst="roundRect">
            <a:avLst>
              <a:gd name="adj" fmla="val 25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10" name="TextBox 9"/>
          <p:cNvSpPr txBox="1"/>
          <p:nvPr/>
        </p:nvSpPr>
        <p:spPr>
          <a:xfrm>
            <a:off x="6217920" y="245059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Name who holds control now</a:t>
            </a:r>
          </a:p>
        </p:txBody>
      </p:sp>
      <p:sp>
        <p:nvSpPr>
          <p:cNvPr id="11" name="TextBox 10"/>
          <p:cNvSpPr txBox="1"/>
          <p:nvPr/>
        </p:nvSpPr>
        <p:spPr>
          <a:xfrm>
            <a:off x="6217920" y="285292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Be specific about who currently holds unilateral control.</a:t>
            </a:r>
          </a:p>
        </p:txBody>
      </p:sp>
      <p:sp>
        <p:nvSpPr>
          <p:cNvPr id="12" name="Rounded Rectangle 11"/>
          <p:cNvSpPr/>
          <p:nvPr/>
        </p:nvSpPr>
        <p:spPr>
          <a:xfrm>
            <a:off x="5532120" y="3886200"/>
            <a:ext cx="502920" cy="502920"/>
          </a:xfrm>
          <a:prstGeom prst="roundRect">
            <a:avLst>
              <a:gd name="adj" fmla="val 25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13" name="TextBox 12"/>
          <p:cNvSpPr txBox="1"/>
          <p:nvPr/>
        </p:nvSpPr>
        <p:spPr>
          <a:xfrm>
            <a:off x="6217920" y="386791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Name what would need to change</a:t>
            </a:r>
          </a:p>
        </p:txBody>
      </p:sp>
      <p:sp>
        <p:nvSpPr>
          <p:cNvPr id="14" name="TextBox 13"/>
          <p:cNvSpPr txBox="1"/>
          <p:nvPr/>
        </p:nvSpPr>
        <p:spPr>
          <a:xfrm>
            <a:off x="6217920" y="427024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Concretely — not just "more servers."</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21/22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7044576" y="-731520"/>
            <a:ext cx="5382948" cy="8321040"/>
          </a:xfrm>
          <a:custGeom>
            <a:avLst/>
            <a:gdLst/>
            <a:ahLst/>
            <a:cxnLst/>
            <a:rect l="l" t="t" r="r" b="b"/>
            <a:pathLst>
              <a:path w="5382948" h="8321040">
                <a:moveTo>
                  <a:pt x="2693784" y="0"/>
                </a:moveTo>
                <a:lnTo>
                  <a:pt x="3459909" y="173355"/>
                </a:lnTo>
                <a:lnTo>
                  <a:pt x="4162936" y="346710"/>
                </a:lnTo>
                <a:lnTo>
                  <a:pt x="4744963" y="520065"/>
                </a:lnTo>
                <a:lnTo>
                  <a:pt x="5158054" y="693420"/>
                </a:lnTo>
                <a:lnTo>
                  <a:pt x="5368186" y="866775"/>
                </a:lnTo>
                <a:lnTo>
                  <a:pt x="5358053" y="1040130"/>
                </a:lnTo>
                <a:lnTo>
                  <a:pt x="5128489" y="1213485"/>
                </a:lnTo>
                <a:lnTo>
                  <a:pt x="4698402" y="1386840"/>
                </a:lnTo>
                <a:lnTo>
                  <a:pt x="4103213" y="1560195"/>
                </a:lnTo>
                <a:lnTo>
                  <a:pt x="3391943" y="1733550"/>
                </a:lnTo>
                <a:lnTo>
                  <a:pt x="2623172" y="1906905"/>
                </a:lnTo>
                <a:lnTo>
                  <a:pt x="1860216" y="2080260"/>
                </a:lnTo>
                <a:lnTo>
                  <a:pt x="1165914" y="2253615"/>
                </a:lnTo>
                <a:lnTo>
                  <a:pt x="597448" y="2426970"/>
                </a:lnTo>
                <a:lnTo>
                  <a:pt x="201637" y="2600325"/>
                </a:lnTo>
                <a:lnTo>
                  <a:pt x="11081" y="2773680"/>
                </a:lnTo>
                <a:lnTo>
                  <a:pt x="41473" y="2947035"/>
                </a:lnTo>
                <a:lnTo>
                  <a:pt x="290311" y="3120390"/>
                </a:lnTo>
                <a:lnTo>
                  <a:pt x="737101" y="3293745"/>
                </a:lnTo>
                <a:lnTo>
                  <a:pt x="1345044" y="3467100"/>
                </a:lnTo>
                <a:lnTo>
                  <a:pt x="2064069" y="3640455"/>
                </a:lnTo>
                <a:lnTo>
                  <a:pt x="2834959" y="3813810"/>
                </a:lnTo>
                <a:lnTo>
                  <a:pt x="3594221" y="3987165"/>
                </a:lnTo>
                <a:lnTo>
                  <a:pt x="4279322" y="4160520"/>
                </a:lnTo>
                <a:lnTo>
                  <a:pt x="4833838" y="4333875"/>
                </a:lnTo>
                <a:lnTo>
                  <a:pt x="5212098" y="4507230"/>
                </a:lnTo>
                <a:lnTo>
                  <a:pt x="5382948" y="4680585"/>
                </a:lnTo>
                <a:lnTo>
                  <a:pt x="5332317" y="4853940"/>
                </a:lnTo>
                <a:lnTo>
                  <a:pt x="5064375" y="5027295"/>
                </a:lnTo>
                <a:lnTo>
                  <a:pt x="4601190" y="5200650"/>
                </a:lnTo>
                <a:lnTo>
                  <a:pt x="3980910" y="5374005"/>
                </a:lnTo>
                <a:lnTo>
                  <a:pt x="3254621" y="5547360"/>
                </a:lnTo>
                <a:lnTo>
                  <a:pt x="2482142" y="5720715"/>
                </a:lnTo>
                <a:lnTo>
                  <a:pt x="1727093" y="5894070"/>
                </a:lnTo>
                <a:lnTo>
                  <a:pt x="1051662" y="6067425"/>
                </a:lnTo>
                <a:lnTo>
                  <a:pt x="511476" y="6240780"/>
                </a:lnTo>
                <a:lnTo>
                  <a:pt x="151027" y="6414135"/>
                </a:lnTo>
                <a:lnTo>
                  <a:pt x="0" y="6587490"/>
                </a:lnTo>
                <a:lnTo>
                  <a:pt x="70835" y="6760845"/>
                </a:lnTo>
                <a:lnTo>
                  <a:pt x="357697" y="6934200"/>
                </a:lnTo>
                <a:lnTo>
                  <a:pt x="836961" y="7107555"/>
                </a:lnTo>
                <a:lnTo>
                  <a:pt x="1469153" y="7280910"/>
                </a:lnTo>
                <a:lnTo>
                  <a:pt x="2202207" y="7454265"/>
                </a:lnTo>
                <a:lnTo>
                  <a:pt x="2975747" y="7627620"/>
                </a:lnTo>
                <a:lnTo>
                  <a:pt x="3726064" y="7800975"/>
                </a:lnTo>
                <a:lnTo>
                  <a:pt x="4391363" y="7974330"/>
                </a:lnTo>
                <a:lnTo>
                  <a:pt x="4916847" y="8147685"/>
                </a:lnTo>
                <a:lnTo>
                  <a:pt x="5259239" y="8321040"/>
                </a:lnTo>
              </a:path>
            </a:pathLst>
          </a:custGeom>
          <a:noFill/>
          <a:ln w="36576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RECAP</a:t>
            </a:r>
          </a:p>
        </p:txBody>
      </p:sp>
      <p:sp>
        <p:nvSpPr>
          <p:cNvPr id="5" name="TextBox 4"/>
          <p:cNvSpPr txBox="1"/>
          <p:nvPr/>
        </p:nvSpPr>
        <p:spPr>
          <a:xfrm>
            <a:off x="685800" y="1280160"/>
            <a:ext cx="5943600" cy="2194560"/>
          </a:xfrm>
          <a:prstGeom prst="rect">
            <a:avLst/>
          </a:prstGeom>
          <a:noFill/>
        </p:spPr>
        <p:txBody>
          <a:bodyPr wrap="square" anchor="t" lIns="0" rIns="0" tIns="0" bIns="0">
            <a:spAutoFit/>
          </a:bodyPr>
          <a:lstStyle/>
          <a:p>
            <a:pPr algn="l">
              <a:lnSpc>
                <a:spcPct val="98000"/>
              </a:lnSpc>
            </a:pPr>
            <a:r>
              <a:rPr sz="5400" b="1" i="0">
                <a:solidFill>
                  <a:srgbClr val="FFFFFF"/>
                </a:solidFill>
                <a:latin typeface="Arial Rounded MT Bold"/>
              </a:rPr>
              <a:t>On To Types &amp; Forms.</a:t>
            </a:r>
          </a:p>
        </p:txBody>
      </p:sp>
      <p:sp>
        <p:nvSpPr>
          <p:cNvPr id="6" name="TextBox 5"/>
          <p:cNvSpPr txBox="1"/>
          <p:nvPr/>
        </p:nvSpPr>
        <p:spPr>
          <a:xfrm>
            <a:off x="685800" y="3566160"/>
            <a:ext cx="5303520" cy="822960"/>
          </a:xfrm>
          <a:prstGeom prst="rect">
            <a:avLst/>
          </a:prstGeom>
          <a:noFill/>
        </p:spPr>
        <p:txBody>
          <a:bodyPr wrap="square" anchor="t" lIns="0" rIns="0" tIns="0" bIns="0">
            <a:spAutoFit/>
          </a:bodyPr>
          <a:lstStyle/>
          <a:p>
            <a:pPr algn="l">
              <a:lnSpc>
                <a:spcPct val="135000"/>
              </a:lnSpc>
            </a:pPr>
            <a:r>
              <a:rPr sz="1350" b="0" i="0">
                <a:solidFill>
                  <a:srgbClr val="E3E0F7"/>
                </a:solidFill>
                <a:latin typeface="Arial"/>
              </a:rPr>
              <a:t>You now know decentralization isn't one property — next, you'll learn it's actually three separate, independent measurements.</a:t>
            </a:r>
          </a:p>
        </p:txBody>
      </p:sp>
      <p:sp>
        <p:nvSpPr>
          <p:cNvPr id="7" name="TextBox 6"/>
          <p:cNvSpPr txBox="1"/>
          <p:nvPr/>
        </p:nvSpPr>
        <p:spPr>
          <a:xfrm>
            <a:off x="685800" y="4937760"/>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REPOSITORY</a:t>
            </a:r>
          </a:p>
        </p:txBody>
      </p:sp>
      <p:sp>
        <p:nvSpPr>
          <p:cNvPr id="8" name="TextBox 7"/>
          <p:cNvSpPr txBox="1"/>
          <p:nvPr/>
        </p:nvSpPr>
        <p:spPr>
          <a:xfrm>
            <a:off x="685800" y="5230368"/>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github.com/jadonamite/BlockchainCourse</a:t>
            </a:r>
          </a:p>
        </p:txBody>
      </p:sp>
      <p:sp>
        <p:nvSpPr>
          <p:cNvPr id="9" name="TextBox 8"/>
          <p:cNvSpPr txBox="1"/>
          <p:nvPr/>
        </p:nvSpPr>
        <p:spPr>
          <a:xfrm>
            <a:off x="685800" y="5596128"/>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THIS TOPIC</a:t>
            </a:r>
          </a:p>
        </p:txBody>
      </p:sp>
      <p:sp>
        <p:nvSpPr>
          <p:cNvPr id="10" name="TextBox 9"/>
          <p:cNvSpPr txBox="1"/>
          <p:nvPr/>
        </p:nvSpPr>
        <p:spPr>
          <a:xfrm>
            <a:off x="685800" y="5888736"/>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curriculum/week-02/01-decentralization.md</a:t>
            </a:r>
          </a:p>
        </p:txBody>
      </p:sp>
      <p:sp>
        <p:nvSpPr>
          <p:cNvPr id="11" name="TextBox 10"/>
          <p:cNvSpPr txBox="1"/>
          <p:nvPr/>
        </p:nvSpPr>
        <p:spPr>
          <a:xfrm>
            <a:off x="685800" y="6254496"/>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NEXT UP</a:t>
            </a:r>
          </a:p>
        </p:txBody>
      </p:sp>
      <p:sp>
        <p:nvSpPr>
          <p:cNvPr id="12" name="TextBox 11"/>
          <p:cNvSpPr txBox="1"/>
          <p:nvPr/>
        </p:nvSpPr>
        <p:spPr>
          <a:xfrm>
            <a:off x="685800" y="6547104"/>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Topic 02 — Types &amp; Forms of Decentralization</a:t>
            </a:r>
          </a:p>
        </p:txBody>
      </p:sp>
      <p:sp>
        <p:nvSpPr>
          <p:cNvPr id="13" name="TextBox 12"/>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22/22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