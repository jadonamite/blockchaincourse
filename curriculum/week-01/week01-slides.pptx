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822960"/>
            <a:ext cx="10058400" cy="365760"/>
          </a:xfrm>
          <a:prstGeom prst="rect">
            <a:avLst/>
          </a:prstGeom>
          <a:noFill/>
        </p:spPr>
        <p:txBody>
          <a:bodyPr wrap="square" anchor="t" lIns="0" rIns="0" tIns="0" bIns="0">
            <a:spAutoFit/>
          </a:bodyPr>
          <a:lstStyle/>
          <a:p>
            <a:pPr algn="l">
              <a:lnSpc>
                <a:spcPct val="115000"/>
              </a:lnSpc>
            </a:pPr>
            <a:r>
              <a:rPr sz="1300" b="1" i="0">
                <a:solidFill>
                  <a:srgbClr val="FFC53D"/>
                </a:solidFill>
                <a:latin typeface="Calibri"/>
              </a:rPr>
              <a:t>BLOCKCHAINCOURSE · CURRICULUM · WEEK 01</a:t>
            </a:r>
          </a:p>
        </p:txBody>
      </p:sp>
      <p:sp>
        <p:nvSpPr>
          <p:cNvPr id="4" name="TextBox 3"/>
          <p:cNvSpPr txBox="1"/>
          <p:nvPr/>
        </p:nvSpPr>
        <p:spPr>
          <a:xfrm>
            <a:off x="822960" y="1371600"/>
            <a:ext cx="6583680" cy="1600200"/>
          </a:xfrm>
          <a:prstGeom prst="rect">
            <a:avLst/>
          </a:prstGeom>
          <a:noFill/>
        </p:spPr>
        <p:txBody>
          <a:bodyPr wrap="square" anchor="t" lIns="0" rIns="0" tIns="0" bIns="0">
            <a:spAutoFit/>
          </a:bodyPr>
          <a:lstStyle/>
          <a:p>
            <a:pPr algn="l">
              <a:lnSpc>
                <a:spcPct val="105000"/>
              </a:lnSpc>
            </a:pPr>
            <a:r>
              <a:rPr sz="4400" b="1" i="0">
                <a:solidFill>
                  <a:srgbClr val="FFFFFF"/>
                </a:solidFill>
                <a:latin typeface="Century Gothic"/>
              </a:rPr>
              <a:t>How a Blockchain</a:t>
            </a:r>
          </a:p>
          <a:p>
            <a:pPr algn="l">
              <a:lnSpc>
                <a:spcPct val="105000"/>
              </a:lnSpc>
            </a:pPr>
            <a:r>
              <a:rPr sz="4400" b="1" i="0">
                <a:solidFill>
                  <a:srgbClr val="FFFFFF"/>
                </a:solidFill>
                <a:latin typeface="Century Gothic"/>
              </a:rPr>
              <a:t>Actually Works</a:t>
            </a:r>
          </a:p>
        </p:txBody>
      </p:sp>
      <p:sp>
        <p:nvSpPr>
          <p:cNvPr id="5" name="TextBox 4"/>
          <p:cNvSpPr txBox="1"/>
          <p:nvPr/>
        </p:nvSpPr>
        <p:spPr>
          <a:xfrm>
            <a:off x="822960" y="3246120"/>
            <a:ext cx="6035040" cy="1188720"/>
          </a:xfrm>
          <a:prstGeom prst="rect">
            <a:avLst/>
          </a:prstGeom>
          <a:noFill/>
        </p:spPr>
        <p:txBody>
          <a:bodyPr wrap="square" anchor="t" lIns="0" rIns="0" tIns="0" bIns="0">
            <a:spAutoFit/>
          </a:bodyPr>
          <a:lstStyle/>
          <a:p>
            <a:pPr algn="l">
              <a:lnSpc>
                <a:spcPct val="130000"/>
              </a:lnSpc>
            </a:pPr>
            <a:r>
              <a:rPr sz="1500" b="0" i="0">
                <a:solidFill>
                  <a:srgbClr val="D8D3E8"/>
                </a:solidFill>
                <a:latin typeface="Calibri"/>
              </a:rPr>
              <a:t>Four building blocks — hashing, keys, chained blocks, and consensus — before you touch a single line of Solidity. Now expanded: 15 slides per topic.</a:t>
            </a:r>
          </a:p>
        </p:txBody>
      </p:sp>
      <p:sp>
        <p:nvSpPr>
          <p:cNvPr id="6" name="Rounded Rectangle 5"/>
          <p:cNvSpPr/>
          <p:nvPr/>
        </p:nvSpPr>
        <p:spPr>
          <a:xfrm>
            <a:off x="822960" y="4617720"/>
            <a:ext cx="822960" cy="384048"/>
          </a:xfrm>
          <a:prstGeom prst="roundRect">
            <a:avLst>
              <a:gd name="adj" fmla="val 50000"/>
            </a:avLst>
          </a:prstGeom>
          <a:solidFill>
            <a:srgbClr val="FFF9EB"/>
          </a:solidFill>
          <a:ln w="12700">
            <a:solidFill>
              <a:srgbClr val="FFC53D"/>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wrap="none"/>
          <a:lstStyle/>
          <a:p>
            <a:pPr algn="ctr"/>
            <a:r>
              <a:rPr sz="1200" b="1">
                <a:solidFill>
                  <a:srgbClr val="FFC53D"/>
                </a:solidFill>
                <a:latin typeface="Calibri"/>
              </a:rPr>
              <a:t>4 Topics</a:t>
            </a:r>
          </a:p>
        </p:txBody>
      </p:sp>
      <p:sp>
        <p:nvSpPr>
          <p:cNvPr id="7" name="Rounded Rectangle 6"/>
          <p:cNvSpPr/>
          <p:nvPr/>
        </p:nvSpPr>
        <p:spPr>
          <a:xfrm>
            <a:off x="1783080" y="4617720"/>
            <a:ext cx="1677924" cy="384048"/>
          </a:xfrm>
          <a:prstGeom prst="roundRect">
            <a:avLst>
              <a:gd name="adj" fmla="val 50000"/>
            </a:avLst>
          </a:prstGeom>
          <a:solidFill>
            <a:srgbClr val="FFF9EB"/>
          </a:solidFill>
          <a:ln w="12700">
            <a:solidFill>
              <a:srgbClr val="FFC53D"/>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wrap="none"/>
          <a:lstStyle/>
          <a:p>
            <a:pPr algn="ctr"/>
            <a:r>
              <a:rPr sz="1200" b="1">
                <a:solidFill>
                  <a:srgbClr val="FFC53D"/>
                </a:solidFill>
                <a:latin typeface="Calibri"/>
              </a:rPr>
              <a:t>60 Deep-Dive Slides</a:t>
            </a:r>
          </a:p>
        </p:txBody>
      </p:sp>
      <p:sp>
        <p:nvSpPr>
          <p:cNvPr id="8" name="Rounded Rectangle 7"/>
          <p:cNvSpPr/>
          <p:nvPr/>
        </p:nvSpPr>
        <p:spPr>
          <a:xfrm>
            <a:off x="3598164" y="4617720"/>
            <a:ext cx="1755648" cy="384048"/>
          </a:xfrm>
          <a:prstGeom prst="roundRect">
            <a:avLst>
              <a:gd name="adj" fmla="val 50000"/>
            </a:avLst>
          </a:prstGeom>
          <a:solidFill>
            <a:srgbClr val="FFF9EB"/>
          </a:solidFill>
          <a:ln w="12700">
            <a:solidFill>
              <a:srgbClr val="FFC53D"/>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wrap="none"/>
          <a:lstStyle/>
          <a:p>
            <a:pPr algn="ctr"/>
            <a:r>
              <a:rPr sz="1200" b="1">
                <a:solidFill>
                  <a:srgbClr val="FFC53D"/>
                </a:solidFill>
                <a:latin typeface="Calibri"/>
              </a:rPr>
              <a:t>Real Worked Examples</a:t>
            </a:r>
          </a:p>
        </p:txBody>
      </p:sp>
      <p:sp>
        <p:nvSpPr>
          <p:cNvPr id="9" name="Rounded Rectangle 8"/>
          <p:cNvSpPr/>
          <p:nvPr/>
        </p:nvSpPr>
        <p:spPr>
          <a:xfrm>
            <a:off x="5490972" y="4617720"/>
            <a:ext cx="2066544" cy="384048"/>
          </a:xfrm>
          <a:prstGeom prst="roundRect">
            <a:avLst>
              <a:gd name="adj" fmla="val 50000"/>
            </a:avLst>
          </a:prstGeom>
          <a:solidFill>
            <a:srgbClr val="FFF9EB"/>
          </a:solidFill>
          <a:ln w="12700">
            <a:solidFill>
              <a:srgbClr val="FFC53D"/>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wrap="none"/>
          <a:lstStyle/>
          <a:p>
            <a:pPr algn="ctr"/>
            <a:r>
              <a:rPr sz="1200" b="1">
                <a:solidFill>
                  <a:srgbClr val="FFC53D"/>
                </a:solidFill>
                <a:latin typeface="Calibri"/>
              </a:rPr>
              <a:t>Zero Background Required</a:t>
            </a:r>
          </a:p>
        </p:txBody>
      </p:sp>
      <p:sp>
        <p:nvSpPr>
          <p:cNvPr id="10" name="Rounded Rectangle 9"/>
          <p:cNvSpPr/>
          <p:nvPr/>
        </p:nvSpPr>
        <p:spPr>
          <a:xfrm>
            <a:off x="7452360" y="1463040"/>
            <a:ext cx="3977639" cy="2194560"/>
          </a:xfrm>
          <a:prstGeom prst="roundRect">
            <a:avLst>
              <a:gd name="adj" fmla="val 4500"/>
            </a:avLst>
          </a:prstGeom>
          <a:solidFill>
            <a:srgbClr val="1410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653528" y="1627632"/>
            <a:ext cx="109728" cy="109728"/>
          </a:xfrm>
          <a:prstGeom prst="ellipse">
            <a:avLst/>
          </a:prstGeom>
          <a:solidFill>
            <a:srgbClr val="FF6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54696" y="1627632"/>
            <a:ext cx="109728" cy="109728"/>
          </a:xfrm>
          <a:prstGeom prst="ellipse">
            <a:avLst/>
          </a:prstGeom>
          <a:solidFill>
            <a:srgbClr val="FFC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055864" y="1627632"/>
            <a:ext cx="109728" cy="109728"/>
          </a:xfrm>
          <a:prstGeom prst="ellipse">
            <a:avLst/>
          </a:prstGeom>
          <a:solidFill>
            <a:srgbClr val="28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08392" y="1847088"/>
            <a:ext cx="3465575" cy="1627632"/>
          </a:xfrm>
          <a:prstGeom prst="rect">
            <a:avLst/>
          </a:prstGeom>
          <a:noFill/>
        </p:spPr>
        <p:txBody>
          <a:bodyPr wrap="square" anchor="t" lIns="0" rIns="0" tIns="0" bIns="0">
            <a:spAutoFit/>
          </a:bodyPr>
          <a:lstStyle/>
          <a:p>
            <a:pPr algn="l">
              <a:lnSpc>
                <a:spcPct val="135000"/>
              </a:lnSpc>
            </a:pPr>
            <a:r>
              <a:rPr sz="1200" b="1">
                <a:solidFill>
                  <a:srgbClr val="9C93C9"/>
                </a:solidFill>
                <a:latin typeface="Consolas"/>
              </a:rPr>
              <a:t>$ </a:t>
            </a:r>
            <a:r>
              <a:rPr sz="1200" b="0">
                <a:solidFill>
                  <a:srgbClr val="EDE9F7"/>
                </a:solidFill>
                <a:latin typeface="Consolas"/>
              </a:rPr>
              <a:t>echo -n "hello" | shasum -a 256</a:t>
            </a:r>
          </a:p>
          <a:p>
            <a:pPr algn="l">
              <a:lnSpc>
                <a:spcPct val="135000"/>
              </a:lnSpc>
            </a:pPr>
            <a:r>
              <a:rPr sz="1200" b="0">
                <a:solidFill>
                  <a:srgbClr val="7FE0C4"/>
                </a:solidFill>
                <a:latin typeface="Consolas"/>
              </a:rPr>
              <a:t>2cf24dba5fb0a30e26e83b2ac5b9e29e</a:t>
            </a:r>
          </a:p>
          <a:p>
            <a:pPr algn="l">
              <a:lnSpc>
                <a:spcPct val="135000"/>
              </a:lnSpc>
            </a:pPr>
            <a:r>
              <a:rPr sz="1200" b="0">
                <a:solidFill>
                  <a:srgbClr val="7FE0C4"/>
                </a:solidFill>
                <a:latin typeface="Consolas"/>
              </a:rPr>
              <a:t>1b161e5c1fa7425e73043362938b9824</a:t>
            </a:r>
          </a:p>
          <a:p>
            <a:pPr algn="l">
              <a:lnSpc>
                <a:spcPct val="135000"/>
              </a:lnSpc>
            </a:pPr>
            <a:r>
              <a:rPr sz="1200" b="0">
                <a:solidFill>
                  <a:srgbClr val="EDE9F7"/>
                </a:solidFill>
                <a:latin typeface="Consolas"/>
              </a:rPr>
              <a:t/>
            </a:r>
          </a:p>
          <a:p>
            <a:pPr algn="l">
              <a:lnSpc>
                <a:spcPct val="135000"/>
              </a:lnSpc>
            </a:pPr>
            <a:r>
              <a:rPr sz="1200" b="0">
                <a:solidFill>
                  <a:srgbClr val="8B84AD"/>
                </a:solidFill>
                <a:latin typeface="Consolas"/>
              </a:rPr>
              <a:t># run it again —</a:t>
            </a:r>
          </a:p>
          <a:p>
            <a:pPr algn="l">
              <a:lnSpc>
                <a:spcPct val="135000"/>
              </a:lnSpc>
            </a:pPr>
            <a:r>
              <a:rPr sz="1200" b="1">
                <a:solidFill>
                  <a:srgbClr val="9C93C9"/>
                </a:solidFill>
                <a:latin typeface="Consolas"/>
              </a:rPr>
              <a:t>$ </a:t>
            </a:r>
            <a:r>
              <a:rPr sz="1200" b="0">
                <a:solidFill>
                  <a:srgbClr val="EDE9F7"/>
                </a:solidFill>
                <a:latin typeface="Consolas"/>
              </a:rPr>
              <a:t>echo -n "hello" | shasum -a 256</a:t>
            </a:r>
          </a:p>
          <a:p>
            <a:pPr algn="l">
              <a:lnSpc>
                <a:spcPct val="135000"/>
              </a:lnSpc>
            </a:pPr>
            <a:r>
              <a:rPr sz="1200" b="0">
                <a:solidFill>
                  <a:srgbClr val="7FE0C4"/>
                </a:solidFill>
                <a:latin typeface="Consolas"/>
              </a:rPr>
              <a:t>2cf24dba5fb0a30e26e83b2ac5b9e29e...</a:t>
            </a:r>
          </a:p>
          <a:p>
            <a:pPr algn="l">
              <a:lnSpc>
                <a:spcPct val="135000"/>
              </a:lnSpc>
            </a:pPr>
            <a:r>
              <a:rPr sz="1200" b="0">
                <a:solidFill>
                  <a:srgbClr val="8B84AD"/>
                </a:solidFill>
                <a:latin typeface="Consolas"/>
              </a:rPr>
              <a:t># identical, every time. real output.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5C576E"/>
                </a:solidFill>
                <a:latin typeface="Calibri"/>
              </a:rPr>
              <a:t>THE FOUR BUILDING BLOCKS</a:t>
            </a:r>
          </a:p>
        </p:txBody>
      </p:sp>
      <p:sp>
        <p:nvSpPr>
          <p:cNvPr id="4" name="TextBox 3"/>
          <p:cNvSpPr txBox="1"/>
          <p:nvPr/>
        </p:nvSpPr>
        <p:spPr>
          <a:xfrm>
            <a:off x="822960" y="105156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What You'll Master This Week</a:t>
            </a:r>
          </a:p>
        </p:txBody>
      </p:sp>
      <p:sp>
        <p:nvSpPr>
          <p:cNvPr id="5" name="Rounded Rectangle 4"/>
          <p:cNvSpPr/>
          <p:nvPr/>
        </p:nvSpPr>
        <p:spPr>
          <a:xfrm>
            <a:off x="822960" y="2148840"/>
            <a:ext cx="2606040" cy="3291840"/>
          </a:xfrm>
          <a:prstGeom prst="roundRect">
            <a:avLst>
              <a:gd name="adj" fmla="val 6000"/>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377440"/>
            <a:ext cx="2148840" cy="365760"/>
          </a:xfrm>
          <a:prstGeom prst="rect">
            <a:avLst/>
          </a:prstGeom>
          <a:noFill/>
        </p:spPr>
        <p:txBody>
          <a:bodyPr wrap="square" anchor="t" lIns="0" rIns="0" tIns="0" bIns="0">
            <a:spAutoFit/>
          </a:bodyPr>
          <a:lstStyle/>
          <a:p>
            <a:pPr algn="l">
              <a:lnSpc>
                <a:spcPct val="115000"/>
              </a:lnSpc>
            </a:pPr>
            <a:r>
              <a:rPr sz="1200" b="1" i="0">
                <a:solidFill>
                  <a:srgbClr val="FFFFFF"/>
                </a:solidFill>
                <a:latin typeface="Calibri"/>
              </a:rPr>
              <a:t>TOPIC 01</a:t>
            </a:r>
          </a:p>
        </p:txBody>
      </p:sp>
      <p:sp>
        <p:nvSpPr>
          <p:cNvPr id="7" name="TextBox 6"/>
          <p:cNvSpPr txBox="1"/>
          <p:nvPr/>
        </p:nvSpPr>
        <p:spPr>
          <a:xfrm>
            <a:off x="1051560" y="2788920"/>
            <a:ext cx="2148840" cy="1188720"/>
          </a:xfrm>
          <a:prstGeom prst="rect">
            <a:avLst/>
          </a:prstGeom>
          <a:noFill/>
        </p:spPr>
        <p:txBody>
          <a:bodyPr wrap="square" anchor="t" lIns="0" rIns="0" tIns="0" bIns="0">
            <a:spAutoFit/>
          </a:bodyPr>
          <a:lstStyle/>
          <a:p>
            <a:pPr algn="l">
              <a:lnSpc>
                <a:spcPct val="105000"/>
              </a:lnSpc>
            </a:pPr>
            <a:r>
              <a:rPr sz="1900" b="1" i="0">
                <a:solidFill>
                  <a:srgbClr val="FFFFFF"/>
                </a:solidFill>
                <a:latin typeface="Century Gothic"/>
              </a:rPr>
              <a:t>Hashing</a:t>
            </a:r>
          </a:p>
        </p:txBody>
      </p:sp>
      <p:sp>
        <p:nvSpPr>
          <p:cNvPr id="8" name="TextBox 7"/>
          <p:cNvSpPr txBox="1"/>
          <p:nvPr/>
        </p:nvSpPr>
        <p:spPr>
          <a:xfrm>
            <a:off x="1051560" y="3977639"/>
            <a:ext cx="2148840" cy="1280160"/>
          </a:xfrm>
          <a:prstGeom prst="rect">
            <a:avLst/>
          </a:prstGeom>
          <a:noFill/>
        </p:spPr>
        <p:txBody>
          <a:bodyPr wrap="square" anchor="t" lIns="0" rIns="0" tIns="0" bIns="0">
            <a:spAutoFit/>
          </a:bodyPr>
          <a:lstStyle/>
          <a:p>
            <a:pPr algn="l">
              <a:lnSpc>
                <a:spcPct val="130000"/>
              </a:lnSpc>
            </a:pPr>
            <a:r>
              <a:rPr sz="1250" b="0" i="0">
                <a:solidFill>
                  <a:srgbClr val="F3F0FA"/>
                </a:solidFill>
                <a:latin typeface="Calibri"/>
              </a:rPr>
              <a:t>Turn anything into a tamper-evident fingerprint. 15 slides.</a:t>
            </a:r>
          </a:p>
        </p:txBody>
      </p:sp>
      <p:sp>
        <p:nvSpPr>
          <p:cNvPr id="9" name="Rounded Rectangle 8"/>
          <p:cNvSpPr/>
          <p:nvPr/>
        </p:nvSpPr>
        <p:spPr>
          <a:xfrm>
            <a:off x="3685032" y="2148840"/>
            <a:ext cx="2606040" cy="3291840"/>
          </a:xfrm>
          <a:prstGeom prst="roundRect">
            <a:avLst>
              <a:gd name="adj" fmla="val 6000"/>
            </a:avLst>
          </a:prstGeom>
          <a:solidFill>
            <a:srgbClr val="C6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13632" y="2377440"/>
            <a:ext cx="2148840" cy="365760"/>
          </a:xfrm>
          <a:prstGeom prst="rect">
            <a:avLst/>
          </a:prstGeom>
          <a:noFill/>
        </p:spPr>
        <p:txBody>
          <a:bodyPr wrap="square" anchor="t" lIns="0" rIns="0" tIns="0" bIns="0">
            <a:spAutoFit/>
          </a:bodyPr>
          <a:lstStyle/>
          <a:p>
            <a:pPr algn="l">
              <a:lnSpc>
                <a:spcPct val="115000"/>
              </a:lnSpc>
            </a:pPr>
            <a:r>
              <a:rPr sz="1200" b="1" i="0">
                <a:solidFill>
                  <a:srgbClr val="FFFFFF"/>
                </a:solidFill>
                <a:latin typeface="Calibri"/>
              </a:rPr>
              <a:t>TOPIC 02</a:t>
            </a:r>
          </a:p>
        </p:txBody>
      </p:sp>
      <p:sp>
        <p:nvSpPr>
          <p:cNvPr id="11" name="TextBox 10"/>
          <p:cNvSpPr txBox="1"/>
          <p:nvPr/>
        </p:nvSpPr>
        <p:spPr>
          <a:xfrm>
            <a:off x="3913632" y="2788920"/>
            <a:ext cx="2148840" cy="1188720"/>
          </a:xfrm>
          <a:prstGeom prst="rect">
            <a:avLst/>
          </a:prstGeom>
          <a:noFill/>
        </p:spPr>
        <p:txBody>
          <a:bodyPr wrap="square" anchor="t" lIns="0" rIns="0" tIns="0" bIns="0">
            <a:spAutoFit/>
          </a:bodyPr>
          <a:lstStyle/>
          <a:p>
            <a:pPr algn="l">
              <a:lnSpc>
                <a:spcPct val="105000"/>
              </a:lnSpc>
            </a:pPr>
            <a:r>
              <a:rPr sz="1900" b="1" i="0">
                <a:solidFill>
                  <a:srgbClr val="FFFFFF"/>
                </a:solidFill>
                <a:latin typeface="Century Gothic"/>
              </a:rPr>
              <a:t>Public / Private Keys</a:t>
            </a:r>
          </a:p>
        </p:txBody>
      </p:sp>
      <p:sp>
        <p:nvSpPr>
          <p:cNvPr id="12" name="TextBox 11"/>
          <p:cNvSpPr txBox="1"/>
          <p:nvPr/>
        </p:nvSpPr>
        <p:spPr>
          <a:xfrm>
            <a:off x="3913632" y="3977639"/>
            <a:ext cx="2148840" cy="1280160"/>
          </a:xfrm>
          <a:prstGeom prst="rect">
            <a:avLst/>
          </a:prstGeom>
          <a:noFill/>
        </p:spPr>
        <p:txBody>
          <a:bodyPr wrap="square" anchor="t" lIns="0" rIns="0" tIns="0" bIns="0">
            <a:spAutoFit/>
          </a:bodyPr>
          <a:lstStyle/>
          <a:p>
            <a:pPr algn="l">
              <a:lnSpc>
                <a:spcPct val="130000"/>
              </a:lnSpc>
            </a:pPr>
            <a:r>
              <a:rPr sz="1250" b="0" i="0">
                <a:solidFill>
                  <a:srgbClr val="F3F0FA"/>
                </a:solidFill>
                <a:latin typeface="Calibri"/>
              </a:rPr>
              <a:t>Prove ownership without revealing your secret. 15 slides.</a:t>
            </a:r>
          </a:p>
        </p:txBody>
      </p:sp>
      <p:sp>
        <p:nvSpPr>
          <p:cNvPr id="13" name="Rounded Rectangle 12"/>
          <p:cNvSpPr/>
          <p:nvPr/>
        </p:nvSpPr>
        <p:spPr>
          <a:xfrm>
            <a:off x="6547104" y="2148840"/>
            <a:ext cx="2606040" cy="3291840"/>
          </a:xfrm>
          <a:prstGeom prst="roundRect">
            <a:avLst>
              <a:gd name="adj" fmla="val 6000"/>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75704" y="2377440"/>
            <a:ext cx="2148840" cy="365760"/>
          </a:xfrm>
          <a:prstGeom prst="rect">
            <a:avLst/>
          </a:prstGeom>
          <a:noFill/>
        </p:spPr>
        <p:txBody>
          <a:bodyPr wrap="square" anchor="t" lIns="0" rIns="0" tIns="0" bIns="0">
            <a:spAutoFit/>
          </a:bodyPr>
          <a:lstStyle/>
          <a:p>
            <a:pPr algn="l">
              <a:lnSpc>
                <a:spcPct val="115000"/>
              </a:lnSpc>
            </a:pPr>
            <a:r>
              <a:rPr sz="1200" b="1" i="0">
                <a:solidFill>
                  <a:srgbClr val="FFFFFF"/>
                </a:solidFill>
                <a:latin typeface="Calibri"/>
              </a:rPr>
              <a:t>TOPIC 03</a:t>
            </a:r>
          </a:p>
        </p:txBody>
      </p:sp>
      <p:sp>
        <p:nvSpPr>
          <p:cNvPr id="15" name="TextBox 14"/>
          <p:cNvSpPr txBox="1"/>
          <p:nvPr/>
        </p:nvSpPr>
        <p:spPr>
          <a:xfrm>
            <a:off x="6775704" y="2788920"/>
            <a:ext cx="2148840" cy="1188720"/>
          </a:xfrm>
          <a:prstGeom prst="rect">
            <a:avLst/>
          </a:prstGeom>
          <a:noFill/>
        </p:spPr>
        <p:txBody>
          <a:bodyPr wrap="square" anchor="t" lIns="0" rIns="0" tIns="0" bIns="0">
            <a:spAutoFit/>
          </a:bodyPr>
          <a:lstStyle/>
          <a:p>
            <a:pPr algn="l">
              <a:lnSpc>
                <a:spcPct val="105000"/>
              </a:lnSpc>
            </a:pPr>
            <a:r>
              <a:rPr sz="1900" b="1" i="0">
                <a:solidFill>
                  <a:srgbClr val="FFFFFF"/>
                </a:solidFill>
                <a:latin typeface="Century Gothic"/>
              </a:rPr>
              <a:t>Blocks &amp; Chains</a:t>
            </a:r>
          </a:p>
        </p:txBody>
      </p:sp>
      <p:sp>
        <p:nvSpPr>
          <p:cNvPr id="16" name="TextBox 15"/>
          <p:cNvSpPr txBox="1"/>
          <p:nvPr/>
        </p:nvSpPr>
        <p:spPr>
          <a:xfrm>
            <a:off x="6775704" y="3977639"/>
            <a:ext cx="2148840" cy="1280160"/>
          </a:xfrm>
          <a:prstGeom prst="rect">
            <a:avLst/>
          </a:prstGeom>
          <a:noFill/>
        </p:spPr>
        <p:txBody>
          <a:bodyPr wrap="square" anchor="t" lIns="0" rIns="0" tIns="0" bIns="0">
            <a:spAutoFit/>
          </a:bodyPr>
          <a:lstStyle/>
          <a:p>
            <a:pPr algn="l">
              <a:lnSpc>
                <a:spcPct val="130000"/>
              </a:lnSpc>
            </a:pPr>
            <a:r>
              <a:rPr sz="1250" b="0" i="0">
                <a:solidFill>
                  <a:srgbClr val="F3F0FA"/>
                </a:solidFill>
                <a:latin typeface="Calibri"/>
              </a:rPr>
              <a:t>Link history so tampering breaks the chain. 15 slides.</a:t>
            </a:r>
          </a:p>
        </p:txBody>
      </p:sp>
      <p:sp>
        <p:nvSpPr>
          <p:cNvPr id="17" name="Rounded Rectangle 16"/>
          <p:cNvSpPr/>
          <p:nvPr/>
        </p:nvSpPr>
        <p:spPr>
          <a:xfrm>
            <a:off x="9409176" y="2148840"/>
            <a:ext cx="2606040" cy="3291840"/>
          </a:xfrm>
          <a:prstGeom prst="roundRect">
            <a:avLst>
              <a:gd name="adj" fmla="val 6000"/>
            </a:avLst>
          </a:prstGeom>
          <a:solidFill>
            <a:srgbClr val="127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37776" y="2377440"/>
            <a:ext cx="2148840" cy="365760"/>
          </a:xfrm>
          <a:prstGeom prst="rect">
            <a:avLst/>
          </a:prstGeom>
          <a:noFill/>
        </p:spPr>
        <p:txBody>
          <a:bodyPr wrap="square" anchor="t" lIns="0" rIns="0" tIns="0" bIns="0">
            <a:spAutoFit/>
          </a:bodyPr>
          <a:lstStyle/>
          <a:p>
            <a:pPr algn="l">
              <a:lnSpc>
                <a:spcPct val="115000"/>
              </a:lnSpc>
            </a:pPr>
            <a:r>
              <a:rPr sz="1200" b="1" i="0">
                <a:solidFill>
                  <a:srgbClr val="FFFFFF"/>
                </a:solidFill>
                <a:latin typeface="Calibri"/>
              </a:rPr>
              <a:t>TOPIC 04</a:t>
            </a:r>
          </a:p>
        </p:txBody>
      </p:sp>
      <p:sp>
        <p:nvSpPr>
          <p:cNvPr id="19" name="TextBox 18"/>
          <p:cNvSpPr txBox="1"/>
          <p:nvPr/>
        </p:nvSpPr>
        <p:spPr>
          <a:xfrm>
            <a:off x="9637776" y="2788920"/>
            <a:ext cx="2148840" cy="1188720"/>
          </a:xfrm>
          <a:prstGeom prst="rect">
            <a:avLst/>
          </a:prstGeom>
          <a:noFill/>
        </p:spPr>
        <p:txBody>
          <a:bodyPr wrap="square" anchor="t" lIns="0" rIns="0" tIns="0" bIns="0">
            <a:spAutoFit/>
          </a:bodyPr>
          <a:lstStyle/>
          <a:p>
            <a:pPr algn="l">
              <a:lnSpc>
                <a:spcPct val="105000"/>
              </a:lnSpc>
            </a:pPr>
            <a:r>
              <a:rPr sz="1900" b="1" i="0">
                <a:solidFill>
                  <a:srgbClr val="FFFFFF"/>
                </a:solidFill>
                <a:latin typeface="Century Gothic"/>
              </a:rPr>
              <a:t>Consensus</a:t>
            </a:r>
          </a:p>
        </p:txBody>
      </p:sp>
      <p:sp>
        <p:nvSpPr>
          <p:cNvPr id="20" name="TextBox 19"/>
          <p:cNvSpPr txBox="1"/>
          <p:nvPr/>
        </p:nvSpPr>
        <p:spPr>
          <a:xfrm>
            <a:off x="9637776" y="3977639"/>
            <a:ext cx="2148840" cy="1280160"/>
          </a:xfrm>
          <a:prstGeom prst="rect">
            <a:avLst/>
          </a:prstGeom>
          <a:noFill/>
        </p:spPr>
        <p:txBody>
          <a:bodyPr wrap="square" anchor="t" lIns="0" rIns="0" tIns="0" bIns="0">
            <a:spAutoFit/>
          </a:bodyPr>
          <a:lstStyle/>
          <a:p>
            <a:pPr algn="l">
              <a:lnSpc>
                <a:spcPct val="130000"/>
              </a:lnSpc>
            </a:pPr>
            <a:r>
              <a:rPr sz="1250" b="0" i="0">
                <a:solidFill>
                  <a:srgbClr val="F3F0FA"/>
                </a:solidFill>
                <a:latin typeface="Calibri"/>
              </a:rPr>
              <a:t>Get strangers to agree without a referee. 15 slides.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_cover_01.jpg"/>
          <p:cNvPicPr>
            <a:picLocks noChangeAspect="1"/>
          </p:cNvPicPr>
          <p:nvPr/>
        </p:nvPicPr>
        <p:blipFill>
          <a:blip r:embed="rId2"/>
          <a:stretch>
            <a:fillRect/>
          </a:stretch>
        </p:blipFill>
        <p:spPr>
          <a:xfrm>
            <a:off x="0" y="0"/>
            <a:ext cx="12191695" cy="6858000"/>
          </a:xfrm>
          <a:prstGeom prst="rect">
            <a:avLst/>
          </a:prstGeom>
        </p:spPr>
      </p:pic>
      <p:sp>
        <p:nvSpPr>
          <p:cNvPr id="4" name="Rectangle 3"/>
          <p:cNvSpPr/>
          <p:nvPr/>
        </p:nvSpPr>
        <p:spPr>
          <a:xfrm>
            <a:off x="0" y="0"/>
            <a:ext cx="12191695" cy="6858000"/>
          </a:xfrm>
          <a:prstGeom prst="rect">
            <a:avLst/>
          </a:prstGeom>
          <a:solidFill>
            <a:srgbClr val="1C1730">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695" cy="6858000"/>
          </a:xfrm>
          <a:prstGeom prst="rect">
            <a:avLst/>
          </a:prstGeom>
          <a:solidFill>
            <a:srgbClr val="C1432B">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188720"/>
            <a:ext cx="5486400" cy="1188720"/>
          </a:xfrm>
          <a:prstGeom prst="rect">
            <a:avLst/>
          </a:prstGeom>
          <a:noFill/>
        </p:spPr>
        <p:txBody>
          <a:bodyPr wrap="square" anchor="t" lIns="0" rIns="0" tIns="0" bIns="0">
            <a:spAutoFit/>
          </a:bodyPr>
          <a:lstStyle/>
          <a:p>
            <a:pPr algn="l">
              <a:lnSpc>
                <a:spcPct val="115000"/>
              </a:lnSpc>
            </a:pPr>
            <a:r>
              <a:rPr sz="10000" b="1" i="0">
                <a:solidFill>
                  <a:srgbClr val="FFFFFF"/>
                </a:solidFill>
                <a:latin typeface="Century Gothic"/>
              </a:rPr>
              <a:t>01</a:t>
            </a:r>
          </a:p>
        </p:txBody>
      </p:sp>
      <p:sp>
        <p:nvSpPr>
          <p:cNvPr id="7" name="TextBox 6"/>
          <p:cNvSpPr txBox="1"/>
          <p:nvPr/>
        </p:nvSpPr>
        <p:spPr>
          <a:xfrm>
            <a:off x="822960" y="2423160"/>
            <a:ext cx="8961120" cy="1554480"/>
          </a:xfrm>
          <a:prstGeom prst="rect">
            <a:avLst/>
          </a:prstGeom>
          <a:noFill/>
        </p:spPr>
        <p:txBody>
          <a:bodyPr wrap="square" anchor="t" lIns="0" rIns="0" tIns="0" bIns="0">
            <a:spAutoFit/>
          </a:bodyPr>
          <a:lstStyle/>
          <a:p>
            <a:pPr algn="l">
              <a:lnSpc>
                <a:spcPct val="105000"/>
              </a:lnSpc>
            </a:pPr>
            <a:r>
              <a:rPr sz="4600" b="1" i="0">
                <a:solidFill>
                  <a:srgbClr val="FFFFFF"/>
                </a:solidFill>
                <a:latin typeface="Century Gothic"/>
              </a:rPr>
              <a:t>Hashing</a:t>
            </a:r>
          </a:p>
        </p:txBody>
      </p:sp>
      <p:sp>
        <p:nvSpPr>
          <p:cNvPr id="8" name="TextBox 7"/>
          <p:cNvSpPr txBox="1"/>
          <p:nvPr/>
        </p:nvSpPr>
        <p:spPr>
          <a:xfrm>
            <a:off x="822960" y="4160520"/>
            <a:ext cx="6858000" cy="1097280"/>
          </a:xfrm>
          <a:prstGeom prst="rect">
            <a:avLst/>
          </a:prstGeom>
          <a:noFill/>
        </p:spPr>
        <p:txBody>
          <a:bodyPr wrap="square" anchor="t" lIns="0" rIns="0" tIns="0" bIns="0">
            <a:spAutoFit/>
          </a:bodyPr>
          <a:lstStyle/>
          <a:p>
            <a:pPr algn="l">
              <a:lnSpc>
                <a:spcPct val="125000"/>
              </a:lnSpc>
            </a:pPr>
            <a:r>
              <a:rPr sz="1900" b="0" i="0">
                <a:solidFill>
                  <a:srgbClr val="FFFFFF"/>
                </a:solidFill>
                <a:latin typeface="Calibri"/>
              </a:rPr>
              <a:t>A tamper-evident fingerprint for data — change one letter, get an unrecognizable result.</a:t>
            </a:r>
          </a:p>
        </p:txBody>
      </p:sp>
      <p:sp>
        <p:nvSpPr>
          <p:cNvPr id="9" name="TextBox 8"/>
          <p:cNvSpPr txBox="1"/>
          <p:nvPr/>
        </p:nvSpPr>
        <p:spPr>
          <a:xfrm>
            <a:off x="822960" y="6446520"/>
            <a:ext cx="8229600" cy="320040"/>
          </a:xfrm>
          <a:prstGeom prst="rect">
            <a:avLst/>
          </a:prstGeom>
          <a:noFill/>
        </p:spPr>
        <p:txBody>
          <a:bodyPr wrap="square" anchor="t" lIns="0" rIns="0" tIns="0" bIns="0">
            <a:spAutoFit/>
          </a:bodyPr>
          <a:lstStyle/>
          <a:p>
            <a:pPr algn="l">
              <a:lnSpc>
                <a:spcPct val="115000"/>
              </a:lnSpc>
            </a:pPr>
            <a:r>
              <a:rPr sz="1000" b="0" i="0">
                <a:solidFill>
                  <a:srgbClr val="E9E6F2"/>
                </a:solidFill>
                <a:latin typeface="Calibri"/>
              </a:rPr>
              <a:t>Photo: Simon A. Eugster (LivingShadow) / Wikimedia Commons, CC BY-SA 3.0</a:t>
            </a:r>
          </a:p>
        </p:txBody>
      </p:sp>
      <p:sp>
        <p:nvSpPr>
          <p:cNvPr id="10" name="TextBox 9"/>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01 /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1432B"/>
                </a:solidFill>
                <a:latin typeface="Calibri"/>
              </a:rPr>
              <a:t>TOPIC 01 — HASHING</a:t>
            </a:r>
          </a:p>
        </p:txBody>
      </p:sp>
      <p:sp>
        <p:nvSpPr>
          <p:cNvPr id="4" name="TextBox 3"/>
          <p:cNvSpPr txBox="1"/>
          <p:nvPr/>
        </p:nvSpPr>
        <p:spPr>
          <a:xfrm>
            <a:off x="822960" y="105156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Why This Matters</a:t>
            </a:r>
          </a:p>
        </p:txBody>
      </p:sp>
      <p:sp>
        <p:nvSpPr>
          <p:cNvPr id="5" name="TextBox 4"/>
          <p:cNvSpPr txBox="1"/>
          <p:nvPr/>
        </p:nvSpPr>
        <p:spPr>
          <a:xfrm>
            <a:off x="822960" y="1965960"/>
            <a:ext cx="9875520" cy="1463040"/>
          </a:xfrm>
          <a:prstGeom prst="rect">
            <a:avLst/>
          </a:prstGeom>
          <a:noFill/>
        </p:spPr>
        <p:txBody>
          <a:bodyPr wrap="square" anchor="t" lIns="0" rIns="0" tIns="0" bIns="0">
            <a:spAutoFit/>
          </a:bodyPr>
          <a:lstStyle/>
          <a:p>
            <a:pPr algn="l">
              <a:lnSpc>
                <a:spcPct val="140000"/>
              </a:lnSpc>
            </a:pPr>
            <a:r>
              <a:rPr sz="1600" b="0" i="0">
                <a:solidFill>
                  <a:srgbClr val="5C576E"/>
                </a:solidFill>
                <a:latin typeface="Calibri"/>
              </a:rPr>
              <a:t>Before any other concept in this course makes sense, you need hashing — it's the primitive every other piece (signatures, blocks, chains) is built on top of. Everything from here on assumes you understand what a hash actually is and isn't.</a:t>
            </a:r>
          </a:p>
        </p:txBody>
      </p:sp>
      <p:sp>
        <p:nvSpPr>
          <p:cNvPr id="6" name="TextBox 5"/>
          <p:cNvSpPr txBox="1"/>
          <p:nvPr/>
        </p:nvSpPr>
        <p:spPr>
          <a:xfrm>
            <a:off x="822960" y="3657600"/>
            <a:ext cx="9875520" cy="365760"/>
          </a:xfrm>
          <a:prstGeom prst="rect">
            <a:avLst/>
          </a:prstGeom>
          <a:noFill/>
        </p:spPr>
        <p:txBody>
          <a:bodyPr wrap="square" anchor="t" lIns="0" rIns="0" tIns="0" bIns="0">
            <a:spAutoFit/>
          </a:bodyPr>
          <a:lstStyle/>
          <a:p>
            <a:pPr algn="l">
              <a:lnSpc>
                <a:spcPct val="115000"/>
              </a:lnSpc>
            </a:pPr>
            <a:r>
              <a:rPr sz="1200" b="1" i="0">
                <a:solidFill>
                  <a:srgbClr val="C1432B"/>
                </a:solidFill>
                <a:latin typeface="Calibri"/>
              </a:rPr>
              <a:t>WHAT THIS SECTION COVERS</a:t>
            </a:r>
          </a:p>
        </p:txBody>
      </p:sp>
      <p:sp>
        <p:nvSpPr>
          <p:cNvPr id="7" name="Rectangle 6"/>
          <p:cNvSpPr/>
          <p:nvPr/>
        </p:nvSpPr>
        <p:spPr>
          <a:xfrm>
            <a:off x="822960" y="4197096"/>
            <a:ext cx="82296" cy="82296"/>
          </a:xfrm>
          <a:prstGeom prst="rect">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41148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Core concept</a:t>
            </a:r>
          </a:p>
        </p:txBody>
      </p:sp>
      <p:sp>
        <p:nvSpPr>
          <p:cNvPr id="9" name="Rectangle 8"/>
          <p:cNvSpPr/>
          <p:nvPr/>
        </p:nvSpPr>
        <p:spPr>
          <a:xfrm>
            <a:off x="6035040" y="4197096"/>
            <a:ext cx="82296" cy="82296"/>
          </a:xfrm>
          <a:prstGeom prst="rect">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63640" y="41148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Four key ideas, one at a time</a:t>
            </a:r>
          </a:p>
        </p:txBody>
      </p:sp>
      <p:sp>
        <p:nvSpPr>
          <p:cNvPr id="11" name="Rectangle 10"/>
          <p:cNvSpPr/>
          <p:nvPr/>
        </p:nvSpPr>
        <p:spPr>
          <a:xfrm>
            <a:off x="822960" y="4654296"/>
            <a:ext cx="82296" cy="82296"/>
          </a:xfrm>
          <a:prstGeom prst="rect">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45720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A real, reproducible worked example</a:t>
            </a:r>
          </a:p>
        </p:txBody>
      </p:sp>
      <p:sp>
        <p:nvSpPr>
          <p:cNvPr id="13" name="Rectangle 12"/>
          <p:cNvSpPr/>
          <p:nvPr/>
        </p:nvSpPr>
        <p:spPr>
          <a:xfrm>
            <a:off x="6035040" y="4654296"/>
            <a:ext cx="82296" cy="82296"/>
          </a:xfrm>
          <a:prstGeom prst="rect">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63640" y="45720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Real-world uses beyond blockchain</a:t>
            </a:r>
          </a:p>
        </p:txBody>
      </p:sp>
      <p:sp>
        <p:nvSpPr>
          <p:cNvPr id="15" name="Rectangle 14"/>
          <p:cNvSpPr/>
          <p:nvPr/>
        </p:nvSpPr>
        <p:spPr>
          <a:xfrm>
            <a:off x="822960" y="5111496"/>
            <a:ext cx="82296" cy="82296"/>
          </a:xfrm>
          <a:prstGeom prst="rect">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0292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A flagship case study</a:t>
            </a:r>
          </a:p>
        </p:txBody>
      </p:sp>
      <p:sp>
        <p:nvSpPr>
          <p:cNvPr id="17" name="Rectangle 16"/>
          <p:cNvSpPr/>
          <p:nvPr/>
        </p:nvSpPr>
        <p:spPr>
          <a:xfrm>
            <a:off x="6035040" y="5111496"/>
            <a:ext cx="82296" cy="82296"/>
          </a:xfrm>
          <a:prstGeom prst="rect">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50292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A real-life analogy</a:t>
            </a:r>
          </a:p>
        </p:txBody>
      </p:sp>
      <p:sp>
        <p:nvSpPr>
          <p:cNvPr id="19" name="Rectangle 18"/>
          <p:cNvSpPr/>
          <p:nvPr/>
        </p:nvSpPr>
        <p:spPr>
          <a:xfrm>
            <a:off x="822960" y="5568696"/>
            <a:ext cx="82296" cy="82296"/>
          </a:xfrm>
          <a:prstGeom prst="rect">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54864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Common misconceptions</a:t>
            </a:r>
          </a:p>
        </p:txBody>
      </p:sp>
      <p:sp>
        <p:nvSpPr>
          <p:cNvPr id="21" name="Rectangle 20"/>
          <p:cNvSpPr/>
          <p:nvPr/>
        </p:nvSpPr>
        <p:spPr>
          <a:xfrm>
            <a:off x="6035040" y="5568696"/>
            <a:ext cx="82296" cy="82296"/>
          </a:xfrm>
          <a:prstGeom prst="rect">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63640" y="54864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Hands-on practice</a:t>
            </a:r>
          </a:p>
        </p:txBody>
      </p:sp>
      <p:sp>
        <p:nvSpPr>
          <p:cNvPr id="23" name="Rectangle 22"/>
          <p:cNvSpPr/>
          <p:nvPr/>
        </p:nvSpPr>
        <p:spPr>
          <a:xfrm>
            <a:off x="822960" y="6025896"/>
            <a:ext cx="82296" cy="82296"/>
          </a:xfrm>
          <a:prstGeom prst="rect">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59436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Take-home assignment</a:t>
            </a:r>
          </a:p>
        </p:txBody>
      </p:sp>
      <p:sp>
        <p:nvSpPr>
          <p:cNvPr id="25" name="TextBox 24"/>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02 /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1432B"/>
                </a:solidFill>
                <a:latin typeface="Calibri"/>
              </a:rPr>
              <a:t>TOPIC 01 — HASHING</a:t>
            </a:r>
          </a:p>
        </p:txBody>
      </p:sp>
      <p:sp>
        <p:nvSpPr>
          <p:cNvPr id="4" name="TextBox 3"/>
          <p:cNvSpPr txBox="1"/>
          <p:nvPr/>
        </p:nvSpPr>
        <p:spPr>
          <a:xfrm>
            <a:off x="822960" y="1097280"/>
            <a:ext cx="9601200" cy="1005840"/>
          </a:xfrm>
          <a:prstGeom prst="rect">
            <a:avLst/>
          </a:prstGeom>
          <a:noFill/>
        </p:spPr>
        <p:txBody>
          <a:bodyPr wrap="square" anchor="t" lIns="0" rIns="0" tIns="0" bIns="0">
            <a:spAutoFit/>
          </a:bodyPr>
          <a:lstStyle/>
          <a:p>
            <a:pPr algn="l">
              <a:lnSpc>
                <a:spcPct val="105000"/>
              </a:lnSpc>
            </a:pPr>
            <a:r>
              <a:rPr sz="3400" b="1" i="0">
                <a:solidFill>
                  <a:srgbClr val="1C1730"/>
                </a:solidFill>
                <a:latin typeface="Century Gothic"/>
              </a:rPr>
              <a:t>The Core Concept</a:t>
            </a:r>
          </a:p>
        </p:txBody>
      </p:sp>
      <p:sp>
        <p:nvSpPr>
          <p:cNvPr id="5" name="Rounded Rectangle 4"/>
          <p:cNvSpPr/>
          <p:nvPr/>
        </p:nvSpPr>
        <p:spPr>
          <a:xfrm>
            <a:off x="822960" y="2286000"/>
            <a:ext cx="10515600" cy="329184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2286000"/>
            <a:ext cx="91440" cy="3291840"/>
          </a:xfrm>
          <a:prstGeom prst="rect">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80160" y="2697480"/>
            <a:ext cx="9601200" cy="2560320"/>
          </a:xfrm>
          <a:prstGeom prst="rect">
            <a:avLst/>
          </a:prstGeom>
          <a:noFill/>
        </p:spPr>
        <p:txBody>
          <a:bodyPr wrap="square" anchor="t" lIns="0" rIns="0" tIns="0" bIns="0">
            <a:spAutoFit/>
          </a:bodyPr>
          <a:lstStyle/>
          <a:p>
            <a:pPr algn="l">
              <a:lnSpc>
                <a:spcPct val="155000"/>
              </a:lnSpc>
            </a:pPr>
            <a:r>
              <a:rPr sz="2000" b="0" i="0">
                <a:solidFill>
                  <a:srgbClr val="1C1730"/>
                </a:solidFill>
                <a:latin typeface="Calibri"/>
              </a:rPr>
              <a:t>A hash function takes any input — a letter, a word, a gigabyte of data — and turns it into a fixed-length string of characters called a hash. For blockchain, that function is SHA-256 (Bitcoin) or Keccak-256 (Ethereum). Same input, same output, every time — but there's no way back.</a:t>
            </a:r>
          </a:p>
        </p:txBody>
      </p:sp>
      <p:sp>
        <p:nvSpPr>
          <p:cNvPr id="8" name="TextBox 7"/>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03 /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1432B"/>
                </a:solidFill>
                <a:latin typeface="Calibri"/>
              </a:rPr>
              <a:t>TOPIC 01 — HASHING</a:t>
            </a:r>
          </a:p>
        </p:txBody>
      </p:sp>
      <p:sp>
        <p:nvSpPr>
          <p:cNvPr id="4" name="TextBox 3"/>
          <p:cNvSpPr txBox="1"/>
          <p:nvPr/>
        </p:nvSpPr>
        <p:spPr>
          <a:xfrm>
            <a:off x="8503920" y="640080"/>
            <a:ext cx="2834640" cy="365760"/>
          </a:xfrm>
          <a:prstGeom prst="rect">
            <a:avLst/>
          </a:prstGeom>
          <a:noFill/>
        </p:spPr>
        <p:txBody>
          <a:bodyPr wrap="square" anchor="t" lIns="0" rIns="0" tIns="0" bIns="0">
            <a:spAutoFit/>
          </a:bodyPr>
          <a:lstStyle/>
          <a:p>
            <a:pPr algn="r">
              <a:lnSpc>
                <a:spcPct val="115000"/>
              </a:lnSpc>
            </a:pPr>
            <a:r>
              <a:rPr sz="1200" b="1" i="0">
                <a:solidFill>
                  <a:srgbClr val="5C576E"/>
                </a:solidFill>
                <a:latin typeface="Calibri"/>
              </a:rPr>
              <a:t>KEY IDEA 1 / 4</a:t>
            </a:r>
          </a:p>
        </p:txBody>
      </p:sp>
      <p:sp>
        <p:nvSpPr>
          <p:cNvPr id="5" name="TextBox 4"/>
          <p:cNvSpPr txBox="1"/>
          <p:nvPr/>
        </p:nvSpPr>
        <p:spPr>
          <a:xfrm>
            <a:off x="822960" y="109728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Deterministic</a:t>
            </a:r>
          </a:p>
        </p:txBody>
      </p:sp>
      <p:sp>
        <p:nvSpPr>
          <p:cNvPr id="6" name="TextBox 5"/>
          <p:cNvSpPr txBox="1"/>
          <p:nvPr/>
        </p:nvSpPr>
        <p:spPr>
          <a:xfrm>
            <a:off x="822960" y="2148840"/>
            <a:ext cx="9875520" cy="2011680"/>
          </a:xfrm>
          <a:prstGeom prst="rect">
            <a:avLst/>
          </a:prstGeom>
          <a:noFill/>
        </p:spPr>
        <p:txBody>
          <a:bodyPr wrap="square" anchor="t" lIns="0" rIns="0" tIns="0" bIns="0">
            <a:spAutoFit/>
          </a:bodyPr>
          <a:lstStyle/>
          <a:p>
            <a:pPr algn="l">
              <a:lnSpc>
                <a:spcPct val="150000"/>
              </a:lnSpc>
            </a:pPr>
            <a:r>
              <a:rPr sz="1650" b="0" i="0">
                <a:solidFill>
                  <a:srgbClr val="1C1730"/>
                </a:solidFill>
                <a:latin typeface="Calibri"/>
              </a:rPr>
              <a:t>The same input always produces the exact same output. Hash the word “hello” today, tomorrow, or on a different continent — identical result, every time. There's no randomness involved anywhere in the process.</a:t>
            </a:r>
          </a:p>
        </p:txBody>
      </p:sp>
      <p:sp>
        <p:nvSpPr>
          <p:cNvPr id="7" name="Rounded Rectangle 6"/>
          <p:cNvSpPr/>
          <p:nvPr/>
        </p:nvSpPr>
        <p:spPr>
          <a:xfrm>
            <a:off x="822960" y="4434840"/>
            <a:ext cx="10515600" cy="1280160"/>
          </a:xfrm>
          <a:prstGeom prst="roundRect">
            <a:avLst>
              <a:gd name="adj" fmla="val 6000"/>
            </a:avLst>
          </a:prstGeom>
          <a:solidFill>
            <a:srgbClr val="F8E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617720"/>
            <a:ext cx="9875520" cy="320040"/>
          </a:xfrm>
          <a:prstGeom prst="rect">
            <a:avLst/>
          </a:prstGeom>
          <a:noFill/>
        </p:spPr>
        <p:txBody>
          <a:bodyPr wrap="square" anchor="t" lIns="0" rIns="0" tIns="0" bIns="0">
            <a:spAutoFit/>
          </a:bodyPr>
          <a:lstStyle/>
          <a:p>
            <a:pPr algn="l">
              <a:lnSpc>
                <a:spcPct val="115000"/>
              </a:lnSpc>
            </a:pPr>
            <a:r>
              <a:rPr sz="1100" b="1" i="0">
                <a:solidFill>
                  <a:srgbClr val="C1432B"/>
                </a:solidFill>
                <a:latin typeface="Calibri"/>
              </a:rPr>
              <a:t>EXAMPLE</a:t>
            </a:r>
          </a:p>
        </p:txBody>
      </p:sp>
      <p:sp>
        <p:nvSpPr>
          <p:cNvPr id="9" name="TextBox 8"/>
          <p:cNvSpPr txBox="1"/>
          <p:nvPr/>
        </p:nvSpPr>
        <p:spPr>
          <a:xfrm>
            <a:off x="1143000" y="4956048"/>
            <a:ext cx="9875520" cy="640080"/>
          </a:xfrm>
          <a:prstGeom prst="rect">
            <a:avLst/>
          </a:prstGeom>
          <a:noFill/>
        </p:spPr>
        <p:txBody>
          <a:bodyPr wrap="square" anchor="t" lIns="0" rIns="0" tIns="0" bIns="0">
            <a:spAutoFit/>
          </a:bodyPr>
          <a:lstStyle/>
          <a:p>
            <a:pPr algn="l">
              <a:lnSpc>
                <a:spcPct val="130000"/>
              </a:lnSpc>
            </a:pPr>
            <a:r>
              <a:rPr sz="1400" b="0" i="0">
                <a:solidFill>
                  <a:srgbClr val="1C1730"/>
                </a:solidFill>
                <a:latin typeface="Consolas"/>
              </a:rPr>
              <a:t>"hello" → 2cf24dba...9824  (always, forever)</a:t>
            </a:r>
          </a:p>
        </p:txBody>
      </p:sp>
      <p:sp>
        <p:nvSpPr>
          <p:cNvPr id="10" name="TextBox 9"/>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04 /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1432B"/>
                </a:solidFill>
                <a:latin typeface="Calibri"/>
              </a:rPr>
              <a:t>TOPIC 01 — HASHING</a:t>
            </a:r>
          </a:p>
        </p:txBody>
      </p:sp>
      <p:sp>
        <p:nvSpPr>
          <p:cNvPr id="4" name="TextBox 3"/>
          <p:cNvSpPr txBox="1"/>
          <p:nvPr/>
        </p:nvSpPr>
        <p:spPr>
          <a:xfrm>
            <a:off x="8503920" y="640080"/>
            <a:ext cx="2834640" cy="365760"/>
          </a:xfrm>
          <a:prstGeom prst="rect">
            <a:avLst/>
          </a:prstGeom>
          <a:noFill/>
        </p:spPr>
        <p:txBody>
          <a:bodyPr wrap="square" anchor="t" lIns="0" rIns="0" tIns="0" bIns="0">
            <a:spAutoFit/>
          </a:bodyPr>
          <a:lstStyle/>
          <a:p>
            <a:pPr algn="r">
              <a:lnSpc>
                <a:spcPct val="115000"/>
              </a:lnSpc>
            </a:pPr>
            <a:r>
              <a:rPr sz="1200" b="1" i="0">
                <a:solidFill>
                  <a:srgbClr val="5C576E"/>
                </a:solidFill>
                <a:latin typeface="Calibri"/>
              </a:rPr>
              <a:t>KEY IDEA 2 / 4</a:t>
            </a:r>
          </a:p>
        </p:txBody>
      </p:sp>
      <p:sp>
        <p:nvSpPr>
          <p:cNvPr id="5" name="TextBox 4"/>
          <p:cNvSpPr txBox="1"/>
          <p:nvPr/>
        </p:nvSpPr>
        <p:spPr>
          <a:xfrm>
            <a:off x="822960" y="109728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One-Way</a:t>
            </a:r>
          </a:p>
        </p:txBody>
      </p:sp>
      <p:sp>
        <p:nvSpPr>
          <p:cNvPr id="6" name="TextBox 5"/>
          <p:cNvSpPr txBox="1"/>
          <p:nvPr/>
        </p:nvSpPr>
        <p:spPr>
          <a:xfrm>
            <a:off x="822960" y="2148840"/>
            <a:ext cx="9875520" cy="2011680"/>
          </a:xfrm>
          <a:prstGeom prst="rect">
            <a:avLst/>
          </a:prstGeom>
          <a:noFill/>
        </p:spPr>
        <p:txBody>
          <a:bodyPr wrap="square" anchor="t" lIns="0" rIns="0" tIns="0" bIns="0">
            <a:spAutoFit/>
          </a:bodyPr>
          <a:lstStyle/>
          <a:p>
            <a:pPr algn="l">
              <a:lnSpc>
                <a:spcPct val="150000"/>
              </a:lnSpc>
            </a:pPr>
            <a:r>
              <a:rPr sz="1650" b="0" i="0">
                <a:solidFill>
                  <a:srgbClr val="1C1730"/>
                </a:solidFill>
                <a:latin typeface="Calibri"/>
              </a:rPr>
              <a:t>Given a hash, there's no way to work backwards to the original input — other than guessing inputs and re-hashing until one matches, which for anything non-trivial would take longer than the age of the universe. Easy to fall through, impossible to climb back up.</a:t>
            </a:r>
          </a:p>
        </p:txBody>
      </p:sp>
      <p:sp>
        <p:nvSpPr>
          <p:cNvPr id="7" name="Rounded Rectangle 6"/>
          <p:cNvSpPr/>
          <p:nvPr/>
        </p:nvSpPr>
        <p:spPr>
          <a:xfrm>
            <a:off x="822960" y="4434840"/>
            <a:ext cx="10515600" cy="1280160"/>
          </a:xfrm>
          <a:prstGeom prst="roundRect">
            <a:avLst>
              <a:gd name="adj" fmla="val 6000"/>
            </a:avLst>
          </a:prstGeom>
          <a:solidFill>
            <a:srgbClr val="F8E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617720"/>
            <a:ext cx="9875520" cy="320040"/>
          </a:xfrm>
          <a:prstGeom prst="rect">
            <a:avLst/>
          </a:prstGeom>
          <a:noFill/>
        </p:spPr>
        <p:txBody>
          <a:bodyPr wrap="square" anchor="t" lIns="0" rIns="0" tIns="0" bIns="0">
            <a:spAutoFit/>
          </a:bodyPr>
          <a:lstStyle/>
          <a:p>
            <a:pPr algn="l">
              <a:lnSpc>
                <a:spcPct val="115000"/>
              </a:lnSpc>
            </a:pPr>
            <a:r>
              <a:rPr sz="1100" b="1" i="0">
                <a:solidFill>
                  <a:srgbClr val="C1432B"/>
                </a:solidFill>
                <a:latin typeface="Calibri"/>
              </a:rPr>
              <a:t>EXAMPLE</a:t>
            </a:r>
          </a:p>
        </p:txBody>
      </p:sp>
      <p:sp>
        <p:nvSpPr>
          <p:cNvPr id="9" name="TextBox 8"/>
          <p:cNvSpPr txBox="1"/>
          <p:nvPr/>
        </p:nvSpPr>
        <p:spPr>
          <a:xfrm>
            <a:off x="1143000" y="4956048"/>
            <a:ext cx="9875520" cy="640080"/>
          </a:xfrm>
          <a:prstGeom prst="rect">
            <a:avLst/>
          </a:prstGeom>
          <a:noFill/>
        </p:spPr>
        <p:txBody>
          <a:bodyPr wrap="square" anchor="t" lIns="0" rIns="0" tIns="0" bIns="0">
            <a:spAutoFit/>
          </a:bodyPr>
          <a:lstStyle/>
          <a:p>
            <a:pPr algn="l">
              <a:lnSpc>
                <a:spcPct val="130000"/>
              </a:lnSpc>
            </a:pPr>
            <a:r>
              <a:rPr sz="1400" b="0" i="0">
                <a:solidFill>
                  <a:srgbClr val="1C1730"/>
                </a:solidFill>
                <a:latin typeface="Consolas"/>
              </a:rPr>
              <a:t>You can reverse-engineer neither a fingerprint into a face, nor a hash into its input.</a:t>
            </a:r>
          </a:p>
        </p:txBody>
      </p:sp>
      <p:sp>
        <p:nvSpPr>
          <p:cNvPr id="10" name="TextBox 9"/>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05 /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1432B"/>
                </a:solidFill>
                <a:latin typeface="Calibri"/>
              </a:rPr>
              <a:t>TOPIC 01 — HASHING</a:t>
            </a:r>
          </a:p>
        </p:txBody>
      </p:sp>
      <p:sp>
        <p:nvSpPr>
          <p:cNvPr id="4" name="TextBox 3"/>
          <p:cNvSpPr txBox="1"/>
          <p:nvPr/>
        </p:nvSpPr>
        <p:spPr>
          <a:xfrm>
            <a:off x="8503920" y="640080"/>
            <a:ext cx="2834640" cy="365760"/>
          </a:xfrm>
          <a:prstGeom prst="rect">
            <a:avLst/>
          </a:prstGeom>
          <a:noFill/>
        </p:spPr>
        <p:txBody>
          <a:bodyPr wrap="square" anchor="t" lIns="0" rIns="0" tIns="0" bIns="0">
            <a:spAutoFit/>
          </a:bodyPr>
          <a:lstStyle/>
          <a:p>
            <a:pPr algn="r">
              <a:lnSpc>
                <a:spcPct val="115000"/>
              </a:lnSpc>
            </a:pPr>
            <a:r>
              <a:rPr sz="1200" b="1" i="0">
                <a:solidFill>
                  <a:srgbClr val="5C576E"/>
                </a:solidFill>
                <a:latin typeface="Calibri"/>
              </a:rPr>
              <a:t>KEY IDEA 3 / 4</a:t>
            </a:r>
          </a:p>
        </p:txBody>
      </p:sp>
      <p:sp>
        <p:nvSpPr>
          <p:cNvPr id="5" name="TextBox 4"/>
          <p:cNvSpPr txBox="1"/>
          <p:nvPr/>
        </p:nvSpPr>
        <p:spPr>
          <a:xfrm>
            <a:off x="822960" y="109728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Avalanche Effect</a:t>
            </a:r>
          </a:p>
        </p:txBody>
      </p:sp>
      <p:sp>
        <p:nvSpPr>
          <p:cNvPr id="6" name="TextBox 5"/>
          <p:cNvSpPr txBox="1"/>
          <p:nvPr/>
        </p:nvSpPr>
        <p:spPr>
          <a:xfrm>
            <a:off x="822960" y="2148840"/>
            <a:ext cx="9875520" cy="2011680"/>
          </a:xfrm>
          <a:prstGeom prst="rect">
            <a:avLst/>
          </a:prstGeom>
          <a:noFill/>
        </p:spPr>
        <p:txBody>
          <a:bodyPr wrap="square" anchor="t" lIns="0" rIns="0" tIns="0" bIns="0">
            <a:spAutoFit/>
          </a:bodyPr>
          <a:lstStyle/>
          <a:p>
            <a:pPr algn="l">
              <a:lnSpc>
                <a:spcPct val="150000"/>
              </a:lnSpc>
            </a:pPr>
            <a:r>
              <a:rPr sz="1650" b="0" i="0">
                <a:solidFill>
                  <a:srgbClr val="1C1730"/>
                </a:solidFill>
                <a:latin typeface="Calibri"/>
              </a:rPr>
              <a:t>Changing even a single character of input — flipping one letter's capitalization — produces a completely different, unrecognizable hash. There's no partial similarity between hashes of similar inputs.</a:t>
            </a:r>
          </a:p>
        </p:txBody>
      </p:sp>
      <p:sp>
        <p:nvSpPr>
          <p:cNvPr id="7" name="Rounded Rectangle 6"/>
          <p:cNvSpPr/>
          <p:nvPr/>
        </p:nvSpPr>
        <p:spPr>
          <a:xfrm>
            <a:off x="822960" y="4434840"/>
            <a:ext cx="10515600" cy="1280160"/>
          </a:xfrm>
          <a:prstGeom prst="roundRect">
            <a:avLst>
              <a:gd name="adj" fmla="val 6000"/>
            </a:avLst>
          </a:prstGeom>
          <a:solidFill>
            <a:srgbClr val="F8E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617720"/>
            <a:ext cx="9875520" cy="320040"/>
          </a:xfrm>
          <a:prstGeom prst="rect">
            <a:avLst/>
          </a:prstGeom>
          <a:noFill/>
        </p:spPr>
        <p:txBody>
          <a:bodyPr wrap="square" anchor="t" lIns="0" rIns="0" tIns="0" bIns="0">
            <a:spAutoFit/>
          </a:bodyPr>
          <a:lstStyle/>
          <a:p>
            <a:pPr algn="l">
              <a:lnSpc>
                <a:spcPct val="115000"/>
              </a:lnSpc>
            </a:pPr>
            <a:r>
              <a:rPr sz="1100" b="1" i="0">
                <a:solidFill>
                  <a:srgbClr val="C1432B"/>
                </a:solidFill>
                <a:latin typeface="Calibri"/>
              </a:rPr>
              <a:t>EXAMPLE</a:t>
            </a:r>
          </a:p>
        </p:txBody>
      </p:sp>
      <p:sp>
        <p:nvSpPr>
          <p:cNvPr id="9" name="TextBox 8"/>
          <p:cNvSpPr txBox="1"/>
          <p:nvPr/>
        </p:nvSpPr>
        <p:spPr>
          <a:xfrm>
            <a:off x="1143000" y="4956048"/>
            <a:ext cx="9875520" cy="640080"/>
          </a:xfrm>
          <a:prstGeom prst="rect">
            <a:avLst/>
          </a:prstGeom>
          <a:noFill/>
        </p:spPr>
        <p:txBody>
          <a:bodyPr wrap="square" anchor="t" lIns="0" rIns="0" tIns="0" bIns="0">
            <a:spAutoFit/>
          </a:bodyPr>
          <a:lstStyle/>
          <a:p>
            <a:pPr algn="l">
              <a:lnSpc>
                <a:spcPct val="130000"/>
              </a:lnSpc>
            </a:pPr>
            <a:r>
              <a:rPr sz="1400" b="0" i="0">
                <a:solidFill>
                  <a:srgbClr val="1C1730"/>
                </a:solidFill>
                <a:latin typeface="Consolas"/>
              </a:rPr>
              <a:t>"Alice" vs "Alicf" → two totally unrelated 64-character hashes</a:t>
            </a:r>
          </a:p>
        </p:txBody>
      </p:sp>
      <p:sp>
        <p:nvSpPr>
          <p:cNvPr id="10" name="TextBox 9"/>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06 /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1432B"/>
                </a:solidFill>
                <a:latin typeface="Calibri"/>
              </a:rPr>
              <a:t>TOPIC 01 — HASHING</a:t>
            </a:r>
          </a:p>
        </p:txBody>
      </p:sp>
      <p:sp>
        <p:nvSpPr>
          <p:cNvPr id="4" name="TextBox 3"/>
          <p:cNvSpPr txBox="1"/>
          <p:nvPr/>
        </p:nvSpPr>
        <p:spPr>
          <a:xfrm>
            <a:off x="8503920" y="640080"/>
            <a:ext cx="2834640" cy="365760"/>
          </a:xfrm>
          <a:prstGeom prst="rect">
            <a:avLst/>
          </a:prstGeom>
          <a:noFill/>
        </p:spPr>
        <p:txBody>
          <a:bodyPr wrap="square" anchor="t" lIns="0" rIns="0" tIns="0" bIns="0">
            <a:spAutoFit/>
          </a:bodyPr>
          <a:lstStyle/>
          <a:p>
            <a:pPr algn="r">
              <a:lnSpc>
                <a:spcPct val="115000"/>
              </a:lnSpc>
            </a:pPr>
            <a:r>
              <a:rPr sz="1200" b="1" i="0">
                <a:solidFill>
                  <a:srgbClr val="5C576E"/>
                </a:solidFill>
                <a:latin typeface="Calibri"/>
              </a:rPr>
              <a:t>KEY IDEA 4 / 4</a:t>
            </a:r>
          </a:p>
        </p:txBody>
      </p:sp>
      <p:sp>
        <p:nvSpPr>
          <p:cNvPr id="5" name="TextBox 4"/>
          <p:cNvSpPr txBox="1"/>
          <p:nvPr/>
        </p:nvSpPr>
        <p:spPr>
          <a:xfrm>
            <a:off x="822960" y="109728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Collision-Resistant</a:t>
            </a:r>
          </a:p>
        </p:txBody>
      </p:sp>
      <p:sp>
        <p:nvSpPr>
          <p:cNvPr id="6" name="TextBox 5"/>
          <p:cNvSpPr txBox="1"/>
          <p:nvPr/>
        </p:nvSpPr>
        <p:spPr>
          <a:xfrm>
            <a:off x="822960" y="2148840"/>
            <a:ext cx="9875520" cy="2011680"/>
          </a:xfrm>
          <a:prstGeom prst="rect">
            <a:avLst/>
          </a:prstGeom>
          <a:noFill/>
        </p:spPr>
        <p:txBody>
          <a:bodyPr wrap="square" anchor="t" lIns="0" rIns="0" tIns="0" bIns="0">
            <a:spAutoFit/>
          </a:bodyPr>
          <a:lstStyle/>
          <a:p>
            <a:pPr algn="l">
              <a:lnSpc>
                <a:spcPct val="150000"/>
              </a:lnSpc>
            </a:pPr>
            <a:r>
              <a:rPr sz="1650" b="0" i="0">
                <a:solidFill>
                  <a:srgbClr val="1C1730"/>
                </a:solidFill>
                <a:latin typeface="Calibri"/>
              </a:rPr>
              <a:t>It should be practically impossible to find two different inputs that produce the same hash. This is what makes a hash trustworthy as a stand-in for the original data — one hash, one piece of data.</a:t>
            </a:r>
          </a:p>
        </p:txBody>
      </p:sp>
      <p:sp>
        <p:nvSpPr>
          <p:cNvPr id="7" name="Rounded Rectangle 6"/>
          <p:cNvSpPr/>
          <p:nvPr/>
        </p:nvSpPr>
        <p:spPr>
          <a:xfrm>
            <a:off x="822960" y="4434840"/>
            <a:ext cx="10515600" cy="1280160"/>
          </a:xfrm>
          <a:prstGeom prst="roundRect">
            <a:avLst>
              <a:gd name="adj" fmla="val 6000"/>
            </a:avLst>
          </a:prstGeom>
          <a:solidFill>
            <a:srgbClr val="F8E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617720"/>
            <a:ext cx="9875520" cy="320040"/>
          </a:xfrm>
          <a:prstGeom prst="rect">
            <a:avLst/>
          </a:prstGeom>
          <a:noFill/>
        </p:spPr>
        <p:txBody>
          <a:bodyPr wrap="square" anchor="t" lIns="0" rIns="0" tIns="0" bIns="0">
            <a:spAutoFit/>
          </a:bodyPr>
          <a:lstStyle/>
          <a:p>
            <a:pPr algn="l">
              <a:lnSpc>
                <a:spcPct val="115000"/>
              </a:lnSpc>
            </a:pPr>
            <a:r>
              <a:rPr sz="1100" b="1" i="0">
                <a:solidFill>
                  <a:srgbClr val="C1432B"/>
                </a:solidFill>
                <a:latin typeface="Calibri"/>
              </a:rPr>
              <a:t>EXAMPLE</a:t>
            </a:r>
          </a:p>
        </p:txBody>
      </p:sp>
      <p:sp>
        <p:nvSpPr>
          <p:cNvPr id="9" name="TextBox 8"/>
          <p:cNvSpPr txBox="1"/>
          <p:nvPr/>
        </p:nvSpPr>
        <p:spPr>
          <a:xfrm>
            <a:off x="1143000" y="4956048"/>
            <a:ext cx="9875520" cy="640080"/>
          </a:xfrm>
          <a:prstGeom prst="rect">
            <a:avLst/>
          </a:prstGeom>
          <a:noFill/>
        </p:spPr>
        <p:txBody>
          <a:bodyPr wrap="square" anchor="t" lIns="0" rIns="0" tIns="0" bIns="0">
            <a:spAutoFit/>
          </a:bodyPr>
          <a:lstStyle/>
          <a:p>
            <a:pPr algn="l">
              <a:lnSpc>
                <a:spcPct val="130000"/>
              </a:lnSpc>
            </a:pPr>
            <a:r>
              <a:rPr sz="1400" b="0" i="0">
                <a:solidFill>
                  <a:srgbClr val="1C1730"/>
                </a:solidFill>
                <a:latin typeface="Consolas"/>
              </a:rPr>
              <a:t>No two distinct files should ever share a SHA-256 hash in practice.</a:t>
            </a:r>
          </a:p>
        </p:txBody>
      </p:sp>
      <p:sp>
        <p:nvSpPr>
          <p:cNvPr id="10" name="TextBox 9"/>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07 /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1432B"/>
                </a:solidFill>
                <a:latin typeface="Calibri"/>
              </a:rPr>
              <a:t>WORKED EXAMPLE — PART 1</a:t>
            </a:r>
          </a:p>
        </p:txBody>
      </p:sp>
      <p:sp>
        <p:nvSpPr>
          <p:cNvPr id="4" name="TextBox 3"/>
          <p:cNvSpPr txBox="1"/>
          <p:nvPr/>
        </p:nvSpPr>
        <p:spPr>
          <a:xfrm>
            <a:off x="822960" y="1051560"/>
            <a:ext cx="10332720" cy="1005840"/>
          </a:xfrm>
          <a:prstGeom prst="rect">
            <a:avLst/>
          </a:prstGeom>
          <a:noFill/>
        </p:spPr>
        <p:txBody>
          <a:bodyPr wrap="square" anchor="t" lIns="0" rIns="0" tIns="0" bIns="0">
            <a:spAutoFit/>
          </a:bodyPr>
          <a:lstStyle/>
          <a:p>
            <a:pPr algn="l">
              <a:lnSpc>
                <a:spcPct val="105000"/>
              </a:lnSpc>
            </a:pPr>
            <a:r>
              <a:rPr sz="2700" b="1" i="0">
                <a:solidFill>
                  <a:srgbClr val="1C1730"/>
                </a:solidFill>
                <a:latin typeface="Century Gothic"/>
              </a:rPr>
              <a:t>Determinism, Proven On A Real Machine</a:t>
            </a:r>
          </a:p>
        </p:txBody>
      </p:sp>
      <p:sp>
        <p:nvSpPr>
          <p:cNvPr id="5" name="Rounded Rectangle 4"/>
          <p:cNvSpPr/>
          <p:nvPr/>
        </p:nvSpPr>
        <p:spPr>
          <a:xfrm>
            <a:off x="822960" y="1965960"/>
            <a:ext cx="10515600" cy="3840480"/>
          </a:xfrm>
          <a:prstGeom prst="roundRect">
            <a:avLst>
              <a:gd name="adj" fmla="val 4500"/>
            </a:avLst>
          </a:prstGeom>
          <a:solidFill>
            <a:srgbClr val="1410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24128" y="2130552"/>
            <a:ext cx="109728" cy="109728"/>
          </a:xfrm>
          <a:prstGeom prst="ellipse">
            <a:avLst/>
          </a:prstGeom>
          <a:solidFill>
            <a:srgbClr val="FF6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225296" y="2130552"/>
            <a:ext cx="109728" cy="109728"/>
          </a:xfrm>
          <a:prstGeom prst="ellipse">
            <a:avLst/>
          </a:prstGeom>
          <a:solidFill>
            <a:srgbClr val="FFC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426464" y="2130552"/>
            <a:ext cx="109728" cy="109728"/>
          </a:xfrm>
          <a:prstGeom prst="ellipse">
            <a:avLst/>
          </a:prstGeom>
          <a:solidFill>
            <a:srgbClr val="28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78992" y="2350008"/>
            <a:ext cx="10003536" cy="3273552"/>
          </a:xfrm>
          <a:prstGeom prst="rect">
            <a:avLst/>
          </a:prstGeom>
          <a:noFill/>
        </p:spPr>
        <p:txBody>
          <a:bodyPr wrap="square" anchor="t" lIns="0" rIns="0" tIns="0" bIns="0">
            <a:spAutoFit/>
          </a:bodyPr>
          <a:lstStyle/>
          <a:p>
            <a:pPr algn="l">
              <a:lnSpc>
                <a:spcPct val="135000"/>
              </a:lnSpc>
            </a:pPr>
            <a:r>
              <a:rPr sz="1350" b="1">
                <a:solidFill>
                  <a:srgbClr val="9C93C9"/>
                </a:solidFill>
                <a:latin typeface="Consolas"/>
              </a:rPr>
              <a:t>$ </a:t>
            </a:r>
            <a:r>
              <a:rPr sz="1350" b="0">
                <a:solidFill>
                  <a:srgbClr val="EDE9F7"/>
                </a:solidFill>
                <a:latin typeface="Consolas"/>
              </a:rPr>
              <a:t>echo -n "hello" | shasum -a 256</a:t>
            </a:r>
          </a:p>
          <a:p>
            <a:pPr algn="l">
              <a:lnSpc>
                <a:spcPct val="135000"/>
              </a:lnSpc>
            </a:pPr>
            <a:r>
              <a:rPr sz="1350" b="0">
                <a:solidFill>
                  <a:srgbClr val="7FE0C4"/>
                </a:solidFill>
                <a:latin typeface="Consolas"/>
              </a:rPr>
              <a:t>2cf24dba5fb0a30e26e83b2ac5b9e29e1b161e5c1fa7425e73043362938b9824</a:t>
            </a:r>
          </a:p>
          <a:p>
            <a:pPr algn="l">
              <a:lnSpc>
                <a:spcPct val="135000"/>
              </a:lnSpc>
            </a:pPr>
            <a:r>
              <a:rPr sz="1350" b="0">
                <a:solidFill>
                  <a:srgbClr val="EDE9F7"/>
                </a:solidFill>
                <a:latin typeface="Consolas"/>
              </a:rPr>
              <a:t/>
            </a:r>
          </a:p>
          <a:p>
            <a:pPr algn="l">
              <a:lnSpc>
                <a:spcPct val="135000"/>
              </a:lnSpc>
            </a:pPr>
            <a:r>
              <a:rPr sz="1350" b="0">
                <a:solidFill>
                  <a:srgbClr val="8B84AD"/>
                </a:solidFill>
                <a:latin typeface="Consolas"/>
              </a:rPr>
              <a:t># run it again, on a totally separate invocation —</a:t>
            </a:r>
          </a:p>
          <a:p>
            <a:pPr algn="l">
              <a:lnSpc>
                <a:spcPct val="135000"/>
              </a:lnSpc>
            </a:pPr>
            <a:r>
              <a:rPr sz="1350" b="1">
                <a:solidFill>
                  <a:srgbClr val="9C93C9"/>
                </a:solidFill>
                <a:latin typeface="Consolas"/>
              </a:rPr>
              <a:t>$ </a:t>
            </a:r>
            <a:r>
              <a:rPr sz="1350" b="0">
                <a:solidFill>
                  <a:srgbClr val="EDE9F7"/>
                </a:solidFill>
                <a:latin typeface="Consolas"/>
              </a:rPr>
              <a:t>echo -n "hello" | shasum -a 256</a:t>
            </a:r>
          </a:p>
          <a:p>
            <a:pPr algn="l">
              <a:lnSpc>
                <a:spcPct val="135000"/>
              </a:lnSpc>
            </a:pPr>
            <a:r>
              <a:rPr sz="1350" b="0">
                <a:solidFill>
                  <a:srgbClr val="7FE0C4"/>
                </a:solidFill>
                <a:latin typeface="Consolas"/>
              </a:rPr>
              <a:t>2cf24dba5fb0a30e26e83b2ac5b9e29e1b161e5c1fa7425e73043362938b9824</a:t>
            </a:r>
          </a:p>
          <a:p>
            <a:pPr algn="l">
              <a:lnSpc>
                <a:spcPct val="135000"/>
              </a:lnSpc>
            </a:pPr>
            <a:r>
              <a:rPr sz="1350" b="0">
                <a:solidFill>
                  <a:srgbClr val="EDE9F7"/>
                </a:solidFill>
                <a:latin typeface="Consolas"/>
              </a:rPr>
              <a:t/>
            </a:r>
          </a:p>
          <a:p>
            <a:pPr algn="l">
              <a:lnSpc>
                <a:spcPct val="135000"/>
              </a:lnSpc>
            </a:pPr>
            <a:r>
              <a:rPr sz="1350" b="0">
                <a:solidFill>
                  <a:srgbClr val="8B84AD"/>
                </a:solidFill>
                <a:latin typeface="Consolas"/>
              </a:rPr>
              <a:t># identical, character for character. no randomness.</a:t>
            </a:r>
          </a:p>
        </p:txBody>
      </p:sp>
      <p:sp>
        <p:nvSpPr>
          <p:cNvPr id="10" name="TextBox 9"/>
          <p:cNvSpPr txBox="1"/>
          <p:nvPr/>
        </p:nvSpPr>
        <p:spPr>
          <a:xfrm>
            <a:off x="822960" y="6446520"/>
            <a:ext cx="10058400" cy="320040"/>
          </a:xfrm>
          <a:prstGeom prst="rect">
            <a:avLst/>
          </a:prstGeom>
          <a:noFill/>
        </p:spPr>
        <p:txBody>
          <a:bodyPr wrap="square" anchor="t" lIns="0" rIns="0" tIns="0" bIns="0">
            <a:spAutoFit/>
          </a:bodyPr>
          <a:lstStyle/>
          <a:p>
            <a:pPr algn="l">
              <a:lnSpc>
                <a:spcPct val="115000"/>
              </a:lnSpc>
            </a:pPr>
            <a:r>
              <a:rPr sz="1050" b="0" i="0">
                <a:solidFill>
                  <a:srgbClr val="5C576E"/>
                </a:solidFill>
                <a:latin typeface="Calibri"/>
              </a:rPr>
              <a:t>Try it yourself: shasum -a 256 (macOS) or sha256sum (Linux) — already on your machine.</a:t>
            </a:r>
          </a:p>
        </p:txBody>
      </p:sp>
      <p:sp>
        <p:nvSpPr>
          <p:cNvPr id="11" name="TextBox 10"/>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08 /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1432B"/>
                </a:solidFill>
                <a:latin typeface="Calibri"/>
              </a:rPr>
              <a:t>WORKED EXAMPLE — PART 2</a:t>
            </a:r>
          </a:p>
        </p:txBody>
      </p:sp>
      <p:sp>
        <p:nvSpPr>
          <p:cNvPr id="4" name="TextBox 3"/>
          <p:cNvSpPr txBox="1"/>
          <p:nvPr/>
        </p:nvSpPr>
        <p:spPr>
          <a:xfrm>
            <a:off x="822960" y="1051560"/>
            <a:ext cx="10332720" cy="1005840"/>
          </a:xfrm>
          <a:prstGeom prst="rect">
            <a:avLst/>
          </a:prstGeom>
          <a:noFill/>
        </p:spPr>
        <p:txBody>
          <a:bodyPr wrap="square" anchor="t" lIns="0" rIns="0" tIns="0" bIns="0">
            <a:spAutoFit/>
          </a:bodyPr>
          <a:lstStyle/>
          <a:p>
            <a:pPr algn="l">
              <a:lnSpc>
                <a:spcPct val="105000"/>
              </a:lnSpc>
            </a:pPr>
            <a:r>
              <a:rPr sz="2700" b="1" i="0">
                <a:solidFill>
                  <a:srgbClr val="1C1730"/>
                </a:solidFill>
                <a:latin typeface="Century Gothic"/>
              </a:rPr>
              <a:t>The Avalanche Effect, Proven With A Real Transaction-Like String</a:t>
            </a:r>
          </a:p>
        </p:txBody>
      </p:sp>
      <p:sp>
        <p:nvSpPr>
          <p:cNvPr id="5" name="Rounded Rectangle 4"/>
          <p:cNvSpPr/>
          <p:nvPr/>
        </p:nvSpPr>
        <p:spPr>
          <a:xfrm>
            <a:off x="822960" y="1965960"/>
            <a:ext cx="10515600" cy="3840480"/>
          </a:xfrm>
          <a:prstGeom prst="roundRect">
            <a:avLst>
              <a:gd name="adj" fmla="val 4500"/>
            </a:avLst>
          </a:prstGeom>
          <a:solidFill>
            <a:srgbClr val="1410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24128" y="2130552"/>
            <a:ext cx="109728" cy="109728"/>
          </a:xfrm>
          <a:prstGeom prst="ellipse">
            <a:avLst/>
          </a:prstGeom>
          <a:solidFill>
            <a:srgbClr val="FF6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225296" y="2130552"/>
            <a:ext cx="109728" cy="109728"/>
          </a:xfrm>
          <a:prstGeom prst="ellipse">
            <a:avLst/>
          </a:prstGeom>
          <a:solidFill>
            <a:srgbClr val="FFC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426464" y="2130552"/>
            <a:ext cx="109728" cy="109728"/>
          </a:xfrm>
          <a:prstGeom prst="ellipse">
            <a:avLst/>
          </a:prstGeom>
          <a:solidFill>
            <a:srgbClr val="28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78992" y="2350008"/>
            <a:ext cx="10003536" cy="3273552"/>
          </a:xfrm>
          <a:prstGeom prst="rect">
            <a:avLst/>
          </a:prstGeom>
          <a:noFill/>
        </p:spPr>
        <p:txBody>
          <a:bodyPr wrap="square" anchor="t" lIns="0" rIns="0" tIns="0" bIns="0">
            <a:spAutoFit/>
          </a:bodyPr>
          <a:lstStyle/>
          <a:p>
            <a:pPr algn="l">
              <a:lnSpc>
                <a:spcPct val="135000"/>
              </a:lnSpc>
            </a:pPr>
            <a:r>
              <a:rPr sz="1350" b="1">
                <a:solidFill>
                  <a:srgbClr val="9C93C9"/>
                </a:solidFill>
                <a:latin typeface="Consolas"/>
              </a:rPr>
              <a:t>$ </a:t>
            </a:r>
            <a:r>
              <a:rPr sz="1350" b="0">
                <a:solidFill>
                  <a:srgbClr val="EDE9F7"/>
                </a:solidFill>
                <a:latin typeface="Consolas"/>
              </a:rPr>
              <a:t>echo -n "Send 1 ETH to Alice" | shasum -a 256</a:t>
            </a:r>
          </a:p>
          <a:p>
            <a:pPr algn="l">
              <a:lnSpc>
                <a:spcPct val="135000"/>
              </a:lnSpc>
            </a:pPr>
            <a:r>
              <a:rPr sz="1350" b="0">
                <a:solidFill>
                  <a:srgbClr val="7FE0C4"/>
                </a:solidFill>
                <a:latin typeface="Consolas"/>
              </a:rPr>
              <a:t>9bed087e0a716e203d57c1ba36493085f7a87628da1cb1fe18bf5b4631bd7e45</a:t>
            </a:r>
          </a:p>
          <a:p>
            <a:pPr algn="l">
              <a:lnSpc>
                <a:spcPct val="135000"/>
              </a:lnSpc>
            </a:pPr>
            <a:r>
              <a:rPr sz="1350" b="0">
                <a:solidFill>
                  <a:srgbClr val="EDE9F7"/>
                </a:solidFill>
                <a:latin typeface="Consolas"/>
              </a:rPr>
              <a:t/>
            </a:r>
          </a:p>
          <a:p>
            <a:pPr algn="l">
              <a:lnSpc>
                <a:spcPct val="135000"/>
              </a:lnSpc>
            </a:pPr>
            <a:r>
              <a:rPr sz="1350" b="1">
                <a:solidFill>
                  <a:srgbClr val="9C93C9"/>
                </a:solidFill>
                <a:latin typeface="Consolas"/>
              </a:rPr>
              <a:t>$ </a:t>
            </a:r>
            <a:r>
              <a:rPr sz="1350" b="0">
                <a:solidFill>
                  <a:srgbClr val="EDE9F7"/>
                </a:solidFill>
                <a:latin typeface="Consolas"/>
              </a:rPr>
              <a:t>echo -n "Send 1 ETH to Alicf" | shasum -a 256</a:t>
            </a:r>
          </a:p>
          <a:p>
            <a:pPr algn="l">
              <a:lnSpc>
                <a:spcPct val="135000"/>
              </a:lnSpc>
            </a:pPr>
            <a:r>
              <a:rPr sz="1350" b="0">
                <a:solidFill>
                  <a:srgbClr val="FF8E7D"/>
                </a:solidFill>
                <a:latin typeface="Consolas"/>
              </a:rPr>
              <a:t>94f17d20a09db58f6a7fe2cf97f00b2ae2dc1a67802b6e74776b0b6785e4b1eb</a:t>
            </a:r>
          </a:p>
          <a:p>
            <a:pPr algn="l">
              <a:lnSpc>
                <a:spcPct val="135000"/>
              </a:lnSpc>
            </a:pPr>
            <a:r>
              <a:rPr sz="1350" b="0">
                <a:solidFill>
                  <a:srgbClr val="EDE9F7"/>
                </a:solidFill>
                <a:latin typeface="Consolas"/>
              </a:rPr>
              <a:t/>
            </a:r>
          </a:p>
          <a:p>
            <a:pPr algn="l">
              <a:lnSpc>
                <a:spcPct val="135000"/>
              </a:lnSpc>
            </a:pPr>
            <a:r>
              <a:rPr sz="1350" b="0">
                <a:solidFill>
                  <a:srgbClr val="8B84AD"/>
                </a:solidFill>
                <a:latin typeface="Consolas"/>
              </a:rPr>
              <a:t># one letter changed: e → f. total, unrelated mismatch.</a:t>
            </a:r>
          </a:p>
        </p:txBody>
      </p:sp>
      <p:sp>
        <p:nvSpPr>
          <p:cNvPr id="10" name="TextBox 9"/>
          <p:cNvSpPr txBox="1"/>
          <p:nvPr/>
        </p:nvSpPr>
        <p:spPr>
          <a:xfrm>
            <a:off x="822960" y="6446520"/>
            <a:ext cx="10058400" cy="320040"/>
          </a:xfrm>
          <a:prstGeom prst="rect">
            <a:avLst/>
          </a:prstGeom>
          <a:noFill/>
        </p:spPr>
        <p:txBody>
          <a:bodyPr wrap="square" anchor="t" lIns="0" rIns="0" tIns="0" bIns="0">
            <a:spAutoFit/>
          </a:bodyPr>
          <a:lstStyle/>
          <a:p>
            <a:pPr algn="l">
              <a:lnSpc>
                <a:spcPct val="115000"/>
              </a:lnSpc>
            </a:pPr>
            <a:r>
              <a:rPr sz="1050" b="0" i="0">
                <a:solidFill>
                  <a:srgbClr val="5C576E"/>
                </a:solidFill>
                <a:latin typeface="Calibri"/>
              </a:rPr>
              <a:t>This is exactly why altering one digit of a real transaction is instantly detectable.</a:t>
            </a:r>
          </a:p>
        </p:txBody>
      </p:sp>
      <p:sp>
        <p:nvSpPr>
          <p:cNvPr id="11" name="TextBox 10"/>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09 /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1432B"/>
                </a:solidFill>
                <a:latin typeface="Calibri"/>
              </a:rPr>
              <a:t>REAL-WORLD USES</a:t>
            </a:r>
          </a:p>
        </p:txBody>
      </p:sp>
      <p:sp>
        <p:nvSpPr>
          <p:cNvPr id="4" name="TextBox 3"/>
          <p:cNvSpPr txBox="1"/>
          <p:nvPr/>
        </p:nvSpPr>
        <p:spPr>
          <a:xfrm>
            <a:off x="822960" y="105156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Not Just Blockchain</a:t>
            </a:r>
          </a:p>
        </p:txBody>
      </p:sp>
      <p:sp>
        <p:nvSpPr>
          <p:cNvPr id="5" name="Rounded Rectangle 4"/>
          <p:cNvSpPr/>
          <p:nvPr/>
        </p:nvSpPr>
        <p:spPr>
          <a:xfrm>
            <a:off x="822960" y="2011680"/>
            <a:ext cx="3322320" cy="1508760"/>
          </a:xfrm>
          <a:prstGeom prst="roundRect">
            <a:avLst>
              <a:gd name="adj" fmla="val 9000"/>
            </a:avLst>
          </a:prstGeom>
          <a:solidFill>
            <a:srgbClr val="FFFFFF"/>
          </a:solidFill>
          <a:ln w="12700">
            <a:solidFill>
              <a:srgbClr val="DED9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 y="2267712"/>
            <a:ext cx="2810256" cy="457200"/>
          </a:xfrm>
          <a:prstGeom prst="rect">
            <a:avLst/>
          </a:prstGeom>
          <a:noFill/>
        </p:spPr>
        <p:txBody>
          <a:bodyPr wrap="square" anchor="t" lIns="0" rIns="0" tIns="0" bIns="0">
            <a:spAutoFit/>
          </a:bodyPr>
          <a:lstStyle/>
          <a:p>
            <a:pPr algn="l">
              <a:lnSpc>
                <a:spcPct val="115000"/>
              </a:lnSpc>
            </a:pPr>
            <a:r>
              <a:rPr sz="1450" b="1" i="0">
                <a:solidFill>
                  <a:srgbClr val="C1432B"/>
                </a:solidFill>
                <a:latin typeface="Century Gothic"/>
              </a:rPr>
              <a:t>Software Checksums</a:t>
            </a:r>
          </a:p>
        </p:txBody>
      </p:sp>
      <p:sp>
        <p:nvSpPr>
          <p:cNvPr id="7" name="TextBox 6"/>
          <p:cNvSpPr txBox="1"/>
          <p:nvPr/>
        </p:nvSpPr>
        <p:spPr>
          <a:xfrm>
            <a:off x="1078992" y="2724912"/>
            <a:ext cx="2810256" cy="658368"/>
          </a:xfrm>
          <a:prstGeom prst="rect">
            <a:avLst/>
          </a:prstGeom>
          <a:noFill/>
        </p:spPr>
        <p:txBody>
          <a:bodyPr wrap="square" anchor="t" lIns="0" rIns="0" tIns="0" bIns="0">
            <a:spAutoFit/>
          </a:bodyPr>
          <a:lstStyle/>
          <a:p>
            <a:pPr algn="l">
              <a:lnSpc>
                <a:spcPct val="128000"/>
              </a:lnSpc>
            </a:pPr>
            <a:r>
              <a:rPr sz="1150" b="0" i="0">
                <a:solidFill>
                  <a:srgbClr val="1C1730"/>
                </a:solidFill>
                <a:latin typeface="Calibri"/>
              </a:rPr>
              <a:t>Verify a download wasn't corrupted or tampered with in transit.</a:t>
            </a:r>
          </a:p>
        </p:txBody>
      </p:sp>
      <p:sp>
        <p:nvSpPr>
          <p:cNvPr id="8" name="Rounded Rectangle 7"/>
          <p:cNvSpPr/>
          <p:nvPr/>
        </p:nvSpPr>
        <p:spPr>
          <a:xfrm>
            <a:off x="4419600" y="2011680"/>
            <a:ext cx="3322320" cy="1508760"/>
          </a:xfrm>
          <a:prstGeom prst="roundRect">
            <a:avLst>
              <a:gd name="adj" fmla="val 9000"/>
            </a:avLst>
          </a:prstGeom>
          <a:solidFill>
            <a:srgbClr val="FFFFFF"/>
          </a:solidFill>
          <a:ln w="12700">
            <a:solidFill>
              <a:srgbClr val="DED9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75632" y="2267712"/>
            <a:ext cx="2810256" cy="457200"/>
          </a:xfrm>
          <a:prstGeom prst="rect">
            <a:avLst/>
          </a:prstGeom>
          <a:noFill/>
        </p:spPr>
        <p:txBody>
          <a:bodyPr wrap="square" anchor="t" lIns="0" rIns="0" tIns="0" bIns="0">
            <a:spAutoFit/>
          </a:bodyPr>
          <a:lstStyle/>
          <a:p>
            <a:pPr algn="l">
              <a:lnSpc>
                <a:spcPct val="115000"/>
              </a:lnSpc>
            </a:pPr>
            <a:r>
              <a:rPr sz="1450" b="1" i="0">
                <a:solidFill>
                  <a:srgbClr val="C1432B"/>
                </a:solidFill>
                <a:latin typeface="Century Gothic"/>
              </a:rPr>
              <a:t>Git Version Control</a:t>
            </a:r>
          </a:p>
        </p:txBody>
      </p:sp>
      <p:sp>
        <p:nvSpPr>
          <p:cNvPr id="10" name="TextBox 9"/>
          <p:cNvSpPr txBox="1"/>
          <p:nvPr/>
        </p:nvSpPr>
        <p:spPr>
          <a:xfrm>
            <a:off x="4675632" y="2724912"/>
            <a:ext cx="2810256" cy="658368"/>
          </a:xfrm>
          <a:prstGeom prst="rect">
            <a:avLst/>
          </a:prstGeom>
          <a:noFill/>
        </p:spPr>
        <p:txBody>
          <a:bodyPr wrap="square" anchor="t" lIns="0" rIns="0" tIns="0" bIns="0">
            <a:spAutoFit/>
          </a:bodyPr>
          <a:lstStyle/>
          <a:p>
            <a:pPr algn="l">
              <a:lnSpc>
                <a:spcPct val="128000"/>
              </a:lnSpc>
            </a:pPr>
            <a:r>
              <a:rPr sz="1150" b="0" i="0">
                <a:solidFill>
                  <a:srgbClr val="1C1730"/>
                </a:solidFill>
                <a:latin typeface="Calibri"/>
              </a:rPr>
              <a:t>Every commit and file is identified by a hash — full deep-dive in Topic 03.</a:t>
            </a:r>
          </a:p>
        </p:txBody>
      </p:sp>
      <p:sp>
        <p:nvSpPr>
          <p:cNvPr id="11" name="Rounded Rectangle 10"/>
          <p:cNvSpPr/>
          <p:nvPr/>
        </p:nvSpPr>
        <p:spPr>
          <a:xfrm>
            <a:off x="8016240" y="2011680"/>
            <a:ext cx="3322320" cy="1508760"/>
          </a:xfrm>
          <a:prstGeom prst="roundRect">
            <a:avLst>
              <a:gd name="adj" fmla="val 9000"/>
            </a:avLst>
          </a:prstGeom>
          <a:solidFill>
            <a:srgbClr val="FFFFFF"/>
          </a:solidFill>
          <a:ln w="12700">
            <a:solidFill>
              <a:srgbClr val="DED9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2272" y="2267712"/>
            <a:ext cx="2810256" cy="457200"/>
          </a:xfrm>
          <a:prstGeom prst="rect">
            <a:avLst/>
          </a:prstGeom>
          <a:noFill/>
        </p:spPr>
        <p:txBody>
          <a:bodyPr wrap="square" anchor="t" lIns="0" rIns="0" tIns="0" bIns="0">
            <a:spAutoFit/>
          </a:bodyPr>
          <a:lstStyle/>
          <a:p>
            <a:pPr algn="l">
              <a:lnSpc>
                <a:spcPct val="115000"/>
              </a:lnSpc>
            </a:pPr>
            <a:r>
              <a:rPr sz="1450" b="1" i="0">
                <a:solidFill>
                  <a:srgbClr val="C1432B"/>
                </a:solidFill>
                <a:latin typeface="Century Gothic"/>
              </a:rPr>
              <a:t>Password Storage</a:t>
            </a:r>
          </a:p>
        </p:txBody>
      </p:sp>
      <p:sp>
        <p:nvSpPr>
          <p:cNvPr id="13" name="TextBox 12"/>
          <p:cNvSpPr txBox="1"/>
          <p:nvPr/>
        </p:nvSpPr>
        <p:spPr>
          <a:xfrm>
            <a:off x="8272272" y="2724912"/>
            <a:ext cx="2810256" cy="658368"/>
          </a:xfrm>
          <a:prstGeom prst="rect">
            <a:avLst/>
          </a:prstGeom>
          <a:noFill/>
        </p:spPr>
        <p:txBody>
          <a:bodyPr wrap="square" anchor="t" lIns="0" rIns="0" tIns="0" bIns="0">
            <a:spAutoFit/>
          </a:bodyPr>
          <a:lstStyle/>
          <a:p>
            <a:pPr algn="l">
              <a:lnSpc>
                <a:spcPct val="128000"/>
              </a:lnSpc>
            </a:pPr>
            <a:r>
              <a:rPr sz="1150" b="0" i="0">
                <a:solidFill>
                  <a:srgbClr val="1C1730"/>
                </a:solidFill>
                <a:latin typeface="Calibri"/>
              </a:rPr>
              <a:t>Systems store a hash of your password, never the password itself.</a:t>
            </a:r>
          </a:p>
        </p:txBody>
      </p:sp>
      <p:sp>
        <p:nvSpPr>
          <p:cNvPr id="14" name="Rounded Rectangle 13"/>
          <p:cNvSpPr/>
          <p:nvPr/>
        </p:nvSpPr>
        <p:spPr>
          <a:xfrm>
            <a:off x="822960" y="3749040"/>
            <a:ext cx="3322320" cy="1508760"/>
          </a:xfrm>
          <a:prstGeom prst="roundRect">
            <a:avLst>
              <a:gd name="adj" fmla="val 9000"/>
            </a:avLst>
          </a:prstGeom>
          <a:solidFill>
            <a:srgbClr val="FFFFFF"/>
          </a:solidFill>
          <a:ln w="12700">
            <a:solidFill>
              <a:srgbClr val="DED9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78992" y="4005072"/>
            <a:ext cx="2810256" cy="457200"/>
          </a:xfrm>
          <a:prstGeom prst="rect">
            <a:avLst/>
          </a:prstGeom>
          <a:noFill/>
        </p:spPr>
        <p:txBody>
          <a:bodyPr wrap="square" anchor="t" lIns="0" rIns="0" tIns="0" bIns="0">
            <a:spAutoFit/>
          </a:bodyPr>
          <a:lstStyle/>
          <a:p>
            <a:pPr algn="l">
              <a:lnSpc>
                <a:spcPct val="115000"/>
              </a:lnSpc>
            </a:pPr>
            <a:r>
              <a:rPr sz="1450" b="1" i="0">
                <a:solidFill>
                  <a:srgbClr val="C1432B"/>
                </a:solidFill>
                <a:latin typeface="Century Gothic"/>
              </a:rPr>
              <a:t>Cloud Deduplication</a:t>
            </a:r>
          </a:p>
        </p:txBody>
      </p:sp>
      <p:sp>
        <p:nvSpPr>
          <p:cNvPr id="16" name="TextBox 15"/>
          <p:cNvSpPr txBox="1"/>
          <p:nvPr/>
        </p:nvSpPr>
        <p:spPr>
          <a:xfrm>
            <a:off x="1078992" y="4462272"/>
            <a:ext cx="2810256" cy="658368"/>
          </a:xfrm>
          <a:prstGeom prst="rect">
            <a:avLst/>
          </a:prstGeom>
          <a:noFill/>
        </p:spPr>
        <p:txBody>
          <a:bodyPr wrap="square" anchor="t" lIns="0" rIns="0" tIns="0" bIns="0">
            <a:spAutoFit/>
          </a:bodyPr>
          <a:lstStyle/>
          <a:p>
            <a:pPr algn="l">
              <a:lnSpc>
                <a:spcPct val="128000"/>
              </a:lnSpc>
            </a:pPr>
            <a:r>
              <a:rPr sz="1150" b="0" i="0">
                <a:solidFill>
                  <a:srgbClr val="1C1730"/>
                </a:solidFill>
                <a:latin typeface="Calibri"/>
              </a:rPr>
              <a:t>Identical files across users are recognized by matching hashes.</a:t>
            </a:r>
          </a:p>
        </p:txBody>
      </p:sp>
      <p:sp>
        <p:nvSpPr>
          <p:cNvPr id="17" name="Rounded Rectangle 16"/>
          <p:cNvSpPr/>
          <p:nvPr/>
        </p:nvSpPr>
        <p:spPr>
          <a:xfrm>
            <a:off x="4419600" y="3749040"/>
            <a:ext cx="3322320" cy="1508760"/>
          </a:xfrm>
          <a:prstGeom prst="roundRect">
            <a:avLst>
              <a:gd name="adj" fmla="val 9000"/>
            </a:avLst>
          </a:prstGeom>
          <a:solidFill>
            <a:srgbClr val="FFFFFF"/>
          </a:solidFill>
          <a:ln w="12700">
            <a:solidFill>
              <a:srgbClr val="DED9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75632" y="4005072"/>
            <a:ext cx="2810256" cy="457200"/>
          </a:xfrm>
          <a:prstGeom prst="rect">
            <a:avLst/>
          </a:prstGeom>
          <a:noFill/>
        </p:spPr>
        <p:txBody>
          <a:bodyPr wrap="square" anchor="t" lIns="0" rIns="0" tIns="0" bIns="0">
            <a:spAutoFit/>
          </a:bodyPr>
          <a:lstStyle/>
          <a:p>
            <a:pPr algn="l">
              <a:lnSpc>
                <a:spcPct val="115000"/>
              </a:lnSpc>
            </a:pPr>
            <a:r>
              <a:rPr sz="1450" b="1" i="0">
                <a:solidFill>
                  <a:srgbClr val="C1432B"/>
                </a:solidFill>
                <a:latin typeface="Century Gothic"/>
              </a:rPr>
              <a:t>Digital Forensics</a:t>
            </a:r>
          </a:p>
        </p:txBody>
      </p:sp>
      <p:sp>
        <p:nvSpPr>
          <p:cNvPr id="19" name="TextBox 18"/>
          <p:cNvSpPr txBox="1"/>
          <p:nvPr/>
        </p:nvSpPr>
        <p:spPr>
          <a:xfrm>
            <a:off x="4675632" y="4462272"/>
            <a:ext cx="2810256" cy="658368"/>
          </a:xfrm>
          <a:prstGeom prst="rect">
            <a:avLst/>
          </a:prstGeom>
          <a:noFill/>
        </p:spPr>
        <p:txBody>
          <a:bodyPr wrap="square" anchor="t" lIns="0" rIns="0" tIns="0" bIns="0">
            <a:spAutoFit/>
          </a:bodyPr>
          <a:lstStyle/>
          <a:p>
            <a:pPr algn="l">
              <a:lnSpc>
                <a:spcPct val="128000"/>
              </a:lnSpc>
            </a:pPr>
            <a:r>
              <a:rPr sz="1150" b="0" i="0">
                <a:solidFill>
                  <a:srgbClr val="1C1730"/>
                </a:solidFill>
                <a:latin typeface="Calibri"/>
              </a:rPr>
              <a:t>Investigators hash evidence to prove it wasn't altered after collection.</a:t>
            </a:r>
          </a:p>
        </p:txBody>
      </p:sp>
      <p:sp>
        <p:nvSpPr>
          <p:cNvPr id="20" name="Rounded Rectangle 19"/>
          <p:cNvSpPr/>
          <p:nvPr/>
        </p:nvSpPr>
        <p:spPr>
          <a:xfrm>
            <a:off x="8016240" y="3749040"/>
            <a:ext cx="3322320" cy="1508760"/>
          </a:xfrm>
          <a:prstGeom prst="roundRect">
            <a:avLst>
              <a:gd name="adj" fmla="val 9000"/>
            </a:avLst>
          </a:prstGeom>
          <a:solidFill>
            <a:srgbClr val="FFFFFF"/>
          </a:solidFill>
          <a:ln w="12700">
            <a:solidFill>
              <a:srgbClr val="DED9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72272" y="4005072"/>
            <a:ext cx="2810256" cy="457200"/>
          </a:xfrm>
          <a:prstGeom prst="rect">
            <a:avLst/>
          </a:prstGeom>
          <a:noFill/>
        </p:spPr>
        <p:txBody>
          <a:bodyPr wrap="square" anchor="t" lIns="0" rIns="0" tIns="0" bIns="0">
            <a:spAutoFit/>
          </a:bodyPr>
          <a:lstStyle/>
          <a:p>
            <a:pPr algn="l">
              <a:lnSpc>
                <a:spcPct val="115000"/>
              </a:lnSpc>
            </a:pPr>
            <a:r>
              <a:rPr sz="1450" b="1" i="0">
                <a:solidFill>
                  <a:srgbClr val="C1432B"/>
                </a:solidFill>
                <a:latin typeface="Century Gothic"/>
              </a:rPr>
              <a:t>Certificate Transparency</a:t>
            </a:r>
          </a:p>
        </p:txBody>
      </p:sp>
      <p:sp>
        <p:nvSpPr>
          <p:cNvPr id="22" name="TextBox 21"/>
          <p:cNvSpPr txBox="1"/>
          <p:nvPr/>
        </p:nvSpPr>
        <p:spPr>
          <a:xfrm>
            <a:off x="8272272" y="4462272"/>
            <a:ext cx="2810256" cy="658368"/>
          </a:xfrm>
          <a:prstGeom prst="rect">
            <a:avLst/>
          </a:prstGeom>
          <a:noFill/>
        </p:spPr>
        <p:txBody>
          <a:bodyPr wrap="square" anchor="t" lIns="0" rIns="0" tIns="0" bIns="0">
            <a:spAutoFit/>
          </a:bodyPr>
          <a:lstStyle/>
          <a:p>
            <a:pPr algn="l">
              <a:lnSpc>
                <a:spcPct val="128000"/>
              </a:lnSpc>
            </a:pPr>
            <a:r>
              <a:rPr sz="1150" b="0" i="0">
                <a:solidFill>
                  <a:srgbClr val="1C1730"/>
                </a:solidFill>
                <a:latin typeface="Calibri"/>
              </a:rPr>
              <a:t>Every SSL certificate is logged into a public, tamper-evident hash-chained record.</a:t>
            </a:r>
          </a:p>
        </p:txBody>
      </p:sp>
      <p:sp>
        <p:nvSpPr>
          <p:cNvPr id="23" name="TextBox 22"/>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10 /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1432B"/>
                </a:solidFill>
                <a:latin typeface="Calibri"/>
              </a:rPr>
              <a:t>FLAGSHIP CASE STUDY</a:t>
            </a:r>
          </a:p>
        </p:txBody>
      </p:sp>
      <p:sp>
        <p:nvSpPr>
          <p:cNvPr id="4" name="TextBox 3"/>
          <p:cNvSpPr txBox="1"/>
          <p:nvPr/>
        </p:nvSpPr>
        <p:spPr>
          <a:xfrm>
            <a:off x="822960" y="1097280"/>
            <a:ext cx="10332720" cy="1005840"/>
          </a:xfrm>
          <a:prstGeom prst="rect">
            <a:avLst/>
          </a:prstGeom>
          <a:noFill/>
        </p:spPr>
        <p:txBody>
          <a:bodyPr wrap="square" anchor="t" lIns="0" rIns="0" tIns="0" bIns="0">
            <a:spAutoFit/>
          </a:bodyPr>
          <a:lstStyle/>
          <a:p>
            <a:pPr algn="l">
              <a:lnSpc>
                <a:spcPct val="105000"/>
              </a:lnSpc>
            </a:pPr>
            <a:r>
              <a:rPr sz="3000" b="1" i="0">
                <a:solidFill>
                  <a:srgbClr val="1C1730"/>
                </a:solidFill>
                <a:latin typeface="Century Gothic"/>
              </a:rPr>
              <a:t>Why Plain SHA-256 Is Wrong For Passwords</a:t>
            </a:r>
          </a:p>
        </p:txBody>
      </p:sp>
      <p:sp>
        <p:nvSpPr>
          <p:cNvPr id="5" name="Rounded Rectangle 4"/>
          <p:cNvSpPr/>
          <p:nvPr/>
        </p:nvSpPr>
        <p:spPr>
          <a:xfrm>
            <a:off x="822960" y="2423160"/>
            <a:ext cx="10515600" cy="3749039"/>
          </a:xfrm>
          <a:prstGeom prst="roundRect">
            <a:avLst>
              <a:gd name="adj" fmla="val 4000"/>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743200"/>
            <a:ext cx="9601200" cy="3200400"/>
          </a:xfrm>
          <a:prstGeom prst="rect">
            <a:avLst/>
          </a:prstGeom>
          <a:noFill/>
        </p:spPr>
        <p:txBody>
          <a:bodyPr wrap="square" anchor="t" lIns="0" rIns="0" tIns="0" bIns="0">
            <a:spAutoFit/>
          </a:bodyPr>
          <a:lstStyle/>
          <a:p>
            <a:pPr algn="l">
              <a:lnSpc>
                <a:spcPct val="155000"/>
              </a:lnSpc>
            </a:pPr>
            <a:r>
              <a:rPr sz="1600" b="0" i="0">
                <a:solidFill>
                  <a:srgbClr val="FFFFFF"/>
                </a:solidFill>
                <a:latin typeface="Calibri"/>
              </a:rPr>
              <a:t>SHA-256 is designed to be fast — which means an attacker with a leaked hash database can try billions of guesses per second. Purpose-built password-hashing algorithms like bcrypt and Argon2 are deliberately slow, and add random “salt” per password, specifically to make brute-forcing impractical. Using the right hash function for the job is a real engineering judgment call — not a minor detail.</a:t>
            </a:r>
          </a:p>
        </p:txBody>
      </p:sp>
      <p:sp>
        <p:nvSpPr>
          <p:cNvPr id="7" name="TextBox 6"/>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11 /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1432B"/>
                </a:solidFill>
                <a:latin typeface="Calibri"/>
              </a:rPr>
              <a:t>REAL-LIFE ANALOGY</a:t>
            </a:r>
          </a:p>
        </p:txBody>
      </p:sp>
      <p:sp>
        <p:nvSpPr>
          <p:cNvPr id="4" name="TextBox 3"/>
          <p:cNvSpPr txBox="1"/>
          <p:nvPr/>
        </p:nvSpPr>
        <p:spPr>
          <a:xfrm>
            <a:off x="822960" y="1097280"/>
            <a:ext cx="10332720" cy="1005840"/>
          </a:xfrm>
          <a:prstGeom prst="rect">
            <a:avLst/>
          </a:prstGeom>
          <a:noFill/>
        </p:spPr>
        <p:txBody>
          <a:bodyPr wrap="square" anchor="t" lIns="0" rIns="0" tIns="0" bIns="0">
            <a:spAutoFit/>
          </a:bodyPr>
          <a:lstStyle/>
          <a:p>
            <a:pPr algn="l">
              <a:lnSpc>
                <a:spcPct val="105000"/>
              </a:lnSpc>
            </a:pPr>
            <a:r>
              <a:rPr sz="3000" b="1" i="0">
                <a:solidFill>
                  <a:srgbClr val="1C1730"/>
                </a:solidFill>
                <a:latin typeface="Century Gothic"/>
              </a:rPr>
              <a:t>A Tamper-Evident Wax Seal</a:t>
            </a:r>
          </a:p>
        </p:txBody>
      </p:sp>
      <p:sp>
        <p:nvSpPr>
          <p:cNvPr id="5" name="Rectangle 4"/>
          <p:cNvSpPr/>
          <p:nvPr/>
        </p:nvSpPr>
        <p:spPr>
          <a:xfrm>
            <a:off x="822960" y="2286000"/>
            <a:ext cx="91440" cy="3657600"/>
          </a:xfrm>
          <a:prstGeom prst="rect">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377440"/>
            <a:ext cx="9784080" cy="3566160"/>
          </a:xfrm>
          <a:prstGeom prst="rect">
            <a:avLst/>
          </a:prstGeom>
          <a:noFill/>
        </p:spPr>
        <p:txBody>
          <a:bodyPr wrap="square" anchor="t" lIns="0" rIns="0" tIns="0" bIns="0">
            <a:spAutoFit/>
          </a:bodyPr>
          <a:lstStyle/>
          <a:p>
            <a:pPr algn="l">
              <a:lnSpc>
                <a:spcPct val="160000"/>
              </a:lnSpc>
            </a:pPr>
            <a:r>
              <a:rPr sz="1800" b="0" i="0">
                <a:solidFill>
                  <a:srgbClr val="1C1730"/>
                </a:solidFill>
                <a:latin typeface="Calibri"/>
              </a:rPr>
              <a:t>Think of a hash like a wax seal on an old letter. The seal doesn't tell you what's written inside — you can't reverse it back into words (one-way). But if someone opens the letter, changes one word, and reseals it, the new seal looks completely different (avalanche effect). Anyone who remembers the original seal can instantly tell it was tampered with — without reading a single word.</a:t>
            </a:r>
          </a:p>
        </p:txBody>
      </p:sp>
      <p:sp>
        <p:nvSpPr>
          <p:cNvPr id="7" name="TextBox 6"/>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12 /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1432B"/>
                </a:solidFill>
                <a:latin typeface="Calibri"/>
              </a:rPr>
              <a:t>COMMON MISCONCEPTIONS</a:t>
            </a:r>
          </a:p>
        </p:txBody>
      </p:sp>
      <p:sp>
        <p:nvSpPr>
          <p:cNvPr id="4" name="TextBox 3"/>
          <p:cNvSpPr txBox="1"/>
          <p:nvPr/>
        </p:nvSpPr>
        <p:spPr>
          <a:xfrm>
            <a:off x="822960" y="1051560"/>
            <a:ext cx="9601200" cy="1005840"/>
          </a:xfrm>
          <a:prstGeom prst="rect">
            <a:avLst/>
          </a:prstGeom>
          <a:noFill/>
        </p:spPr>
        <p:txBody>
          <a:bodyPr wrap="square" anchor="t" lIns="0" rIns="0" tIns="0" bIns="0">
            <a:spAutoFit/>
          </a:bodyPr>
          <a:lstStyle/>
          <a:p>
            <a:pPr algn="l">
              <a:lnSpc>
                <a:spcPct val="105000"/>
              </a:lnSpc>
            </a:pPr>
            <a:r>
              <a:rPr sz="3000" b="1" i="0">
                <a:solidFill>
                  <a:srgbClr val="1C1730"/>
                </a:solidFill>
                <a:latin typeface="Century Gothic"/>
              </a:rPr>
              <a:t>Where People Get Tripped Up</a:t>
            </a:r>
          </a:p>
        </p:txBody>
      </p:sp>
      <p:sp>
        <p:nvSpPr>
          <p:cNvPr id="5" name="Rounded Rectangle 4"/>
          <p:cNvSpPr/>
          <p:nvPr/>
        </p:nvSpPr>
        <p:spPr>
          <a:xfrm>
            <a:off x="822960" y="2057400"/>
            <a:ext cx="10515600" cy="1874519"/>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2057400"/>
            <a:ext cx="82296" cy="1874519"/>
          </a:xfrm>
          <a:prstGeom prst="rect">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2258568"/>
            <a:ext cx="9784080" cy="457200"/>
          </a:xfrm>
          <a:prstGeom prst="rect">
            <a:avLst/>
          </a:prstGeom>
          <a:noFill/>
        </p:spPr>
        <p:txBody>
          <a:bodyPr wrap="square" anchor="t" lIns="0" rIns="0" tIns="0" bIns="0">
            <a:spAutoFit/>
          </a:bodyPr>
          <a:lstStyle/>
          <a:p>
            <a:pPr algn="l">
              <a:lnSpc>
                <a:spcPct val="115000"/>
              </a:lnSpc>
            </a:pPr>
            <a:r>
              <a:rPr sz="1700" b="1" i="0">
                <a:solidFill>
                  <a:srgbClr val="C1432B"/>
                </a:solidFill>
                <a:latin typeface="Century Gothic"/>
              </a:rPr>
              <a:t>“Hashing is a form of encryption.”</a:t>
            </a:r>
          </a:p>
        </p:txBody>
      </p:sp>
      <p:sp>
        <p:nvSpPr>
          <p:cNvPr id="8" name="TextBox 7"/>
          <p:cNvSpPr txBox="1"/>
          <p:nvPr/>
        </p:nvSpPr>
        <p:spPr>
          <a:xfrm>
            <a:off x="1188720" y="2743200"/>
            <a:ext cx="9784080" cy="1097280"/>
          </a:xfrm>
          <a:prstGeom prst="rect">
            <a:avLst/>
          </a:prstGeom>
          <a:noFill/>
        </p:spPr>
        <p:txBody>
          <a:bodyPr wrap="square" anchor="t" lIns="0" rIns="0" tIns="0" bIns="0">
            <a:spAutoFit/>
          </a:bodyPr>
          <a:lstStyle/>
          <a:p>
            <a:pPr algn="l">
              <a:lnSpc>
                <a:spcPct val="135000"/>
              </a:lnSpc>
            </a:pPr>
            <a:r>
              <a:rPr sz="1300" b="0" i="0">
                <a:solidFill>
                  <a:srgbClr val="5C576E"/>
                </a:solidFill>
                <a:latin typeface="Calibri"/>
              </a:rPr>
              <a:t>It isn't. Encryption is reversible on purpose — the right key decrypts it back. Hashing is deliberately one-way: there is no key that turns a hash back into its original input. “Decrypting a hash” is a contradiction in terms.</a:t>
            </a:r>
          </a:p>
        </p:txBody>
      </p:sp>
      <p:sp>
        <p:nvSpPr>
          <p:cNvPr id="9" name="Rounded Rectangle 8"/>
          <p:cNvSpPr/>
          <p:nvPr/>
        </p:nvSpPr>
        <p:spPr>
          <a:xfrm>
            <a:off x="822960" y="4160520"/>
            <a:ext cx="10515600" cy="1874519"/>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4160520"/>
            <a:ext cx="82296" cy="1874519"/>
          </a:xfrm>
          <a:prstGeom prst="rect">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4361688"/>
            <a:ext cx="9784080" cy="457200"/>
          </a:xfrm>
          <a:prstGeom prst="rect">
            <a:avLst/>
          </a:prstGeom>
          <a:noFill/>
        </p:spPr>
        <p:txBody>
          <a:bodyPr wrap="square" anchor="t" lIns="0" rIns="0" tIns="0" bIns="0">
            <a:spAutoFit/>
          </a:bodyPr>
          <a:lstStyle/>
          <a:p>
            <a:pPr algn="l">
              <a:lnSpc>
                <a:spcPct val="115000"/>
              </a:lnSpc>
            </a:pPr>
            <a:r>
              <a:rPr sz="1700" b="1" i="0">
                <a:solidFill>
                  <a:srgbClr val="C1432B"/>
                </a:solidFill>
                <a:latin typeface="Century Gothic"/>
              </a:rPr>
              <a:t>“If a hash is public, that's always safe.”</a:t>
            </a:r>
          </a:p>
        </p:txBody>
      </p:sp>
      <p:sp>
        <p:nvSpPr>
          <p:cNvPr id="12" name="TextBox 11"/>
          <p:cNvSpPr txBox="1"/>
          <p:nvPr/>
        </p:nvSpPr>
        <p:spPr>
          <a:xfrm>
            <a:off x="1188720" y="4846320"/>
            <a:ext cx="9784080" cy="1097280"/>
          </a:xfrm>
          <a:prstGeom prst="rect">
            <a:avLst/>
          </a:prstGeom>
          <a:noFill/>
        </p:spPr>
        <p:txBody>
          <a:bodyPr wrap="square" anchor="t" lIns="0" rIns="0" tIns="0" bIns="0">
            <a:spAutoFit/>
          </a:bodyPr>
          <a:lstStyle/>
          <a:p>
            <a:pPr algn="l">
              <a:lnSpc>
                <a:spcPct val="135000"/>
              </a:lnSpc>
            </a:pPr>
            <a:r>
              <a:rPr sz="1300" b="0" i="0">
                <a:solidFill>
                  <a:srgbClr val="5C576E"/>
                </a:solidFill>
                <a:latin typeface="Calibri"/>
              </a:rPr>
              <a:t>Only for high-entropy inputs. A 4-digit PIN's hash can be cracked instantly by hashing all 10,000 possibilities — exactly why passwords need random salt added before hashing.</a:t>
            </a:r>
          </a:p>
        </p:txBody>
      </p:sp>
      <p:sp>
        <p:nvSpPr>
          <p:cNvPr id="13" name="TextBox 12"/>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13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1432B"/>
                </a:solidFill>
                <a:latin typeface="Calibri"/>
              </a:rPr>
              <a:t>HANDS-ON PRACTICE</a:t>
            </a:r>
          </a:p>
        </p:txBody>
      </p:sp>
      <p:sp>
        <p:nvSpPr>
          <p:cNvPr id="4" name="TextBox 3"/>
          <p:cNvSpPr txBox="1"/>
          <p:nvPr/>
        </p:nvSpPr>
        <p:spPr>
          <a:xfrm>
            <a:off x="822960" y="105156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Do This Now</a:t>
            </a:r>
          </a:p>
        </p:txBody>
      </p:sp>
      <p:sp>
        <p:nvSpPr>
          <p:cNvPr id="5" name="Oval 4"/>
          <p:cNvSpPr/>
          <p:nvPr/>
        </p:nvSpPr>
        <p:spPr>
          <a:xfrm>
            <a:off x="822960" y="2148840"/>
            <a:ext cx="502920" cy="502920"/>
          </a:xfrm>
          <a:prstGeom prst="ellipse">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Century Gothic"/>
              </a:rPr>
              <a:t>1</a:t>
            </a:r>
          </a:p>
        </p:txBody>
      </p:sp>
      <p:sp>
        <p:nvSpPr>
          <p:cNvPr id="6" name="TextBox 5"/>
          <p:cNvSpPr txBox="1"/>
          <p:nvPr/>
        </p:nvSpPr>
        <p:spPr>
          <a:xfrm>
            <a:off x="1600200" y="2203704"/>
            <a:ext cx="9509760" cy="822960"/>
          </a:xfrm>
          <a:prstGeom prst="rect">
            <a:avLst/>
          </a:prstGeom>
          <a:noFill/>
        </p:spPr>
        <p:txBody>
          <a:bodyPr wrap="square" anchor="t" lIns="0" rIns="0" tIns="0" bIns="0">
            <a:spAutoFit/>
          </a:bodyPr>
          <a:lstStyle/>
          <a:p>
            <a:pPr algn="l">
              <a:lnSpc>
                <a:spcPct val="130000"/>
              </a:lnSpc>
            </a:pPr>
            <a:r>
              <a:rPr sz="1500" b="0" i="0">
                <a:solidFill>
                  <a:srgbClr val="1C1730"/>
                </a:solidFill>
                <a:latin typeface="Calibri"/>
              </a:rPr>
              <a:t>Hash your own name twice in a terminal — confirm the output is identical both times.</a:t>
            </a:r>
          </a:p>
        </p:txBody>
      </p:sp>
      <p:sp>
        <p:nvSpPr>
          <p:cNvPr id="7" name="Oval 6"/>
          <p:cNvSpPr/>
          <p:nvPr/>
        </p:nvSpPr>
        <p:spPr>
          <a:xfrm>
            <a:off x="822960" y="3108960"/>
            <a:ext cx="502920" cy="502920"/>
          </a:xfrm>
          <a:prstGeom prst="ellipse">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Century Gothic"/>
              </a:rPr>
              <a:t>2</a:t>
            </a:r>
          </a:p>
        </p:txBody>
      </p:sp>
      <p:sp>
        <p:nvSpPr>
          <p:cNvPr id="8" name="TextBox 7"/>
          <p:cNvSpPr txBox="1"/>
          <p:nvPr/>
        </p:nvSpPr>
        <p:spPr>
          <a:xfrm>
            <a:off x="1600200" y="3163824"/>
            <a:ext cx="9509760" cy="822960"/>
          </a:xfrm>
          <a:prstGeom prst="rect">
            <a:avLst/>
          </a:prstGeom>
          <a:noFill/>
        </p:spPr>
        <p:txBody>
          <a:bodyPr wrap="square" anchor="t" lIns="0" rIns="0" tIns="0" bIns="0">
            <a:spAutoFit/>
          </a:bodyPr>
          <a:lstStyle/>
          <a:p>
            <a:pPr algn="l">
              <a:lnSpc>
                <a:spcPct val="130000"/>
              </a:lnSpc>
            </a:pPr>
            <a:r>
              <a:rPr sz="1500" b="0" i="0">
                <a:solidFill>
                  <a:srgbClr val="1C1730"/>
                </a:solidFill>
                <a:latin typeface="Calibri"/>
              </a:rPr>
              <a:t>Change one character and re-hash — confirm the entire output changes, not just part of it.</a:t>
            </a:r>
          </a:p>
        </p:txBody>
      </p:sp>
      <p:sp>
        <p:nvSpPr>
          <p:cNvPr id="9" name="Oval 8"/>
          <p:cNvSpPr/>
          <p:nvPr/>
        </p:nvSpPr>
        <p:spPr>
          <a:xfrm>
            <a:off x="822960" y="4069080"/>
            <a:ext cx="502920" cy="502920"/>
          </a:xfrm>
          <a:prstGeom prst="ellipse">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Century Gothic"/>
              </a:rPr>
              <a:t>3</a:t>
            </a:r>
          </a:p>
        </p:txBody>
      </p:sp>
      <p:sp>
        <p:nvSpPr>
          <p:cNvPr id="10" name="TextBox 9"/>
          <p:cNvSpPr txBox="1"/>
          <p:nvPr/>
        </p:nvSpPr>
        <p:spPr>
          <a:xfrm>
            <a:off x="1600200" y="4123944"/>
            <a:ext cx="9509760" cy="822960"/>
          </a:xfrm>
          <a:prstGeom prst="rect">
            <a:avLst/>
          </a:prstGeom>
          <a:noFill/>
        </p:spPr>
        <p:txBody>
          <a:bodyPr wrap="square" anchor="t" lIns="0" rIns="0" tIns="0" bIns="0">
            <a:spAutoFit/>
          </a:bodyPr>
          <a:lstStyle/>
          <a:p>
            <a:pPr algn="l">
              <a:lnSpc>
                <a:spcPct val="130000"/>
              </a:lnSpc>
            </a:pPr>
            <a:r>
              <a:rPr sz="1500" b="0" i="0">
                <a:solidFill>
                  <a:srgbClr val="1C1730"/>
                </a:solidFill>
                <a:latin typeface="Calibri"/>
              </a:rPr>
              <a:t>Try the live Anders Brownworth hash demo — watch the hash update character-by-character as you type.</a:t>
            </a:r>
          </a:p>
        </p:txBody>
      </p:sp>
      <p:sp>
        <p:nvSpPr>
          <p:cNvPr id="11" name="Oval 10"/>
          <p:cNvSpPr/>
          <p:nvPr/>
        </p:nvSpPr>
        <p:spPr>
          <a:xfrm>
            <a:off x="822960" y="5029200"/>
            <a:ext cx="502920" cy="502920"/>
          </a:xfrm>
          <a:prstGeom prst="ellipse">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Century Gothic"/>
              </a:rPr>
              <a:t>4</a:t>
            </a:r>
          </a:p>
        </p:txBody>
      </p:sp>
      <p:sp>
        <p:nvSpPr>
          <p:cNvPr id="12" name="TextBox 11"/>
          <p:cNvSpPr txBox="1"/>
          <p:nvPr/>
        </p:nvSpPr>
        <p:spPr>
          <a:xfrm>
            <a:off x="1600200" y="5084064"/>
            <a:ext cx="9509760" cy="822960"/>
          </a:xfrm>
          <a:prstGeom prst="rect">
            <a:avLst/>
          </a:prstGeom>
          <a:noFill/>
        </p:spPr>
        <p:txBody>
          <a:bodyPr wrap="square" anchor="t" lIns="0" rIns="0" tIns="0" bIns="0">
            <a:spAutoFit/>
          </a:bodyPr>
          <a:lstStyle/>
          <a:p>
            <a:pPr algn="l">
              <a:lnSpc>
                <a:spcPct val="130000"/>
              </a:lnSpc>
            </a:pPr>
            <a:r>
              <a:rPr sz="1500" b="0" i="0">
                <a:solidFill>
                  <a:srgbClr val="1C1730"/>
                </a:solidFill>
                <a:latin typeface="Calibri"/>
              </a:rPr>
              <a:t>Hash "Hello World" vs "hello World" in CyberChef and compare the two outputs side by side.</a:t>
            </a:r>
          </a:p>
        </p:txBody>
      </p:sp>
      <p:sp>
        <p:nvSpPr>
          <p:cNvPr id="13" name="TextBox 12"/>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14 / 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FFC53D"/>
                </a:solidFill>
                <a:latin typeface="Calibri"/>
              </a:rPr>
              <a:t>TAKE-HOME ASSIGNMENT</a:t>
            </a:r>
          </a:p>
        </p:txBody>
      </p:sp>
      <p:sp>
        <p:nvSpPr>
          <p:cNvPr id="4" name="TextBox 3"/>
          <p:cNvSpPr txBox="1"/>
          <p:nvPr/>
        </p:nvSpPr>
        <p:spPr>
          <a:xfrm>
            <a:off x="822960" y="1051560"/>
            <a:ext cx="9601200" cy="1005840"/>
          </a:xfrm>
          <a:prstGeom prst="rect">
            <a:avLst/>
          </a:prstGeom>
          <a:noFill/>
        </p:spPr>
        <p:txBody>
          <a:bodyPr wrap="square" anchor="t" lIns="0" rIns="0" tIns="0" bIns="0">
            <a:spAutoFit/>
          </a:bodyPr>
          <a:lstStyle/>
          <a:p>
            <a:pPr algn="l">
              <a:lnSpc>
                <a:spcPct val="105000"/>
              </a:lnSpc>
            </a:pPr>
            <a:r>
              <a:rPr sz="3200" b="1" i="0">
                <a:solidFill>
                  <a:srgbClr val="FFFFFF"/>
                </a:solidFill>
                <a:latin typeface="Century Gothic"/>
              </a:rPr>
              <a:t>Before You Move On</a:t>
            </a:r>
          </a:p>
        </p:txBody>
      </p:sp>
      <p:sp>
        <p:nvSpPr>
          <p:cNvPr id="5" name="Rectangle 4"/>
          <p:cNvSpPr/>
          <p:nvPr/>
        </p:nvSpPr>
        <p:spPr>
          <a:xfrm>
            <a:off x="822960" y="2084832"/>
            <a:ext cx="82296" cy="82296"/>
          </a:xfrm>
          <a:prstGeom prst="rect">
            <a:avLst/>
          </a:prstGeom>
          <a:solidFill>
            <a:srgbClr val="FFC5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011680"/>
            <a:ext cx="10058400" cy="548640"/>
          </a:xfrm>
          <a:prstGeom prst="rect">
            <a:avLst/>
          </a:prstGeom>
          <a:noFill/>
        </p:spPr>
        <p:txBody>
          <a:bodyPr wrap="square" anchor="t" lIns="0" rIns="0" tIns="0" bIns="0">
            <a:spAutoFit/>
          </a:bodyPr>
          <a:lstStyle/>
          <a:p>
            <a:pPr algn="l">
              <a:lnSpc>
                <a:spcPct val="130000"/>
              </a:lnSpc>
            </a:pPr>
            <a:r>
              <a:rPr sz="1350" b="0" i="0">
                <a:solidFill>
                  <a:srgbClr val="E9E6F2"/>
                </a:solidFill>
                <a:latin typeface="Calibri"/>
              </a:rPr>
              <a:t>Written (5–6 sentences): explain why a blockchain's immutability depends entirely on hashing.</a:t>
            </a:r>
          </a:p>
        </p:txBody>
      </p:sp>
      <p:sp>
        <p:nvSpPr>
          <p:cNvPr id="7" name="Rectangle 6"/>
          <p:cNvSpPr/>
          <p:nvPr/>
        </p:nvSpPr>
        <p:spPr>
          <a:xfrm>
            <a:off x="822960" y="2706624"/>
            <a:ext cx="82296" cy="82296"/>
          </a:xfrm>
          <a:prstGeom prst="rect">
            <a:avLst/>
          </a:prstGeom>
          <a:solidFill>
            <a:srgbClr val="FFC5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633472"/>
            <a:ext cx="10058400" cy="548640"/>
          </a:xfrm>
          <a:prstGeom prst="rect">
            <a:avLst/>
          </a:prstGeom>
          <a:noFill/>
        </p:spPr>
        <p:txBody>
          <a:bodyPr wrap="square" anchor="t" lIns="0" rIns="0" tIns="0" bIns="0">
            <a:spAutoFit/>
          </a:bodyPr>
          <a:lstStyle/>
          <a:p>
            <a:pPr algn="l">
              <a:lnSpc>
                <a:spcPct val="130000"/>
              </a:lnSpc>
            </a:pPr>
            <a:r>
              <a:rPr sz="1350" b="0" i="0">
                <a:solidFill>
                  <a:srgbClr val="E9E6F2"/>
                </a:solidFill>
                <a:latin typeface="Calibri"/>
              </a:rPr>
              <a:t>Pick one non-blockchain use case from this section and explain which property of hashing makes it work.</a:t>
            </a:r>
          </a:p>
        </p:txBody>
      </p:sp>
      <p:sp>
        <p:nvSpPr>
          <p:cNvPr id="9" name="Rectangle 8"/>
          <p:cNvSpPr/>
          <p:nvPr/>
        </p:nvSpPr>
        <p:spPr>
          <a:xfrm>
            <a:off x="822960" y="3328416"/>
            <a:ext cx="82296" cy="82296"/>
          </a:xfrm>
          <a:prstGeom prst="rect">
            <a:avLst/>
          </a:prstGeom>
          <a:solidFill>
            <a:srgbClr val="FFC5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255264"/>
            <a:ext cx="10058400" cy="548640"/>
          </a:xfrm>
          <a:prstGeom prst="rect">
            <a:avLst/>
          </a:prstGeom>
          <a:noFill/>
        </p:spPr>
        <p:txBody>
          <a:bodyPr wrap="square" anchor="t" lIns="0" rIns="0" tIns="0" bIns="0">
            <a:spAutoFit/>
          </a:bodyPr>
          <a:lstStyle/>
          <a:p>
            <a:pPr algn="l">
              <a:lnSpc>
                <a:spcPct val="130000"/>
              </a:lnSpc>
            </a:pPr>
            <a:r>
              <a:rPr sz="1350" b="0" i="0">
                <a:solidFill>
                  <a:srgbClr val="E9E6F2"/>
                </a:solidFill>
                <a:latin typeface="Calibri"/>
              </a:rPr>
              <a:t>Write a script that hashes a string, then simulates a 2-block mini-chain using that hash.</a:t>
            </a:r>
          </a:p>
        </p:txBody>
      </p:sp>
      <p:sp>
        <p:nvSpPr>
          <p:cNvPr id="11" name="TextBox 10"/>
          <p:cNvSpPr txBox="1"/>
          <p:nvPr/>
        </p:nvSpPr>
        <p:spPr>
          <a:xfrm>
            <a:off x="822960" y="4014216"/>
            <a:ext cx="2743200" cy="320040"/>
          </a:xfrm>
          <a:prstGeom prst="rect">
            <a:avLst/>
          </a:prstGeom>
          <a:noFill/>
        </p:spPr>
        <p:txBody>
          <a:bodyPr wrap="square" anchor="t" lIns="0" rIns="0" tIns="0" bIns="0">
            <a:spAutoFit/>
          </a:bodyPr>
          <a:lstStyle/>
          <a:p>
            <a:pPr algn="l">
              <a:lnSpc>
                <a:spcPct val="115000"/>
              </a:lnSpc>
            </a:pPr>
            <a:r>
              <a:rPr sz="1100" b="1" i="0">
                <a:solidFill>
                  <a:srgbClr val="FFC53D"/>
                </a:solidFill>
                <a:latin typeface="Calibri"/>
              </a:rPr>
              <a:t>RECOMMENDED VIDEOS</a:t>
            </a:r>
          </a:p>
        </p:txBody>
      </p:sp>
      <p:sp>
        <p:nvSpPr>
          <p:cNvPr id="12" name="TextBox 11"/>
          <p:cNvSpPr txBox="1"/>
          <p:nvPr/>
        </p:nvSpPr>
        <p:spPr>
          <a:xfrm>
            <a:off x="822960" y="4379976"/>
            <a:ext cx="10058400" cy="365760"/>
          </a:xfrm>
          <a:prstGeom prst="rect">
            <a:avLst/>
          </a:prstGeom>
          <a:noFill/>
        </p:spPr>
        <p:txBody>
          <a:bodyPr wrap="square" anchor="t" lIns="0" rIns="0" tIns="0" bIns="0">
            <a:spAutoFit/>
          </a:bodyPr>
          <a:lstStyle/>
          <a:p>
            <a:pPr algn="l">
              <a:lnSpc>
                <a:spcPct val="115000"/>
              </a:lnSpc>
            </a:pPr>
            <a:r>
              <a:rPr sz="1250" b="0" i="0">
                <a:solidFill>
                  <a:srgbClr val="C9C3DC"/>
                </a:solidFill>
                <a:latin typeface="Calibri"/>
              </a:rPr>
              <a:t>• How does SHA-256 work? (full explanation)</a:t>
            </a:r>
          </a:p>
        </p:txBody>
      </p:sp>
      <p:sp>
        <p:nvSpPr>
          <p:cNvPr id="13" name="TextBox 12"/>
          <p:cNvSpPr txBox="1"/>
          <p:nvPr/>
        </p:nvSpPr>
        <p:spPr>
          <a:xfrm>
            <a:off x="822960" y="4745736"/>
            <a:ext cx="10058400" cy="365760"/>
          </a:xfrm>
          <a:prstGeom prst="rect">
            <a:avLst/>
          </a:prstGeom>
          <a:noFill/>
        </p:spPr>
        <p:txBody>
          <a:bodyPr wrap="square" anchor="t" lIns="0" rIns="0" tIns="0" bIns="0">
            <a:spAutoFit/>
          </a:bodyPr>
          <a:lstStyle/>
          <a:p>
            <a:pPr algn="l">
              <a:lnSpc>
                <a:spcPct val="115000"/>
              </a:lnSpc>
            </a:pPr>
            <a:r>
              <a:rPr sz="1250" b="0" i="0">
                <a:solidFill>
                  <a:srgbClr val="C9C3DC"/>
                </a:solidFill>
                <a:latin typeface="Calibri"/>
              </a:rPr>
              <a:t>• What is SHA-256 | Blockchain | The Beginner Guide</a:t>
            </a:r>
          </a:p>
        </p:txBody>
      </p:sp>
      <p:sp>
        <p:nvSpPr>
          <p:cNvPr id="14" name="TextBox 13"/>
          <p:cNvSpPr txBox="1"/>
          <p:nvPr/>
        </p:nvSpPr>
        <p:spPr>
          <a:xfrm>
            <a:off x="822960" y="5248656"/>
            <a:ext cx="2743200" cy="320040"/>
          </a:xfrm>
          <a:prstGeom prst="rect">
            <a:avLst/>
          </a:prstGeom>
          <a:noFill/>
        </p:spPr>
        <p:txBody>
          <a:bodyPr wrap="square" anchor="t" lIns="0" rIns="0" tIns="0" bIns="0">
            <a:spAutoFit/>
          </a:bodyPr>
          <a:lstStyle/>
          <a:p>
            <a:pPr algn="l">
              <a:lnSpc>
                <a:spcPct val="115000"/>
              </a:lnSpc>
            </a:pPr>
            <a:r>
              <a:rPr sz="1100" b="1" i="0">
                <a:solidFill>
                  <a:srgbClr val="FFC53D"/>
                </a:solidFill>
                <a:latin typeface="Calibri"/>
              </a:rPr>
              <a:t>PRACTICE SITE</a:t>
            </a:r>
          </a:p>
        </p:txBody>
      </p:sp>
      <p:sp>
        <p:nvSpPr>
          <p:cNvPr id="15" name="TextBox 14"/>
          <p:cNvSpPr txBox="1"/>
          <p:nvPr/>
        </p:nvSpPr>
        <p:spPr>
          <a:xfrm>
            <a:off x="822960" y="5614416"/>
            <a:ext cx="10058400" cy="457200"/>
          </a:xfrm>
          <a:prstGeom prst="rect">
            <a:avLst/>
          </a:prstGeom>
          <a:noFill/>
        </p:spPr>
        <p:txBody>
          <a:bodyPr wrap="square" anchor="t" lIns="0" rIns="0" tIns="0" bIns="0">
            <a:spAutoFit/>
          </a:bodyPr>
          <a:lstStyle/>
          <a:p>
            <a:pPr algn="l">
              <a:lnSpc>
                <a:spcPct val="115000"/>
              </a:lnSpc>
            </a:pPr>
            <a:r>
              <a:rPr sz="1250" b="0" i="0">
                <a:solidFill>
                  <a:srgbClr val="C9C3DC"/>
                </a:solidFill>
                <a:latin typeface="Consolas"/>
              </a:rPr>
              <a:t>andersbrownworth.com/blockchain/hash  ·  gchq.github.io/CyberChef</a:t>
            </a:r>
          </a:p>
        </p:txBody>
      </p:sp>
      <p:sp>
        <p:nvSpPr>
          <p:cNvPr id="16" name="TextBox 15"/>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15 / 15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_cover_02.jpg"/>
          <p:cNvPicPr>
            <a:picLocks noChangeAspect="1"/>
          </p:cNvPicPr>
          <p:nvPr/>
        </p:nvPicPr>
        <p:blipFill>
          <a:blip r:embed="rId2"/>
          <a:stretch>
            <a:fillRect/>
          </a:stretch>
        </p:blipFill>
        <p:spPr>
          <a:xfrm>
            <a:off x="0" y="0"/>
            <a:ext cx="12191695" cy="6858000"/>
          </a:xfrm>
          <a:prstGeom prst="rect">
            <a:avLst/>
          </a:prstGeom>
        </p:spPr>
      </p:pic>
      <p:sp>
        <p:nvSpPr>
          <p:cNvPr id="4" name="Rectangle 3"/>
          <p:cNvSpPr/>
          <p:nvPr/>
        </p:nvSpPr>
        <p:spPr>
          <a:xfrm>
            <a:off x="0" y="0"/>
            <a:ext cx="12191695" cy="6858000"/>
          </a:xfrm>
          <a:prstGeom prst="rect">
            <a:avLst/>
          </a:prstGeom>
          <a:solidFill>
            <a:srgbClr val="1C1730">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695" cy="6858000"/>
          </a:xfrm>
          <a:prstGeom prst="rect">
            <a:avLst/>
          </a:prstGeom>
          <a:solidFill>
            <a:srgbClr val="C67A1E">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188720"/>
            <a:ext cx="5486400" cy="1188720"/>
          </a:xfrm>
          <a:prstGeom prst="rect">
            <a:avLst/>
          </a:prstGeom>
          <a:noFill/>
        </p:spPr>
        <p:txBody>
          <a:bodyPr wrap="square" anchor="t" lIns="0" rIns="0" tIns="0" bIns="0">
            <a:spAutoFit/>
          </a:bodyPr>
          <a:lstStyle/>
          <a:p>
            <a:pPr algn="l">
              <a:lnSpc>
                <a:spcPct val="115000"/>
              </a:lnSpc>
            </a:pPr>
            <a:r>
              <a:rPr sz="10000" b="1" i="0">
                <a:solidFill>
                  <a:srgbClr val="FFFFFF"/>
                </a:solidFill>
                <a:latin typeface="Century Gothic"/>
              </a:rPr>
              <a:t>02</a:t>
            </a:r>
          </a:p>
        </p:txBody>
      </p:sp>
      <p:sp>
        <p:nvSpPr>
          <p:cNvPr id="7" name="TextBox 6"/>
          <p:cNvSpPr txBox="1"/>
          <p:nvPr/>
        </p:nvSpPr>
        <p:spPr>
          <a:xfrm>
            <a:off x="822960" y="2423160"/>
            <a:ext cx="8961120" cy="1554480"/>
          </a:xfrm>
          <a:prstGeom prst="rect">
            <a:avLst/>
          </a:prstGeom>
          <a:noFill/>
        </p:spPr>
        <p:txBody>
          <a:bodyPr wrap="square" anchor="t" lIns="0" rIns="0" tIns="0" bIns="0">
            <a:spAutoFit/>
          </a:bodyPr>
          <a:lstStyle/>
          <a:p>
            <a:pPr algn="l">
              <a:lnSpc>
                <a:spcPct val="105000"/>
              </a:lnSpc>
            </a:pPr>
            <a:r>
              <a:rPr sz="4600" b="1" i="0">
                <a:solidFill>
                  <a:srgbClr val="FFFFFF"/>
                </a:solidFill>
                <a:latin typeface="Century Gothic"/>
              </a:rPr>
              <a:t>Public / Private Keys</a:t>
            </a:r>
          </a:p>
        </p:txBody>
      </p:sp>
      <p:sp>
        <p:nvSpPr>
          <p:cNvPr id="8" name="TextBox 7"/>
          <p:cNvSpPr txBox="1"/>
          <p:nvPr/>
        </p:nvSpPr>
        <p:spPr>
          <a:xfrm>
            <a:off x="822960" y="4160520"/>
            <a:ext cx="6858000" cy="1097280"/>
          </a:xfrm>
          <a:prstGeom prst="rect">
            <a:avLst/>
          </a:prstGeom>
          <a:noFill/>
        </p:spPr>
        <p:txBody>
          <a:bodyPr wrap="square" anchor="t" lIns="0" rIns="0" tIns="0" bIns="0">
            <a:spAutoFit/>
          </a:bodyPr>
          <a:lstStyle/>
          <a:p>
            <a:pPr algn="l">
              <a:lnSpc>
                <a:spcPct val="125000"/>
              </a:lnSpc>
            </a:pPr>
            <a:r>
              <a:rPr sz="1900" b="0" i="0">
                <a:solidFill>
                  <a:srgbClr val="FFFFFF"/>
                </a:solidFill>
                <a:latin typeface="Calibri"/>
              </a:rPr>
              <a:t>Prove ownership without ever revealing the secret that proves it.</a:t>
            </a:r>
          </a:p>
        </p:txBody>
      </p:sp>
      <p:sp>
        <p:nvSpPr>
          <p:cNvPr id="9" name="TextBox 8"/>
          <p:cNvSpPr txBox="1"/>
          <p:nvPr/>
        </p:nvSpPr>
        <p:spPr>
          <a:xfrm>
            <a:off x="822960" y="6446520"/>
            <a:ext cx="8229600" cy="320040"/>
          </a:xfrm>
          <a:prstGeom prst="rect">
            <a:avLst/>
          </a:prstGeom>
          <a:noFill/>
        </p:spPr>
        <p:txBody>
          <a:bodyPr wrap="square" anchor="t" lIns="0" rIns="0" tIns="0" bIns="0">
            <a:spAutoFit/>
          </a:bodyPr>
          <a:lstStyle/>
          <a:p>
            <a:pPr algn="l">
              <a:lnSpc>
                <a:spcPct val="115000"/>
              </a:lnSpc>
            </a:pPr>
            <a:r>
              <a:rPr sz="1000" b="0" i="0">
                <a:solidFill>
                  <a:srgbClr val="E9E6F2"/>
                </a:solidFill>
                <a:latin typeface="Calibri"/>
              </a:rPr>
              <a:t>Photo: Shillings1005 / Wikimedia Commons, CC BY-SA 4.0</a:t>
            </a:r>
          </a:p>
        </p:txBody>
      </p:sp>
      <p:sp>
        <p:nvSpPr>
          <p:cNvPr id="10" name="TextBox 9"/>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01 / 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67A1E"/>
                </a:solidFill>
                <a:latin typeface="Calibri"/>
              </a:rPr>
              <a:t>TOPIC 02 — PUBLIC / PRIVATE KEYS</a:t>
            </a:r>
          </a:p>
        </p:txBody>
      </p:sp>
      <p:sp>
        <p:nvSpPr>
          <p:cNvPr id="4" name="TextBox 3"/>
          <p:cNvSpPr txBox="1"/>
          <p:nvPr/>
        </p:nvSpPr>
        <p:spPr>
          <a:xfrm>
            <a:off x="822960" y="105156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Why This Matters</a:t>
            </a:r>
          </a:p>
        </p:txBody>
      </p:sp>
      <p:sp>
        <p:nvSpPr>
          <p:cNvPr id="5" name="TextBox 4"/>
          <p:cNvSpPr txBox="1"/>
          <p:nvPr/>
        </p:nvSpPr>
        <p:spPr>
          <a:xfrm>
            <a:off x="822960" y="1965960"/>
            <a:ext cx="9875520" cy="1463040"/>
          </a:xfrm>
          <a:prstGeom prst="rect">
            <a:avLst/>
          </a:prstGeom>
          <a:noFill/>
        </p:spPr>
        <p:txBody>
          <a:bodyPr wrap="square" anchor="t" lIns="0" rIns="0" tIns="0" bIns="0">
            <a:spAutoFit/>
          </a:bodyPr>
          <a:lstStyle/>
          <a:p>
            <a:pPr algn="l">
              <a:lnSpc>
                <a:spcPct val="140000"/>
              </a:lnSpc>
            </a:pPr>
            <a:r>
              <a:rPr sz="1600" b="0" i="0">
                <a:solidFill>
                  <a:srgbClr val="5C576E"/>
                </a:solidFill>
                <a:latin typeface="Calibri"/>
              </a:rPr>
              <a:t>Hashing gave you tamper-evidence. Keys give you authorization — proving who's allowed to move funds, with no login system, no password reset, and no bank sitting in the middle. This is the entire foundation of blockchain authorization.</a:t>
            </a:r>
          </a:p>
        </p:txBody>
      </p:sp>
      <p:sp>
        <p:nvSpPr>
          <p:cNvPr id="6" name="TextBox 5"/>
          <p:cNvSpPr txBox="1"/>
          <p:nvPr/>
        </p:nvSpPr>
        <p:spPr>
          <a:xfrm>
            <a:off x="822960" y="3657600"/>
            <a:ext cx="9875520" cy="365760"/>
          </a:xfrm>
          <a:prstGeom prst="rect">
            <a:avLst/>
          </a:prstGeom>
          <a:noFill/>
        </p:spPr>
        <p:txBody>
          <a:bodyPr wrap="square" anchor="t" lIns="0" rIns="0" tIns="0" bIns="0">
            <a:spAutoFit/>
          </a:bodyPr>
          <a:lstStyle/>
          <a:p>
            <a:pPr algn="l">
              <a:lnSpc>
                <a:spcPct val="115000"/>
              </a:lnSpc>
            </a:pPr>
            <a:r>
              <a:rPr sz="1200" b="1" i="0">
                <a:solidFill>
                  <a:srgbClr val="C67A1E"/>
                </a:solidFill>
                <a:latin typeface="Calibri"/>
              </a:rPr>
              <a:t>WHAT THIS SECTION COVERS</a:t>
            </a:r>
          </a:p>
        </p:txBody>
      </p:sp>
      <p:sp>
        <p:nvSpPr>
          <p:cNvPr id="7" name="Rectangle 6"/>
          <p:cNvSpPr/>
          <p:nvPr/>
        </p:nvSpPr>
        <p:spPr>
          <a:xfrm>
            <a:off x="822960" y="4197096"/>
            <a:ext cx="82296" cy="82296"/>
          </a:xfrm>
          <a:prstGeom prst="rect">
            <a:avLst/>
          </a:prstGeom>
          <a:solidFill>
            <a:srgbClr val="C6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41148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Core concept</a:t>
            </a:r>
          </a:p>
        </p:txBody>
      </p:sp>
      <p:sp>
        <p:nvSpPr>
          <p:cNvPr id="9" name="Rectangle 8"/>
          <p:cNvSpPr/>
          <p:nvPr/>
        </p:nvSpPr>
        <p:spPr>
          <a:xfrm>
            <a:off x="6035040" y="4197096"/>
            <a:ext cx="82296" cy="82296"/>
          </a:xfrm>
          <a:prstGeom prst="rect">
            <a:avLst/>
          </a:prstGeom>
          <a:solidFill>
            <a:srgbClr val="C6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63640" y="41148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Four key ideas, one at a time</a:t>
            </a:r>
          </a:p>
        </p:txBody>
      </p:sp>
      <p:sp>
        <p:nvSpPr>
          <p:cNvPr id="11" name="Rectangle 10"/>
          <p:cNvSpPr/>
          <p:nvPr/>
        </p:nvSpPr>
        <p:spPr>
          <a:xfrm>
            <a:off x="822960" y="4654296"/>
            <a:ext cx="82296" cy="82296"/>
          </a:xfrm>
          <a:prstGeom prst="rect">
            <a:avLst/>
          </a:prstGeom>
          <a:solidFill>
            <a:srgbClr val="C6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45720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A real, reproducible worked example</a:t>
            </a:r>
          </a:p>
        </p:txBody>
      </p:sp>
      <p:sp>
        <p:nvSpPr>
          <p:cNvPr id="13" name="Rectangle 12"/>
          <p:cNvSpPr/>
          <p:nvPr/>
        </p:nvSpPr>
        <p:spPr>
          <a:xfrm>
            <a:off x="6035040" y="4654296"/>
            <a:ext cx="82296" cy="82296"/>
          </a:xfrm>
          <a:prstGeom prst="rect">
            <a:avLst/>
          </a:prstGeom>
          <a:solidFill>
            <a:srgbClr val="C6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63640" y="45720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Real-world uses beyond blockchain</a:t>
            </a:r>
          </a:p>
        </p:txBody>
      </p:sp>
      <p:sp>
        <p:nvSpPr>
          <p:cNvPr id="15" name="Rectangle 14"/>
          <p:cNvSpPr/>
          <p:nvPr/>
        </p:nvSpPr>
        <p:spPr>
          <a:xfrm>
            <a:off x="822960" y="5111496"/>
            <a:ext cx="82296" cy="82296"/>
          </a:xfrm>
          <a:prstGeom prst="rect">
            <a:avLst/>
          </a:prstGeom>
          <a:solidFill>
            <a:srgbClr val="C6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0292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A flagship case study</a:t>
            </a:r>
          </a:p>
        </p:txBody>
      </p:sp>
      <p:sp>
        <p:nvSpPr>
          <p:cNvPr id="17" name="Rectangle 16"/>
          <p:cNvSpPr/>
          <p:nvPr/>
        </p:nvSpPr>
        <p:spPr>
          <a:xfrm>
            <a:off x="6035040" y="5111496"/>
            <a:ext cx="82296" cy="82296"/>
          </a:xfrm>
          <a:prstGeom prst="rect">
            <a:avLst/>
          </a:prstGeom>
          <a:solidFill>
            <a:srgbClr val="C6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50292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A real-life analogy</a:t>
            </a:r>
          </a:p>
        </p:txBody>
      </p:sp>
      <p:sp>
        <p:nvSpPr>
          <p:cNvPr id="19" name="Rectangle 18"/>
          <p:cNvSpPr/>
          <p:nvPr/>
        </p:nvSpPr>
        <p:spPr>
          <a:xfrm>
            <a:off x="822960" y="5568696"/>
            <a:ext cx="82296" cy="82296"/>
          </a:xfrm>
          <a:prstGeom prst="rect">
            <a:avLst/>
          </a:prstGeom>
          <a:solidFill>
            <a:srgbClr val="C6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54864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Common misconceptions</a:t>
            </a:r>
          </a:p>
        </p:txBody>
      </p:sp>
      <p:sp>
        <p:nvSpPr>
          <p:cNvPr id="21" name="Rectangle 20"/>
          <p:cNvSpPr/>
          <p:nvPr/>
        </p:nvSpPr>
        <p:spPr>
          <a:xfrm>
            <a:off x="6035040" y="5568696"/>
            <a:ext cx="82296" cy="82296"/>
          </a:xfrm>
          <a:prstGeom prst="rect">
            <a:avLst/>
          </a:prstGeom>
          <a:solidFill>
            <a:srgbClr val="C6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63640" y="54864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Hands-on practice</a:t>
            </a:r>
          </a:p>
        </p:txBody>
      </p:sp>
      <p:sp>
        <p:nvSpPr>
          <p:cNvPr id="23" name="Rectangle 22"/>
          <p:cNvSpPr/>
          <p:nvPr/>
        </p:nvSpPr>
        <p:spPr>
          <a:xfrm>
            <a:off x="822960" y="6025896"/>
            <a:ext cx="82296" cy="82296"/>
          </a:xfrm>
          <a:prstGeom prst="rect">
            <a:avLst/>
          </a:prstGeom>
          <a:solidFill>
            <a:srgbClr val="C6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59436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Take-home assignment</a:t>
            </a:r>
          </a:p>
        </p:txBody>
      </p:sp>
      <p:sp>
        <p:nvSpPr>
          <p:cNvPr id="25" name="TextBox 24"/>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02 / 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67A1E"/>
                </a:solidFill>
                <a:latin typeface="Calibri"/>
              </a:rPr>
              <a:t>TOPIC 02 — PUBLIC / PRIVATE KEYS</a:t>
            </a:r>
          </a:p>
        </p:txBody>
      </p:sp>
      <p:sp>
        <p:nvSpPr>
          <p:cNvPr id="4" name="TextBox 3"/>
          <p:cNvSpPr txBox="1"/>
          <p:nvPr/>
        </p:nvSpPr>
        <p:spPr>
          <a:xfrm>
            <a:off x="822960" y="1097280"/>
            <a:ext cx="9601200" cy="1005840"/>
          </a:xfrm>
          <a:prstGeom prst="rect">
            <a:avLst/>
          </a:prstGeom>
          <a:noFill/>
        </p:spPr>
        <p:txBody>
          <a:bodyPr wrap="square" anchor="t" lIns="0" rIns="0" tIns="0" bIns="0">
            <a:spAutoFit/>
          </a:bodyPr>
          <a:lstStyle/>
          <a:p>
            <a:pPr algn="l">
              <a:lnSpc>
                <a:spcPct val="105000"/>
              </a:lnSpc>
            </a:pPr>
            <a:r>
              <a:rPr sz="3400" b="1" i="0">
                <a:solidFill>
                  <a:srgbClr val="1C1730"/>
                </a:solidFill>
                <a:latin typeface="Century Gothic"/>
              </a:rPr>
              <a:t>The Core Concept</a:t>
            </a:r>
          </a:p>
        </p:txBody>
      </p:sp>
      <p:sp>
        <p:nvSpPr>
          <p:cNvPr id="5" name="Rounded Rectangle 4"/>
          <p:cNvSpPr/>
          <p:nvPr/>
        </p:nvSpPr>
        <p:spPr>
          <a:xfrm>
            <a:off x="822960" y="2286000"/>
            <a:ext cx="10515600" cy="329184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2286000"/>
            <a:ext cx="91440" cy="3291840"/>
          </a:xfrm>
          <a:prstGeom prst="rect">
            <a:avLst/>
          </a:prstGeom>
          <a:solidFill>
            <a:srgbClr val="C6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80160" y="2697480"/>
            <a:ext cx="9601200" cy="2560320"/>
          </a:xfrm>
          <a:prstGeom prst="rect">
            <a:avLst/>
          </a:prstGeom>
          <a:noFill/>
        </p:spPr>
        <p:txBody>
          <a:bodyPr wrap="square" anchor="t" lIns="0" rIns="0" tIns="0" bIns="0">
            <a:spAutoFit/>
          </a:bodyPr>
          <a:lstStyle/>
          <a:p>
            <a:pPr algn="l">
              <a:lnSpc>
                <a:spcPct val="155000"/>
              </a:lnSpc>
            </a:pPr>
            <a:r>
              <a:rPr sz="2000" b="0" i="0">
                <a:solidFill>
                  <a:srgbClr val="1C1730"/>
                </a:solidFill>
                <a:latin typeface="Calibri"/>
              </a:rPr>
              <a:t>Asymmetric cryptography gives you two mathematically related keys: a private key (secret, signs things) and a public key (shareable, verifies things). Ethereum and Bitcoin use ECDSA on a specific curve named secp256k1. One direction is easy; the other is computationally infeasible.</a:t>
            </a:r>
          </a:p>
        </p:txBody>
      </p:sp>
      <p:sp>
        <p:nvSpPr>
          <p:cNvPr id="8" name="TextBox 7"/>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03 / 15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67A1E"/>
                </a:solidFill>
                <a:latin typeface="Calibri"/>
              </a:rPr>
              <a:t>TOPIC 02 — PUBLIC / PRIVATE KEYS</a:t>
            </a:r>
          </a:p>
        </p:txBody>
      </p:sp>
      <p:sp>
        <p:nvSpPr>
          <p:cNvPr id="4" name="TextBox 3"/>
          <p:cNvSpPr txBox="1"/>
          <p:nvPr/>
        </p:nvSpPr>
        <p:spPr>
          <a:xfrm>
            <a:off x="8503920" y="640080"/>
            <a:ext cx="2834640" cy="365760"/>
          </a:xfrm>
          <a:prstGeom prst="rect">
            <a:avLst/>
          </a:prstGeom>
          <a:noFill/>
        </p:spPr>
        <p:txBody>
          <a:bodyPr wrap="square" anchor="t" lIns="0" rIns="0" tIns="0" bIns="0">
            <a:spAutoFit/>
          </a:bodyPr>
          <a:lstStyle/>
          <a:p>
            <a:pPr algn="r">
              <a:lnSpc>
                <a:spcPct val="115000"/>
              </a:lnSpc>
            </a:pPr>
            <a:r>
              <a:rPr sz="1200" b="1" i="0">
                <a:solidFill>
                  <a:srgbClr val="5C576E"/>
                </a:solidFill>
                <a:latin typeface="Calibri"/>
              </a:rPr>
              <a:t>KEY IDEA 1 / 4</a:t>
            </a:r>
          </a:p>
        </p:txBody>
      </p:sp>
      <p:sp>
        <p:nvSpPr>
          <p:cNvPr id="5" name="TextBox 4"/>
          <p:cNvSpPr txBox="1"/>
          <p:nvPr/>
        </p:nvSpPr>
        <p:spPr>
          <a:xfrm>
            <a:off x="822960" y="109728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Private Key</a:t>
            </a:r>
          </a:p>
        </p:txBody>
      </p:sp>
      <p:sp>
        <p:nvSpPr>
          <p:cNvPr id="6" name="TextBox 5"/>
          <p:cNvSpPr txBox="1"/>
          <p:nvPr/>
        </p:nvSpPr>
        <p:spPr>
          <a:xfrm>
            <a:off x="822960" y="2148840"/>
            <a:ext cx="9875520" cy="2011680"/>
          </a:xfrm>
          <a:prstGeom prst="rect">
            <a:avLst/>
          </a:prstGeom>
          <a:noFill/>
        </p:spPr>
        <p:txBody>
          <a:bodyPr wrap="square" anchor="t" lIns="0" rIns="0" tIns="0" bIns="0">
            <a:spAutoFit/>
          </a:bodyPr>
          <a:lstStyle/>
          <a:p>
            <a:pPr algn="l">
              <a:lnSpc>
                <a:spcPct val="150000"/>
              </a:lnSpc>
            </a:pPr>
            <a:r>
              <a:rPr sz="1650" b="0" i="0">
                <a:solidFill>
                  <a:srgbClr val="1C1730"/>
                </a:solidFill>
                <a:latin typeface="Calibri"/>
              </a:rPr>
              <a:t>A very large random number, generated when you create a wallet. Whoever holds it has complete control of the wallet. It must never be shared with anyone, ever, for any reason.</a:t>
            </a:r>
          </a:p>
        </p:txBody>
      </p:sp>
      <p:sp>
        <p:nvSpPr>
          <p:cNvPr id="7" name="Rounded Rectangle 6"/>
          <p:cNvSpPr/>
          <p:nvPr/>
        </p:nvSpPr>
        <p:spPr>
          <a:xfrm>
            <a:off x="822960" y="4434840"/>
            <a:ext cx="10515600" cy="1280160"/>
          </a:xfrm>
          <a:prstGeom prst="roundRect">
            <a:avLst>
              <a:gd name="adj" fmla="val 6000"/>
            </a:avLst>
          </a:prstGeom>
          <a:solidFill>
            <a:srgbClr val="F9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617720"/>
            <a:ext cx="9875520" cy="320040"/>
          </a:xfrm>
          <a:prstGeom prst="rect">
            <a:avLst/>
          </a:prstGeom>
          <a:noFill/>
        </p:spPr>
        <p:txBody>
          <a:bodyPr wrap="square" anchor="t" lIns="0" rIns="0" tIns="0" bIns="0">
            <a:spAutoFit/>
          </a:bodyPr>
          <a:lstStyle/>
          <a:p>
            <a:pPr algn="l">
              <a:lnSpc>
                <a:spcPct val="115000"/>
              </a:lnSpc>
            </a:pPr>
            <a:r>
              <a:rPr sz="1100" b="1" i="0">
                <a:solidFill>
                  <a:srgbClr val="C67A1E"/>
                </a:solidFill>
                <a:latin typeface="Calibri"/>
              </a:rPr>
              <a:t>EXAMPLE</a:t>
            </a:r>
          </a:p>
        </p:txBody>
      </p:sp>
      <p:sp>
        <p:nvSpPr>
          <p:cNvPr id="9" name="TextBox 8"/>
          <p:cNvSpPr txBox="1"/>
          <p:nvPr/>
        </p:nvSpPr>
        <p:spPr>
          <a:xfrm>
            <a:off x="1143000" y="4956048"/>
            <a:ext cx="9875520" cy="640080"/>
          </a:xfrm>
          <a:prstGeom prst="rect">
            <a:avLst/>
          </a:prstGeom>
          <a:noFill/>
        </p:spPr>
        <p:txBody>
          <a:bodyPr wrap="square" anchor="t" lIns="0" rIns="0" tIns="0" bIns="0">
            <a:spAutoFit/>
          </a:bodyPr>
          <a:lstStyle/>
          <a:p>
            <a:pPr algn="l">
              <a:lnSpc>
                <a:spcPct val="130000"/>
              </a:lnSpc>
            </a:pPr>
            <a:r>
              <a:rPr sz="1400" b="0" i="0">
                <a:solidFill>
                  <a:srgbClr val="1C1730"/>
                </a:solidFill>
                <a:latin typeface="Consolas"/>
              </a:rPr>
              <a:t>A 256-bit random number — never leaves your device.</a:t>
            </a:r>
          </a:p>
        </p:txBody>
      </p:sp>
      <p:sp>
        <p:nvSpPr>
          <p:cNvPr id="10" name="TextBox 9"/>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04 / 15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67A1E"/>
                </a:solidFill>
                <a:latin typeface="Calibri"/>
              </a:rPr>
              <a:t>TOPIC 02 — PUBLIC / PRIVATE KEYS</a:t>
            </a:r>
          </a:p>
        </p:txBody>
      </p:sp>
      <p:sp>
        <p:nvSpPr>
          <p:cNvPr id="4" name="TextBox 3"/>
          <p:cNvSpPr txBox="1"/>
          <p:nvPr/>
        </p:nvSpPr>
        <p:spPr>
          <a:xfrm>
            <a:off x="8503920" y="640080"/>
            <a:ext cx="2834640" cy="365760"/>
          </a:xfrm>
          <a:prstGeom prst="rect">
            <a:avLst/>
          </a:prstGeom>
          <a:noFill/>
        </p:spPr>
        <p:txBody>
          <a:bodyPr wrap="square" anchor="t" lIns="0" rIns="0" tIns="0" bIns="0">
            <a:spAutoFit/>
          </a:bodyPr>
          <a:lstStyle/>
          <a:p>
            <a:pPr algn="r">
              <a:lnSpc>
                <a:spcPct val="115000"/>
              </a:lnSpc>
            </a:pPr>
            <a:r>
              <a:rPr sz="1200" b="1" i="0">
                <a:solidFill>
                  <a:srgbClr val="5C576E"/>
                </a:solidFill>
                <a:latin typeface="Calibri"/>
              </a:rPr>
              <a:t>KEY IDEA 2 / 4</a:t>
            </a:r>
          </a:p>
        </p:txBody>
      </p:sp>
      <p:sp>
        <p:nvSpPr>
          <p:cNvPr id="5" name="TextBox 4"/>
          <p:cNvSpPr txBox="1"/>
          <p:nvPr/>
        </p:nvSpPr>
        <p:spPr>
          <a:xfrm>
            <a:off x="822960" y="109728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Public Key</a:t>
            </a:r>
          </a:p>
        </p:txBody>
      </p:sp>
      <p:sp>
        <p:nvSpPr>
          <p:cNvPr id="6" name="TextBox 5"/>
          <p:cNvSpPr txBox="1"/>
          <p:nvPr/>
        </p:nvSpPr>
        <p:spPr>
          <a:xfrm>
            <a:off x="822960" y="2148840"/>
            <a:ext cx="9875520" cy="2011680"/>
          </a:xfrm>
          <a:prstGeom prst="rect">
            <a:avLst/>
          </a:prstGeom>
          <a:noFill/>
        </p:spPr>
        <p:txBody>
          <a:bodyPr wrap="square" anchor="t" lIns="0" rIns="0" tIns="0" bIns="0">
            <a:spAutoFit/>
          </a:bodyPr>
          <a:lstStyle/>
          <a:p>
            <a:pPr algn="l">
              <a:lnSpc>
                <a:spcPct val="150000"/>
              </a:lnSpc>
            </a:pPr>
            <a:r>
              <a:rPr sz="1650" b="0" i="0">
                <a:solidFill>
                  <a:srgbClr val="1C1730"/>
                </a:solidFill>
                <a:latin typeface="Calibri"/>
              </a:rPr>
              <a:t>Derived one-way from the private key, using a process similar in spirit to hashing. Safe to share — you cannot work backwards from a public key to the private key that produced it.</a:t>
            </a:r>
          </a:p>
        </p:txBody>
      </p:sp>
      <p:sp>
        <p:nvSpPr>
          <p:cNvPr id="7" name="Rounded Rectangle 6"/>
          <p:cNvSpPr/>
          <p:nvPr/>
        </p:nvSpPr>
        <p:spPr>
          <a:xfrm>
            <a:off x="822960" y="4434840"/>
            <a:ext cx="10515600" cy="1280160"/>
          </a:xfrm>
          <a:prstGeom prst="roundRect">
            <a:avLst>
              <a:gd name="adj" fmla="val 6000"/>
            </a:avLst>
          </a:prstGeom>
          <a:solidFill>
            <a:srgbClr val="F9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617720"/>
            <a:ext cx="9875520" cy="320040"/>
          </a:xfrm>
          <a:prstGeom prst="rect">
            <a:avLst/>
          </a:prstGeom>
          <a:noFill/>
        </p:spPr>
        <p:txBody>
          <a:bodyPr wrap="square" anchor="t" lIns="0" rIns="0" tIns="0" bIns="0">
            <a:spAutoFit/>
          </a:bodyPr>
          <a:lstStyle/>
          <a:p>
            <a:pPr algn="l">
              <a:lnSpc>
                <a:spcPct val="115000"/>
              </a:lnSpc>
            </a:pPr>
            <a:r>
              <a:rPr sz="1100" b="1" i="0">
                <a:solidFill>
                  <a:srgbClr val="C67A1E"/>
                </a:solidFill>
                <a:latin typeface="Calibri"/>
              </a:rPr>
              <a:t>EXAMPLE</a:t>
            </a:r>
          </a:p>
        </p:txBody>
      </p:sp>
      <p:sp>
        <p:nvSpPr>
          <p:cNvPr id="9" name="TextBox 8"/>
          <p:cNvSpPr txBox="1"/>
          <p:nvPr/>
        </p:nvSpPr>
        <p:spPr>
          <a:xfrm>
            <a:off x="1143000" y="4956048"/>
            <a:ext cx="9875520" cy="640080"/>
          </a:xfrm>
          <a:prstGeom prst="rect">
            <a:avLst/>
          </a:prstGeom>
          <a:noFill/>
        </p:spPr>
        <p:txBody>
          <a:bodyPr wrap="square" anchor="t" lIns="0" rIns="0" tIns="0" bIns="0">
            <a:spAutoFit/>
          </a:bodyPr>
          <a:lstStyle/>
          <a:p>
            <a:pPr algn="l">
              <a:lnSpc>
                <a:spcPct val="130000"/>
              </a:lnSpc>
            </a:pPr>
            <a:r>
              <a:rPr sz="1400" b="0" i="0">
                <a:solidFill>
                  <a:srgbClr val="1C1730"/>
                </a:solidFill>
                <a:latin typeface="Consolas"/>
              </a:rPr>
              <a:t>Private key → (one-way math) → Public key</a:t>
            </a:r>
          </a:p>
        </p:txBody>
      </p:sp>
      <p:sp>
        <p:nvSpPr>
          <p:cNvPr id="10" name="TextBox 9"/>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05 / 15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67A1E"/>
                </a:solidFill>
                <a:latin typeface="Calibri"/>
              </a:rPr>
              <a:t>TOPIC 02 — PUBLIC / PRIVATE KEYS</a:t>
            </a:r>
          </a:p>
        </p:txBody>
      </p:sp>
      <p:sp>
        <p:nvSpPr>
          <p:cNvPr id="4" name="TextBox 3"/>
          <p:cNvSpPr txBox="1"/>
          <p:nvPr/>
        </p:nvSpPr>
        <p:spPr>
          <a:xfrm>
            <a:off x="8503920" y="640080"/>
            <a:ext cx="2834640" cy="365760"/>
          </a:xfrm>
          <a:prstGeom prst="rect">
            <a:avLst/>
          </a:prstGeom>
          <a:noFill/>
        </p:spPr>
        <p:txBody>
          <a:bodyPr wrap="square" anchor="t" lIns="0" rIns="0" tIns="0" bIns="0">
            <a:spAutoFit/>
          </a:bodyPr>
          <a:lstStyle/>
          <a:p>
            <a:pPr algn="r">
              <a:lnSpc>
                <a:spcPct val="115000"/>
              </a:lnSpc>
            </a:pPr>
            <a:r>
              <a:rPr sz="1200" b="1" i="0">
                <a:solidFill>
                  <a:srgbClr val="5C576E"/>
                </a:solidFill>
                <a:latin typeface="Calibri"/>
              </a:rPr>
              <a:t>KEY IDEA 3 / 4</a:t>
            </a:r>
          </a:p>
        </p:txBody>
      </p:sp>
      <p:sp>
        <p:nvSpPr>
          <p:cNvPr id="5" name="TextBox 4"/>
          <p:cNvSpPr txBox="1"/>
          <p:nvPr/>
        </p:nvSpPr>
        <p:spPr>
          <a:xfrm>
            <a:off x="822960" y="109728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Signature</a:t>
            </a:r>
          </a:p>
        </p:txBody>
      </p:sp>
      <p:sp>
        <p:nvSpPr>
          <p:cNvPr id="6" name="TextBox 5"/>
          <p:cNvSpPr txBox="1"/>
          <p:nvPr/>
        </p:nvSpPr>
        <p:spPr>
          <a:xfrm>
            <a:off x="822960" y="2148840"/>
            <a:ext cx="9875520" cy="2011680"/>
          </a:xfrm>
          <a:prstGeom prst="rect">
            <a:avLst/>
          </a:prstGeom>
          <a:noFill/>
        </p:spPr>
        <p:txBody>
          <a:bodyPr wrap="square" anchor="t" lIns="0" rIns="0" tIns="0" bIns="0">
            <a:spAutoFit/>
          </a:bodyPr>
          <a:lstStyle/>
          <a:p>
            <a:pPr algn="l">
              <a:lnSpc>
                <a:spcPct val="150000"/>
              </a:lnSpc>
            </a:pPr>
            <a:r>
              <a:rPr sz="1650" b="0" i="0">
                <a:solidFill>
                  <a:srgbClr val="1C1730"/>
                </a:solidFill>
                <a:latin typeface="Calibri"/>
              </a:rPr>
              <a:t>Produced using the private key, a signature proves you authorized a specific message — without ever revealing the key itself. Anyone can verify it using only your public key.</a:t>
            </a:r>
          </a:p>
        </p:txBody>
      </p:sp>
      <p:sp>
        <p:nvSpPr>
          <p:cNvPr id="7" name="Rounded Rectangle 6"/>
          <p:cNvSpPr/>
          <p:nvPr/>
        </p:nvSpPr>
        <p:spPr>
          <a:xfrm>
            <a:off x="822960" y="4434840"/>
            <a:ext cx="10515600" cy="1280160"/>
          </a:xfrm>
          <a:prstGeom prst="roundRect">
            <a:avLst>
              <a:gd name="adj" fmla="val 6000"/>
            </a:avLst>
          </a:prstGeom>
          <a:solidFill>
            <a:srgbClr val="F9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617720"/>
            <a:ext cx="9875520" cy="320040"/>
          </a:xfrm>
          <a:prstGeom prst="rect">
            <a:avLst/>
          </a:prstGeom>
          <a:noFill/>
        </p:spPr>
        <p:txBody>
          <a:bodyPr wrap="square" anchor="t" lIns="0" rIns="0" tIns="0" bIns="0">
            <a:spAutoFit/>
          </a:bodyPr>
          <a:lstStyle/>
          <a:p>
            <a:pPr algn="l">
              <a:lnSpc>
                <a:spcPct val="115000"/>
              </a:lnSpc>
            </a:pPr>
            <a:r>
              <a:rPr sz="1100" b="1" i="0">
                <a:solidFill>
                  <a:srgbClr val="C67A1E"/>
                </a:solidFill>
                <a:latin typeface="Calibri"/>
              </a:rPr>
              <a:t>EXAMPLE</a:t>
            </a:r>
          </a:p>
        </p:txBody>
      </p:sp>
      <p:sp>
        <p:nvSpPr>
          <p:cNvPr id="9" name="TextBox 8"/>
          <p:cNvSpPr txBox="1"/>
          <p:nvPr/>
        </p:nvSpPr>
        <p:spPr>
          <a:xfrm>
            <a:off x="1143000" y="4956048"/>
            <a:ext cx="9875520" cy="640080"/>
          </a:xfrm>
          <a:prstGeom prst="rect">
            <a:avLst/>
          </a:prstGeom>
          <a:noFill/>
        </p:spPr>
        <p:txBody>
          <a:bodyPr wrap="square" anchor="t" lIns="0" rIns="0" tIns="0" bIns="0">
            <a:spAutoFit/>
          </a:bodyPr>
          <a:lstStyle/>
          <a:p>
            <a:pPr algn="l">
              <a:lnSpc>
                <a:spcPct val="130000"/>
              </a:lnSpc>
            </a:pPr>
            <a:r>
              <a:rPr sz="1400" b="0" i="0">
                <a:solidFill>
                  <a:srgbClr val="1C1730"/>
                </a:solidFill>
                <a:latin typeface="Consolas"/>
              </a:rPr>
              <a:t>sign(message, private key) → signature; verify(message, signature, public key) → true/false</a:t>
            </a:r>
          </a:p>
        </p:txBody>
      </p:sp>
      <p:sp>
        <p:nvSpPr>
          <p:cNvPr id="10" name="TextBox 9"/>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06 / 15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67A1E"/>
                </a:solidFill>
                <a:latin typeface="Calibri"/>
              </a:rPr>
              <a:t>TOPIC 02 — PUBLIC / PRIVATE KEYS</a:t>
            </a:r>
          </a:p>
        </p:txBody>
      </p:sp>
      <p:sp>
        <p:nvSpPr>
          <p:cNvPr id="4" name="TextBox 3"/>
          <p:cNvSpPr txBox="1"/>
          <p:nvPr/>
        </p:nvSpPr>
        <p:spPr>
          <a:xfrm>
            <a:off x="8503920" y="640080"/>
            <a:ext cx="2834640" cy="365760"/>
          </a:xfrm>
          <a:prstGeom prst="rect">
            <a:avLst/>
          </a:prstGeom>
          <a:noFill/>
        </p:spPr>
        <p:txBody>
          <a:bodyPr wrap="square" anchor="t" lIns="0" rIns="0" tIns="0" bIns="0">
            <a:spAutoFit/>
          </a:bodyPr>
          <a:lstStyle/>
          <a:p>
            <a:pPr algn="r">
              <a:lnSpc>
                <a:spcPct val="115000"/>
              </a:lnSpc>
            </a:pPr>
            <a:r>
              <a:rPr sz="1200" b="1" i="0">
                <a:solidFill>
                  <a:srgbClr val="5C576E"/>
                </a:solidFill>
                <a:latin typeface="Calibri"/>
              </a:rPr>
              <a:t>KEY IDEA 4 / 4</a:t>
            </a:r>
          </a:p>
        </p:txBody>
      </p:sp>
      <p:sp>
        <p:nvSpPr>
          <p:cNvPr id="5" name="TextBox 4"/>
          <p:cNvSpPr txBox="1"/>
          <p:nvPr/>
        </p:nvSpPr>
        <p:spPr>
          <a:xfrm>
            <a:off x="822960" y="109728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Address</a:t>
            </a:r>
          </a:p>
        </p:txBody>
      </p:sp>
      <p:sp>
        <p:nvSpPr>
          <p:cNvPr id="6" name="TextBox 5"/>
          <p:cNvSpPr txBox="1"/>
          <p:nvPr/>
        </p:nvSpPr>
        <p:spPr>
          <a:xfrm>
            <a:off x="822960" y="2148840"/>
            <a:ext cx="9875520" cy="2011680"/>
          </a:xfrm>
          <a:prstGeom prst="rect">
            <a:avLst/>
          </a:prstGeom>
          <a:noFill/>
        </p:spPr>
        <p:txBody>
          <a:bodyPr wrap="square" anchor="t" lIns="0" rIns="0" tIns="0" bIns="0">
            <a:spAutoFit/>
          </a:bodyPr>
          <a:lstStyle/>
          <a:p>
            <a:pPr algn="l">
              <a:lnSpc>
                <a:spcPct val="150000"/>
              </a:lnSpc>
            </a:pPr>
            <a:r>
              <a:rPr sz="1650" b="0" i="0">
                <a:solidFill>
                  <a:srgbClr val="1C1730"/>
                </a:solidFill>
                <a:latin typeface="Calibri"/>
              </a:rPr>
              <a:t>Your wallet address is a hash of your public key — one more one-way step, layered on top, for extra safety margin. This directly connects back to Topic 01: your address is literally a hash.</a:t>
            </a:r>
          </a:p>
        </p:txBody>
      </p:sp>
      <p:sp>
        <p:nvSpPr>
          <p:cNvPr id="7" name="Rounded Rectangle 6"/>
          <p:cNvSpPr/>
          <p:nvPr/>
        </p:nvSpPr>
        <p:spPr>
          <a:xfrm>
            <a:off x="822960" y="4434840"/>
            <a:ext cx="10515600" cy="1280160"/>
          </a:xfrm>
          <a:prstGeom prst="roundRect">
            <a:avLst>
              <a:gd name="adj" fmla="val 6000"/>
            </a:avLst>
          </a:prstGeom>
          <a:solidFill>
            <a:srgbClr val="F9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617720"/>
            <a:ext cx="9875520" cy="320040"/>
          </a:xfrm>
          <a:prstGeom prst="rect">
            <a:avLst/>
          </a:prstGeom>
          <a:noFill/>
        </p:spPr>
        <p:txBody>
          <a:bodyPr wrap="square" anchor="t" lIns="0" rIns="0" tIns="0" bIns="0">
            <a:spAutoFit/>
          </a:bodyPr>
          <a:lstStyle/>
          <a:p>
            <a:pPr algn="l">
              <a:lnSpc>
                <a:spcPct val="115000"/>
              </a:lnSpc>
            </a:pPr>
            <a:r>
              <a:rPr sz="1100" b="1" i="0">
                <a:solidFill>
                  <a:srgbClr val="C67A1E"/>
                </a:solidFill>
                <a:latin typeface="Calibri"/>
              </a:rPr>
              <a:t>EXAMPLE</a:t>
            </a:r>
          </a:p>
        </p:txBody>
      </p:sp>
      <p:sp>
        <p:nvSpPr>
          <p:cNvPr id="9" name="TextBox 8"/>
          <p:cNvSpPr txBox="1"/>
          <p:nvPr/>
        </p:nvSpPr>
        <p:spPr>
          <a:xfrm>
            <a:off x="1143000" y="4956048"/>
            <a:ext cx="9875520" cy="640080"/>
          </a:xfrm>
          <a:prstGeom prst="rect">
            <a:avLst/>
          </a:prstGeom>
          <a:noFill/>
        </p:spPr>
        <p:txBody>
          <a:bodyPr wrap="square" anchor="t" lIns="0" rIns="0" tIns="0" bIns="0">
            <a:spAutoFit/>
          </a:bodyPr>
          <a:lstStyle/>
          <a:p>
            <a:pPr algn="l">
              <a:lnSpc>
                <a:spcPct val="130000"/>
              </a:lnSpc>
            </a:pPr>
            <a:r>
              <a:rPr sz="1400" b="0" i="0">
                <a:solidFill>
                  <a:srgbClr val="1C1730"/>
                </a:solidFill>
                <a:latin typeface="Consolas"/>
              </a:rPr>
              <a:t>Private key → Public key → hash() → Address (0x...)</a:t>
            </a:r>
          </a:p>
        </p:txBody>
      </p:sp>
      <p:sp>
        <p:nvSpPr>
          <p:cNvPr id="10" name="TextBox 9"/>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07 / 15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67A1E"/>
                </a:solidFill>
                <a:latin typeface="Calibri"/>
              </a:rPr>
              <a:t>WORKED EXAMPLE — PART 1</a:t>
            </a:r>
          </a:p>
        </p:txBody>
      </p:sp>
      <p:sp>
        <p:nvSpPr>
          <p:cNvPr id="4" name="TextBox 3"/>
          <p:cNvSpPr txBox="1"/>
          <p:nvPr/>
        </p:nvSpPr>
        <p:spPr>
          <a:xfrm>
            <a:off x="822960" y="1051560"/>
            <a:ext cx="10332720" cy="1005840"/>
          </a:xfrm>
          <a:prstGeom prst="rect">
            <a:avLst/>
          </a:prstGeom>
          <a:noFill/>
        </p:spPr>
        <p:txBody>
          <a:bodyPr wrap="square" anchor="t" lIns="0" rIns="0" tIns="0" bIns="0">
            <a:spAutoFit/>
          </a:bodyPr>
          <a:lstStyle/>
          <a:p>
            <a:pPr algn="l">
              <a:lnSpc>
                <a:spcPct val="105000"/>
              </a:lnSpc>
            </a:pPr>
            <a:r>
              <a:rPr sz="2700" b="1" i="0">
                <a:solidFill>
                  <a:srgbClr val="1C1730"/>
                </a:solidFill>
                <a:latin typeface="Century Gothic"/>
              </a:rPr>
              <a:t>A Real secp256k1 Keypair, Generated With openssl</a:t>
            </a:r>
          </a:p>
        </p:txBody>
      </p:sp>
      <p:sp>
        <p:nvSpPr>
          <p:cNvPr id="5" name="Rounded Rectangle 4"/>
          <p:cNvSpPr/>
          <p:nvPr/>
        </p:nvSpPr>
        <p:spPr>
          <a:xfrm>
            <a:off x="822960" y="1965960"/>
            <a:ext cx="10515600" cy="3840480"/>
          </a:xfrm>
          <a:prstGeom prst="roundRect">
            <a:avLst>
              <a:gd name="adj" fmla="val 4500"/>
            </a:avLst>
          </a:prstGeom>
          <a:solidFill>
            <a:srgbClr val="1410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24128" y="2130552"/>
            <a:ext cx="109728" cy="109728"/>
          </a:xfrm>
          <a:prstGeom prst="ellipse">
            <a:avLst/>
          </a:prstGeom>
          <a:solidFill>
            <a:srgbClr val="FF6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225296" y="2130552"/>
            <a:ext cx="109728" cy="109728"/>
          </a:xfrm>
          <a:prstGeom prst="ellipse">
            <a:avLst/>
          </a:prstGeom>
          <a:solidFill>
            <a:srgbClr val="FFC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426464" y="2130552"/>
            <a:ext cx="109728" cy="109728"/>
          </a:xfrm>
          <a:prstGeom prst="ellipse">
            <a:avLst/>
          </a:prstGeom>
          <a:solidFill>
            <a:srgbClr val="28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78992" y="2350008"/>
            <a:ext cx="10003536" cy="3273552"/>
          </a:xfrm>
          <a:prstGeom prst="rect">
            <a:avLst/>
          </a:prstGeom>
          <a:noFill/>
        </p:spPr>
        <p:txBody>
          <a:bodyPr wrap="square" anchor="t" lIns="0" rIns="0" tIns="0" bIns="0">
            <a:spAutoFit/>
          </a:bodyPr>
          <a:lstStyle/>
          <a:p>
            <a:pPr algn="l">
              <a:lnSpc>
                <a:spcPct val="135000"/>
              </a:lnSpc>
            </a:pPr>
            <a:r>
              <a:rPr sz="1350" b="1">
                <a:solidFill>
                  <a:srgbClr val="9C93C9"/>
                </a:solidFill>
                <a:latin typeface="Consolas"/>
              </a:rPr>
              <a:t>$ </a:t>
            </a:r>
            <a:r>
              <a:rPr sz="1350" b="0">
                <a:solidFill>
                  <a:srgbClr val="EDE9F7"/>
                </a:solidFill>
                <a:latin typeface="Consolas"/>
              </a:rPr>
              <a:t>openssl ecparam -name secp256k1 -genkey -noout -out priv.pem</a:t>
            </a:r>
          </a:p>
          <a:p>
            <a:pPr algn="l">
              <a:lnSpc>
                <a:spcPct val="135000"/>
              </a:lnSpc>
            </a:pPr>
            <a:r>
              <a:rPr sz="1350" b="1">
                <a:solidFill>
                  <a:srgbClr val="9C93C9"/>
                </a:solidFill>
                <a:latin typeface="Consolas"/>
              </a:rPr>
              <a:t>$ </a:t>
            </a:r>
            <a:r>
              <a:rPr sz="1350" b="0">
                <a:solidFill>
                  <a:srgbClr val="EDE9F7"/>
                </a:solidFill>
                <a:latin typeface="Consolas"/>
              </a:rPr>
              <a:t>openssl ec -in priv.pem -pubout -out pub.pem</a:t>
            </a:r>
          </a:p>
          <a:p>
            <a:pPr algn="l">
              <a:lnSpc>
                <a:spcPct val="135000"/>
              </a:lnSpc>
            </a:pPr>
            <a:r>
              <a:rPr sz="1350" b="0">
                <a:solidFill>
                  <a:srgbClr val="EDE9F7"/>
                </a:solidFill>
                <a:latin typeface="Consolas"/>
              </a:rPr>
              <a:t/>
            </a:r>
          </a:p>
          <a:p>
            <a:pPr algn="l">
              <a:lnSpc>
                <a:spcPct val="135000"/>
              </a:lnSpc>
            </a:pPr>
            <a:r>
              <a:rPr sz="1350" b="0">
                <a:solidFill>
                  <a:srgbClr val="8B84AD"/>
                </a:solidFill>
                <a:latin typeface="Consolas"/>
              </a:rPr>
              <a:t># private key (excerpt):</a:t>
            </a:r>
          </a:p>
          <a:p>
            <a:pPr algn="l">
              <a:lnSpc>
                <a:spcPct val="135000"/>
              </a:lnSpc>
            </a:pPr>
            <a:r>
              <a:rPr sz="1350" b="0">
                <a:solidFill>
                  <a:srgbClr val="7FE0C4"/>
                </a:solidFill>
                <a:latin typeface="Consolas"/>
              </a:rPr>
              <a:t>MHQCAQEEIHoNT3gUJYe9tBv7ZZoRYRGGIGkvCFmX60mY...</a:t>
            </a:r>
          </a:p>
          <a:p>
            <a:pPr algn="l">
              <a:lnSpc>
                <a:spcPct val="135000"/>
              </a:lnSpc>
            </a:pPr>
            <a:r>
              <a:rPr sz="1350" b="0">
                <a:solidFill>
                  <a:srgbClr val="EDE9F7"/>
                </a:solidFill>
                <a:latin typeface="Consolas"/>
              </a:rPr>
              <a:t/>
            </a:r>
          </a:p>
          <a:p>
            <a:pPr algn="l">
              <a:lnSpc>
                <a:spcPct val="135000"/>
              </a:lnSpc>
            </a:pPr>
            <a:r>
              <a:rPr sz="1350" b="0">
                <a:solidFill>
                  <a:srgbClr val="8B84AD"/>
                </a:solidFill>
                <a:latin typeface="Consolas"/>
              </a:rPr>
              <a:t># public key, derived one-way (excerpt):</a:t>
            </a:r>
          </a:p>
          <a:p>
            <a:pPr algn="l">
              <a:lnSpc>
                <a:spcPct val="135000"/>
              </a:lnSpc>
            </a:pPr>
            <a:r>
              <a:rPr sz="1350" b="0">
                <a:solidFill>
                  <a:srgbClr val="7FE0C4"/>
                </a:solidFill>
                <a:latin typeface="Consolas"/>
              </a:rPr>
              <a:t>MFYwEAYHKoZIzj0CAQYFK4EEAAoDQgAEjO0NYj4xwIE6...</a:t>
            </a:r>
          </a:p>
        </p:txBody>
      </p:sp>
      <p:sp>
        <p:nvSpPr>
          <p:cNvPr id="10" name="TextBox 9"/>
          <p:cNvSpPr txBox="1"/>
          <p:nvPr/>
        </p:nvSpPr>
        <p:spPr>
          <a:xfrm>
            <a:off x="822960" y="6446520"/>
            <a:ext cx="10058400" cy="320040"/>
          </a:xfrm>
          <a:prstGeom prst="rect">
            <a:avLst/>
          </a:prstGeom>
          <a:noFill/>
        </p:spPr>
        <p:txBody>
          <a:bodyPr wrap="square" anchor="t" lIns="0" rIns="0" tIns="0" bIns="0">
            <a:spAutoFit/>
          </a:bodyPr>
          <a:lstStyle/>
          <a:p>
            <a:pPr algn="l">
              <a:lnSpc>
                <a:spcPct val="115000"/>
              </a:lnSpc>
            </a:pPr>
            <a:r>
              <a:rPr sz="1050" b="0" i="0">
                <a:solidFill>
                  <a:srgbClr val="5C576E"/>
                </a:solidFill>
                <a:latin typeface="Calibri"/>
              </a:rPr>
              <a:t>secp256k1 is the exact curve Ethereum and Bitcoin wallets actually use — not a simplified stand-in.</a:t>
            </a:r>
          </a:p>
        </p:txBody>
      </p:sp>
      <p:sp>
        <p:nvSpPr>
          <p:cNvPr id="11" name="TextBox 10"/>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08 / 15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67A1E"/>
                </a:solidFill>
                <a:latin typeface="Calibri"/>
              </a:rPr>
              <a:t>WORKED EXAMPLE — PART 2</a:t>
            </a:r>
          </a:p>
        </p:txBody>
      </p:sp>
      <p:sp>
        <p:nvSpPr>
          <p:cNvPr id="4" name="TextBox 3"/>
          <p:cNvSpPr txBox="1"/>
          <p:nvPr/>
        </p:nvSpPr>
        <p:spPr>
          <a:xfrm>
            <a:off x="822960" y="1051560"/>
            <a:ext cx="10332720" cy="1005840"/>
          </a:xfrm>
          <a:prstGeom prst="rect">
            <a:avLst/>
          </a:prstGeom>
          <a:noFill/>
        </p:spPr>
        <p:txBody>
          <a:bodyPr wrap="square" anchor="t" lIns="0" rIns="0" tIns="0" bIns="0">
            <a:spAutoFit/>
          </a:bodyPr>
          <a:lstStyle/>
          <a:p>
            <a:pPr algn="l">
              <a:lnSpc>
                <a:spcPct val="105000"/>
              </a:lnSpc>
            </a:pPr>
            <a:r>
              <a:rPr sz="2700" b="1" i="0">
                <a:solidFill>
                  <a:srgbClr val="1C1730"/>
                </a:solidFill>
                <a:latin typeface="Century Gothic"/>
              </a:rPr>
              <a:t>Sign A Message, Verify It, Then Tamper With It</a:t>
            </a:r>
          </a:p>
        </p:txBody>
      </p:sp>
      <p:sp>
        <p:nvSpPr>
          <p:cNvPr id="5" name="Rounded Rectangle 4"/>
          <p:cNvSpPr/>
          <p:nvPr/>
        </p:nvSpPr>
        <p:spPr>
          <a:xfrm>
            <a:off x="822960" y="1965960"/>
            <a:ext cx="10515600" cy="3840480"/>
          </a:xfrm>
          <a:prstGeom prst="roundRect">
            <a:avLst>
              <a:gd name="adj" fmla="val 4500"/>
            </a:avLst>
          </a:prstGeom>
          <a:solidFill>
            <a:srgbClr val="1410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24128" y="2130552"/>
            <a:ext cx="109728" cy="109728"/>
          </a:xfrm>
          <a:prstGeom prst="ellipse">
            <a:avLst/>
          </a:prstGeom>
          <a:solidFill>
            <a:srgbClr val="FF6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225296" y="2130552"/>
            <a:ext cx="109728" cy="109728"/>
          </a:xfrm>
          <a:prstGeom prst="ellipse">
            <a:avLst/>
          </a:prstGeom>
          <a:solidFill>
            <a:srgbClr val="FFC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426464" y="2130552"/>
            <a:ext cx="109728" cy="109728"/>
          </a:xfrm>
          <a:prstGeom prst="ellipse">
            <a:avLst/>
          </a:prstGeom>
          <a:solidFill>
            <a:srgbClr val="28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78992" y="2350008"/>
            <a:ext cx="10003536" cy="3273552"/>
          </a:xfrm>
          <a:prstGeom prst="rect">
            <a:avLst/>
          </a:prstGeom>
          <a:noFill/>
        </p:spPr>
        <p:txBody>
          <a:bodyPr wrap="square" anchor="t" lIns="0" rIns="0" tIns="0" bIns="0">
            <a:spAutoFit/>
          </a:bodyPr>
          <a:lstStyle/>
          <a:p>
            <a:pPr algn="l">
              <a:lnSpc>
                <a:spcPct val="135000"/>
              </a:lnSpc>
            </a:pPr>
            <a:r>
              <a:rPr sz="1350" b="1">
                <a:solidFill>
                  <a:srgbClr val="9C93C9"/>
                </a:solidFill>
                <a:latin typeface="Consolas"/>
              </a:rPr>
              <a:t>$ </a:t>
            </a:r>
            <a:r>
              <a:rPr sz="1350" b="0">
                <a:solidFill>
                  <a:srgbClr val="EDE9F7"/>
                </a:solidFill>
                <a:latin typeface="Consolas"/>
              </a:rPr>
              <a:t>openssl dgst -sha256 -verify pub.pem \</a:t>
            </a:r>
          </a:p>
          <a:p>
            <a:pPr algn="l">
              <a:lnSpc>
                <a:spcPct val="135000"/>
              </a:lnSpc>
            </a:pPr>
            <a:r>
              <a:rPr sz="1350" b="0">
                <a:solidFill>
                  <a:srgbClr val="EDE9F7"/>
                </a:solidFill>
                <a:latin typeface="Consolas"/>
              </a:rPr>
              <a:t>    -signature sig.bin message.txt</a:t>
            </a:r>
          </a:p>
          <a:p>
            <a:pPr algn="l">
              <a:lnSpc>
                <a:spcPct val="135000"/>
              </a:lnSpc>
            </a:pPr>
            <a:r>
              <a:rPr sz="1350" b="0">
                <a:solidFill>
                  <a:srgbClr val="7FE0C4"/>
                </a:solidFill>
                <a:latin typeface="Consolas"/>
              </a:rPr>
              <a:t>Verified OK</a:t>
            </a:r>
          </a:p>
          <a:p>
            <a:pPr algn="l">
              <a:lnSpc>
                <a:spcPct val="135000"/>
              </a:lnSpc>
            </a:pPr>
            <a:r>
              <a:rPr sz="1350" b="0">
                <a:solidFill>
                  <a:srgbClr val="EDE9F7"/>
                </a:solidFill>
                <a:latin typeface="Consolas"/>
              </a:rPr>
              <a:t/>
            </a:r>
          </a:p>
          <a:p>
            <a:pPr algn="l">
              <a:lnSpc>
                <a:spcPct val="135000"/>
              </a:lnSpc>
            </a:pPr>
            <a:r>
              <a:rPr sz="1350" b="0">
                <a:solidFill>
                  <a:srgbClr val="8B84AD"/>
                </a:solidFill>
                <a:latin typeface="Consolas"/>
              </a:rPr>
              <a:t># same signature, but the message text was changed:</a:t>
            </a:r>
          </a:p>
          <a:p>
            <a:pPr algn="l">
              <a:lnSpc>
                <a:spcPct val="135000"/>
              </a:lnSpc>
            </a:pPr>
            <a:r>
              <a:rPr sz="1350" b="1">
                <a:solidFill>
                  <a:srgbClr val="9C93C9"/>
                </a:solidFill>
                <a:latin typeface="Consolas"/>
              </a:rPr>
              <a:t>$ </a:t>
            </a:r>
            <a:r>
              <a:rPr sz="1350" b="0">
                <a:solidFill>
                  <a:srgbClr val="EDE9F7"/>
                </a:solidFill>
                <a:latin typeface="Consolas"/>
              </a:rPr>
              <a:t>openssl dgst -sha256 -verify pub.pem \</a:t>
            </a:r>
          </a:p>
          <a:p>
            <a:pPr algn="l">
              <a:lnSpc>
                <a:spcPct val="135000"/>
              </a:lnSpc>
            </a:pPr>
            <a:r>
              <a:rPr sz="1350" b="0">
                <a:solidFill>
                  <a:srgbClr val="EDE9F7"/>
                </a:solidFill>
                <a:latin typeface="Consolas"/>
              </a:rPr>
              <a:t>    -signature sig.bin tampered.txt</a:t>
            </a:r>
          </a:p>
          <a:p>
            <a:pPr algn="l">
              <a:lnSpc>
                <a:spcPct val="135000"/>
              </a:lnSpc>
            </a:pPr>
            <a:r>
              <a:rPr sz="1350" b="0">
                <a:solidFill>
                  <a:srgbClr val="FF8E7D"/>
                </a:solidFill>
                <a:latin typeface="Consolas"/>
              </a:rPr>
              <a:t>Verification failure</a:t>
            </a:r>
          </a:p>
        </p:txBody>
      </p:sp>
      <p:sp>
        <p:nvSpPr>
          <p:cNvPr id="10" name="TextBox 9"/>
          <p:cNvSpPr txBox="1"/>
          <p:nvPr/>
        </p:nvSpPr>
        <p:spPr>
          <a:xfrm>
            <a:off x="822960" y="6446520"/>
            <a:ext cx="10058400" cy="320040"/>
          </a:xfrm>
          <a:prstGeom prst="rect">
            <a:avLst/>
          </a:prstGeom>
          <a:noFill/>
        </p:spPr>
        <p:txBody>
          <a:bodyPr wrap="square" anchor="t" lIns="0" rIns="0" tIns="0" bIns="0">
            <a:spAutoFit/>
          </a:bodyPr>
          <a:lstStyle/>
          <a:p>
            <a:pPr algn="l">
              <a:lnSpc>
                <a:spcPct val="115000"/>
              </a:lnSpc>
            </a:pPr>
            <a:r>
              <a:rPr sz="1050" b="0" i="0">
                <a:solidFill>
                  <a:srgbClr val="5C576E"/>
                </a:solidFill>
                <a:latin typeface="Calibri"/>
              </a:rPr>
              <a:t>An attacker can't change "1 ETH" to "100 ETH" without invalidating the signature — and can't forge a new one.</a:t>
            </a:r>
          </a:p>
        </p:txBody>
      </p:sp>
      <p:sp>
        <p:nvSpPr>
          <p:cNvPr id="11" name="TextBox 10"/>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09 / 15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67A1E"/>
                </a:solidFill>
                <a:latin typeface="Calibri"/>
              </a:rPr>
              <a:t>REAL-WORLD USES</a:t>
            </a:r>
          </a:p>
        </p:txBody>
      </p:sp>
      <p:sp>
        <p:nvSpPr>
          <p:cNvPr id="4" name="TextBox 3"/>
          <p:cNvSpPr txBox="1"/>
          <p:nvPr/>
        </p:nvSpPr>
        <p:spPr>
          <a:xfrm>
            <a:off x="822960" y="105156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Not Just Blockchain</a:t>
            </a:r>
          </a:p>
        </p:txBody>
      </p:sp>
      <p:sp>
        <p:nvSpPr>
          <p:cNvPr id="5" name="Rounded Rectangle 4"/>
          <p:cNvSpPr/>
          <p:nvPr/>
        </p:nvSpPr>
        <p:spPr>
          <a:xfrm>
            <a:off x="822960" y="2011680"/>
            <a:ext cx="3322320" cy="1508760"/>
          </a:xfrm>
          <a:prstGeom prst="roundRect">
            <a:avLst>
              <a:gd name="adj" fmla="val 9000"/>
            </a:avLst>
          </a:prstGeom>
          <a:solidFill>
            <a:srgbClr val="FFFFFF"/>
          </a:solidFill>
          <a:ln w="12700">
            <a:solidFill>
              <a:srgbClr val="DED9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 y="2267712"/>
            <a:ext cx="2810256" cy="457200"/>
          </a:xfrm>
          <a:prstGeom prst="rect">
            <a:avLst/>
          </a:prstGeom>
          <a:noFill/>
        </p:spPr>
        <p:txBody>
          <a:bodyPr wrap="square" anchor="t" lIns="0" rIns="0" tIns="0" bIns="0">
            <a:spAutoFit/>
          </a:bodyPr>
          <a:lstStyle/>
          <a:p>
            <a:pPr algn="l">
              <a:lnSpc>
                <a:spcPct val="115000"/>
              </a:lnSpc>
            </a:pPr>
            <a:r>
              <a:rPr sz="1450" b="1" i="0">
                <a:solidFill>
                  <a:srgbClr val="C67A1E"/>
                </a:solidFill>
                <a:latin typeface="Century Gothic"/>
              </a:rPr>
              <a:t>HTTPS / TLS</a:t>
            </a:r>
          </a:p>
        </p:txBody>
      </p:sp>
      <p:sp>
        <p:nvSpPr>
          <p:cNvPr id="7" name="TextBox 6"/>
          <p:cNvSpPr txBox="1"/>
          <p:nvPr/>
        </p:nvSpPr>
        <p:spPr>
          <a:xfrm>
            <a:off x="1078992" y="2724912"/>
            <a:ext cx="2810256" cy="658368"/>
          </a:xfrm>
          <a:prstGeom prst="rect">
            <a:avLst/>
          </a:prstGeom>
          <a:noFill/>
        </p:spPr>
        <p:txBody>
          <a:bodyPr wrap="square" anchor="t" lIns="0" rIns="0" tIns="0" bIns="0">
            <a:spAutoFit/>
          </a:bodyPr>
          <a:lstStyle/>
          <a:p>
            <a:pPr algn="l">
              <a:lnSpc>
                <a:spcPct val="128000"/>
              </a:lnSpc>
            </a:pPr>
            <a:r>
              <a:rPr sz="1150" b="0" i="0">
                <a:solidFill>
                  <a:srgbClr val="1C1730"/>
                </a:solidFill>
                <a:latin typeface="Calibri"/>
              </a:rPr>
              <a:t>The padlock in your browser — a server proving it owns its certificate's private key.</a:t>
            </a:r>
          </a:p>
        </p:txBody>
      </p:sp>
      <p:sp>
        <p:nvSpPr>
          <p:cNvPr id="8" name="Rounded Rectangle 7"/>
          <p:cNvSpPr/>
          <p:nvPr/>
        </p:nvSpPr>
        <p:spPr>
          <a:xfrm>
            <a:off x="4419600" y="2011680"/>
            <a:ext cx="3322320" cy="1508760"/>
          </a:xfrm>
          <a:prstGeom prst="roundRect">
            <a:avLst>
              <a:gd name="adj" fmla="val 9000"/>
            </a:avLst>
          </a:prstGeom>
          <a:solidFill>
            <a:srgbClr val="FFFFFF"/>
          </a:solidFill>
          <a:ln w="12700">
            <a:solidFill>
              <a:srgbClr val="DED9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75632" y="2267712"/>
            <a:ext cx="2810256" cy="457200"/>
          </a:xfrm>
          <a:prstGeom prst="rect">
            <a:avLst/>
          </a:prstGeom>
          <a:noFill/>
        </p:spPr>
        <p:txBody>
          <a:bodyPr wrap="square" anchor="t" lIns="0" rIns="0" tIns="0" bIns="0">
            <a:spAutoFit/>
          </a:bodyPr>
          <a:lstStyle/>
          <a:p>
            <a:pPr algn="l">
              <a:lnSpc>
                <a:spcPct val="115000"/>
              </a:lnSpc>
            </a:pPr>
            <a:r>
              <a:rPr sz="1450" b="1" i="0">
                <a:solidFill>
                  <a:srgbClr val="C67A1E"/>
                </a:solidFill>
                <a:latin typeface="Century Gothic"/>
              </a:rPr>
              <a:t>SSH Keys</a:t>
            </a:r>
          </a:p>
        </p:txBody>
      </p:sp>
      <p:sp>
        <p:nvSpPr>
          <p:cNvPr id="10" name="TextBox 9"/>
          <p:cNvSpPr txBox="1"/>
          <p:nvPr/>
        </p:nvSpPr>
        <p:spPr>
          <a:xfrm>
            <a:off x="4675632" y="2724912"/>
            <a:ext cx="2810256" cy="658368"/>
          </a:xfrm>
          <a:prstGeom prst="rect">
            <a:avLst/>
          </a:prstGeom>
          <a:noFill/>
        </p:spPr>
        <p:txBody>
          <a:bodyPr wrap="square" anchor="t" lIns="0" rIns="0" tIns="0" bIns="0">
            <a:spAutoFit/>
          </a:bodyPr>
          <a:lstStyle/>
          <a:p>
            <a:pPr algn="l">
              <a:lnSpc>
                <a:spcPct val="128000"/>
              </a:lnSpc>
            </a:pPr>
            <a:r>
              <a:rPr sz="1150" b="0" i="0">
                <a:solidFill>
                  <a:srgbClr val="1C1730"/>
                </a:solidFill>
                <a:latin typeface="Calibri"/>
              </a:rPr>
              <a:t>Logging into GitHub or a server without a password, using this exact mechanism.</a:t>
            </a:r>
          </a:p>
        </p:txBody>
      </p:sp>
      <p:sp>
        <p:nvSpPr>
          <p:cNvPr id="11" name="Rounded Rectangle 10"/>
          <p:cNvSpPr/>
          <p:nvPr/>
        </p:nvSpPr>
        <p:spPr>
          <a:xfrm>
            <a:off x="8016240" y="2011680"/>
            <a:ext cx="3322320" cy="1508760"/>
          </a:xfrm>
          <a:prstGeom prst="roundRect">
            <a:avLst>
              <a:gd name="adj" fmla="val 9000"/>
            </a:avLst>
          </a:prstGeom>
          <a:solidFill>
            <a:srgbClr val="FFFFFF"/>
          </a:solidFill>
          <a:ln w="12700">
            <a:solidFill>
              <a:srgbClr val="DED9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2272" y="2267712"/>
            <a:ext cx="2810256" cy="457200"/>
          </a:xfrm>
          <a:prstGeom prst="rect">
            <a:avLst/>
          </a:prstGeom>
          <a:noFill/>
        </p:spPr>
        <p:txBody>
          <a:bodyPr wrap="square" anchor="t" lIns="0" rIns="0" tIns="0" bIns="0">
            <a:spAutoFit/>
          </a:bodyPr>
          <a:lstStyle/>
          <a:p>
            <a:pPr algn="l">
              <a:lnSpc>
                <a:spcPct val="115000"/>
              </a:lnSpc>
            </a:pPr>
            <a:r>
              <a:rPr sz="1450" b="1" i="0">
                <a:solidFill>
                  <a:srgbClr val="C67A1E"/>
                </a:solidFill>
                <a:latin typeface="Century Gothic"/>
              </a:rPr>
              <a:t>Code Signing</a:t>
            </a:r>
          </a:p>
        </p:txBody>
      </p:sp>
      <p:sp>
        <p:nvSpPr>
          <p:cNvPr id="13" name="TextBox 12"/>
          <p:cNvSpPr txBox="1"/>
          <p:nvPr/>
        </p:nvSpPr>
        <p:spPr>
          <a:xfrm>
            <a:off x="8272272" y="2724912"/>
            <a:ext cx="2810256" cy="658368"/>
          </a:xfrm>
          <a:prstGeom prst="rect">
            <a:avLst/>
          </a:prstGeom>
          <a:noFill/>
        </p:spPr>
        <p:txBody>
          <a:bodyPr wrap="square" anchor="t" lIns="0" rIns="0" tIns="0" bIns="0">
            <a:spAutoFit/>
          </a:bodyPr>
          <a:lstStyle/>
          <a:p>
            <a:pPr algn="l">
              <a:lnSpc>
                <a:spcPct val="128000"/>
              </a:lnSpc>
            </a:pPr>
            <a:r>
              <a:rPr sz="1150" b="0" i="0">
                <a:solidFill>
                  <a:srgbClr val="1C1730"/>
                </a:solidFill>
                <a:latin typeface="Calibri"/>
              </a:rPr>
              <a:t>Your OS verifies an update genuinely came from Apple or Google, not an attacker.</a:t>
            </a:r>
          </a:p>
        </p:txBody>
      </p:sp>
      <p:sp>
        <p:nvSpPr>
          <p:cNvPr id="14" name="Rounded Rectangle 13"/>
          <p:cNvSpPr/>
          <p:nvPr/>
        </p:nvSpPr>
        <p:spPr>
          <a:xfrm>
            <a:off x="822960" y="3749040"/>
            <a:ext cx="3322320" cy="1508760"/>
          </a:xfrm>
          <a:prstGeom prst="roundRect">
            <a:avLst>
              <a:gd name="adj" fmla="val 9000"/>
            </a:avLst>
          </a:prstGeom>
          <a:solidFill>
            <a:srgbClr val="FFFFFF"/>
          </a:solidFill>
          <a:ln w="12700">
            <a:solidFill>
              <a:srgbClr val="DED9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78992" y="4005072"/>
            <a:ext cx="2810256" cy="457200"/>
          </a:xfrm>
          <a:prstGeom prst="rect">
            <a:avLst/>
          </a:prstGeom>
          <a:noFill/>
        </p:spPr>
        <p:txBody>
          <a:bodyPr wrap="square" anchor="t" lIns="0" rIns="0" tIns="0" bIns="0">
            <a:spAutoFit/>
          </a:bodyPr>
          <a:lstStyle/>
          <a:p>
            <a:pPr algn="l">
              <a:lnSpc>
                <a:spcPct val="115000"/>
              </a:lnSpc>
            </a:pPr>
            <a:r>
              <a:rPr sz="1450" b="1" i="0">
                <a:solidFill>
                  <a:srgbClr val="C67A1E"/>
                </a:solidFill>
                <a:latin typeface="Century Gothic"/>
              </a:rPr>
              <a:t>Signed Git Commits</a:t>
            </a:r>
          </a:p>
        </p:txBody>
      </p:sp>
      <p:sp>
        <p:nvSpPr>
          <p:cNvPr id="16" name="TextBox 15"/>
          <p:cNvSpPr txBox="1"/>
          <p:nvPr/>
        </p:nvSpPr>
        <p:spPr>
          <a:xfrm>
            <a:off x="1078992" y="4462272"/>
            <a:ext cx="2810256" cy="658368"/>
          </a:xfrm>
          <a:prstGeom prst="rect">
            <a:avLst/>
          </a:prstGeom>
          <a:noFill/>
        </p:spPr>
        <p:txBody>
          <a:bodyPr wrap="square" anchor="t" lIns="0" rIns="0" tIns="0" bIns="0">
            <a:spAutoFit/>
          </a:bodyPr>
          <a:lstStyle/>
          <a:p>
            <a:pPr algn="l">
              <a:lnSpc>
                <a:spcPct val="128000"/>
              </a:lnSpc>
            </a:pPr>
            <a:r>
              <a:rPr sz="1150" b="0" i="0">
                <a:solidFill>
                  <a:srgbClr val="1C1730"/>
                </a:solidFill>
                <a:latin typeface="Calibri"/>
              </a:rPr>
              <a:t>git commit -S — proving a commit really came from you.</a:t>
            </a:r>
          </a:p>
        </p:txBody>
      </p:sp>
      <p:sp>
        <p:nvSpPr>
          <p:cNvPr id="17" name="Rounded Rectangle 16"/>
          <p:cNvSpPr/>
          <p:nvPr/>
        </p:nvSpPr>
        <p:spPr>
          <a:xfrm>
            <a:off x="4419600" y="3749040"/>
            <a:ext cx="3322320" cy="1508760"/>
          </a:xfrm>
          <a:prstGeom prst="roundRect">
            <a:avLst>
              <a:gd name="adj" fmla="val 9000"/>
            </a:avLst>
          </a:prstGeom>
          <a:solidFill>
            <a:srgbClr val="FFFFFF"/>
          </a:solidFill>
          <a:ln w="12700">
            <a:solidFill>
              <a:srgbClr val="DED9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75632" y="4005072"/>
            <a:ext cx="2810256" cy="457200"/>
          </a:xfrm>
          <a:prstGeom prst="rect">
            <a:avLst/>
          </a:prstGeom>
          <a:noFill/>
        </p:spPr>
        <p:txBody>
          <a:bodyPr wrap="square" anchor="t" lIns="0" rIns="0" tIns="0" bIns="0">
            <a:spAutoFit/>
          </a:bodyPr>
          <a:lstStyle/>
          <a:p>
            <a:pPr algn="l">
              <a:lnSpc>
                <a:spcPct val="115000"/>
              </a:lnSpc>
            </a:pPr>
            <a:r>
              <a:rPr sz="1450" b="1" i="0">
                <a:solidFill>
                  <a:srgbClr val="C67A1E"/>
                </a:solidFill>
                <a:latin typeface="Century Gothic"/>
              </a:rPr>
              <a:t>PGP Email</a:t>
            </a:r>
          </a:p>
        </p:txBody>
      </p:sp>
      <p:sp>
        <p:nvSpPr>
          <p:cNvPr id="19" name="TextBox 18"/>
          <p:cNvSpPr txBox="1"/>
          <p:nvPr/>
        </p:nvSpPr>
        <p:spPr>
          <a:xfrm>
            <a:off x="4675632" y="4462272"/>
            <a:ext cx="2810256" cy="658368"/>
          </a:xfrm>
          <a:prstGeom prst="rect">
            <a:avLst/>
          </a:prstGeom>
          <a:noFill/>
        </p:spPr>
        <p:txBody>
          <a:bodyPr wrap="square" anchor="t" lIns="0" rIns="0" tIns="0" bIns="0">
            <a:spAutoFit/>
          </a:bodyPr>
          <a:lstStyle/>
          <a:p>
            <a:pPr algn="l">
              <a:lnSpc>
                <a:spcPct val="128000"/>
              </a:lnSpc>
            </a:pPr>
            <a:r>
              <a:rPr sz="1150" b="0" i="0">
                <a:solidFill>
                  <a:srgbClr val="1C1730"/>
                </a:solidFill>
                <a:latin typeface="Calibri"/>
              </a:rPr>
              <a:t>Encrypting a message so only the intended recipient's private key can read it.</a:t>
            </a:r>
          </a:p>
        </p:txBody>
      </p:sp>
      <p:sp>
        <p:nvSpPr>
          <p:cNvPr id="20" name="TextBox 19"/>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10 / 15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67A1E"/>
                </a:solidFill>
                <a:latin typeface="Calibri"/>
              </a:rPr>
              <a:t>FLAGSHIP CASE STUDY</a:t>
            </a:r>
          </a:p>
        </p:txBody>
      </p:sp>
      <p:sp>
        <p:nvSpPr>
          <p:cNvPr id="4" name="TextBox 3"/>
          <p:cNvSpPr txBox="1"/>
          <p:nvPr/>
        </p:nvSpPr>
        <p:spPr>
          <a:xfrm>
            <a:off x="822960" y="1097280"/>
            <a:ext cx="10332720" cy="1005840"/>
          </a:xfrm>
          <a:prstGeom prst="rect">
            <a:avLst/>
          </a:prstGeom>
          <a:noFill/>
        </p:spPr>
        <p:txBody>
          <a:bodyPr wrap="square" anchor="t" lIns="0" rIns="0" tIns="0" bIns="0">
            <a:spAutoFit/>
          </a:bodyPr>
          <a:lstStyle/>
          <a:p>
            <a:pPr algn="l">
              <a:lnSpc>
                <a:spcPct val="105000"/>
              </a:lnSpc>
            </a:pPr>
            <a:r>
              <a:rPr sz="3000" b="1" i="0">
                <a:solidFill>
                  <a:srgbClr val="1C1730"/>
                </a:solidFill>
                <a:latin typeface="Century Gothic"/>
              </a:rPr>
              <a:t>Encryption vs. Signing — A Distinction Worth Getting Right</a:t>
            </a:r>
          </a:p>
        </p:txBody>
      </p:sp>
      <p:sp>
        <p:nvSpPr>
          <p:cNvPr id="5" name="Rounded Rectangle 4"/>
          <p:cNvSpPr/>
          <p:nvPr/>
        </p:nvSpPr>
        <p:spPr>
          <a:xfrm>
            <a:off x="822960" y="2423160"/>
            <a:ext cx="10515600" cy="3749039"/>
          </a:xfrm>
          <a:prstGeom prst="roundRect">
            <a:avLst>
              <a:gd name="adj" fmla="val 4000"/>
            </a:avLst>
          </a:prstGeom>
          <a:solidFill>
            <a:srgbClr val="C6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743200"/>
            <a:ext cx="9601200" cy="3200400"/>
          </a:xfrm>
          <a:prstGeom prst="rect">
            <a:avLst/>
          </a:prstGeom>
          <a:noFill/>
        </p:spPr>
        <p:txBody>
          <a:bodyPr wrap="square" anchor="t" lIns="0" rIns="0" tIns="0" bIns="0">
            <a:spAutoFit/>
          </a:bodyPr>
          <a:lstStyle/>
          <a:p>
            <a:pPr algn="l">
              <a:lnSpc>
                <a:spcPct val="155000"/>
              </a:lnSpc>
            </a:pPr>
            <a:r>
              <a:rPr sz="1600" b="0" i="0">
                <a:solidFill>
                  <a:srgbClr val="FFFFFF"/>
                </a:solidFill>
                <a:latin typeface="Calibri"/>
              </a:rPr>
              <a:t>Two different jobs: encryption (public key locks, private key unlocks — for confidentiality) vs. signing (private key signs, public key verifies — for authenticity). Blockchain wallets use almost entirely signing. Your transaction is never secret — “send 0.1 ETH to X” is fully readable on a block explorer. What's proven is WHO authorized it, not WHAT it says.</a:t>
            </a:r>
          </a:p>
        </p:txBody>
      </p:sp>
      <p:sp>
        <p:nvSpPr>
          <p:cNvPr id="7" name="TextBox 6"/>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11 / 15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67A1E"/>
                </a:solidFill>
                <a:latin typeface="Calibri"/>
              </a:rPr>
              <a:t>REAL-LIFE ANALOGY</a:t>
            </a:r>
          </a:p>
        </p:txBody>
      </p:sp>
      <p:sp>
        <p:nvSpPr>
          <p:cNvPr id="4" name="TextBox 3"/>
          <p:cNvSpPr txBox="1"/>
          <p:nvPr/>
        </p:nvSpPr>
        <p:spPr>
          <a:xfrm>
            <a:off x="822960" y="1097280"/>
            <a:ext cx="10332720" cy="1005840"/>
          </a:xfrm>
          <a:prstGeom prst="rect">
            <a:avLst/>
          </a:prstGeom>
          <a:noFill/>
        </p:spPr>
        <p:txBody>
          <a:bodyPr wrap="square" anchor="t" lIns="0" rIns="0" tIns="0" bIns="0">
            <a:spAutoFit/>
          </a:bodyPr>
          <a:lstStyle/>
          <a:p>
            <a:pPr algn="l">
              <a:lnSpc>
                <a:spcPct val="105000"/>
              </a:lnSpc>
            </a:pPr>
            <a:r>
              <a:rPr sz="3000" b="1" i="0">
                <a:solidFill>
                  <a:srgbClr val="1C1730"/>
                </a:solidFill>
                <a:latin typeface="Century Gothic"/>
              </a:rPr>
              <a:t>A Signet Ring And A Reference Card</a:t>
            </a:r>
          </a:p>
        </p:txBody>
      </p:sp>
      <p:sp>
        <p:nvSpPr>
          <p:cNvPr id="5" name="Rectangle 4"/>
          <p:cNvSpPr/>
          <p:nvPr/>
        </p:nvSpPr>
        <p:spPr>
          <a:xfrm>
            <a:off x="822960" y="2286000"/>
            <a:ext cx="91440" cy="3657600"/>
          </a:xfrm>
          <a:prstGeom prst="rect">
            <a:avLst/>
          </a:prstGeom>
          <a:solidFill>
            <a:srgbClr val="C6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377440"/>
            <a:ext cx="9784080" cy="3566160"/>
          </a:xfrm>
          <a:prstGeom prst="rect">
            <a:avLst/>
          </a:prstGeom>
          <a:noFill/>
        </p:spPr>
        <p:txBody>
          <a:bodyPr wrap="square" anchor="t" lIns="0" rIns="0" tIns="0" bIns="0">
            <a:spAutoFit/>
          </a:bodyPr>
          <a:lstStyle/>
          <a:p>
            <a:pPr algn="l">
              <a:lnSpc>
                <a:spcPct val="160000"/>
              </a:lnSpc>
            </a:pPr>
            <a:r>
              <a:rPr sz="1800" b="0" i="0">
                <a:solidFill>
                  <a:srgbClr val="1C1730"/>
                </a:solidFill>
                <a:latin typeface="Calibri"/>
              </a:rPr>
              <a:t>Your private key is a unique, impossible-to-forge signature stamp — a wax-seal signet ring only you own. Your public key is a reference card everyone holds, showing exactly what your genuine seal impression looks like. Anyone can compare a seal against the card; nobody can forge the ring's impression from the card alone.</a:t>
            </a:r>
          </a:p>
        </p:txBody>
      </p:sp>
      <p:sp>
        <p:nvSpPr>
          <p:cNvPr id="7" name="TextBox 6"/>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12 / 15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67A1E"/>
                </a:solidFill>
                <a:latin typeface="Calibri"/>
              </a:rPr>
              <a:t>COMMON MISCONCEPTIONS</a:t>
            </a:r>
          </a:p>
        </p:txBody>
      </p:sp>
      <p:sp>
        <p:nvSpPr>
          <p:cNvPr id="4" name="TextBox 3"/>
          <p:cNvSpPr txBox="1"/>
          <p:nvPr/>
        </p:nvSpPr>
        <p:spPr>
          <a:xfrm>
            <a:off x="822960" y="1051560"/>
            <a:ext cx="9601200" cy="1005840"/>
          </a:xfrm>
          <a:prstGeom prst="rect">
            <a:avLst/>
          </a:prstGeom>
          <a:noFill/>
        </p:spPr>
        <p:txBody>
          <a:bodyPr wrap="square" anchor="t" lIns="0" rIns="0" tIns="0" bIns="0">
            <a:spAutoFit/>
          </a:bodyPr>
          <a:lstStyle/>
          <a:p>
            <a:pPr algn="l">
              <a:lnSpc>
                <a:spcPct val="105000"/>
              </a:lnSpc>
            </a:pPr>
            <a:r>
              <a:rPr sz="3000" b="1" i="0">
                <a:solidFill>
                  <a:srgbClr val="1C1730"/>
                </a:solidFill>
                <a:latin typeface="Century Gothic"/>
              </a:rPr>
              <a:t>Where People Get Tripped Up</a:t>
            </a:r>
          </a:p>
        </p:txBody>
      </p:sp>
      <p:sp>
        <p:nvSpPr>
          <p:cNvPr id="5" name="Rounded Rectangle 4"/>
          <p:cNvSpPr/>
          <p:nvPr/>
        </p:nvSpPr>
        <p:spPr>
          <a:xfrm>
            <a:off x="822960" y="2057400"/>
            <a:ext cx="10515600" cy="1874519"/>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2057400"/>
            <a:ext cx="82296" cy="1874519"/>
          </a:xfrm>
          <a:prstGeom prst="rect">
            <a:avLst/>
          </a:prstGeom>
          <a:solidFill>
            <a:srgbClr val="C6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2258568"/>
            <a:ext cx="9784080" cy="457200"/>
          </a:xfrm>
          <a:prstGeom prst="rect">
            <a:avLst/>
          </a:prstGeom>
          <a:noFill/>
        </p:spPr>
        <p:txBody>
          <a:bodyPr wrap="square" anchor="t" lIns="0" rIns="0" tIns="0" bIns="0">
            <a:spAutoFit/>
          </a:bodyPr>
          <a:lstStyle/>
          <a:p>
            <a:pPr algn="l">
              <a:lnSpc>
                <a:spcPct val="115000"/>
              </a:lnSpc>
            </a:pPr>
            <a:r>
              <a:rPr sz="1700" b="1" i="0">
                <a:solidFill>
                  <a:srgbClr val="C67A1E"/>
                </a:solidFill>
                <a:latin typeface="Century Gothic"/>
              </a:rPr>
              <a:t>“My wallet address IS my public key.”</a:t>
            </a:r>
          </a:p>
        </p:txBody>
      </p:sp>
      <p:sp>
        <p:nvSpPr>
          <p:cNvPr id="8" name="TextBox 7"/>
          <p:cNvSpPr txBox="1"/>
          <p:nvPr/>
        </p:nvSpPr>
        <p:spPr>
          <a:xfrm>
            <a:off x="1188720" y="2743200"/>
            <a:ext cx="9784080" cy="1097280"/>
          </a:xfrm>
          <a:prstGeom prst="rect">
            <a:avLst/>
          </a:prstGeom>
          <a:noFill/>
        </p:spPr>
        <p:txBody>
          <a:bodyPr wrap="square" anchor="t" lIns="0" rIns="0" tIns="0" bIns="0">
            <a:spAutoFit/>
          </a:bodyPr>
          <a:lstStyle/>
          <a:p>
            <a:pPr algn="l">
              <a:lnSpc>
                <a:spcPct val="135000"/>
              </a:lnSpc>
            </a:pPr>
            <a:r>
              <a:rPr sz="1300" b="0" i="0">
                <a:solidFill>
                  <a:srgbClr val="5C576E"/>
                </a:solidFill>
                <a:latin typeface="Calibri"/>
              </a:rPr>
              <a:t>Not quite — your address is a hash of your public key. The full chain is public key → hash → address, one more one-way step layered on top.</a:t>
            </a:r>
          </a:p>
        </p:txBody>
      </p:sp>
      <p:sp>
        <p:nvSpPr>
          <p:cNvPr id="9" name="Rounded Rectangle 8"/>
          <p:cNvSpPr/>
          <p:nvPr/>
        </p:nvSpPr>
        <p:spPr>
          <a:xfrm>
            <a:off x="822960" y="4160520"/>
            <a:ext cx="10515600" cy="1874519"/>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4160520"/>
            <a:ext cx="82296" cy="1874519"/>
          </a:xfrm>
          <a:prstGeom prst="rect">
            <a:avLst/>
          </a:prstGeom>
          <a:solidFill>
            <a:srgbClr val="C6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4361688"/>
            <a:ext cx="9784080" cy="457200"/>
          </a:xfrm>
          <a:prstGeom prst="rect">
            <a:avLst/>
          </a:prstGeom>
          <a:noFill/>
        </p:spPr>
        <p:txBody>
          <a:bodyPr wrap="square" anchor="t" lIns="0" rIns="0" tIns="0" bIns="0">
            <a:spAutoFit/>
          </a:bodyPr>
          <a:lstStyle/>
          <a:p>
            <a:pPr algn="l">
              <a:lnSpc>
                <a:spcPct val="115000"/>
              </a:lnSpc>
            </a:pPr>
            <a:r>
              <a:rPr sz="1700" b="1" i="0">
                <a:solidFill>
                  <a:srgbClr val="C67A1E"/>
                </a:solidFill>
                <a:latin typeface="Century Gothic"/>
              </a:rPr>
              <a:t>“If I lose my private key, I can reset it like a password.”</a:t>
            </a:r>
          </a:p>
        </p:txBody>
      </p:sp>
      <p:sp>
        <p:nvSpPr>
          <p:cNvPr id="12" name="TextBox 11"/>
          <p:cNvSpPr txBox="1"/>
          <p:nvPr/>
        </p:nvSpPr>
        <p:spPr>
          <a:xfrm>
            <a:off x="1188720" y="4846320"/>
            <a:ext cx="9784080" cy="1097280"/>
          </a:xfrm>
          <a:prstGeom prst="rect">
            <a:avLst/>
          </a:prstGeom>
          <a:noFill/>
        </p:spPr>
        <p:txBody>
          <a:bodyPr wrap="square" anchor="t" lIns="0" rIns="0" tIns="0" bIns="0">
            <a:spAutoFit/>
          </a:bodyPr>
          <a:lstStyle/>
          <a:p>
            <a:pPr algn="l">
              <a:lnSpc>
                <a:spcPct val="135000"/>
              </a:lnSpc>
            </a:pPr>
            <a:r>
              <a:rPr sz="1300" b="0" i="0">
                <a:solidFill>
                  <a:srgbClr val="5C576E"/>
                </a:solidFill>
                <a:latin typeface="Calibri"/>
              </a:rPr>
              <a:t>There is no reset. No recovery mechanism is built into the protocol — only a backup phrase, if you saved one in advance.</a:t>
            </a:r>
          </a:p>
        </p:txBody>
      </p:sp>
      <p:sp>
        <p:nvSpPr>
          <p:cNvPr id="13" name="TextBox 12"/>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13 / 15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67A1E"/>
                </a:solidFill>
                <a:latin typeface="Calibri"/>
              </a:rPr>
              <a:t>HANDS-ON PRACTICE</a:t>
            </a:r>
          </a:p>
        </p:txBody>
      </p:sp>
      <p:sp>
        <p:nvSpPr>
          <p:cNvPr id="4" name="TextBox 3"/>
          <p:cNvSpPr txBox="1"/>
          <p:nvPr/>
        </p:nvSpPr>
        <p:spPr>
          <a:xfrm>
            <a:off x="822960" y="105156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Do This Now</a:t>
            </a:r>
          </a:p>
        </p:txBody>
      </p:sp>
      <p:sp>
        <p:nvSpPr>
          <p:cNvPr id="5" name="Oval 4"/>
          <p:cNvSpPr/>
          <p:nvPr/>
        </p:nvSpPr>
        <p:spPr>
          <a:xfrm>
            <a:off x="822960" y="2148840"/>
            <a:ext cx="502920" cy="502920"/>
          </a:xfrm>
          <a:prstGeom prst="ellipse">
            <a:avLst/>
          </a:prstGeom>
          <a:solidFill>
            <a:srgbClr val="C67A1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Century Gothic"/>
              </a:rPr>
              <a:t>1</a:t>
            </a:r>
          </a:p>
        </p:txBody>
      </p:sp>
      <p:sp>
        <p:nvSpPr>
          <p:cNvPr id="6" name="TextBox 5"/>
          <p:cNvSpPr txBox="1"/>
          <p:nvPr/>
        </p:nvSpPr>
        <p:spPr>
          <a:xfrm>
            <a:off x="1600200" y="2203704"/>
            <a:ext cx="9509760" cy="822960"/>
          </a:xfrm>
          <a:prstGeom prst="rect">
            <a:avLst/>
          </a:prstGeom>
          <a:noFill/>
        </p:spPr>
        <p:txBody>
          <a:bodyPr wrap="square" anchor="t" lIns="0" rIns="0" tIns="0" bIns="0">
            <a:spAutoFit/>
          </a:bodyPr>
          <a:lstStyle/>
          <a:p>
            <a:pPr algn="l">
              <a:lnSpc>
                <a:spcPct val="130000"/>
              </a:lnSpc>
            </a:pPr>
            <a:r>
              <a:rPr sz="1500" b="0" i="0">
                <a:solidFill>
                  <a:srgbClr val="1C1730"/>
                </a:solidFill>
                <a:latin typeface="Calibri"/>
              </a:rPr>
              <a:t>Generate a real keypair with openssl and sign a message of your own choosing.</a:t>
            </a:r>
          </a:p>
        </p:txBody>
      </p:sp>
      <p:sp>
        <p:nvSpPr>
          <p:cNvPr id="7" name="Oval 6"/>
          <p:cNvSpPr/>
          <p:nvPr/>
        </p:nvSpPr>
        <p:spPr>
          <a:xfrm>
            <a:off x="822960" y="3108960"/>
            <a:ext cx="502920" cy="502920"/>
          </a:xfrm>
          <a:prstGeom prst="ellipse">
            <a:avLst/>
          </a:prstGeom>
          <a:solidFill>
            <a:srgbClr val="C67A1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Century Gothic"/>
              </a:rPr>
              <a:t>2</a:t>
            </a:r>
          </a:p>
        </p:txBody>
      </p:sp>
      <p:sp>
        <p:nvSpPr>
          <p:cNvPr id="8" name="TextBox 7"/>
          <p:cNvSpPr txBox="1"/>
          <p:nvPr/>
        </p:nvSpPr>
        <p:spPr>
          <a:xfrm>
            <a:off x="1600200" y="3163824"/>
            <a:ext cx="9509760" cy="822960"/>
          </a:xfrm>
          <a:prstGeom prst="rect">
            <a:avLst/>
          </a:prstGeom>
          <a:noFill/>
        </p:spPr>
        <p:txBody>
          <a:bodyPr wrap="square" anchor="t" lIns="0" rIns="0" tIns="0" bIns="0">
            <a:spAutoFit/>
          </a:bodyPr>
          <a:lstStyle/>
          <a:p>
            <a:pPr algn="l">
              <a:lnSpc>
                <a:spcPct val="130000"/>
              </a:lnSpc>
            </a:pPr>
            <a:r>
              <a:rPr sz="1500" b="0" i="0">
                <a:solidFill>
                  <a:srgbClr val="1C1730"/>
                </a:solidFill>
                <a:latin typeface="Calibri"/>
              </a:rPr>
              <a:t>Verify the signature succeeds — then tamper with the message and confirm verification fails.</a:t>
            </a:r>
          </a:p>
        </p:txBody>
      </p:sp>
      <p:sp>
        <p:nvSpPr>
          <p:cNvPr id="9" name="Oval 8"/>
          <p:cNvSpPr/>
          <p:nvPr/>
        </p:nvSpPr>
        <p:spPr>
          <a:xfrm>
            <a:off x="822960" y="4069080"/>
            <a:ext cx="502920" cy="502920"/>
          </a:xfrm>
          <a:prstGeom prst="ellipse">
            <a:avLst/>
          </a:prstGeom>
          <a:solidFill>
            <a:srgbClr val="C67A1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Century Gothic"/>
              </a:rPr>
              <a:t>3</a:t>
            </a:r>
          </a:p>
        </p:txBody>
      </p:sp>
      <p:sp>
        <p:nvSpPr>
          <p:cNvPr id="10" name="TextBox 9"/>
          <p:cNvSpPr txBox="1"/>
          <p:nvPr/>
        </p:nvSpPr>
        <p:spPr>
          <a:xfrm>
            <a:off x="1600200" y="4123944"/>
            <a:ext cx="9509760" cy="822960"/>
          </a:xfrm>
          <a:prstGeom prst="rect">
            <a:avLst/>
          </a:prstGeom>
          <a:noFill/>
        </p:spPr>
        <p:txBody>
          <a:bodyPr wrap="square" anchor="t" lIns="0" rIns="0" tIns="0" bIns="0">
            <a:spAutoFit/>
          </a:bodyPr>
          <a:lstStyle/>
          <a:p>
            <a:pPr algn="l">
              <a:lnSpc>
                <a:spcPct val="130000"/>
              </a:lnSpc>
            </a:pPr>
            <a:r>
              <a:rPr sz="1500" b="0" i="0">
                <a:solidFill>
                  <a:srgbClr val="1C1730"/>
                </a:solidFill>
                <a:latin typeface="Calibri"/>
              </a:rPr>
              <a:t>Repeat the same experiment on the Anders Brownworth public/private key demo.</a:t>
            </a:r>
          </a:p>
        </p:txBody>
      </p:sp>
      <p:sp>
        <p:nvSpPr>
          <p:cNvPr id="11" name="Oval 10"/>
          <p:cNvSpPr/>
          <p:nvPr/>
        </p:nvSpPr>
        <p:spPr>
          <a:xfrm>
            <a:off x="822960" y="5029200"/>
            <a:ext cx="502920" cy="502920"/>
          </a:xfrm>
          <a:prstGeom prst="ellipse">
            <a:avLst/>
          </a:prstGeom>
          <a:solidFill>
            <a:srgbClr val="C67A1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Century Gothic"/>
              </a:rPr>
              <a:t>4</a:t>
            </a:r>
          </a:p>
        </p:txBody>
      </p:sp>
      <p:sp>
        <p:nvSpPr>
          <p:cNvPr id="12" name="TextBox 11"/>
          <p:cNvSpPr txBox="1"/>
          <p:nvPr/>
        </p:nvSpPr>
        <p:spPr>
          <a:xfrm>
            <a:off x="1600200" y="5084064"/>
            <a:ext cx="9509760" cy="822960"/>
          </a:xfrm>
          <a:prstGeom prst="rect">
            <a:avLst/>
          </a:prstGeom>
          <a:noFill/>
        </p:spPr>
        <p:txBody>
          <a:bodyPr wrap="square" anchor="t" lIns="0" rIns="0" tIns="0" bIns="0">
            <a:spAutoFit/>
          </a:bodyPr>
          <a:lstStyle/>
          <a:p>
            <a:pPr algn="l">
              <a:lnSpc>
                <a:spcPct val="130000"/>
              </a:lnSpc>
            </a:pPr>
            <a:r>
              <a:rPr sz="1500" b="0" i="0">
                <a:solidFill>
                  <a:srgbClr val="1C1730"/>
                </a:solidFill>
                <a:latin typeface="Calibri"/>
              </a:rPr>
              <a:t>Open MetaMask and notice: every "Confirm" click is your private key signing, invisibly, behind the scenes.</a:t>
            </a:r>
          </a:p>
        </p:txBody>
      </p:sp>
      <p:sp>
        <p:nvSpPr>
          <p:cNvPr id="13" name="TextBox 12"/>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14 / 15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FFC53D"/>
                </a:solidFill>
                <a:latin typeface="Calibri"/>
              </a:rPr>
              <a:t>TAKE-HOME ASSIGNMENT</a:t>
            </a:r>
          </a:p>
        </p:txBody>
      </p:sp>
      <p:sp>
        <p:nvSpPr>
          <p:cNvPr id="4" name="TextBox 3"/>
          <p:cNvSpPr txBox="1"/>
          <p:nvPr/>
        </p:nvSpPr>
        <p:spPr>
          <a:xfrm>
            <a:off x="822960" y="1051560"/>
            <a:ext cx="9601200" cy="1005840"/>
          </a:xfrm>
          <a:prstGeom prst="rect">
            <a:avLst/>
          </a:prstGeom>
          <a:noFill/>
        </p:spPr>
        <p:txBody>
          <a:bodyPr wrap="square" anchor="t" lIns="0" rIns="0" tIns="0" bIns="0">
            <a:spAutoFit/>
          </a:bodyPr>
          <a:lstStyle/>
          <a:p>
            <a:pPr algn="l">
              <a:lnSpc>
                <a:spcPct val="105000"/>
              </a:lnSpc>
            </a:pPr>
            <a:r>
              <a:rPr sz="3200" b="1" i="0">
                <a:solidFill>
                  <a:srgbClr val="FFFFFF"/>
                </a:solidFill>
                <a:latin typeface="Century Gothic"/>
              </a:rPr>
              <a:t>Before You Move On</a:t>
            </a:r>
          </a:p>
        </p:txBody>
      </p:sp>
      <p:sp>
        <p:nvSpPr>
          <p:cNvPr id="5" name="Rectangle 4"/>
          <p:cNvSpPr/>
          <p:nvPr/>
        </p:nvSpPr>
        <p:spPr>
          <a:xfrm>
            <a:off x="822960" y="2084832"/>
            <a:ext cx="82296" cy="82296"/>
          </a:xfrm>
          <a:prstGeom prst="rect">
            <a:avLst/>
          </a:prstGeom>
          <a:solidFill>
            <a:srgbClr val="FFC5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011680"/>
            <a:ext cx="10058400" cy="548640"/>
          </a:xfrm>
          <a:prstGeom prst="rect">
            <a:avLst/>
          </a:prstGeom>
          <a:noFill/>
        </p:spPr>
        <p:txBody>
          <a:bodyPr wrap="square" anchor="t" lIns="0" rIns="0" tIns="0" bIns="0">
            <a:spAutoFit/>
          </a:bodyPr>
          <a:lstStyle/>
          <a:p>
            <a:pPr algn="l">
              <a:lnSpc>
                <a:spcPct val="130000"/>
              </a:lnSpc>
            </a:pPr>
            <a:r>
              <a:rPr sz="1350" b="0" i="0">
                <a:solidFill>
                  <a:srgbClr val="E9E6F2"/>
                </a:solidFill>
                <a:latin typeface="Calibri"/>
              </a:rPr>
              <a:t>Reproduce the openssl worked example yourself and record your own output.</a:t>
            </a:r>
          </a:p>
        </p:txBody>
      </p:sp>
      <p:sp>
        <p:nvSpPr>
          <p:cNvPr id="7" name="Rectangle 6"/>
          <p:cNvSpPr/>
          <p:nvPr/>
        </p:nvSpPr>
        <p:spPr>
          <a:xfrm>
            <a:off x="822960" y="2706624"/>
            <a:ext cx="82296" cy="82296"/>
          </a:xfrm>
          <a:prstGeom prst="rect">
            <a:avLst/>
          </a:prstGeom>
          <a:solidFill>
            <a:srgbClr val="FFC5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633472"/>
            <a:ext cx="10058400" cy="548640"/>
          </a:xfrm>
          <a:prstGeom prst="rect">
            <a:avLst/>
          </a:prstGeom>
          <a:noFill/>
        </p:spPr>
        <p:txBody>
          <a:bodyPr wrap="square" anchor="t" lIns="0" rIns="0" tIns="0" bIns="0">
            <a:spAutoFit/>
          </a:bodyPr>
          <a:lstStyle/>
          <a:p>
            <a:pPr algn="l">
              <a:lnSpc>
                <a:spcPct val="130000"/>
              </a:lnSpc>
            </a:pPr>
            <a:r>
              <a:rPr sz="1350" b="0" i="0">
                <a:solidFill>
                  <a:srgbClr val="E9E6F2"/>
                </a:solidFill>
                <a:latin typeface="Calibri"/>
              </a:rPr>
              <a:t>Write your own real-world analogy for signing — not the ones given in this section.</a:t>
            </a:r>
          </a:p>
        </p:txBody>
      </p:sp>
      <p:sp>
        <p:nvSpPr>
          <p:cNvPr id="9" name="Rectangle 8"/>
          <p:cNvSpPr/>
          <p:nvPr/>
        </p:nvSpPr>
        <p:spPr>
          <a:xfrm>
            <a:off x="822960" y="3328416"/>
            <a:ext cx="82296" cy="82296"/>
          </a:xfrm>
          <a:prstGeom prst="rect">
            <a:avLst/>
          </a:prstGeom>
          <a:solidFill>
            <a:srgbClr val="FFC5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255264"/>
            <a:ext cx="10058400" cy="548640"/>
          </a:xfrm>
          <a:prstGeom prst="rect">
            <a:avLst/>
          </a:prstGeom>
          <a:noFill/>
        </p:spPr>
        <p:txBody>
          <a:bodyPr wrap="square" anchor="t" lIns="0" rIns="0" tIns="0" bIns="0">
            <a:spAutoFit/>
          </a:bodyPr>
          <a:lstStyle/>
          <a:p>
            <a:pPr algn="l">
              <a:lnSpc>
                <a:spcPct val="130000"/>
              </a:lnSpc>
            </a:pPr>
            <a:r>
              <a:rPr sz="1350" b="0" i="0">
                <a:solidFill>
                  <a:srgbClr val="E9E6F2"/>
                </a:solidFill>
                <a:latin typeface="Calibri"/>
              </a:rPr>
              <a:t>Explain what an attacker could and couldn't do with your private key vs. your public key.</a:t>
            </a:r>
          </a:p>
        </p:txBody>
      </p:sp>
      <p:sp>
        <p:nvSpPr>
          <p:cNvPr id="11" name="TextBox 10"/>
          <p:cNvSpPr txBox="1"/>
          <p:nvPr/>
        </p:nvSpPr>
        <p:spPr>
          <a:xfrm>
            <a:off x="822960" y="4014216"/>
            <a:ext cx="2743200" cy="320040"/>
          </a:xfrm>
          <a:prstGeom prst="rect">
            <a:avLst/>
          </a:prstGeom>
          <a:noFill/>
        </p:spPr>
        <p:txBody>
          <a:bodyPr wrap="square" anchor="t" lIns="0" rIns="0" tIns="0" bIns="0">
            <a:spAutoFit/>
          </a:bodyPr>
          <a:lstStyle/>
          <a:p>
            <a:pPr algn="l">
              <a:lnSpc>
                <a:spcPct val="115000"/>
              </a:lnSpc>
            </a:pPr>
            <a:r>
              <a:rPr sz="1100" b="1" i="0">
                <a:solidFill>
                  <a:srgbClr val="FFC53D"/>
                </a:solidFill>
                <a:latin typeface="Calibri"/>
              </a:rPr>
              <a:t>RECOMMENDED VIDEOS</a:t>
            </a:r>
          </a:p>
        </p:txBody>
      </p:sp>
      <p:sp>
        <p:nvSpPr>
          <p:cNvPr id="12" name="TextBox 11"/>
          <p:cNvSpPr txBox="1"/>
          <p:nvPr/>
        </p:nvSpPr>
        <p:spPr>
          <a:xfrm>
            <a:off x="822960" y="4379976"/>
            <a:ext cx="10058400" cy="365760"/>
          </a:xfrm>
          <a:prstGeom prst="rect">
            <a:avLst/>
          </a:prstGeom>
          <a:noFill/>
        </p:spPr>
        <p:txBody>
          <a:bodyPr wrap="square" anchor="t" lIns="0" rIns="0" tIns="0" bIns="0">
            <a:spAutoFit/>
          </a:bodyPr>
          <a:lstStyle/>
          <a:p>
            <a:pPr algn="l">
              <a:lnSpc>
                <a:spcPct val="115000"/>
              </a:lnSpc>
            </a:pPr>
            <a:r>
              <a:rPr sz="1250" b="0" i="0">
                <a:solidFill>
                  <a:srgbClr val="C9C3DC"/>
                </a:solidFill>
                <a:latin typeface="Calibri"/>
              </a:rPr>
              <a:t>• Public Key Cryptography - Computerphile</a:t>
            </a:r>
          </a:p>
        </p:txBody>
      </p:sp>
      <p:sp>
        <p:nvSpPr>
          <p:cNvPr id="13" name="TextBox 12"/>
          <p:cNvSpPr txBox="1"/>
          <p:nvPr/>
        </p:nvSpPr>
        <p:spPr>
          <a:xfrm>
            <a:off x="822960" y="4745736"/>
            <a:ext cx="10058400" cy="365760"/>
          </a:xfrm>
          <a:prstGeom prst="rect">
            <a:avLst/>
          </a:prstGeom>
          <a:noFill/>
        </p:spPr>
        <p:txBody>
          <a:bodyPr wrap="square" anchor="t" lIns="0" rIns="0" tIns="0" bIns="0">
            <a:spAutoFit/>
          </a:bodyPr>
          <a:lstStyle/>
          <a:p>
            <a:pPr algn="l">
              <a:lnSpc>
                <a:spcPct val="115000"/>
              </a:lnSpc>
            </a:pPr>
            <a:r>
              <a:rPr sz="1250" b="0" i="0">
                <a:solidFill>
                  <a:srgbClr val="C9C3DC"/>
                </a:solidFill>
                <a:latin typeface="Calibri"/>
              </a:rPr>
              <a:t>• Public Key &amp; Private Key Explained | Asymmetric Encryption for Beginners</a:t>
            </a:r>
          </a:p>
        </p:txBody>
      </p:sp>
      <p:sp>
        <p:nvSpPr>
          <p:cNvPr id="14" name="TextBox 13"/>
          <p:cNvSpPr txBox="1"/>
          <p:nvPr/>
        </p:nvSpPr>
        <p:spPr>
          <a:xfrm>
            <a:off x="822960" y="5248656"/>
            <a:ext cx="2743200" cy="320040"/>
          </a:xfrm>
          <a:prstGeom prst="rect">
            <a:avLst/>
          </a:prstGeom>
          <a:noFill/>
        </p:spPr>
        <p:txBody>
          <a:bodyPr wrap="square" anchor="t" lIns="0" rIns="0" tIns="0" bIns="0">
            <a:spAutoFit/>
          </a:bodyPr>
          <a:lstStyle/>
          <a:p>
            <a:pPr algn="l">
              <a:lnSpc>
                <a:spcPct val="115000"/>
              </a:lnSpc>
            </a:pPr>
            <a:r>
              <a:rPr sz="1100" b="1" i="0">
                <a:solidFill>
                  <a:srgbClr val="FFC53D"/>
                </a:solidFill>
                <a:latin typeface="Calibri"/>
              </a:rPr>
              <a:t>PRACTICE SITE</a:t>
            </a:r>
          </a:p>
        </p:txBody>
      </p:sp>
      <p:sp>
        <p:nvSpPr>
          <p:cNvPr id="15" name="TextBox 14"/>
          <p:cNvSpPr txBox="1"/>
          <p:nvPr/>
        </p:nvSpPr>
        <p:spPr>
          <a:xfrm>
            <a:off x="822960" y="5614416"/>
            <a:ext cx="10058400" cy="457200"/>
          </a:xfrm>
          <a:prstGeom prst="rect">
            <a:avLst/>
          </a:prstGeom>
          <a:noFill/>
        </p:spPr>
        <p:txBody>
          <a:bodyPr wrap="square" anchor="t" lIns="0" rIns="0" tIns="0" bIns="0">
            <a:spAutoFit/>
          </a:bodyPr>
          <a:lstStyle/>
          <a:p>
            <a:pPr algn="l">
              <a:lnSpc>
                <a:spcPct val="115000"/>
              </a:lnSpc>
            </a:pPr>
            <a:r>
              <a:rPr sz="1250" b="0" i="0">
                <a:solidFill>
                  <a:srgbClr val="C9C3DC"/>
                </a:solidFill>
                <a:latin typeface="Consolas"/>
              </a:rPr>
              <a:t>andersbrownworth.com/blockchain/public-private-keys  ·  your terminal, with openssl</a:t>
            </a:r>
          </a:p>
        </p:txBody>
      </p:sp>
      <p:sp>
        <p:nvSpPr>
          <p:cNvPr id="16" name="TextBox 15"/>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15 / 15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_cover_03.jpg"/>
          <p:cNvPicPr>
            <a:picLocks noChangeAspect="1"/>
          </p:cNvPicPr>
          <p:nvPr/>
        </p:nvPicPr>
        <p:blipFill>
          <a:blip r:embed="rId2"/>
          <a:stretch>
            <a:fillRect/>
          </a:stretch>
        </p:blipFill>
        <p:spPr>
          <a:xfrm>
            <a:off x="0" y="0"/>
            <a:ext cx="12191695" cy="6858000"/>
          </a:xfrm>
          <a:prstGeom prst="rect">
            <a:avLst/>
          </a:prstGeom>
        </p:spPr>
      </p:pic>
      <p:sp>
        <p:nvSpPr>
          <p:cNvPr id="4" name="Rectangle 3"/>
          <p:cNvSpPr/>
          <p:nvPr/>
        </p:nvSpPr>
        <p:spPr>
          <a:xfrm>
            <a:off x="0" y="0"/>
            <a:ext cx="12191695" cy="6858000"/>
          </a:xfrm>
          <a:prstGeom prst="rect">
            <a:avLst/>
          </a:prstGeom>
          <a:solidFill>
            <a:srgbClr val="1C1730">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695" cy="6858000"/>
          </a:xfrm>
          <a:prstGeom prst="rect">
            <a:avLst/>
          </a:prstGeom>
          <a:solidFill>
            <a:srgbClr val="33506A">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188720"/>
            <a:ext cx="5486400" cy="1188720"/>
          </a:xfrm>
          <a:prstGeom prst="rect">
            <a:avLst/>
          </a:prstGeom>
          <a:noFill/>
        </p:spPr>
        <p:txBody>
          <a:bodyPr wrap="square" anchor="t" lIns="0" rIns="0" tIns="0" bIns="0">
            <a:spAutoFit/>
          </a:bodyPr>
          <a:lstStyle/>
          <a:p>
            <a:pPr algn="l">
              <a:lnSpc>
                <a:spcPct val="115000"/>
              </a:lnSpc>
            </a:pPr>
            <a:r>
              <a:rPr sz="10000" b="1" i="0">
                <a:solidFill>
                  <a:srgbClr val="FFFFFF"/>
                </a:solidFill>
                <a:latin typeface="Century Gothic"/>
              </a:rPr>
              <a:t>03</a:t>
            </a:r>
          </a:p>
        </p:txBody>
      </p:sp>
      <p:sp>
        <p:nvSpPr>
          <p:cNvPr id="7" name="TextBox 6"/>
          <p:cNvSpPr txBox="1"/>
          <p:nvPr/>
        </p:nvSpPr>
        <p:spPr>
          <a:xfrm>
            <a:off x="822960" y="2423160"/>
            <a:ext cx="8961120" cy="1554480"/>
          </a:xfrm>
          <a:prstGeom prst="rect">
            <a:avLst/>
          </a:prstGeom>
          <a:noFill/>
        </p:spPr>
        <p:txBody>
          <a:bodyPr wrap="square" anchor="t" lIns="0" rIns="0" tIns="0" bIns="0">
            <a:spAutoFit/>
          </a:bodyPr>
          <a:lstStyle/>
          <a:p>
            <a:pPr algn="l">
              <a:lnSpc>
                <a:spcPct val="105000"/>
              </a:lnSpc>
            </a:pPr>
            <a:r>
              <a:rPr sz="4600" b="1" i="0">
                <a:solidFill>
                  <a:srgbClr val="FFFFFF"/>
                </a:solidFill>
                <a:latin typeface="Century Gothic"/>
              </a:rPr>
              <a:t>Blocks &amp; Chains</a:t>
            </a:r>
          </a:p>
        </p:txBody>
      </p:sp>
      <p:sp>
        <p:nvSpPr>
          <p:cNvPr id="8" name="TextBox 7"/>
          <p:cNvSpPr txBox="1"/>
          <p:nvPr/>
        </p:nvSpPr>
        <p:spPr>
          <a:xfrm>
            <a:off x="822960" y="4160520"/>
            <a:ext cx="6858000" cy="1097280"/>
          </a:xfrm>
          <a:prstGeom prst="rect">
            <a:avLst/>
          </a:prstGeom>
          <a:noFill/>
        </p:spPr>
        <p:txBody>
          <a:bodyPr wrap="square" anchor="t" lIns="0" rIns="0" tIns="0" bIns="0">
            <a:spAutoFit/>
          </a:bodyPr>
          <a:lstStyle/>
          <a:p>
            <a:pPr algn="l">
              <a:lnSpc>
                <a:spcPct val="125000"/>
              </a:lnSpc>
            </a:pPr>
            <a:r>
              <a:rPr sz="1900" b="0" i="0">
                <a:solidFill>
                  <a:srgbClr val="FFFFFF"/>
                </a:solidFill>
                <a:latin typeface="Calibri"/>
              </a:rPr>
              <a:t>Link history together so a single altered link breaks everything after it.</a:t>
            </a:r>
          </a:p>
        </p:txBody>
      </p:sp>
      <p:sp>
        <p:nvSpPr>
          <p:cNvPr id="9" name="TextBox 8"/>
          <p:cNvSpPr txBox="1"/>
          <p:nvPr/>
        </p:nvSpPr>
        <p:spPr>
          <a:xfrm>
            <a:off x="822960" y="6446520"/>
            <a:ext cx="8229600" cy="320040"/>
          </a:xfrm>
          <a:prstGeom prst="rect">
            <a:avLst/>
          </a:prstGeom>
          <a:noFill/>
        </p:spPr>
        <p:txBody>
          <a:bodyPr wrap="square" anchor="t" lIns="0" rIns="0" tIns="0" bIns="0">
            <a:spAutoFit/>
          </a:bodyPr>
          <a:lstStyle/>
          <a:p>
            <a:pPr algn="l">
              <a:lnSpc>
                <a:spcPct val="115000"/>
              </a:lnSpc>
            </a:pPr>
            <a:r>
              <a:rPr sz="1000" b="0" i="0">
                <a:solidFill>
                  <a:srgbClr val="E9E6F2"/>
                </a:solidFill>
                <a:latin typeface="Calibri"/>
              </a:rPr>
              <a:t>Photo: Petritap / Wikimedia Commons, CC BY-SA 3.0</a:t>
            </a:r>
          </a:p>
        </p:txBody>
      </p:sp>
      <p:sp>
        <p:nvSpPr>
          <p:cNvPr id="10" name="TextBox 9"/>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01 / 15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33506A"/>
                </a:solidFill>
                <a:latin typeface="Calibri"/>
              </a:rPr>
              <a:t>TOPIC 03 — BLOCKS &amp; CHAINS</a:t>
            </a:r>
          </a:p>
        </p:txBody>
      </p:sp>
      <p:sp>
        <p:nvSpPr>
          <p:cNvPr id="4" name="TextBox 3"/>
          <p:cNvSpPr txBox="1"/>
          <p:nvPr/>
        </p:nvSpPr>
        <p:spPr>
          <a:xfrm>
            <a:off x="822960" y="105156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Why This Matters</a:t>
            </a:r>
          </a:p>
        </p:txBody>
      </p:sp>
      <p:sp>
        <p:nvSpPr>
          <p:cNvPr id="5" name="TextBox 4"/>
          <p:cNvSpPr txBox="1"/>
          <p:nvPr/>
        </p:nvSpPr>
        <p:spPr>
          <a:xfrm>
            <a:off x="822960" y="1965960"/>
            <a:ext cx="9875520" cy="1463040"/>
          </a:xfrm>
          <a:prstGeom prst="rect">
            <a:avLst/>
          </a:prstGeom>
          <a:noFill/>
        </p:spPr>
        <p:txBody>
          <a:bodyPr wrap="square" anchor="t" lIns="0" rIns="0" tIns="0" bIns="0">
            <a:spAutoFit/>
          </a:bodyPr>
          <a:lstStyle/>
          <a:p>
            <a:pPr algn="l">
              <a:lnSpc>
                <a:spcPct val="140000"/>
              </a:lnSpc>
            </a:pPr>
            <a:r>
              <a:rPr sz="1600" b="0" i="0">
                <a:solidFill>
                  <a:srgbClr val="5C576E"/>
                </a:solidFill>
                <a:latin typeface="Calibri"/>
              </a:rPr>
              <a:t>You now have tamper-evidence (hashing) and authorization (signing). This section shows how thousands of signed, hashed transactions get organized into the actual structure that gives "blockchain" its name.</a:t>
            </a:r>
          </a:p>
        </p:txBody>
      </p:sp>
      <p:sp>
        <p:nvSpPr>
          <p:cNvPr id="6" name="TextBox 5"/>
          <p:cNvSpPr txBox="1"/>
          <p:nvPr/>
        </p:nvSpPr>
        <p:spPr>
          <a:xfrm>
            <a:off x="822960" y="3657600"/>
            <a:ext cx="9875520" cy="365760"/>
          </a:xfrm>
          <a:prstGeom prst="rect">
            <a:avLst/>
          </a:prstGeom>
          <a:noFill/>
        </p:spPr>
        <p:txBody>
          <a:bodyPr wrap="square" anchor="t" lIns="0" rIns="0" tIns="0" bIns="0">
            <a:spAutoFit/>
          </a:bodyPr>
          <a:lstStyle/>
          <a:p>
            <a:pPr algn="l">
              <a:lnSpc>
                <a:spcPct val="115000"/>
              </a:lnSpc>
            </a:pPr>
            <a:r>
              <a:rPr sz="1200" b="1" i="0">
                <a:solidFill>
                  <a:srgbClr val="33506A"/>
                </a:solidFill>
                <a:latin typeface="Calibri"/>
              </a:rPr>
              <a:t>WHAT THIS SECTION COVERS</a:t>
            </a:r>
          </a:p>
        </p:txBody>
      </p:sp>
      <p:sp>
        <p:nvSpPr>
          <p:cNvPr id="7" name="Rectangle 6"/>
          <p:cNvSpPr/>
          <p:nvPr/>
        </p:nvSpPr>
        <p:spPr>
          <a:xfrm>
            <a:off x="822960" y="4197096"/>
            <a:ext cx="82296" cy="82296"/>
          </a:xfrm>
          <a:prstGeom prst="rect">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41148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Core concept</a:t>
            </a:r>
          </a:p>
        </p:txBody>
      </p:sp>
      <p:sp>
        <p:nvSpPr>
          <p:cNvPr id="9" name="Rectangle 8"/>
          <p:cNvSpPr/>
          <p:nvPr/>
        </p:nvSpPr>
        <p:spPr>
          <a:xfrm>
            <a:off x="6035040" y="4197096"/>
            <a:ext cx="82296" cy="82296"/>
          </a:xfrm>
          <a:prstGeom prst="rect">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63640" y="41148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Four key ideas, one at a time</a:t>
            </a:r>
          </a:p>
        </p:txBody>
      </p:sp>
      <p:sp>
        <p:nvSpPr>
          <p:cNvPr id="11" name="Rectangle 10"/>
          <p:cNvSpPr/>
          <p:nvPr/>
        </p:nvSpPr>
        <p:spPr>
          <a:xfrm>
            <a:off x="822960" y="4654296"/>
            <a:ext cx="82296" cy="82296"/>
          </a:xfrm>
          <a:prstGeom prst="rect">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45720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A real, reproducible worked example</a:t>
            </a:r>
          </a:p>
        </p:txBody>
      </p:sp>
      <p:sp>
        <p:nvSpPr>
          <p:cNvPr id="13" name="Rectangle 12"/>
          <p:cNvSpPr/>
          <p:nvPr/>
        </p:nvSpPr>
        <p:spPr>
          <a:xfrm>
            <a:off x="6035040" y="4654296"/>
            <a:ext cx="82296" cy="82296"/>
          </a:xfrm>
          <a:prstGeom prst="rect">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63640" y="45720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Real-world uses beyond blockchain</a:t>
            </a:r>
          </a:p>
        </p:txBody>
      </p:sp>
      <p:sp>
        <p:nvSpPr>
          <p:cNvPr id="15" name="Rectangle 14"/>
          <p:cNvSpPr/>
          <p:nvPr/>
        </p:nvSpPr>
        <p:spPr>
          <a:xfrm>
            <a:off x="822960" y="5111496"/>
            <a:ext cx="82296" cy="82296"/>
          </a:xfrm>
          <a:prstGeom prst="rect">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0292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A flagship case study</a:t>
            </a:r>
          </a:p>
        </p:txBody>
      </p:sp>
      <p:sp>
        <p:nvSpPr>
          <p:cNvPr id="17" name="Rectangle 16"/>
          <p:cNvSpPr/>
          <p:nvPr/>
        </p:nvSpPr>
        <p:spPr>
          <a:xfrm>
            <a:off x="6035040" y="5111496"/>
            <a:ext cx="82296" cy="82296"/>
          </a:xfrm>
          <a:prstGeom prst="rect">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50292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A real-life analogy</a:t>
            </a:r>
          </a:p>
        </p:txBody>
      </p:sp>
      <p:sp>
        <p:nvSpPr>
          <p:cNvPr id="19" name="Rectangle 18"/>
          <p:cNvSpPr/>
          <p:nvPr/>
        </p:nvSpPr>
        <p:spPr>
          <a:xfrm>
            <a:off x="822960" y="5568696"/>
            <a:ext cx="82296" cy="82296"/>
          </a:xfrm>
          <a:prstGeom prst="rect">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54864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Common misconceptions</a:t>
            </a:r>
          </a:p>
        </p:txBody>
      </p:sp>
      <p:sp>
        <p:nvSpPr>
          <p:cNvPr id="21" name="Rectangle 20"/>
          <p:cNvSpPr/>
          <p:nvPr/>
        </p:nvSpPr>
        <p:spPr>
          <a:xfrm>
            <a:off x="6035040" y="5568696"/>
            <a:ext cx="82296" cy="82296"/>
          </a:xfrm>
          <a:prstGeom prst="rect">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63640" y="54864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Hands-on practice</a:t>
            </a:r>
          </a:p>
        </p:txBody>
      </p:sp>
      <p:sp>
        <p:nvSpPr>
          <p:cNvPr id="23" name="Rectangle 22"/>
          <p:cNvSpPr/>
          <p:nvPr/>
        </p:nvSpPr>
        <p:spPr>
          <a:xfrm>
            <a:off x="822960" y="6025896"/>
            <a:ext cx="82296" cy="82296"/>
          </a:xfrm>
          <a:prstGeom prst="rect">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59436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Take-home assignment</a:t>
            </a:r>
          </a:p>
        </p:txBody>
      </p:sp>
      <p:sp>
        <p:nvSpPr>
          <p:cNvPr id="25" name="TextBox 24"/>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02 / 15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33506A"/>
                </a:solidFill>
                <a:latin typeface="Calibri"/>
              </a:rPr>
              <a:t>TOPIC 03 — BLOCKS &amp; CHAINS</a:t>
            </a:r>
          </a:p>
        </p:txBody>
      </p:sp>
      <p:sp>
        <p:nvSpPr>
          <p:cNvPr id="4" name="TextBox 3"/>
          <p:cNvSpPr txBox="1"/>
          <p:nvPr/>
        </p:nvSpPr>
        <p:spPr>
          <a:xfrm>
            <a:off x="822960" y="1097280"/>
            <a:ext cx="9601200" cy="1005840"/>
          </a:xfrm>
          <a:prstGeom prst="rect">
            <a:avLst/>
          </a:prstGeom>
          <a:noFill/>
        </p:spPr>
        <p:txBody>
          <a:bodyPr wrap="square" anchor="t" lIns="0" rIns="0" tIns="0" bIns="0">
            <a:spAutoFit/>
          </a:bodyPr>
          <a:lstStyle/>
          <a:p>
            <a:pPr algn="l">
              <a:lnSpc>
                <a:spcPct val="105000"/>
              </a:lnSpc>
            </a:pPr>
            <a:r>
              <a:rPr sz="3400" b="1" i="0">
                <a:solidFill>
                  <a:srgbClr val="1C1730"/>
                </a:solidFill>
                <a:latin typeface="Century Gothic"/>
              </a:rPr>
              <a:t>The Core Concept</a:t>
            </a:r>
          </a:p>
        </p:txBody>
      </p:sp>
      <p:sp>
        <p:nvSpPr>
          <p:cNvPr id="5" name="Rounded Rectangle 4"/>
          <p:cNvSpPr/>
          <p:nvPr/>
        </p:nvSpPr>
        <p:spPr>
          <a:xfrm>
            <a:off x="822960" y="2286000"/>
            <a:ext cx="10515600" cy="329184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2286000"/>
            <a:ext cx="91440" cy="3291840"/>
          </a:xfrm>
          <a:prstGeom prst="rect">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80160" y="2697480"/>
            <a:ext cx="9601200" cy="2560320"/>
          </a:xfrm>
          <a:prstGeom prst="rect">
            <a:avLst/>
          </a:prstGeom>
          <a:noFill/>
        </p:spPr>
        <p:txBody>
          <a:bodyPr wrap="square" anchor="t" lIns="0" rIns="0" tIns="0" bIns="0">
            <a:spAutoFit/>
          </a:bodyPr>
          <a:lstStyle/>
          <a:p>
            <a:pPr algn="l">
              <a:lnSpc>
                <a:spcPct val="155000"/>
              </a:lnSpc>
            </a:pPr>
            <a:r>
              <a:rPr sz="2000" b="0" i="0">
                <a:solidFill>
                  <a:srgbClr val="1C1730"/>
                </a:solidFill>
                <a:latin typeface="Calibri"/>
              </a:rPr>
              <a:t>A block is a batch of transactions plus metadata — critically, the hash of the block before it. Because of the avalanche effect from Topic 01, editing an old block changes its hash, which breaks every block chained after it. That domino effect is the entire trick.</a:t>
            </a:r>
          </a:p>
        </p:txBody>
      </p:sp>
      <p:sp>
        <p:nvSpPr>
          <p:cNvPr id="8" name="TextBox 7"/>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03 / 15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33506A"/>
                </a:solidFill>
                <a:latin typeface="Calibri"/>
              </a:rPr>
              <a:t>TOPIC 03 — BLOCKS &amp; CHAINS</a:t>
            </a:r>
          </a:p>
        </p:txBody>
      </p:sp>
      <p:sp>
        <p:nvSpPr>
          <p:cNvPr id="4" name="TextBox 3"/>
          <p:cNvSpPr txBox="1"/>
          <p:nvPr/>
        </p:nvSpPr>
        <p:spPr>
          <a:xfrm>
            <a:off x="8503920" y="640080"/>
            <a:ext cx="2834640" cy="365760"/>
          </a:xfrm>
          <a:prstGeom prst="rect">
            <a:avLst/>
          </a:prstGeom>
          <a:noFill/>
        </p:spPr>
        <p:txBody>
          <a:bodyPr wrap="square" anchor="t" lIns="0" rIns="0" tIns="0" bIns="0">
            <a:spAutoFit/>
          </a:bodyPr>
          <a:lstStyle/>
          <a:p>
            <a:pPr algn="r">
              <a:lnSpc>
                <a:spcPct val="115000"/>
              </a:lnSpc>
            </a:pPr>
            <a:r>
              <a:rPr sz="1200" b="1" i="0">
                <a:solidFill>
                  <a:srgbClr val="5C576E"/>
                </a:solidFill>
                <a:latin typeface="Calibri"/>
              </a:rPr>
              <a:t>KEY IDEA 1 / 4</a:t>
            </a:r>
          </a:p>
        </p:txBody>
      </p:sp>
      <p:sp>
        <p:nvSpPr>
          <p:cNvPr id="5" name="TextBox 4"/>
          <p:cNvSpPr txBox="1"/>
          <p:nvPr/>
        </p:nvSpPr>
        <p:spPr>
          <a:xfrm>
            <a:off x="822960" y="109728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Timestamp &amp; Transactions</a:t>
            </a:r>
          </a:p>
        </p:txBody>
      </p:sp>
      <p:sp>
        <p:nvSpPr>
          <p:cNvPr id="6" name="TextBox 5"/>
          <p:cNvSpPr txBox="1"/>
          <p:nvPr/>
        </p:nvSpPr>
        <p:spPr>
          <a:xfrm>
            <a:off x="822960" y="2148840"/>
            <a:ext cx="9875520" cy="2011680"/>
          </a:xfrm>
          <a:prstGeom prst="rect">
            <a:avLst/>
          </a:prstGeom>
          <a:noFill/>
        </p:spPr>
        <p:txBody>
          <a:bodyPr wrap="square" anchor="t" lIns="0" rIns="0" tIns="0" bIns="0">
            <a:spAutoFit/>
          </a:bodyPr>
          <a:lstStyle/>
          <a:p>
            <a:pPr algn="l">
              <a:lnSpc>
                <a:spcPct val="150000"/>
              </a:lnSpc>
            </a:pPr>
            <a:r>
              <a:rPr sz="1650" b="0" i="0">
                <a:solidFill>
                  <a:srgbClr val="1C1730"/>
                </a:solidFill>
                <a:latin typeface="Calibri"/>
              </a:rPr>
              <a:t>Every block records when it was created, plus the batch of transaction data it holds — Ethereum groups a new batch roughly every 12 seconds.</a:t>
            </a:r>
          </a:p>
        </p:txBody>
      </p:sp>
      <p:sp>
        <p:nvSpPr>
          <p:cNvPr id="7" name="Rounded Rectangle 6"/>
          <p:cNvSpPr/>
          <p:nvPr/>
        </p:nvSpPr>
        <p:spPr>
          <a:xfrm>
            <a:off x="822960" y="4434840"/>
            <a:ext cx="10515600" cy="1280160"/>
          </a:xfrm>
          <a:prstGeom prst="roundRect">
            <a:avLst>
              <a:gd name="adj" fmla="val 6000"/>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617720"/>
            <a:ext cx="9875520" cy="320040"/>
          </a:xfrm>
          <a:prstGeom prst="rect">
            <a:avLst/>
          </a:prstGeom>
          <a:noFill/>
        </p:spPr>
        <p:txBody>
          <a:bodyPr wrap="square" anchor="t" lIns="0" rIns="0" tIns="0" bIns="0">
            <a:spAutoFit/>
          </a:bodyPr>
          <a:lstStyle/>
          <a:p>
            <a:pPr algn="l">
              <a:lnSpc>
                <a:spcPct val="115000"/>
              </a:lnSpc>
            </a:pPr>
            <a:r>
              <a:rPr sz="1100" b="1" i="0">
                <a:solidFill>
                  <a:srgbClr val="33506A"/>
                </a:solidFill>
                <a:latin typeface="Calibri"/>
              </a:rPr>
              <a:t>EXAMPLE</a:t>
            </a:r>
          </a:p>
        </p:txBody>
      </p:sp>
      <p:sp>
        <p:nvSpPr>
          <p:cNvPr id="9" name="TextBox 8"/>
          <p:cNvSpPr txBox="1"/>
          <p:nvPr/>
        </p:nvSpPr>
        <p:spPr>
          <a:xfrm>
            <a:off x="1143000" y="4956048"/>
            <a:ext cx="9875520" cy="640080"/>
          </a:xfrm>
          <a:prstGeom prst="rect">
            <a:avLst/>
          </a:prstGeom>
          <a:noFill/>
        </p:spPr>
        <p:txBody>
          <a:bodyPr wrap="square" anchor="t" lIns="0" rIns="0" tIns="0" bIns="0">
            <a:spAutoFit/>
          </a:bodyPr>
          <a:lstStyle/>
          <a:p>
            <a:pPr algn="l">
              <a:lnSpc>
                <a:spcPct val="130000"/>
              </a:lnSpc>
            </a:pPr>
            <a:r>
              <a:rPr sz="1400" b="0" i="0">
                <a:solidFill>
                  <a:srgbClr val="1C1730"/>
                </a:solidFill>
                <a:latin typeface="Consolas"/>
              </a:rPr>
              <a:t>One block ≈ hundreds of transactions, bundled together.</a:t>
            </a:r>
          </a:p>
        </p:txBody>
      </p:sp>
      <p:sp>
        <p:nvSpPr>
          <p:cNvPr id="10" name="TextBox 9"/>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04 / 15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33506A"/>
                </a:solidFill>
                <a:latin typeface="Calibri"/>
              </a:rPr>
              <a:t>TOPIC 03 — BLOCKS &amp; CHAINS</a:t>
            </a:r>
          </a:p>
        </p:txBody>
      </p:sp>
      <p:sp>
        <p:nvSpPr>
          <p:cNvPr id="4" name="TextBox 3"/>
          <p:cNvSpPr txBox="1"/>
          <p:nvPr/>
        </p:nvSpPr>
        <p:spPr>
          <a:xfrm>
            <a:off x="8503920" y="640080"/>
            <a:ext cx="2834640" cy="365760"/>
          </a:xfrm>
          <a:prstGeom prst="rect">
            <a:avLst/>
          </a:prstGeom>
          <a:noFill/>
        </p:spPr>
        <p:txBody>
          <a:bodyPr wrap="square" anchor="t" lIns="0" rIns="0" tIns="0" bIns="0">
            <a:spAutoFit/>
          </a:bodyPr>
          <a:lstStyle/>
          <a:p>
            <a:pPr algn="r">
              <a:lnSpc>
                <a:spcPct val="115000"/>
              </a:lnSpc>
            </a:pPr>
            <a:r>
              <a:rPr sz="1200" b="1" i="0">
                <a:solidFill>
                  <a:srgbClr val="5C576E"/>
                </a:solidFill>
                <a:latin typeface="Calibri"/>
              </a:rPr>
              <a:t>KEY IDEA 2 / 4</a:t>
            </a:r>
          </a:p>
        </p:txBody>
      </p:sp>
      <p:sp>
        <p:nvSpPr>
          <p:cNvPr id="5" name="TextBox 4"/>
          <p:cNvSpPr txBox="1"/>
          <p:nvPr/>
        </p:nvSpPr>
        <p:spPr>
          <a:xfrm>
            <a:off x="822960" y="109728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Previous Hash</a:t>
            </a:r>
          </a:p>
        </p:txBody>
      </p:sp>
      <p:sp>
        <p:nvSpPr>
          <p:cNvPr id="6" name="TextBox 5"/>
          <p:cNvSpPr txBox="1"/>
          <p:nvPr/>
        </p:nvSpPr>
        <p:spPr>
          <a:xfrm>
            <a:off x="822960" y="2148840"/>
            <a:ext cx="9875520" cy="2011680"/>
          </a:xfrm>
          <a:prstGeom prst="rect">
            <a:avLst/>
          </a:prstGeom>
          <a:noFill/>
        </p:spPr>
        <p:txBody>
          <a:bodyPr wrap="square" anchor="t" lIns="0" rIns="0" tIns="0" bIns="0">
            <a:spAutoFit/>
          </a:bodyPr>
          <a:lstStyle/>
          <a:p>
            <a:pPr algn="l">
              <a:lnSpc>
                <a:spcPct val="150000"/>
              </a:lnSpc>
            </a:pPr>
            <a:r>
              <a:rPr sz="1650" b="0" i="0">
                <a:solidFill>
                  <a:srgbClr val="1C1730"/>
                </a:solidFill>
                <a:latin typeface="Calibri"/>
              </a:rPr>
              <a:t>The literal link to the block directly before it. This single field is what makes it a "chain" at all, rather than just a list of unconnected blocks.</a:t>
            </a:r>
          </a:p>
        </p:txBody>
      </p:sp>
      <p:sp>
        <p:nvSpPr>
          <p:cNvPr id="7" name="Rounded Rectangle 6"/>
          <p:cNvSpPr/>
          <p:nvPr/>
        </p:nvSpPr>
        <p:spPr>
          <a:xfrm>
            <a:off x="822960" y="4434840"/>
            <a:ext cx="10515600" cy="1280160"/>
          </a:xfrm>
          <a:prstGeom prst="roundRect">
            <a:avLst>
              <a:gd name="adj" fmla="val 6000"/>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617720"/>
            <a:ext cx="9875520" cy="320040"/>
          </a:xfrm>
          <a:prstGeom prst="rect">
            <a:avLst/>
          </a:prstGeom>
          <a:noFill/>
        </p:spPr>
        <p:txBody>
          <a:bodyPr wrap="square" anchor="t" lIns="0" rIns="0" tIns="0" bIns="0">
            <a:spAutoFit/>
          </a:bodyPr>
          <a:lstStyle/>
          <a:p>
            <a:pPr algn="l">
              <a:lnSpc>
                <a:spcPct val="115000"/>
              </a:lnSpc>
            </a:pPr>
            <a:r>
              <a:rPr sz="1100" b="1" i="0">
                <a:solidFill>
                  <a:srgbClr val="33506A"/>
                </a:solidFill>
                <a:latin typeface="Calibri"/>
              </a:rPr>
              <a:t>EXAMPLE</a:t>
            </a:r>
          </a:p>
        </p:txBody>
      </p:sp>
      <p:sp>
        <p:nvSpPr>
          <p:cNvPr id="9" name="TextBox 8"/>
          <p:cNvSpPr txBox="1"/>
          <p:nvPr/>
        </p:nvSpPr>
        <p:spPr>
          <a:xfrm>
            <a:off x="1143000" y="4956048"/>
            <a:ext cx="9875520" cy="640080"/>
          </a:xfrm>
          <a:prstGeom prst="rect">
            <a:avLst/>
          </a:prstGeom>
          <a:noFill/>
        </p:spPr>
        <p:txBody>
          <a:bodyPr wrap="square" anchor="t" lIns="0" rIns="0" tIns="0" bIns="0">
            <a:spAutoFit/>
          </a:bodyPr>
          <a:lstStyle/>
          <a:p>
            <a:pPr algn="l">
              <a:lnSpc>
                <a:spcPct val="130000"/>
              </a:lnSpc>
            </a:pPr>
            <a:r>
              <a:rPr sz="1400" b="0" i="0">
                <a:solidFill>
                  <a:srgbClr val="1C1730"/>
                </a:solidFill>
                <a:latin typeface="Consolas"/>
              </a:rPr>
              <a:t>Block #101's data includes: prevHash = hash(Block #100)</a:t>
            </a:r>
          </a:p>
        </p:txBody>
      </p:sp>
      <p:sp>
        <p:nvSpPr>
          <p:cNvPr id="10" name="TextBox 9"/>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05 / 15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33506A"/>
                </a:solidFill>
                <a:latin typeface="Calibri"/>
              </a:rPr>
              <a:t>TOPIC 03 — BLOCKS &amp; CHAINS</a:t>
            </a:r>
          </a:p>
        </p:txBody>
      </p:sp>
      <p:sp>
        <p:nvSpPr>
          <p:cNvPr id="4" name="TextBox 3"/>
          <p:cNvSpPr txBox="1"/>
          <p:nvPr/>
        </p:nvSpPr>
        <p:spPr>
          <a:xfrm>
            <a:off x="8503920" y="640080"/>
            <a:ext cx="2834640" cy="365760"/>
          </a:xfrm>
          <a:prstGeom prst="rect">
            <a:avLst/>
          </a:prstGeom>
          <a:noFill/>
        </p:spPr>
        <p:txBody>
          <a:bodyPr wrap="square" anchor="t" lIns="0" rIns="0" tIns="0" bIns="0">
            <a:spAutoFit/>
          </a:bodyPr>
          <a:lstStyle/>
          <a:p>
            <a:pPr algn="r">
              <a:lnSpc>
                <a:spcPct val="115000"/>
              </a:lnSpc>
            </a:pPr>
            <a:r>
              <a:rPr sz="1200" b="1" i="0">
                <a:solidFill>
                  <a:srgbClr val="5C576E"/>
                </a:solidFill>
                <a:latin typeface="Calibri"/>
              </a:rPr>
              <a:t>KEY IDEA 3 / 4</a:t>
            </a:r>
          </a:p>
        </p:txBody>
      </p:sp>
      <p:sp>
        <p:nvSpPr>
          <p:cNvPr id="5" name="TextBox 4"/>
          <p:cNvSpPr txBox="1"/>
          <p:nvPr/>
        </p:nvSpPr>
        <p:spPr>
          <a:xfrm>
            <a:off x="822960" y="109728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Own Hash</a:t>
            </a:r>
          </a:p>
        </p:txBody>
      </p:sp>
      <p:sp>
        <p:nvSpPr>
          <p:cNvPr id="6" name="TextBox 5"/>
          <p:cNvSpPr txBox="1"/>
          <p:nvPr/>
        </p:nvSpPr>
        <p:spPr>
          <a:xfrm>
            <a:off x="822960" y="2148840"/>
            <a:ext cx="9875520" cy="2011680"/>
          </a:xfrm>
          <a:prstGeom prst="rect">
            <a:avLst/>
          </a:prstGeom>
          <a:noFill/>
        </p:spPr>
        <p:txBody>
          <a:bodyPr wrap="square" anchor="t" lIns="0" rIns="0" tIns="0" bIns="0">
            <a:spAutoFit/>
          </a:bodyPr>
          <a:lstStyle/>
          <a:p>
            <a:pPr algn="l">
              <a:lnSpc>
                <a:spcPct val="150000"/>
              </a:lnSpc>
            </a:pPr>
            <a:r>
              <a:rPr sz="1650" b="0" i="0">
                <a:solidFill>
                  <a:srgbClr val="1C1730"/>
                </a:solidFill>
                <a:latin typeface="Calibri"/>
              </a:rPr>
              <a:t>Computed from everything inside the block — including the previous hash. This is where the avalanche effect from Topic 01 creates the domino effect that makes tampering detectable.</a:t>
            </a:r>
          </a:p>
        </p:txBody>
      </p:sp>
      <p:sp>
        <p:nvSpPr>
          <p:cNvPr id="7" name="Rounded Rectangle 6"/>
          <p:cNvSpPr/>
          <p:nvPr/>
        </p:nvSpPr>
        <p:spPr>
          <a:xfrm>
            <a:off x="822960" y="4434840"/>
            <a:ext cx="10515600" cy="1280160"/>
          </a:xfrm>
          <a:prstGeom prst="roundRect">
            <a:avLst>
              <a:gd name="adj" fmla="val 6000"/>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617720"/>
            <a:ext cx="9875520" cy="320040"/>
          </a:xfrm>
          <a:prstGeom prst="rect">
            <a:avLst/>
          </a:prstGeom>
          <a:noFill/>
        </p:spPr>
        <p:txBody>
          <a:bodyPr wrap="square" anchor="t" lIns="0" rIns="0" tIns="0" bIns="0">
            <a:spAutoFit/>
          </a:bodyPr>
          <a:lstStyle/>
          <a:p>
            <a:pPr algn="l">
              <a:lnSpc>
                <a:spcPct val="115000"/>
              </a:lnSpc>
            </a:pPr>
            <a:r>
              <a:rPr sz="1100" b="1" i="0">
                <a:solidFill>
                  <a:srgbClr val="33506A"/>
                </a:solidFill>
                <a:latin typeface="Calibri"/>
              </a:rPr>
              <a:t>EXAMPLE</a:t>
            </a:r>
          </a:p>
        </p:txBody>
      </p:sp>
      <p:sp>
        <p:nvSpPr>
          <p:cNvPr id="9" name="TextBox 8"/>
          <p:cNvSpPr txBox="1"/>
          <p:nvPr/>
        </p:nvSpPr>
        <p:spPr>
          <a:xfrm>
            <a:off x="1143000" y="4956048"/>
            <a:ext cx="9875520" cy="640080"/>
          </a:xfrm>
          <a:prstGeom prst="rect">
            <a:avLst/>
          </a:prstGeom>
          <a:noFill/>
        </p:spPr>
        <p:txBody>
          <a:bodyPr wrap="square" anchor="t" lIns="0" rIns="0" tIns="0" bIns="0">
            <a:spAutoFit/>
          </a:bodyPr>
          <a:lstStyle/>
          <a:p>
            <a:pPr algn="l">
              <a:lnSpc>
                <a:spcPct val="130000"/>
              </a:lnSpc>
            </a:pPr>
            <a:r>
              <a:rPr sz="1400" b="0" i="0">
                <a:solidFill>
                  <a:srgbClr val="1C1730"/>
                </a:solidFill>
                <a:latin typeface="Consolas"/>
              </a:rPr>
              <a:t>hash(Block #100) = hash(transactions + prevHash + timestamp)</a:t>
            </a:r>
          </a:p>
        </p:txBody>
      </p:sp>
      <p:sp>
        <p:nvSpPr>
          <p:cNvPr id="10" name="TextBox 9"/>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06 / 15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33506A"/>
                </a:solidFill>
                <a:latin typeface="Calibri"/>
              </a:rPr>
              <a:t>TOPIC 03 — BLOCKS &amp; CHAINS</a:t>
            </a:r>
          </a:p>
        </p:txBody>
      </p:sp>
      <p:sp>
        <p:nvSpPr>
          <p:cNvPr id="4" name="TextBox 3"/>
          <p:cNvSpPr txBox="1"/>
          <p:nvPr/>
        </p:nvSpPr>
        <p:spPr>
          <a:xfrm>
            <a:off x="8503920" y="640080"/>
            <a:ext cx="2834640" cy="365760"/>
          </a:xfrm>
          <a:prstGeom prst="rect">
            <a:avLst/>
          </a:prstGeom>
          <a:noFill/>
        </p:spPr>
        <p:txBody>
          <a:bodyPr wrap="square" anchor="t" lIns="0" rIns="0" tIns="0" bIns="0">
            <a:spAutoFit/>
          </a:bodyPr>
          <a:lstStyle/>
          <a:p>
            <a:pPr algn="r">
              <a:lnSpc>
                <a:spcPct val="115000"/>
              </a:lnSpc>
            </a:pPr>
            <a:r>
              <a:rPr sz="1200" b="1" i="0">
                <a:solidFill>
                  <a:srgbClr val="5C576E"/>
                </a:solidFill>
                <a:latin typeface="Calibri"/>
              </a:rPr>
              <a:t>KEY IDEA 4 / 4</a:t>
            </a:r>
          </a:p>
        </p:txBody>
      </p:sp>
      <p:sp>
        <p:nvSpPr>
          <p:cNvPr id="5" name="TextBox 4"/>
          <p:cNvSpPr txBox="1"/>
          <p:nvPr/>
        </p:nvSpPr>
        <p:spPr>
          <a:xfrm>
            <a:off x="822960" y="109728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Confirmations</a:t>
            </a:r>
          </a:p>
        </p:txBody>
      </p:sp>
      <p:sp>
        <p:nvSpPr>
          <p:cNvPr id="6" name="TextBox 5"/>
          <p:cNvSpPr txBox="1"/>
          <p:nvPr/>
        </p:nvSpPr>
        <p:spPr>
          <a:xfrm>
            <a:off x="822960" y="2148840"/>
            <a:ext cx="9875520" cy="2011680"/>
          </a:xfrm>
          <a:prstGeom prst="rect">
            <a:avLst/>
          </a:prstGeom>
          <a:noFill/>
        </p:spPr>
        <p:txBody>
          <a:bodyPr wrap="square" anchor="t" lIns="0" rIns="0" tIns="0" bIns="0">
            <a:spAutoFit/>
          </a:bodyPr>
          <a:lstStyle/>
          <a:p>
            <a:pPr algn="l">
              <a:lnSpc>
                <a:spcPct val="150000"/>
              </a:lnSpc>
            </a:pPr>
            <a:r>
              <a:rPr sz="1650" b="0" i="0">
                <a:solidFill>
                  <a:srgbClr val="1C1730"/>
                </a:solidFill>
                <a:latin typeface="Calibri"/>
              </a:rPr>
              <a:t>The more blocks get built on top of a given block, the more expensive and difficult it becomes to rewrite it — this is exactly what "number of confirmations" means in practice on a block explorer.</a:t>
            </a:r>
          </a:p>
        </p:txBody>
      </p:sp>
      <p:sp>
        <p:nvSpPr>
          <p:cNvPr id="7" name="Rounded Rectangle 6"/>
          <p:cNvSpPr/>
          <p:nvPr/>
        </p:nvSpPr>
        <p:spPr>
          <a:xfrm>
            <a:off x="822960" y="4434840"/>
            <a:ext cx="10515600" cy="1280160"/>
          </a:xfrm>
          <a:prstGeom prst="roundRect">
            <a:avLst>
              <a:gd name="adj" fmla="val 6000"/>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617720"/>
            <a:ext cx="9875520" cy="320040"/>
          </a:xfrm>
          <a:prstGeom prst="rect">
            <a:avLst/>
          </a:prstGeom>
          <a:noFill/>
        </p:spPr>
        <p:txBody>
          <a:bodyPr wrap="square" anchor="t" lIns="0" rIns="0" tIns="0" bIns="0">
            <a:spAutoFit/>
          </a:bodyPr>
          <a:lstStyle/>
          <a:p>
            <a:pPr algn="l">
              <a:lnSpc>
                <a:spcPct val="115000"/>
              </a:lnSpc>
            </a:pPr>
            <a:r>
              <a:rPr sz="1100" b="1" i="0">
                <a:solidFill>
                  <a:srgbClr val="33506A"/>
                </a:solidFill>
                <a:latin typeface="Calibri"/>
              </a:rPr>
              <a:t>EXAMPLE</a:t>
            </a:r>
          </a:p>
        </p:txBody>
      </p:sp>
      <p:sp>
        <p:nvSpPr>
          <p:cNvPr id="9" name="TextBox 8"/>
          <p:cNvSpPr txBox="1"/>
          <p:nvPr/>
        </p:nvSpPr>
        <p:spPr>
          <a:xfrm>
            <a:off x="1143000" y="4956048"/>
            <a:ext cx="9875520" cy="640080"/>
          </a:xfrm>
          <a:prstGeom prst="rect">
            <a:avLst/>
          </a:prstGeom>
          <a:noFill/>
        </p:spPr>
        <p:txBody>
          <a:bodyPr wrap="square" anchor="t" lIns="0" rIns="0" tIns="0" bIns="0">
            <a:spAutoFit/>
          </a:bodyPr>
          <a:lstStyle/>
          <a:p>
            <a:pPr algn="l">
              <a:lnSpc>
                <a:spcPct val="130000"/>
              </a:lnSpc>
            </a:pPr>
            <a:r>
              <a:rPr sz="1400" b="0" i="0">
                <a:solidFill>
                  <a:srgbClr val="1C1730"/>
                </a:solidFill>
                <a:latin typeface="Consolas"/>
              </a:rPr>
              <a:t>6 confirmations = 6 blocks now depend on this one being correct.</a:t>
            </a:r>
          </a:p>
        </p:txBody>
      </p:sp>
      <p:sp>
        <p:nvSpPr>
          <p:cNvPr id="10" name="TextBox 9"/>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07 / 15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33506A"/>
                </a:solidFill>
                <a:latin typeface="Calibri"/>
              </a:rPr>
              <a:t>WORKED EXAMPLE — PART 1</a:t>
            </a:r>
          </a:p>
        </p:txBody>
      </p:sp>
      <p:sp>
        <p:nvSpPr>
          <p:cNvPr id="4" name="TextBox 3"/>
          <p:cNvSpPr txBox="1"/>
          <p:nvPr/>
        </p:nvSpPr>
        <p:spPr>
          <a:xfrm>
            <a:off x="822960" y="1051560"/>
            <a:ext cx="10332720" cy="1005840"/>
          </a:xfrm>
          <a:prstGeom prst="rect">
            <a:avLst/>
          </a:prstGeom>
          <a:noFill/>
        </p:spPr>
        <p:txBody>
          <a:bodyPr wrap="square" anchor="t" lIns="0" rIns="0" tIns="0" bIns="0">
            <a:spAutoFit/>
          </a:bodyPr>
          <a:lstStyle/>
          <a:p>
            <a:pPr algn="l">
              <a:lnSpc>
                <a:spcPct val="105000"/>
              </a:lnSpc>
            </a:pPr>
            <a:r>
              <a:rPr sz="2700" b="1" i="0">
                <a:solidFill>
                  <a:srgbClr val="1C1730"/>
                </a:solidFill>
                <a:latin typeface="Century Gothic"/>
              </a:rPr>
              <a:t>A Real, Runnable 3-Block Chain — And A Real Tampering Attempt</a:t>
            </a:r>
          </a:p>
        </p:txBody>
      </p:sp>
      <p:sp>
        <p:nvSpPr>
          <p:cNvPr id="5" name="Rounded Rectangle 4"/>
          <p:cNvSpPr/>
          <p:nvPr/>
        </p:nvSpPr>
        <p:spPr>
          <a:xfrm>
            <a:off x="822960" y="1965960"/>
            <a:ext cx="10515600" cy="3840480"/>
          </a:xfrm>
          <a:prstGeom prst="roundRect">
            <a:avLst>
              <a:gd name="adj" fmla="val 4500"/>
            </a:avLst>
          </a:prstGeom>
          <a:solidFill>
            <a:srgbClr val="1410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24128" y="2130552"/>
            <a:ext cx="109728" cy="109728"/>
          </a:xfrm>
          <a:prstGeom prst="ellipse">
            <a:avLst/>
          </a:prstGeom>
          <a:solidFill>
            <a:srgbClr val="FF6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225296" y="2130552"/>
            <a:ext cx="109728" cy="109728"/>
          </a:xfrm>
          <a:prstGeom prst="ellipse">
            <a:avLst/>
          </a:prstGeom>
          <a:solidFill>
            <a:srgbClr val="FFC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426464" y="2130552"/>
            <a:ext cx="109728" cy="109728"/>
          </a:xfrm>
          <a:prstGeom prst="ellipse">
            <a:avLst/>
          </a:prstGeom>
          <a:solidFill>
            <a:srgbClr val="28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78992" y="2350008"/>
            <a:ext cx="10003536" cy="3273552"/>
          </a:xfrm>
          <a:prstGeom prst="rect">
            <a:avLst/>
          </a:prstGeom>
          <a:noFill/>
        </p:spPr>
        <p:txBody>
          <a:bodyPr wrap="square" anchor="t" lIns="0" rIns="0" tIns="0" bIns="0">
            <a:spAutoFit/>
          </a:bodyPr>
          <a:lstStyle/>
          <a:p>
            <a:pPr algn="l">
              <a:lnSpc>
                <a:spcPct val="135000"/>
              </a:lnSpc>
            </a:pPr>
            <a:r>
              <a:rPr sz="1350" b="0">
                <a:solidFill>
                  <a:srgbClr val="8B84AD"/>
                </a:solidFill>
                <a:latin typeface="Consolas"/>
              </a:rPr>
              <a:t># attacker edits Block 2's data after the fact:</a:t>
            </a:r>
          </a:p>
          <a:p>
            <a:pPr algn="l">
              <a:lnSpc>
                <a:spcPct val="135000"/>
              </a:lnSpc>
            </a:pPr>
            <a:r>
              <a:rPr sz="1350" b="0">
                <a:solidFill>
                  <a:srgbClr val="EDE9F7"/>
                </a:solidFill>
                <a:latin typeface="Consolas"/>
              </a:rPr>
              <a:t>Block 2 ORIGINAL hash:</a:t>
            </a:r>
          </a:p>
          <a:p>
            <a:pPr algn="l">
              <a:lnSpc>
                <a:spcPct val="135000"/>
              </a:lnSpc>
            </a:pPr>
            <a:r>
              <a:rPr sz="1350" b="0">
                <a:solidFill>
                  <a:srgbClr val="7FE0C4"/>
                </a:solidFill>
                <a:latin typeface="Consolas"/>
              </a:rPr>
              <a:t>7dd7f6149021fd741a6b1cf5ef626f386a2d8c0cfa68de41c75f29f3b824623f</a:t>
            </a:r>
          </a:p>
          <a:p>
            <a:pPr algn="l">
              <a:lnSpc>
                <a:spcPct val="135000"/>
              </a:lnSpc>
            </a:pPr>
            <a:r>
              <a:rPr sz="1350" b="0">
                <a:solidFill>
                  <a:srgbClr val="EDE9F7"/>
                </a:solidFill>
                <a:latin typeface="Consolas"/>
              </a:rPr>
              <a:t>Block 3 still expects prev =</a:t>
            </a:r>
          </a:p>
          <a:p>
            <a:pPr algn="l">
              <a:lnSpc>
                <a:spcPct val="135000"/>
              </a:lnSpc>
            </a:pPr>
            <a:r>
              <a:rPr sz="1350" b="0">
                <a:solidFill>
                  <a:srgbClr val="7FE0C4"/>
                </a:solidFill>
                <a:latin typeface="Consolas"/>
              </a:rPr>
              <a:t>7dd7f6149021fd741a6b1cf5ef626f386a2d8c0cfa68de41c75f29f3b824623f</a:t>
            </a:r>
          </a:p>
          <a:p>
            <a:pPr algn="l">
              <a:lnSpc>
                <a:spcPct val="135000"/>
              </a:lnSpc>
            </a:pPr>
            <a:r>
              <a:rPr sz="1350" b="0">
                <a:solidFill>
                  <a:srgbClr val="EDE9F7"/>
                </a:solidFill>
                <a:latin typeface="Consolas"/>
              </a:rPr>
              <a:t/>
            </a:r>
          </a:p>
          <a:p>
            <a:pPr algn="l">
              <a:lnSpc>
                <a:spcPct val="135000"/>
              </a:lnSpc>
            </a:pPr>
            <a:r>
              <a:rPr sz="1350" b="0">
                <a:solidFill>
                  <a:srgbClr val="EDE9F7"/>
                </a:solidFill>
                <a:latin typeface="Consolas"/>
              </a:rPr>
              <a:t>Block 2 hash AFTER the edit:</a:t>
            </a:r>
          </a:p>
          <a:p>
            <a:pPr algn="l">
              <a:lnSpc>
                <a:spcPct val="135000"/>
              </a:lnSpc>
            </a:pPr>
            <a:r>
              <a:rPr sz="1350" b="0">
                <a:solidFill>
                  <a:srgbClr val="FF8E7D"/>
                </a:solidFill>
                <a:latin typeface="Consolas"/>
              </a:rPr>
              <a:t>6c7db182ce1b8061543e98d0549c337486a15d1bb8ff7a675ccc681b59e5a216</a:t>
            </a:r>
          </a:p>
          <a:p>
            <a:pPr algn="l">
              <a:lnSpc>
                <a:spcPct val="135000"/>
              </a:lnSpc>
            </a:pPr>
            <a:r>
              <a:rPr sz="1350" b="0">
                <a:solidFill>
                  <a:srgbClr val="EDE9F7"/>
                </a:solidFill>
                <a:latin typeface="Consolas"/>
              </a:rPr>
              <a:t>Match? </a:t>
            </a:r>
            <a:r>
              <a:rPr sz="1350" b="1">
                <a:solidFill>
                  <a:srgbClr val="FF8E7D"/>
                </a:solidFill>
                <a:latin typeface="Consolas"/>
              </a:rPr>
              <a:t>False</a:t>
            </a:r>
          </a:p>
        </p:txBody>
      </p:sp>
      <p:sp>
        <p:nvSpPr>
          <p:cNvPr id="10" name="TextBox 9"/>
          <p:cNvSpPr txBox="1"/>
          <p:nvPr/>
        </p:nvSpPr>
        <p:spPr>
          <a:xfrm>
            <a:off x="822960" y="6446520"/>
            <a:ext cx="10058400" cy="320040"/>
          </a:xfrm>
          <a:prstGeom prst="rect">
            <a:avLst/>
          </a:prstGeom>
          <a:noFill/>
        </p:spPr>
        <p:txBody>
          <a:bodyPr wrap="square" anchor="t" lIns="0" rIns="0" tIns="0" bIns="0">
            <a:spAutoFit/>
          </a:bodyPr>
          <a:lstStyle/>
          <a:p>
            <a:pPr algn="l">
              <a:lnSpc>
                <a:spcPct val="115000"/>
              </a:lnSpc>
            </a:pPr>
            <a:r>
              <a:rPr sz="1050" b="0" i="0">
                <a:solidFill>
                  <a:srgbClr val="5C576E"/>
                </a:solidFill>
                <a:latin typeface="Calibri"/>
              </a:rPr>
              <a:t>Built with Python's hashlib — the same primitive from Topic 01, applied exactly as described.</a:t>
            </a:r>
          </a:p>
        </p:txBody>
      </p:sp>
      <p:sp>
        <p:nvSpPr>
          <p:cNvPr id="11" name="TextBox 10"/>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08 / 15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33506A"/>
                </a:solidFill>
                <a:latin typeface="Calibri"/>
              </a:rPr>
              <a:t>WORKED EXAMPLE — PART 2</a:t>
            </a:r>
          </a:p>
        </p:txBody>
      </p:sp>
      <p:sp>
        <p:nvSpPr>
          <p:cNvPr id="4" name="TextBox 3"/>
          <p:cNvSpPr txBox="1"/>
          <p:nvPr/>
        </p:nvSpPr>
        <p:spPr>
          <a:xfrm>
            <a:off x="822960" y="1051560"/>
            <a:ext cx="10332720" cy="1005840"/>
          </a:xfrm>
          <a:prstGeom prst="rect">
            <a:avLst/>
          </a:prstGeom>
          <a:noFill/>
        </p:spPr>
        <p:txBody>
          <a:bodyPr wrap="square" anchor="t" lIns="0" rIns="0" tIns="0" bIns="0">
            <a:spAutoFit/>
          </a:bodyPr>
          <a:lstStyle/>
          <a:p>
            <a:pPr algn="l">
              <a:lnSpc>
                <a:spcPct val="105000"/>
              </a:lnSpc>
            </a:pPr>
            <a:r>
              <a:rPr sz="2700" b="1" i="0">
                <a:solidFill>
                  <a:srgbClr val="1C1730"/>
                </a:solidFill>
                <a:latin typeface="Century Gothic"/>
              </a:rPr>
              <a:t>You Already Use This Structure — It's Called Git</a:t>
            </a:r>
          </a:p>
        </p:txBody>
      </p:sp>
      <p:sp>
        <p:nvSpPr>
          <p:cNvPr id="5" name="Rounded Rectangle 4"/>
          <p:cNvSpPr/>
          <p:nvPr/>
        </p:nvSpPr>
        <p:spPr>
          <a:xfrm>
            <a:off x="822960" y="1965960"/>
            <a:ext cx="10515600" cy="3840480"/>
          </a:xfrm>
          <a:prstGeom prst="roundRect">
            <a:avLst>
              <a:gd name="adj" fmla="val 4500"/>
            </a:avLst>
          </a:prstGeom>
          <a:solidFill>
            <a:srgbClr val="1410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24128" y="2130552"/>
            <a:ext cx="109728" cy="109728"/>
          </a:xfrm>
          <a:prstGeom prst="ellipse">
            <a:avLst/>
          </a:prstGeom>
          <a:solidFill>
            <a:srgbClr val="FF6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225296" y="2130552"/>
            <a:ext cx="109728" cy="109728"/>
          </a:xfrm>
          <a:prstGeom prst="ellipse">
            <a:avLst/>
          </a:prstGeom>
          <a:solidFill>
            <a:srgbClr val="FFC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426464" y="2130552"/>
            <a:ext cx="109728" cy="109728"/>
          </a:xfrm>
          <a:prstGeom prst="ellipse">
            <a:avLst/>
          </a:prstGeom>
          <a:solidFill>
            <a:srgbClr val="28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78992" y="2350008"/>
            <a:ext cx="10003536" cy="3273552"/>
          </a:xfrm>
          <a:prstGeom prst="rect">
            <a:avLst/>
          </a:prstGeom>
          <a:noFill/>
        </p:spPr>
        <p:txBody>
          <a:bodyPr wrap="square" anchor="t" lIns="0" rIns="0" tIns="0" bIns="0">
            <a:spAutoFit/>
          </a:bodyPr>
          <a:lstStyle/>
          <a:p>
            <a:pPr algn="l">
              <a:lnSpc>
                <a:spcPct val="135000"/>
              </a:lnSpc>
            </a:pPr>
            <a:r>
              <a:rPr sz="1350" b="1">
                <a:solidFill>
                  <a:srgbClr val="9C93C9"/>
                </a:solidFill>
                <a:latin typeface="Consolas"/>
              </a:rPr>
              <a:t>$ </a:t>
            </a:r>
            <a:r>
              <a:rPr sz="1350" b="0">
                <a:solidFill>
                  <a:srgbClr val="EDE9F7"/>
                </a:solidFill>
                <a:latin typeface="Consolas"/>
              </a:rPr>
              <a:t>git log --format="commit %H%nparent %P"</a:t>
            </a:r>
          </a:p>
          <a:p>
            <a:pPr algn="l">
              <a:lnSpc>
                <a:spcPct val="135000"/>
              </a:lnSpc>
            </a:pPr>
            <a:r>
              <a:rPr sz="1350" b="0">
                <a:solidFill>
                  <a:srgbClr val="EDE9F7"/>
                </a:solidFill>
                <a:latin typeface="Consolas"/>
              </a:rPr>
              <a:t/>
            </a:r>
          </a:p>
          <a:p>
            <a:pPr algn="l">
              <a:lnSpc>
                <a:spcPct val="135000"/>
              </a:lnSpc>
            </a:pPr>
            <a:r>
              <a:rPr sz="1350" b="0">
                <a:solidFill>
                  <a:srgbClr val="EDE9F7"/>
                </a:solidFill>
                <a:latin typeface="Consolas"/>
              </a:rPr>
              <a:t>commit </a:t>
            </a:r>
            <a:r>
              <a:rPr sz="1350" b="0">
                <a:solidFill>
                  <a:srgbClr val="7FE0C4"/>
                </a:solidFill>
                <a:latin typeface="Consolas"/>
              </a:rPr>
              <a:t>14170b8693832cd89ca256741e1af856ede4361</a:t>
            </a:r>
          </a:p>
          <a:p>
            <a:pPr algn="l">
              <a:lnSpc>
                <a:spcPct val="135000"/>
              </a:lnSpc>
            </a:pPr>
            <a:r>
              <a:rPr sz="1350" b="0">
                <a:solidFill>
                  <a:srgbClr val="EDE9F7"/>
                </a:solidFill>
                <a:latin typeface="Consolas"/>
              </a:rPr>
              <a:t>parent </a:t>
            </a:r>
            <a:r>
              <a:rPr sz="1350" b="0">
                <a:solidFill>
                  <a:srgbClr val="7FE0C4"/>
                </a:solidFill>
                <a:latin typeface="Consolas"/>
              </a:rPr>
              <a:t>5c0144c7a07feca64a44f84b71b369c6b9d1304</a:t>
            </a:r>
          </a:p>
          <a:p>
            <a:pPr algn="l">
              <a:lnSpc>
                <a:spcPct val="135000"/>
              </a:lnSpc>
            </a:pPr>
            <a:r>
              <a:rPr sz="1350" b="0">
                <a:solidFill>
                  <a:srgbClr val="EDE9F7"/>
                </a:solidFill>
                <a:latin typeface="Consolas"/>
              </a:rPr>
              <a:t/>
            </a:r>
          </a:p>
          <a:p>
            <a:pPr algn="l">
              <a:lnSpc>
                <a:spcPct val="135000"/>
              </a:lnSpc>
            </a:pPr>
            <a:r>
              <a:rPr sz="1350" b="0">
                <a:solidFill>
                  <a:srgbClr val="EDE9F7"/>
                </a:solidFill>
                <a:latin typeface="Consolas"/>
              </a:rPr>
              <a:t>commit </a:t>
            </a:r>
            <a:r>
              <a:rPr sz="1350" b="0">
                <a:solidFill>
                  <a:srgbClr val="7FE0C4"/>
                </a:solidFill>
                <a:latin typeface="Consolas"/>
              </a:rPr>
              <a:t>5c0144c7a07feca64a44f84b71b369c6b9d1304</a:t>
            </a:r>
          </a:p>
          <a:p>
            <a:pPr algn="l">
              <a:lnSpc>
                <a:spcPct val="135000"/>
              </a:lnSpc>
            </a:pPr>
            <a:r>
              <a:rPr sz="1350" b="0">
                <a:solidFill>
                  <a:srgbClr val="EDE9F7"/>
                </a:solidFill>
                <a:latin typeface="Consolas"/>
              </a:rPr>
              <a:t>parent </a:t>
            </a:r>
            <a:r>
              <a:rPr sz="1350" b="0">
                <a:solidFill>
                  <a:srgbClr val="8B84AD"/>
                </a:solidFill>
                <a:latin typeface="Consolas"/>
              </a:rPr>
              <a:t>(none — first commit)</a:t>
            </a:r>
          </a:p>
        </p:txBody>
      </p:sp>
      <p:sp>
        <p:nvSpPr>
          <p:cNvPr id="10" name="TextBox 9"/>
          <p:cNvSpPr txBox="1"/>
          <p:nvPr/>
        </p:nvSpPr>
        <p:spPr>
          <a:xfrm>
            <a:off x="822960" y="6446520"/>
            <a:ext cx="10058400" cy="320040"/>
          </a:xfrm>
          <a:prstGeom prst="rect">
            <a:avLst/>
          </a:prstGeom>
          <a:noFill/>
        </p:spPr>
        <p:txBody>
          <a:bodyPr wrap="square" anchor="t" lIns="0" rIns="0" tIns="0" bIns="0">
            <a:spAutoFit/>
          </a:bodyPr>
          <a:lstStyle/>
          <a:p>
            <a:pPr algn="l">
              <a:lnSpc>
                <a:spcPct val="115000"/>
              </a:lnSpc>
            </a:pPr>
            <a:r>
              <a:rPr sz="1050" b="0" i="0">
                <a:solidFill>
                  <a:srgbClr val="5C576E"/>
                </a:solidFill>
                <a:latin typeface="Calibri"/>
              </a:rPr>
              <a:t>Real output from a real git repo. Every commit you've made stores its parent's hash — same structure.</a:t>
            </a:r>
          </a:p>
        </p:txBody>
      </p:sp>
      <p:sp>
        <p:nvSpPr>
          <p:cNvPr id="11" name="TextBox 10"/>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09 / 15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33506A"/>
                </a:solidFill>
                <a:latin typeface="Calibri"/>
              </a:rPr>
              <a:t>REAL-WORLD USES</a:t>
            </a:r>
          </a:p>
        </p:txBody>
      </p:sp>
      <p:sp>
        <p:nvSpPr>
          <p:cNvPr id="4" name="TextBox 3"/>
          <p:cNvSpPr txBox="1"/>
          <p:nvPr/>
        </p:nvSpPr>
        <p:spPr>
          <a:xfrm>
            <a:off x="822960" y="105156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Not Just Blockchain</a:t>
            </a:r>
          </a:p>
        </p:txBody>
      </p:sp>
      <p:sp>
        <p:nvSpPr>
          <p:cNvPr id="5" name="Rounded Rectangle 4"/>
          <p:cNvSpPr/>
          <p:nvPr/>
        </p:nvSpPr>
        <p:spPr>
          <a:xfrm>
            <a:off x="822960" y="2011680"/>
            <a:ext cx="3322320" cy="3108960"/>
          </a:xfrm>
          <a:prstGeom prst="roundRect">
            <a:avLst>
              <a:gd name="adj" fmla="val 9000"/>
            </a:avLst>
          </a:prstGeom>
          <a:solidFill>
            <a:srgbClr val="FFFFFF"/>
          </a:solidFill>
          <a:ln w="12700">
            <a:solidFill>
              <a:srgbClr val="DED9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 y="2267712"/>
            <a:ext cx="2810256" cy="457200"/>
          </a:xfrm>
          <a:prstGeom prst="rect">
            <a:avLst/>
          </a:prstGeom>
          <a:noFill/>
        </p:spPr>
        <p:txBody>
          <a:bodyPr wrap="square" anchor="t" lIns="0" rIns="0" tIns="0" bIns="0">
            <a:spAutoFit/>
          </a:bodyPr>
          <a:lstStyle/>
          <a:p>
            <a:pPr algn="l">
              <a:lnSpc>
                <a:spcPct val="115000"/>
              </a:lnSpc>
            </a:pPr>
            <a:r>
              <a:rPr sz="1450" b="1" i="0">
                <a:solidFill>
                  <a:srgbClr val="33506A"/>
                </a:solidFill>
                <a:latin typeface="Century Gothic"/>
              </a:rPr>
              <a:t>Audit Logs</a:t>
            </a:r>
          </a:p>
        </p:txBody>
      </p:sp>
      <p:sp>
        <p:nvSpPr>
          <p:cNvPr id="7" name="TextBox 6"/>
          <p:cNvSpPr txBox="1"/>
          <p:nvPr/>
        </p:nvSpPr>
        <p:spPr>
          <a:xfrm>
            <a:off x="1078992" y="2724912"/>
            <a:ext cx="2810256" cy="2258568"/>
          </a:xfrm>
          <a:prstGeom prst="rect">
            <a:avLst/>
          </a:prstGeom>
          <a:noFill/>
        </p:spPr>
        <p:txBody>
          <a:bodyPr wrap="square" anchor="t" lIns="0" rIns="0" tIns="0" bIns="0">
            <a:spAutoFit/>
          </a:bodyPr>
          <a:lstStyle/>
          <a:p>
            <a:pPr algn="l">
              <a:lnSpc>
                <a:spcPct val="128000"/>
              </a:lnSpc>
            </a:pPr>
            <a:r>
              <a:rPr sz="1150" b="0" i="0">
                <a:solidFill>
                  <a:srgbClr val="1C1730"/>
                </a:solidFill>
                <a:latin typeface="Calibri"/>
              </a:rPr>
              <a:t>Financial and healthcare systems hash-chain compliance logs so auditors can prove records weren't altered after the fact.</a:t>
            </a:r>
          </a:p>
        </p:txBody>
      </p:sp>
      <p:sp>
        <p:nvSpPr>
          <p:cNvPr id="8" name="Rounded Rectangle 7"/>
          <p:cNvSpPr/>
          <p:nvPr/>
        </p:nvSpPr>
        <p:spPr>
          <a:xfrm>
            <a:off x="4419600" y="2011680"/>
            <a:ext cx="3322320" cy="3108960"/>
          </a:xfrm>
          <a:prstGeom prst="roundRect">
            <a:avLst>
              <a:gd name="adj" fmla="val 9000"/>
            </a:avLst>
          </a:prstGeom>
          <a:solidFill>
            <a:srgbClr val="FFFFFF"/>
          </a:solidFill>
          <a:ln w="12700">
            <a:solidFill>
              <a:srgbClr val="DED9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75632" y="2267712"/>
            <a:ext cx="2810256" cy="457200"/>
          </a:xfrm>
          <a:prstGeom prst="rect">
            <a:avLst/>
          </a:prstGeom>
          <a:noFill/>
        </p:spPr>
        <p:txBody>
          <a:bodyPr wrap="square" anchor="t" lIns="0" rIns="0" tIns="0" bIns="0">
            <a:spAutoFit/>
          </a:bodyPr>
          <a:lstStyle/>
          <a:p>
            <a:pPr algn="l">
              <a:lnSpc>
                <a:spcPct val="115000"/>
              </a:lnSpc>
            </a:pPr>
            <a:r>
              <a:rPr sz="1450" b="1" i="0">
                <a:solidFill>
                  <a:srgbClr val="33506A"/>
                </a:solidFill>
                <a:latin typeface="Century Gothic"/>
              </a:rPr>
              <a:t>Certificate Transparency</a:t>
            </a:r>
          </a:p>
        </p:txBody>
      </p:sp>
      <p:sp>
        <p:nvSpPr>
          <p:cNvPr id="10" name="TextBox 9"/>
          <p:cNvSpPr txBox="1"/>
          <p:nvPr/>
        </p:nvSpPr>
        <p:spPr>
          <a:xfrm>
            <a:off x="4675632" y="2724912"/>
            <a:ext cx="2810256" cy="2258568"/>
          </a:xfrm>
          <a:prstGeom prst="rect">
            <a:avLst/>
          </a:prstGeom>
          <a:noFill/>
        </p:spPr>
        <p:txBody>
          <a:bodyPr wrap="square" anchor="t" lIns="0" rIns="0" tIns="0" bIns="0">
            <a:spAutoFit/>
          </a:bodyPr>
          <a:lstStyle/>
          <a:p>
            <a:pPr algn="l">
              <a:lnSpc>
                <a:spcPct val="128000"/>
              </a:lnSpc>
            </a:pPr>
            <a:r>
              <a:rPr sz="1150" b="0" i="0">
                <a:solidFill>
                  <a:srgbClr val="1C1730"/>
                </a:solidFill>
                <a:latin typeface="Calibri"/>
              </a:rPr>
              <a:t>Every SSL certificate issued is logged into a public, hash-chained, tamper-evident record.</a:t>
            </a:r>
          </a:p>
        </p:txBody>
      </p:sp>
      <p:sp>
        <p:nvSpPr>
          <p:cNvPr id="11" name="Rounded Rectangle 10"/>
          <p:cNvSpPr/>
          <p:nvPr/>
        </p:nvSpPr>
        <p:spPr>
          <a:xfrm>
            <a:off x="8016240" y="2011680"/>
            <a:ext cx="3322320" cy="3108960"/>
          </a:xfrm>
          <a:prstGeom prst="roundRect">
            <a:avLst>
              <a:gd name="adj" fmla="val 9000"/>
            </a:avLst>
          </a:prstGeom>
          <a:solidFill>
            <a:srgbClr val="FFFFFF"/>
          </a:solidFill>
          <a:ln w="12700">
            <a:solidFill>
              <a:srgbClr val="DED9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2272" y="2267712"/>
            <a:ext cx="2810256" cy="457200"/>
          </a:xfrm>
          <a:prstGeom prst="rect">
            <a:avLst/>
          </a:prstGeom>
          <a:noFill/>
        </p:spPr>
        <p:txBody>
          <a:bodyPr wrap="square" anchor="t" lIns="0" rIns="0" tIns="0" bIns="0">
            <a:spAutoFit/>
          </a:bodyPr>
          <a:lstStyle/>
          <a:p>
            <a:pPr algn="l">
              <a:lnSpc>
                <a:spcPct val="115000"/>
              </a:lnSpc>
            </a:pPr>
            <a:r>
              <a:rPr sz="1450" b="1" i="0">
                <a:solidFill>
                  <a:srgbClr val="33506A"/>
                </a:solidFill>
                <a:latin typeface="Century Gothic"/>
              </a:rPr>
              <a:t>Merkle Trees / SPV</a:t>
            </a:r>
          </a:p>
        </p:txBody>
      </p:sp>
      <p:sp>
        <p:nvSpPr>
          <p:cNvPr id="13" name="TextBox 12"/>
          <p:cNvSpPr txBox="1"/>
          <p:nvPr/>
        </p:nvSpPr>
        <p:spPr>
          <a:xfrm>
            <a:off x="8272272" y="2724912"/>
            <a:ext cx="2810256" cy="2258568"/>
          </a:xfrm>
          <a:prstGeom prst="rect">
            <a:avLst/>
          </a:prstGeom>
          <a:noFill/>
        </p:spPr>
        <p:txBody>
          <a:bodyPr wrap="square" anchor="t" lIns="0" rIns="0" tIns="0" bIns="0">
            <a:spAutoFit/>
          </a:bodyPr>
          <a:lstStyle/>
          <a:p>
            <a:pPr algn="l">
              <a:lnSpc>
                <a:spcPct val="128000"/>
              </a:lnSpc>
            </a:pPr>
            <a:r>
              <a:rPr sz="1150" b="0" i="0">
                <a:solidFill>
                  <a:srgbClr val="1C1730"/>
                </a:solidFill>
                <a:latin typeface="Calibri"/>
              </a:rPr>
              <a:t>Lightweight wallets verify a single transaction is in a block via a short proof — without downloading the whole block.</a:t>
            </a:r>
          </a:p>
        </p:txBody>
      </p:sp>
      <p:sp>
        <p:nvSpPr>
          <p:cNvPr id="14" name="TextBox 13"/>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10 / 15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33506A"/>
                </a:solidFill>
                <a:latin typeface="Calibri"/>
              </a:rPr>
              <a:t>FLAGSHIP CASE STUDY</a:t>
            </a:r>
          </a:p>
        </p:txBody>
      </p:sp>
      <p:sp>
        <p:nvSpPr>
          <p:cNvPr id="4" name="TextBox 3"/>
          <p:cNvSpPr txBox="1"/>
          <p:nvPr/>
        </p:nvSpPr>
        <p:spPr>
          <a:xfrm>
            <a:off x="822960" y="1097280"/>
            <a:ext cx="10332720" cy="1005840"/>
          </a:xfrm>
          <a:prstGeom prst="rect">
            <a:avLst/>
          </a:prstGeom>
          <a:noFill/>
        </p:spPr>
        <p:txBody>
          <a:bodyPr wrap="square" anchor="t" lIns="0" rIns="0" tIns="0" bIns="0">
            <a:spAutoFit/>
          </a:bodyPr>
          <a:lstStyle/>
          <a:p>
            <a:pPr algn="l">
              <a:lnSpc>
                <a:spcPct val="105000"/>
              </a:lnSpc>
            </a:pPr>
            <a:r>
              <a:rPr sz="3000" b="1" i="0">
                <a:solidFill>
                  <a:srgbClr val="1C1730"/>
                </a:solidFill>
                <a:latin typeface="Century Gothic"/>
              </a:rPr>
              <a:t>You Already Use This — It's Called Git</a:t>
            </a:r>
          </a:p>
        </p:txBody>
      </p:sp>
      <p:sp>
        <p:nvSpPr>
          <p:cNvPr id="5" name="Rounded Rectangle 4"/>
          <p:cNvSpPr/>
          <p:nvPr/>
        </p:nvSpPr>
        <p:spPr>
          <a:xfrm>
            <a:off x="822960" y="2423160"/>
            <a:ext cx="10515600" cy="3749039"/>
          </a:xfrm>
          <a:prstGeom prst="roundRect">
            <a:avLst>
              <a:gd name="adj" fmla="val 4000"/>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743200"/>
            <a:ext cx="9601200" cy="3200400"/>
          </a:xfrm>
          <a:prstGeom prst="rect">
            <a:avLst/>
          </a:prstGeom>
          <a:noFill/>
        </p:spPr>
        <p:txBody>
          <a:bodyPr wrap="square" anchor="t" lIns="0" rIns="0" tIns="0" bIns="0">
            <a:spAutoFit/>
          </a:bodyPr>
          <a:lstStyle/>
          <a:p>
            <a:pPr algn="l">
              <a:lnSpc>
                <a:spcPct val="155000"/>
              </a:lnSpc>
            </a:pPr>
            <a:r>
              <a:rPr sz="1600" b="0" i="0">
                <a:solidFill>
                  <a:srgbClr val="FFFFFF"/>
                </a:solidFill>
                <a:latin typeface="Calibri"/>
              </a:rPr>
              <a:t>Every commit you've ever made is identified by a hash, and stores the hash of its parent commit. If you rewrite old git history, every commit's hash after it changes too — which is exactly why force-pushing over shared history is so disruptive. You've been working with a hash-linked chain of tamper-evident snapshots your entire career as a developer, whether or not you ever thought of it that way.</a:t>
            </a:r>
          </a:p>
        </p:txBody>
      </p:sp>
      <p:sp>
        <p:nvSpPr>
          <p:cNvPr id="7" name="TextBox 6"/>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11 / 15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33506A"/>
                </a:solidFill>
                <a:latin typeface="Calibri"/>
              </a:rPr>
              <a:t>REAL-LIFE ANALOGY</a:t>
            </a:r>
          </a:p>
        </p:txBody>
      </p:sp>
      <p:sp>
        <p:nvSpPr>
          <p:cNvPr id="4" name="TextBox 3"/>
          <p:cNvSpPr txBox="1"/>
          <p:nvPr/>
        </p:nvSpPr>
        <p:spPr>
          <a:xfrm>
            <a:off x="822960" y="1097280"/>
            <a:ext cx="10332720" cy="1005840"/>
          </a:xfrm>
          <a:prstGeom prst="rect">
            <a:avLst/>
          </a:prstGeom>
          <a:noFill/>
        </p:spPr>
        <p:txBody>
          <a:bodyPr wrap="square" anchor="t" lIns="0" rIns="0" tIns="0" bIns="0">
            <a:spAutoFit/>
          </a:bodyPr>
          <a:lstStyle/>
          <a:p>
            <a:pPr algn="l">
              <a:lnSpc>
                <a:spcPct val="105000"/>
              </a:lnSpc>
            </a:pPr>
            <a:r>
              <a:rPr sz="3000" b="1" i="0">
                <a:solidFill>
                  <a:srgbClr val="1C1730"/>
                </a:solidFill>
                <a:latin typeface="Century Gothic"/>
              </a:rPr>
              <a:t>A Stack Of Stapled Receipts</a:t>
            </a:r>
          </a:p>
        </p:txBody>
      </p:sp>
      <p:sp>
        <p:nvSpPr>
          <p:cNvPr id="5" name="Rectangle 4"/>
          <p:cNvSpPr/>
          <p:nvPr/>
        </p:nvSpPr>
        <p:spPr>
          <a:xfrm>
            <a:off x="822960" y="2286000"/>
            <a:ext cx="91440" cy="3657600"/>
          </a:xfrm>
          <a:prstGeom prst="rect">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377440"/>
            <a:ext cx="9784080" cy="3566160"/>
          </a:xfrm>
          <a:prstGeom prst="rect">
            <a:avLst/>
          </a:prstGeom>
          <a:noFill/>
        </p:spPr>
        <p:txBody>
          <a:bodyPr wrap="square" anchor="t" lIns="0" rIns="0" tIns="0" bIns="0">
            <a:spAutoFit/>
          </a:bodyPr>
          <a:lstStyle/>
          <a:p>
            <a:pPr algn="l">
              <a:lnSpc>
                <a:spcPct val="160000"/>
              </a:lnSpc>
            </a:pPr>
            <a:r>
              <a:rPr sz="1800" b="0" i="0">
                <a:solidFill>
                  <a:srgbClr val="1C1730"/>
                </a:solidFill>
                <a:latin typeface="Calibri"/>
              </a:rPr>
              <a:t>Each new receipt has to write down a summary of the total on the receipt before it. If you sneak into the middle of the stack and change an old total, every receipt stapled after it now has the wrong "previous total" written on it — the mismatch is obvious to anyone flipping through the stack, even without knowing exactly what you changed.</a:t>
            </a:r>
          </a:p>
        </p:txBody>
      </p:sp>
      <p:sp>
        <p:nvSpPr>
          <p:cNvPr id="7" name="TextBox 6"/>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12 / 15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33506A"/>
                </a:solidFill>
                <a:latin typeface="Calibri"/>
              </a:rPr>
              <a:t>COMMON MISCONCEPTIONS</a:t>
            </a:r>
          </a:p>
        </p:txBody>
      </p:sp>
      <p:sp>
        <p:nvSpPr>
          <p:cNvPr id="4" name="TextBox 3"/>
          <p:cNvSpPr txBox="1"/>
          <p:nvPr/>
        </p:nvSpPr>
        <p:spPr>
          <a:xfrm>
            <a:off x="822960" y="1051560"/>
            <a:ext cx="9601200" cy="1005840"/>
          </a:xfrm>
          <a:prstGeom prst="rect">
            <a:avLst/>
          </a:prstGeom>
          <a:noFill/>
        </p:spPr>
        <p:txBody>
          <a:bodyPr wrap="square" anchor="t" lIns="0" rIns="0" tIns="0" bIns="0">
            <a:spAutoFit/>
          </a:bodyPr>
          <a:lstStyle/>
          <a:p>
            <a:pPr algn="l">
              <a:lnSpc>
                <a:spcPct val="105000"/>
              </a:lnSpc>
            </a:pPr>
            <a:r>
              <a:rPr sz="3000" b="1" i="0">
                <a:solidFill>
                  <a:srgbClr val="1C1730"/>
                </a:solidFill>
                <a:latin typeface="Century Gothic"/>
              </a:rPr>
              <a:t>Where People Get Tripped Up</a:t>
            </a:r>
          </a:p>
        </p:txBody>
      </p:sp>
      <p:sp>
        <p:nvSpPr>
          <p:cNvPr id="5" name="Rounded Rectangle 4"/>
          <p:cNvSpPr/>
          <p:nvPr/>
        </p:nvSpPr>
        <p:spPr>
          <a:xfrm>
            <a:off x="822960" y="2057400"/>
            <a:ext cx="10515600" cy="1874519"/>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2057400"/>
            <a:ext cx="82296" cy="1874519"/>
          </a:xfrm>
          <a:prstGeom prst="rect">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2258568"/>
            <a:ext cx="9784080" cy="457200"/>
          </a:xfrm>
          <a:prstGeom prst="rect">
            <a:avLst/>
          </a:prstGeom>
          <a:noFill/>
        </p:spPr>
        <p:txBody>
          <a:bodyPr wrap="square" anchor="t" lIns="0" rIns="0" tIns="0" bIns="0">
            <a:spAutoFit/>
          </a:bodyPr>
          <a:lstStyle/>
          <a:p>
            <a:pPr algn="l">
              <a:lnSpc>
                <a:spcPct val="115000"/>
              </a:lnSpc>
            </a:pPr>
            <a:r>
              <a:rPr sz="1700" b="1" i="0">
                <a:solidFill>
                  <a:srgbClr val="33506A"/>
                </a:solidFill>
                <a:latin typeface="Century Gothic"/>
              </a:rPr>
              <a:t>“Immutable means literally impossible to change.”</a:t>
            </a:r>
          </a:p>
        </p:txBody>
      </p:sp>
      <p:sp>
        <p:nvSpPr>
          <p:cNvPr id="8" name="TextBox 7"/>
          <p:cNvSpPr txBox="1"/>
          <p:nvPr/>
        </p:nvSpPr>
        <p:spPr>
          <a:xfrm>
            <a:off x="1188720" y="2743200"/>
            <a:ext cx="9784080" cy="1097280"/>
          </a:xfrm>
          <a:prstGeom prst="rect">
            <a:avLst/>
          </a:prstGeom>
          <a:noFill/>
        </p:spPr>
        <p:txBody>
          <a:bodyPr wrap="square" anchor="t" lIns="0" rIns="0" tIns="0" bIns="0">
            <a:spAutoFit/>
          </a:bodyPr>
          <a:lstStyle/>
          <a:p>
            <a:pPr algn="l">
              <a:lnSpc>
                <a:spcPct val="135000"/>
              </a:lnSpc>
            </a:pPr>
            <a:r>
              <a:rPr sz="1300" b="0" i="0">
                <a:solidFill>
                  <a:srgbClr val="5C576E"/>
                </a:solidFill>
                <a:latin typeface="Calibri"/>
              </a:rPr>
              <a:t>More precisely: changing it is detectable, and for a large network, economically infeasible — not physically impossible. A well-resourced attacker genuinely can rewrite recent blocks (see Topic 04's real, documented case).</a:t>
            </a:r>
          </a:p>
        </p:txBody>
      </p:sp>
      <p:sp>
        <p:nvSpPr>
          <p:cNvPr id="9" name="Rounded Rectangle 8"/>
          <p:cNvSpPr/>
          <p:nvPr/>
        </p:nvSpPr>
        <p:spPr>
          <a:xfrm>
            <a:off x="822960" y="4160520"/>
            <a:ext cx="10515600" cy="1874519"/>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4160520"/>
            <a:ext cx="82296" cy="1874519"/>
          </a:xfrm>
          <a:prstGeom prst="rect">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4361688"/>
            <a:ext cx="9784080" cy="457200"/>
          </a:xfrm>
          <a:prstGeom prst="rect">
            <a:avLst/>
          </a:prstGeom>
          <a:noFill/>
        </p:spPr>
        <p:txBody>
          <a:bodyPr wrap="square" anchor="t" lIns="0" rIns="0" tIns="0" bIns="0">
            <a:spAutoFit/>
          </a:bodyPr>
          <a:lstStyle/>
          <a:p>
            <a:pPr algn="l">
              <a:lnSpc>
                <a:spcPct val="115000"/>
              </a:lnSpc>
            </a:pPr>
            <a:r>
              <a:rPr sz="1700" b="1" i="0">
                <a:solidFill>
                  <a:srgbClr val="33506A"/>
                </a:solidFill>
                <a:latin typeface="Century Gothic"/>
              </a:rPr>
              <a:t>“A block explorer showing 'success' means it was a good idea.”</a:t>
            </a:r>
          </a:p>
        </p:txBody>
      </p:sp>
      <p:sp>
        <p:nvSpPr>
          <p:cNvPr id="12" name="TextBox 11"/>
          <p:cNvSpPr txBox="1"/>
          <p:nvPr/>
        </p:nvSpPr>
        <p:spPr>
          <a:xfrm>
            <a:off x="1188720" y="4846320"/>
            <a:ext cx="9784080" cy="1097280"/>
          </a:xfrm>
          <a:prstGeom prst="rect">
            <a:avLst/>
          </a:prstGeom>
          <a:noFill/>
        </p:spPr>
        <p:txBody>
          <a:bodyPr wrap="square" anchor="t" lIns="0" rIns="0" tIns="0" bIns="0">
            <a:spAutoFit/>
          </a:bodyPr>
          <a:lstStyle/>
          <a:p>
            <a:pPr algn="l">
              <a:lnSpc>
                <a:spcPct val="135000"/>
              </a:lnSpc>
            </a:pPr>
            <a:r>
              <a:rPr sz="1300" b="0" i="0">
                <a:solidFill>
                  <a:srgbClr val="5C576E"/>
                </a:solidFill>
                <a:latin typeface="Calibri"/>
              </a:rPr>
              <a:t>"Success" means the transaction was valid and processed by the protocol's rules — not that you weren't scammed, or didn't send funds to the wrong address.</a:t>
            </a:r>
          </a:p>
        </p:txBody>
      </p:sp>
      <p:sp>
        <p:nvSpPr>
          <p:cNvPr id="13" name="TextBox 12"/>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13 / 15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33506A"/>
                </a:solidFill>
                <a:latin typeface="Calibri"/>
              </a:rPr>
              <a:t>HANDS-ON PRACTICE</a:t>
            </a:r>
          </a:p>
        </p:txBody>
      </p:sp>
      <p:sp>
        <p:nvSpPr>
          <p:cNvPr id="4" name="TextBox 3"/>
          <p:cNvSpPr txBox="1"/>
          <p:nvPr/>
        </p:nvSpPr>
        <p:spPr>
          <a:xfrm>
            <a:off x="822960" y="105156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Do This Now</a:t>
            </a:r>
          </a:p>
        </p:txBody>
      </p:sp>
      <p:sp>
        <p:nvSpPr>
          <p:cNvPr id="5" name="Oval 4"/>
          <p:cNvSpPr/>
          <p:nvPr/>
        </p:nvSpPr>
        <p:spPr>
          <a:xfrm>
            <a:off x="822960" y="2148840"/>
            <a:ext cx="502920" cy="502920"/>
          </a:xfrm>
          <a:prstGeom prst="ellipse">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Century Gothic"/>
              </a:rPr>
              <a:t>1</a:t>
            </a:r>
          </a:p>
        </p:txBody>
      </p:sp>
      <p:sp>
        <p:nvSpPr>
          <p:cNvPr id="6" name="TextBox 5"/>
          <p:cNvSpPr txBox="1"/>
          <p:nvPr/>
        </p:nvSpPr>
        <p:spPr>
          <a:xfrm>
            <a:off x="1600200" y="2203704"/>
            <a:ext cx="9509760" cy="822960"/>
          </a:xfrm>
          <a:prstGeom prst="rect">
            <a:avLst/>
          </a:prstGeom>
          <a:noFill/>
        </p:spPr>
        <p:txBody>
          <a:bodyPr wrap="square" anchor="t" lIns="0" rIns="0" tIns="0" bIns="0">
            <a:spAutoFit/>
          </a:bodyPr>
          <a:lstStyle/>
          <a:p>
            <a:pPr algn="l">
              <a:lnSpc>
                <a:spcPct val="130000"/>
              </a:lnSpc>
            </a:pPr>
            <a:r>
              <a:rPr sz="1500" b="0" i="0">
                <a:solidFill>
                  <a:srgbClr val="1C1730"/>
                </a:solidFill>
                <a:latin typeface="Calibri"/>
              </a:rPr>
              <a:t>Run the 3-block Python script yourself and confirm the tamper-mismatch shown above.</a:t>
            </a:r>
          </a:p>
        </p:txBody>
      </p:sp>
      <p:sp>
        <p:nvSpPr>
          <p:cNvPr id="7" name="Oval 6"/>
          <p:cNvSpPr/>
          <p:nvPr/>
        </p:nvSpPr>
        <p:spPr>
          <a:xfrm>
            <a:off x="822960" y="3108960"/>
            <a:ext cx="502920" cy="502920"/>
          </a:xfrm>
          <a:prstGeom prst="ellipse">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Century Gothic"/>
              </a:rPr>
              <a:t>2</a:t>
            </a:r>
          </a:p>
        </p:txBody>
      </p:sp>
      <p:sp>
        <p:nvSpPr>
          <p:cNvPr id="8" name="TextBox 7"/>
          <p:cNvSpPr txBox="1"/>
          <p:nvPr/>
        </p:nvSpPr>
        <p:spPr>
          <a:xfrm>
            <a:off x="1600200" y="3163824"/>
            <a:ext cx="9509760" cy="822960"/>
          </a:xfrm>
          <a:prstGeom prst="rect">
            <a:avLst/>
          </a:prstGeom>
          <a:noFill/>
        </p:spPr>
        <p:txBody>
          <a:bodyPr wrap="square" anchor="t" lIns="0" rIns="0" tIns="0" bIns="0">
            <a:spAutoFit/>
          </a:bodyPr>
          <a:lstStyle/>
          <a:p>
            <a:pPr algn="l">
              <a:lnSpc>
                <a:spcPct val="130000"/>
              </a:lnSpc>
            </a:pPr>
            <a:r>
              <a:rPr sz="1500" b="0" i="0">
                <a:solidFill>
                  <a:srgbClr val="1C1730"/>
                </a:solidFill>
                <a:latin typeface="Calibri"/>
              </a:rPr>
              <a:t>Run "git log --format=..." on your own repo and find the parent-hash link between two commits.</a:t>
            </a:r>
          </a:p>
        </p:txBody>
      </p:sp>
      <p:sp>
        <p:nvSpPr>
          <p:cNvPr id="9" name="Oval 8"/>
          <p:cNvSpPr/>
          <p:nvPr/>
        </p:nvSpPr>
        <p:spPr>
          <a:xfrm>
            <a:off x="822960" y="4069080"/>
            <a:ext cx="502920" cy="502920"/>
          </a:xfrm>
          <a:prstGeom prst="ellipse">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Century Gothic"/>
              </a:rPr>
              <a:t>3</a:t>
            </a:r>
          </a:p>
        </p:txBody>
      </p:sp>
      <p:sp>
        <p:nvSpPr>
          <p:cNvPr id="10" name="TextBox 9"/>
          <p:cNvSpPr txBox="1"/>
          <p:nvPr/>
        </p:nvSpPr>
        <p:spPr>
          <a:xfrm>
            <a:off x="1600200" y="4123944"/>
            <a:ext cx="9509760" cy="822960"/>
          </a:xfrm>
          <a:prstGeom prst="rect">
            <a:avLst/>
          </a:prstGeom>
          <a:noFill/>
        </p:spPr>
        <p:txBody>
          <a:bodyPr wrap="square" anchor="t" lIns="0" rIns="0" tIns="0" bIns="0">
            <a:spAutoFit/>
          </a:bodyPr>
          <a:lstStyle/>
          <a:p>
            <a:pPr algn="l">
              <a:lnSpc>
                <a:spcPct val="130000"/>
              </a:lnSpc>
            </a:pPr>
            <a:r>
              <a:rPr sz="1500" b="0" i="0">
                <a:solidFill>
                  <a:srgbClr val="1C1730"/>
                </a:solidFill>
                <a:latin typeface="Calibri"/>
              </a:rPr>
              <a:t>On the Anders Brownworth Blockchain demo, edit an early block and watch every later block turn invalid.</a:t>
            </a:r>
          </a:p>
        </p:txBody>
      </p:sp>
      <p:sp>
        <p:nvSpPr>
          <p:cNvPr id="11" name="Oval 10"/>
          <p:cNvSpPr/>
          <p:nvPr/>
        </p:nvSpPr>
        <p:spPr>
          <a:xfrm>
            <a:off x="822960" y="5029200"/>
            <a:ext cx="502920" cy="502920"/>
          </a:xfrm>
          <a:prstGeom prst="ellipse">
            <a:avLst/>
          </a:prstGeom>
          <a:solidFill>
            <a:srgbClr val="335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Century Gothic"/>
              </a:rPr>
              <a:t>4</a:t>
            </a:r>
          </a:p>
        </p:txBody>
      </p:sp>
      <p:sp>
        <p:nvSpPr>
          <p:cNvPr id="12" name="TextBox 11"/>
          <p:cNvSpPr txBox="1"/>
          <p:nvPr/>
        </p:nvSpPr>
        <p:spPr>
          <a:xfrm>
            <a:off x="1600200" y="5084064"/>
            <a:ext cx="9509760" cy="822960"/>
          </a:xfrm>
          <a:prstGeom prst="rect">
            <a:avLst/>
          </a:prstGeom>
          <a:noFill/>
        </p:spPr>
        <p:txBody>
          <a:bodyPr wrap="square" anchor="t" lIns="0" rIns="0" tIns="0" bIns="0">
            <a:spAutoFit/>
          </a:bodyPr>
          <a:lstStyle/>
          <a:p>
            <a:pPr algn="l">
              <a:lnSpc>
                <a:spcPct val="130000"/>
              </a:lnSpc>
            </a:pPr>
            <a:r>
              <a:rPr sz="1500" b="0" i="0">
                <a:solidFill>
                  <a:srgbClr val="1C1730"/>
                </a:solidFill>
                <a:latin typeface="Calibri"/>
              </a:rPr>
              <a:t>Look up your own Week 1 testnet transaction on sepolia.etherscan.io.</a:t>
            </a:r>
          </a:p>
        </p:txBody>
      </p:sp>
      <p:sp>
        <p:nvSpPr>
          <p:cNvPr id="13" name="TextBox 12"/>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14 / 15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FFC53D"/>
                </a:solidFill>
                <a:latin typeface="Calibri"/>
              </a:rPr>
              <a:t>TAKE-HOME ASSIGNMENT</a:t>
            </a:r>
          </a:p>
        </p:txBody>
      </p:sp>
      <p:sp>
        <p:nvSpPr>
          <p:cNvPr id="4" name="TextBox 3"/>
          <p:cNvSpPr txBox="1"/>
          <p:nvPr/>
        </p:nvSpPr>
        <p:spPr>
          <a:xfrm>
            <a:off x="822960" y="1051560"/>
            <a:ext cx="9601200" cy="1005840"/>
          </a:xfrm>
          <a:prstGeom prst="rect">
            <a:avLst/>
          </a:prstGeom>
          <a:noFill/>
        </p:spPr>
        <p:txBody>
          <a:bodyPr wrap="square" anchor="t" lIns="0" rIns="0" tIns="0" bIns="0">
            <a:spAutoFit/>
          </a:bodyPr>
          <a:lstStyle/>
          <a:p>
            <a:pPr algn="l">
              <a:lnSpc>
                <a:spcPct val="105000"/>
              </a:lnSpc>
            </a:pPr>
            <a:r>
              <a:rPr sz="3200" b="1" i="0">
                <a:solidFill>
                  <a:srgbClr val="FFFFFF"/>
                </a:solidFill>
                <a:latin typeface="Century Gothic"/>
              </a:rPr>
              <a:t>Before You Move On</a:t>
            </a:r>
          </a:p>
        </p:txBody>
      </p:sp>
      <p:sp>
        <p:nvSpPr>
          <p:cNvPr id="5" name="Rectangle 4"/>
          <p:cNvSpPr/>
          <p:nvPr/>
        </p:nvSpPr>
        <p:spPr>
          <a:xfrm>
            <a:off x="822960" y="2084832"/>
            <a:ext cx="82296" cy="82296"/>
          </a:xfrm>
          <a:prstGeom prst="rect">
            <a:avLst/>
          </a:prstGeom>
          <a:solidFill>
            <a:srgbClr val="FFC5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011680"/>
            <a:ext cx="10058400" cy="548640"/>
          </a:xfrm>
          <a:prstGeom prst="rect">
            <a:avLst/>
          </a:prstGeom>
          <a:noFill/>
        </p:spPr>
        <p:txBody>
          <a:bodyPr wrap="square" anchor="t" lIns="0" rIns="0" tIns="0" bIns="0">
            <a:spAutoFit/>
          </a:bodyPr>
          <a:lstStyle/>
          <a:p>
            <a:pPr algn="l">
              <a:lnSpc>
                <a:spcPct val="130000"/>
              </a:lnSpc>
            </a:pPr>
            <a:r>
              <a:rPr sz="1350" b="0" i="0">
                <a:solidFill>
                  <a:srgbClr val="E9E6F2"/>
                </a:solidFill>
                <a:latin typeface="Calibri"/>
              </a:rPr>
              <a:t>Extend the 3-block script to 4 blocks; show tampering Block 1 breaks the hash of everything after it.</a:t>
            </a:r>
          </a:p>
        </p:txBody>
      </p:sp>
      <p:sp>
        <p:nvSpPr>
          <p:cNvPr id="7" name="Rectangle 6"/>
          <p:cNvSpPr/>
          <p:nvPr/>
        </p:nvSpPr>
        <p:spPr>
          <a:xfrm>
            <a:off x="822960" y="2706624"/>
            <a:ext cx="82296" cy="82296"/>
          </a:xfrm>
          <a:prstGeom prst="rect">
            <a:avLst/>
          </a:prstGeom>
          <a:solidFill>
            <a:srgbClr val="FFC5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633472"/>
            <a:ext cx="10058400" cy="548640"/>
          </a:xfrm>
          <a:prstGeom prst="rect">
            <a:avLst/>
          </a:prstGeom>
          <a:noFill/>
        </p:spPr>
        <p:txBody>
          <a:bodyPr wrap="square" anchor="t" lIns="0" rIns="0" tIns="0" bIns="0">
            <a:spAutoFit/>
          </a:bodyPr>
          <a:lstStyle/>
          <a:p>
            <a:pPr algn="l">
              <a:lnSpc>
                <a:spcPct val="130000"/>
              </a:lnSpc>
            </a:pPr>
            <a:r>
              <a:rPr sz="1350" b="0" i="0">
                <a:solidFill>
                  <a:srgbClr val="E9E6F2"/>
                </a:solidFill>
                <a:latin typeface="Calibri"/>
              </a:rPr>
              <a:t>Run "git cat-file -p" on two consecutive commits and show where the parent-hash match lives.</a:t>
            </a:r>
          </a:p>
        </p:txBody>
      </p:sp>
      <p:sp>
        <p:nvSpPr>
          <p:cNvPr id="9" name="Rectangle 8"/>
          <p:cNvSpPr/>
          <p:nvPr/>
        </p:nvSpPr>
        <p:spPr>
          <a:xfrm>
            <a:off x="822960" y="3328416"/>
            <a:ext cx="82296" cy="82296"/>
          </a:xfrm>
          <a:prstGeom prst="rect">
            <a:avLst/>
          </a:prstGeom>
          <a:solidFill>
            <a:srgbClr val="FFC5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255264"/>
            <a:ext cx="10058400" cy="548640"/>
          </a:xfrm>
          <a:prstGeom prst="rect">
            <a:avLst/>
          </a:prstGeom>
          <a:noFill/>
        </p:spPr>
        <p:txBody>
          <a:bodyPr wrap="square" anchor="t" lIns="0" rIns="0" tIns="0" bIns="0">
            <a:spAutoFit/>
          </a:bodyPr>
          <a:lstStyle/>
          <a:p>
            <a:pPr algn="l">
              <a:lnSpc>
                <a:spcPct val="130000"/>
              </a:lnSpc>
            </a:pPr>
            <a:r>
              <a:rPr sz="1350" b="0" i="0">
                <a:solidFill>
                  <a:srgbClr val="E9E6F2"/>
                </a:solidFill>
                <a:latin typeface="Calibri"/>
              </a:rPr>
              <a:t>Find 3 real transactions on Etherscan and record their block number, gas fee, and status.</a:t>
            </a:r>
          </a:p>
        </p:txBody>
      </p:sp>
      <p:sp>
        <p:nvSpPr>
          <p:cNvPr id="11" name="TextBox 10"/>
          <p:cNvSpPr txBox="1"/>
          <p:nvPr/>
        </p:nvSpPr>
        <p:spPr>
          <a:xfrm>
            <a:off x="822960" y="4014216"/>
            <a:ext cx="2743200" cy="320040"/>
          </a:xfrm>
          <a:prstGeom prst="rect">
            <a:avLst/>
          </a:prstGeom>
          <a:noFill/>
        </p:spPr>
        <p:txBody>
          <a:bodyPr wrap="square" anchor="t" lIns="0" rIns="0" tIns="0" bIns="0">
            <a:spAutoFit/>
          </a:bodyPr>
          <a:lstStyle/>
          <a:p>
            <a:pPr algn="l">
              <a:lnSpc>
                <a:spcPct val="115000"/>
              </a:lnSpc>
            </a:pPr>
            <a:r>
              <a:rPr sz="1100" b="1" i="0">
                <a:solidFill>
                  <a:srgbClr val="FFC53D"/>
                </a:solidFill>
                <a:latin typeface="Calibri"/>
              </a:rPr>
              <a:t>RECOMMENDED VIDEOS</a:t>
            </a:r>
          </a:p>
        </p:txBody>
      </p:sp>
      <p:sp>
        <p:nvSpPr>
          <p:cNvPr id="12" name="TextBox 11"/>
          <p:cNvSpPr txBox="1"/>
          <p:nvPr/>
        </p:nvSpPr>
        <p:spPr>
          <a:xfrm>
            <a:off x="822960" y="4379976"/>
            <a:ext cx="10058400" cy="365760"/>
          </a:xfrm>
          <a:prstGeom prst="rect">
            <a:avLst/>
          </a:prstGeom>
          <a:noFill/>
        </p:spPr>
        <p:txBody>
          <a:bodyPr wrap="square" anchor="t" lIns="0" rIns="0" tIns="0" bIns="0">
            <a:spAutoFit/>
          </a:bodyPr>
          <a:lstStyle/>
          <a:p>
            <a:pPr algn="l">
              <a:lnSpc>
                <a:spcPct val="115000"/>
              </a:lnSpc>
            </a:pPr>
            <a:r>
              <a:rPr sz="1250" b="0" i="0">
                <a:solidFill>
                  <a:srgbClr val="C9C3DC"/>
                </a:solidFill>
                <a:latin typeface="Calibri"/>
              </a:rPr>
              <a:t>• How to Use Etherscan (Full Tutorial 2025)</a:t>
            </a:r>
          </a:p>
        </p:txBody>
      </p:sp>
      <p:sp>
        <p:nvSpPr>
          <p:cNvPr id="13" name="TextBox 12"/>
          <p:cNvSpPr txBox="1"/>
          <p:nvPr/>
        </p:nvSpPr>
        <p:spPr>
          <a:xfrm>
            <a:off x="822960" y="4745736"/>
            <a:ext cx="10058400" cy="365760"/>
          </a:xfrm>
          <a:prstGeom prst="rect">
            <a:avLst/>
          </a:prstGeom>
          <a:noFill/>
        </p:spPr>
        <p:txBody>
          <a:bodyPr wrap="square" anchor="t" lIns="0" rIns="0" tIns="0" bIns="0">
            <a:spAutoFit/>
          </a:bodyPr>
          <a:lstStyle/>
          <a:p>
            <a:pPr algn="l">
              <a:lnSpc>
                <a:spcPct val="115000"/>
              </a:lnSpc>
            </a:pPr>
            <a:r>
              <a:rPr sz="1250" b="0" i="0">
                <a:solidFill>
                  <a:srgbClr val="C9C3DC"/>
                </a:solidFill>
                <a:latin typeface="Calibri"/>
              </a:rPr>
              <a:t>• How To ACTUALLY Use Etherscan | Beginner's Complete Tutorial</a:t>
            </a:r>
          </a:p>
        </p:txBody>
      </p:sp>
      <p:sp>
        <p:nvSpPr>
          <p:cNvPr id="14" name="TextBox 13"/>
          <p:cNvSpPr txBox="1"/>
          <p:nvPr/>
        </p:nvSpPr>
        <p:spPr>
          <a:xfrm>
            <a:off x="822960" y="5248656"/>
            <a:ext cx="2743200" cy="320040"/>
          </a:xfrm>
          <a:prstGeom prst="rect">
            <a:avLst/>
          </a:prstGeom>
          <a:noFill/>
        </p:spPr>
        <p:txBody>
          <a:bodyPr wrap="square" anchor="t" lIns="0" rIns="0" tIns="0" bIns="0">
            <a:spAutoFit/>
          </a:bodyPr>
          <a:lstStyle/>
          <a:p>
            <a:pPr algn="l">
              <a:lnSpc>
                <a:spcPct val="115000"/>
              </a:lnSpc>
            </a:pPr>
            <a:r>
              <a:rPr sz="1100" b="1" i="0">
                <a:solidFill>
                  <a:srgbClr val="FFC53D"/>
                </a:solidFill>
                <a:latin typeface="Calibri"/>
              </a:rPr>
              <a:t>PRACTICE SITE</a:t>
            </a:r>
          </a:p>
        </p:txBody>
      </p:sp>
      <p:sp>
        <p:nvSpPr>
          <p:cNvPr id="15" name="TextBox 14"/>
          <p:cNvSpPr txBox="1"/>
          <p:nvPr/>
        </p:nvSpPr>
        <p:spPr>
          <a:xfrm>
            <a:off x="822960" y="5614416"/>
            <a:ext cx="10058400" cy="457200"/>
          </a:xfrm>
          <a:prstGeom prst="rect">
            <a:avLst/>
          </a:prstGeom>
          <a:noFill/>
        </p:spPr>
        <p:txBody>
          <a:bodyPr wrap="square" anchor="t" lIns="0" rIns="0" tIns="0" bIns="0">
            <a:spAutoFit/>
          </a:bodyPr>
          <a:lstStyle/>
          <a:p>
            <a:pPr algn="l">
              <a:lnSpc>
                <a:spcPct val="115000"/>
              </a:lnSpc>
            </a:pPr>
            <a:r>
              <a:rPr sz="1250" b="0" i="0">
                <a:solidFill>
                  <a:srgbClr val="C9C3DC"/>
                </a:solidFill>
                <a:latin typeface="Consolas"/>
              </a:rPr>
              <a:t>andersbrownworth.com/blockchain  ·  sepolia.etherscan.io  ·  your own git repo</a:t>
            </a:r>
          </a:p>
        </p:txBody>
      </p:sp>
      <p:sp>
        <p:nvSpPr>
          <p:cNvPr id="16" name="TextBox 15"/>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15 / 15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_cover_04.jpg"/>
          <p:cNvPicPr>
            <a:picLocks noChangeAspect="1"/>
          </p:cNvPicPr>
          <p:nvPr/>
        </p:nvPicPr>
        <p:blipFill>
          <a:blip r:embed="rId2"/>
          <a:stretch>
            <a:fillRect/>
          </a:stretch>
        </p:blipFill>
        <p:spPr>
          <a:xfrm>
            <a:off x="0" y="0"/>
            <a:ext cx="12191695" cy="6858000"/>
          </a:xfrm>
          <a:prstGeom prst="rect">
            <a:avLst/>
          </a:prstGeom>
        </p:spPr>
      </p:pic>
      <p:sp>
        <p:nvSpPr>
          <p:cNvPr id="4" name="Rectangle 3"/>
          <p:cNvSpPr/>
          <p:nvPr/>
        </p:nvSpPr>
        <p:spPr>
          <a:xfrm>
            <a:off x="0" y="0"/>
            <a:ext cx="12191695" cy="6858000"/>
          </a:xfrm>
          <a:prstGeom prst="rect">
            <a:avLst/>
          </a:prstGeom>
          <a:solidFill>
            <a:srgbClr val="1C1730">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695" cy="6858000"/>
          </a:xfrm>
          <a:prstGeom prst="rect">
            <a:avLst/>
          </a:prstGeom>
          <a:solidFill>
            <a:srgbClr val="12746A">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188720"/>
            <a:ext cx="5486400" cy="1188720"/>
          </a:xfrm>
          <a:prstGeom prst="rect">
            <a:avLst/>
          </a:prstGeom>
          <a:noFill/>
        </p:spPr>
        <p:txBody>
          <a:bodyPr wrap="square" anchor="t" lIns="0" rIns="0" tIns="0" bIns="0">
            <a:spAutoFit/>
          </a:bodyPr>
          <a:lstStyle/>
          <a:p>
            <a:pPr algn="l">
              <a:lnSpc>
                <a:spcPct val="115000"/>
              </a:lnSpc>
            </a:pPr>
            <a:r>
              <a:rPr sz="10000" b="1" i="0">
                <a:solidFill>
                  <a:srgbClr val="FFFFFF"/>
                </a:solidFill>
                <a:latin typeface="Century Gothic"/>
              </a:rPr>
              <a:t>04</a:t>
            </a:r>
          </a:p>
        </p:txBody>
      </p:sp>
      <p:sp>
        <p:nvSpPr>
          <p:cNvPr id="7" name="TextBox 6"/>
          <p:cNvSpPr txBox="1"/>
          <p:nvPr/>
        </p:nvSpPr>
        <p:spPr>
          <a:xfrm>
            <a:off x="822960" y="2423160"/>
            <a:ext cx="8961120" cy="1554480"/>
          </a:xfrm>
          <a:prstGeom prst="rect">
            <a:avLst/>
          </a:prstGeom>
          <a:noFill/>
        </p:spPr>
        <p:txBody>
          <a:bodyPr wrap="square" anchor="t" lIns="0" rIns="0" tIns="0" bIns="0">
            <a:spAutoFit/>
          </a:bodyPr>
          <a:lstStyle/>
          <a:p>
            <a:pPr algn="l">
              <a:lnSpc>
                <a:spcPct val="105000"/>
              </a:lnSpc>
            </a:pPr>
            <a:r>
              <a:rPr sz="4600" b="1" i="0">
                <a:solidFill>
                  <a:srgbClr val="FFFFFF"/>
                </a:solidFill>
                <a:latin typeface="Century Gothic"/>
              </a:rPr>
              <a:t>Consensus</a:t>
            </a:r>
          </a:p>
        </p:txBody>
      </p:sp>
      <p:sp>
        <p:nvSpPr>
          <p:cNvPr id="8" name="TextBox 7"/>
          <p:cNvSpPr txBox="1"/>
          <p:nvPr/>
        </p:nvSpPr>
        <p:spPr>
          <a:xfrm>
            <a:off x="822960" y="4160520"/>
            <a:ext cx="6858000" cy="1097280"/>
          </a:xfrm>
          <a:prstGeom prst="rect">
            <a:avLst/>
          </a:prstGeom>
          <a:noFill/>
        </p:spPr>
        <p:txBody>
          <a:bodyPr wrap="square" anchor="t" lIns="0" rIns="0" tIns="0" bIns="0">
            <a:spAutoFit/>
          </a:bodyPr>
          <a:lstStyle/>
          <a:p>
            <a:pPr algn="l">
              <a:lnSpc>
                <a:spcPct val="125000"/>
              </a:lnSpc>
            </a:pPr>
            <a:r>
              <a:rPr sz="1900" b="0" i="0">
                <a:solidFill>
                  <a:srgbClr val="FFFFFF"/>
                </a:solidFill>
                <a:latin typeface="Calibri"/>
              </a:rPr>
              <a:t>How thousands of strangers agree on one shared truth, with no referee.</a:t>
            </a:r>
          </a:p>
        </p:txBody>
      </p:sp>
      <p:sp>
        <p:nvSpPr>
          <p:cNvPr id="9" name="TextBox 8"/>
          <p:cNvSpPr txBox="1"/>
          <p:nvPr/>
        </p:nvSpPr>
        <p:spPr>
          <a:xfrm>
            <a:off x="822960" y="6446520"/>
            <a:ext cx="8229600" cy="320040"/>
          </a:xfrm>
          <a:prstGeom prst="rect">
            <a:avLst/>
          </a:prstGeom>
          <a:noFill/>
        </p:spPr>
        <p:txBody>
          <a:bodyPr wrap="square" anchor="t" lIns="0" rIns="0" tIns="0" bIns="0">
            <a:spAutoFit/>
          </a:bodyPr>
          <a:lstStyle/>
          <a:p>
            <a:pPr algn="l">
              <a:lnSpc>
                <a:spcPct val="115000"/>
              </a:lnSpc>
            </a:pPr>
            <a:r>
              <a:rPr sz="1000" b="0" i="0">
                <a:solidFill>
                  <a:srgbClr val="E9E6F2"/>
                </a:solidFill>
                <a:latin typeface="Calibri"/>
              </a:rPr>
              <a:t>Photo: Carl Lender / Wikimedia Commons, CC BY 2.0</a:t>
            </a:r>
          </a:p>
        </p:txBody>
      </p:sp>
      <p:sp>
        <p:nvSpPr>
          <p:cNvPr id="10" name="TextBox 9"/>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01 / 15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12746A"/>
                </a:solidFill>
                <a:latin typeface="Calibri"/>
              </a:rPr>
              <a:t>TOPIC 04 — CONSENSUS</a:t>
            </a:r>
          </a:p>
        </p:txBody>
      </p:sp>
      <p:sp>
        <p:nvSpPr>
          <p:cNvPr id="4" name="TextBox 3"/>
          <p:cNvSpPr txBox="1"/>
          <p:nvPr/>
        </p:nvSpPr>
        <p:spPr>
          <a:xfrm>
            <a:off x="822960" y="105156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Why This Matters</a:t>
            </a:r>
          </a:p>
        </p:txBody>
      </p:sp>
      <p:sp>
        <p:nvSpPr>
          <p:cNvPr id="5" name="TextBox 4"/>
          <p:cNvSpPr txBox="1"/>
          <p:nvPr/>
        </p:nvSpPr>
        <p:spPr>
          <a:xfrm>
            <a:off x="822960" y="1965960"/>
            <a:ext cx="9875520" cy="1463040"/>
          </a:xfrm>
          <a:prstGeom prst="rect">
            <a:avLst/>
          </a:prstGeom>
          <a:noFill/>
        </p:spPr>
        <p:txBody>
          <a:bodyPr wrap="square" anchor="t" lIns="0" rIns="0" tIns="0" bIns="0">
            <a:spAutoFit/>
          </a:bodyPr>
          <a:lstStyle/>
          <a:p>
            <a:pPr algn="l">
              <a:lnSpc>
                <a:spcPct val="140000"/>
              </a:lnSpc>
            </a:pPr>
            <a:r>
              <a:rPr sz="1600" b="0" i="0">
                <a:solidFill>
                  <a:srgbClr val="5C576E"/>
                </a:solidFill>
                <a:latin typeface="Calibri"/>
              </a:rPr>
              <a:t>The final piece: with no bank or admin, how do thousands of independent, possibly-dishonest computers agree on a single shared history, in the right order? This is the consensus problem, and it's the piece that makes everything from Topics 01–03 actually trustworthy at scale.</a:t>
            </a:r>
          </a:p>
        </p:txBody>
      </p:sp>
      <p:sp>
        <p:nvSpPr>
          <p:cNvPr id="6" name="TextBox 5"/>
          <p:cNvSpPr txBox="1"/>
          <p:nvPr/>
        </p:nvSpPr>
        <p:spPr>
          <a:xfrm>
            <a:off x="822960" y="3657600"/>
            <a:ext cx="9875520" cy="365760"/>
          </a:xfrm>
          <a:prstGeom prst="rect">
            <a:avLst/>
          </a:prstGeom>
          <a:noFill/>
        </p:spPr>
        <p:txBody>
          <a:bodyPr wrap="square" anchor="t" lIns="0" rIns="0" tIns="0" bIns="0">
            <a:spAutoFit/>
          </a:bodyPr>
          <a:lstStyle/>
          <a:p>
            <a:pPr algn="l">
              <a:lnSpc>
                <a:spcPct val="115000"/>
              </a:lnSpc>
            </a:pPr>
            <a:r>
              <a:rPr sz="1200" b="1" i="0">
                <a:solidFill>
                  <a:srgbClr val="12746A"/>
                </a:solidFill>
                <a:latin typeface="Calibri"/>
              </a:rPr>
              <a:t>WHAT THIS SECTION COVERS</a:t>
            </a:r>
          </a:p>
        </p:txBody>
      </p:sp>
      <p:sp>
        <p:nvSpPr>
          <p:cNvPr id="7" name="Rectangle 6"/>
          <p:cNvSpPr/>
          <p:nvPr/>
        </p:nvSpPr>
        <p:spPr>
          <a:xfrm>
            <a:off x="822960" y="4197096"/>
            <a:ext cx="82296" cy="82296"/>
          </a:xfrm>
          <a:prstGeom prst="rect">
            <a:avLst/>
          </a:prstGeom>
          <a:solidFill>
            <a:srgbClr val="127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41148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Core concept</a:t>
            </a:r>
          </a:p>
        </p:txBody>
      </p:sp>
      <p:sp>
        <p:nvSpPr>
          <p:cNvPr id="9" name="Rectangle 8"/>
          <p:cNvSpPr/>
          <p:nvPr/>
        </p:nvSpPr>
        <p:spPr>
          <a:xfrm>
            <a:off x="6035040" y="4197096"/>
            <a:ext cx="82296" cy="82296"/>
          </a:xfrm>
          <a:prstGeom prst="rect">
            <a:avLst/>
          </a:prstGeom>
          <a:solidFill>
            <a:srgbClr val="127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63640" y="41148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Four key ideas, one at a time</a:t>
            </a:r>
          </a:p>
        </p:txBody>
      </p:sp>
      <p:sp>
        <p:nvSpPr>
          <p:cNvPr id="11" name="Rectangle 10"/>
          <p:cNvSpPr/>
          <p:nvPr/>
        </p:nvSpPr>
        <p:spPr>
          <a:xfrm>
            <a:off x="822960" y="4654296"/>
            <a:ext cx="82296" cy="82296"/>
          </a:xfrm>
          <a:prstGeom prst="rect">
            <a:avLst/>
          </a:prstGeom>
          <a:solidFill>
            <a:srgbClr val="127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45720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A real, reproducible worked example</a:t>
            </a:r>
          </a:p>
        </p:txBody>
      </p:sp>
      <p:sp>
        <p:nvSpPr>
          <p:cNvPr id="13" name="Rectangle 12"/>
          <p:cNvSpPr/>
          <p:nvPr/>
        </p:nvSpPr>
        <p:spPr>
          <a:xfrm>
            <a:off x="6035040" y="4654296"/>
            <a:ext cx="82296" cy="82296"/>
          </a:xfrm>
          <a:prstGeom prst="rect">
            <a:avLst/>
          </a:prstGeom>
          <a:solidFill>
            <a:srgbClr val="127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63640" y="45720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Real-world uses beyond blockchain</a:t>
            </a:r>
          </a:p>
        </p:txBody>
      </p:sp>
      <p:sp>
        <p:nvSpPr>
          <p:cNvPr id="15" name="Rectangle 14"/>
          <p:cNvSpPr/>
          <p:nvPr/>
        </p:nvSpPr>
        <p:spPr>
          <a:xfrm>
            <a:off x="822960" y="5111496"/>
            <a:ext cx="82296" cy="82296"/>
          </a:xfrm>
          <a:prstGeom prst="rect">
            <a:avLst/>
          </a:prstGeom>
          <a:solidFill>
            <a:srgbClr val="127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0292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A flagship case study</a:t>
            </a:r>
          </a:p>
        </p:txBody>
      </p:sp>
      <p:sp>
        <p:nvSpPr>
          <p:cNvPr id="17" name="Rectangle 16"/>
          <p:cNvSpPr/>
          <p:nvPr/>
        </p:nvSpPr>
        <p:spPr>
          <a:xfrm>
            <a:off x="6035040" y="5111496"/>
            <a:ext cx="82296" cy="82296"/>
          </a:xfrm>
          <a:prstGeom prst="rect">
            <a:avLst/>
          </a:prstGeom>
          <a:solidFill>
            <a:srgbClr val="127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50292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A real-life analogy</a:t>
            </a:r>
          </a:p>
        </p:txBody>
      </p:sp>
      <p:sp>
        <p:nvSpPr>
          <p:cNvPr id="19" name="Rectangle 18"/>
          <p:cNvSpPr/>
          <p:nvPr/>
        </p:nvSpPr>
        <p:spPr>
          <a:xfrm>
            <a:off x="822960" y="5568696"/>
            <a:ext cx="82296" cy="82296"/>
          </a:xfrm>
          <a:prstGeom prst="rect">
            <a:avLst/>
          </a:prstGeom>
          <a:solidFill>
            <a:srgbClr val="127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54864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Common misconceptions</a:t>
            </a:r>
          </a:p>
        </p:txBody>
      </p:sp>
      <p:sp>
        <p:nvSpPr>
          <p:cNvPr id="21" name="Rectangle 20"/>
          <p:cNvSpPr/>
          <p:nvPr/>
        </p:nvSpPr>
        <p:spPr>
          <a:xfrm>
            <a:off x="6035040" y="5568696"/>
            <a:ext cx="82296" cy="82296"/>
          </a:xfrm>
          <a:prstGeom prst="rect">
            <a:avLst/>
          </a:prstGeom>
          <a:solidFill>
            <a:srgbClr val="127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63640" y="54864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Hands-on practice</a:t>
            </a:r>
          </a:p>
        </p:txBody>
      </p:sp>
      <p:sp>
        <p:nvSpPr>
          <p:cNvPr id="23" name="Rectangle 22"/>
          <p:cNvSpPr/>
          <p:nvPr/>
        </p:nvSpPr>
        <p:spPr>
          <a:xfrm>
            <a:off x="822960" y="6025896"/>
            <a:ext cx="82296" cy="82296"/>
          </a:xfrm>
          <a:prstGeom prst="rect">
            <a:avLst/>
          </a:prstGeom>
          <a:solidFill>
            <a:srgbClr val="127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59436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Take-home assignment</a:t>
            </a:r>
          </a:p>
        </p:txBody>
      </p:sp>
      <p:sp>
        <p:nvSpPr>
          <p:cNvPr id="25" name="TextBox 24"/>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02 / 15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12746A"/>
                </a:solidFill>
                <a:latin typeface="Calibri"/>
              </a:rPr>
              <a:t>TOPIC 04 — CONSENSUS</a:t>
            </a:r>
          </a:p>
        </p:txBody>
      </p:sp>
      <p:sp>
        <p:nvSpPr>
          <p:cNvPr id="4" name="TextBox 3"/>
          <p:cNvSpPr txBox="1"/>
          <p:nvPr/>
        </p:nvSpPr>
        <p:spPr>
          <a:xfrm>
            <a:off x="822960" y="1097280"/>
            <a:ext cx="9601200" cy="1005840"/>
          </a:xfrm>
          <a:prstGeom prst="rect">
            <a:avLst/>
          </a:prstGeom>
          <a:noFill/>
        </p:spPr>
        <p:txBody>
          <a:bodyPr wrap="square" anchor="t" lIns="0" rIns="0" tIns="0" bIns="0">
            <a:spAutoFit/>
          </a:bodyPr>
          <a:lstStyle/>
          <a:p>
            <a:pPr algn="l">
              <a:lnSpc>
                <a:spcPct val="105000"/>
              </a:lnSpc>
            </a:pPr>
            <a:r>
              <a:rPr sz="3400" b="1" i="0">
                <a:solidFill>
                  <a:srgbClr val="1C1730"/>
                </a:solidFill>
                <a:latin typeface="Century Gothic"/>
              </a:rPr>
              <a:t>The Core Concept</a:t>
            </a:r>
          </a:p>
        </p:txBody>
      </p:sp>
      <p:sp>
        <p:nvSpPr>
          <p:cNvPr id="5" name="Rounded Rectangle 4"/>
          <p:cNvSpPr/>
          <p:nvPr/>
        </p:nvSpPr>
        <p:spPr>
          <a:xfrm>
            <a:off x="822960" y="2286000"/>
            <a:ext cx="10515600" cy="329184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2286000"/>
            <a:ext cx="91440" cy="3291840"/>
          </a:xfrm>
          <a:prstGeom prst="rect">
            <a:avLst/>
          </a:prstGeom>
          <a:solidFill>
            <a:srgbClr val="127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80160" y="2697480"/>
            <a:ext cx="9601200" cy="2560320"/>
          </a:xfrm>
          <a:prstGeom prst="rect">
            <a:avLst/>
          </a:prstGeom>
          <a:noFill/>
        </p:spPr>
        <p:txBody>
          <a:bodyPr wrap="square" anchor="t" lIns="0" rIns="0" tIns="0" bIns="0">
            <a:spAutoFit/>
          </a:bodyPr>
          <a:lstStyle/>
          <a:p>
            <a:pPr algn="l">
              <a:lnSpc>
                <a:spcPct val="155000"/>
              </a:lnSpc>
            </a:pPr>
            <a:r>
              <a:rPr sz="2000" b="0" i="0">
                <a:solidFill>
                  <a:srgbClr val="1C1730"/>
                </a:solidFill>
                <a:latin typeface="Calibri"/>
              </a:rPr>
              <a:t>A consensus mechanism is the rule set a blockchain uses to decide which block gets added next, and get the entire network to agree on it. The two you'll hear most about: Proof of Work (Bitcoin) and Proof of Stake (Ethereum, since September 2022).</a:t>
            </a:r>
          </a:p>
        </p:txBody>
      </p:sp>
      <p:sp>
        <p:nvSpPr>
          <p:cNvPr id="8" name="TextBox 7"/>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03 / 15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12746A"/>
                </a:solidFill>
                <a:latin typeface="Calibri"/>
              </a:rPr>
              <a:t>TOPIC 04 — CONSENSUS</a:t>
            </a:r>
          </a:p>
        </p:txBody>
      </p:sp>
      <p:sp>
        <p:nvSpPr>
          <p:cNvPr id="4" name="TextBox 3"/>
          <p:cNvSpPr txBox="1"/>
          <p:nvPr/>
        </p:nvSpPr>
        <p:spPr>
          <a:xfrm>
            <a:off x="8503920" y="640080"/>
            <a:ext cx="2834640" cy="365760"/>
          </a:xfrm>
          <a:prstGeom prst="rect">
            <a:avLst/>
          </a:prstGeom>
          <a:noFill/>
        </p:spPr>
        <p:txBody>
          <a:bodyPr wrap="square" anchor="t" lIns="0" rIns="0" tIns="0" bIns="0">
            <a:spAutoFit/>
          </a:bodyPr>
          <a:lstStyle/>
          <a:p>
            <a:pPr algn="r">
              <a:lnSpc>
                <a:spcPct val="115000"/>
              </a:lnSpc>
            </a:pPr>
            <a:r>
              <a:rPr sz="1200" b="1" i="0">
                <a:solidFill>
                  <a:srgbClr val="5C576E"/>
                </a:solidFill>
                <a:latin typeface="Calibri"/>
              </a:rPr>
              <a:t>KEY IDEA 1 / 4</a:t>
            </a:r>
          </a:p>
        </p:txBody>
      </p:sp>
      <p:sp>
        <p:nvSpPr>
          <p:cNvPr id="5" name="TextBox 4"/>
          <p:cNvSpPr txBox="1"/>
          <p:nvPr/>
        </p:nvSpPr>
        <p:spPr>
          <a:xfrm>
            <a:off x="822960" y="109728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Proof of Work</a:t>
            </a:r>
          </a:p>
        </p:txBody>
      </p:sp>
      <p:sp>
        <p:nvSpPr>
          <p:cNvPr id="6" name="TextBox 5"/>
          <p:cNvSpPr txBox="1"/>
          <p:nvPr/>
        </p:nvSpPr>
        <p:spPr>
          <a:xfrm>
            <a:off x="822960" y="2148840"/>
            <a:ext cx="9875520" cy="2011680"/>
          </a:xfrm>
          <a:prstGeom prst="rect">
            <a:avLst/>
          </a:prstGeom>
          <a:noFill/>
        </p:spPr>
        <p:txBody>
          <a:bodyPr wrap="square" anchor="t" lIns="0" rIns="0" tIns="0" bIns="0">
            <a:spAutoFit/>
          </a:bodyPr>
          <a:lstStyle/>
          <a:p>
            <a:pPr algn="l">
              <a:lnSpc>
                <a:spcPct val="150000"/>
              </a:lnSpc>
            </a:pPr>
            <a:r>
              <a:rPr sz="1650" b="0" i="0">
                <a:solidFill>
                  <a:srgbClr val="1C1730"/>
                </a:solidFill>
                <a:latin typeface="Calibri"/>
              </a:rPr>
              <a:t>Miners burn real electricity solving a computational puzzle. Hard to solve, but instant for anyone else to verify. Cheating simply wastes the cheater's own money.</a:t>
            </a:r>
          </a:p>
        </p:txBody>
      </p:sp>
      <p:sp>
        <p:nvSpPr>
          <p:cNvPr id="7" name="Rounded Rectangle 6"/>
          <p:cNvSpPr/>
          <p:nvPr/>
        </p:nvSpPr>
        <p:spPr>
          <a:xfrm>
            <a:off x="822960" y="4434840"/>
            <a:ext cx="10515600" cy="1280160"/>
          </a:xfrm>
          <a:prstGeom prst="roundRect">
            <a:avLst>
              <a:gd name="adj" fmla="val 6000"/>
            </a:avLst>
          </a:prstGeom>
          <a:solidFill>
            <a:srgbClr val="E7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617720"/>
            <a:ext cx="9875520" cy="320040"/>
          </a:xfrm>
          <a:prstGeom prst="rect">
            <a:avLst/>
          </a:prstGeom>
          <a:noFill/>
        </p:spPr>
        <p:txBody>
          <a:bodyPr wrap="square" anchor="t" lIns="0" rIns="0" tIns="0" bIns="0">
            <a:spAutoFit/>
          </a:bodyPr>
          <a:lstStyle/>
          <a:p>
            <a:pPr algn="l">
              <a:lnSpc>
                <a:spcPct val="115000"/>
              </a:lnSpc>
            </a:pPr>
            <a:r>
              <a:rPr sz="1100" b="1" i="0">
                <a:solidFill>
                  <a:srgbClr val="12746A"/>
                </a:solidFill>
                <a:latin typeface="Calibri"/>
              </a:rPr>
              <a:t>EXAMPLE</a:t>
            </a:r>
          </a:p>
        </p:txBody>
      </p:sp>
      <p:sp>
        <p:nvSpPr>
          <p:cNvPr id="9" name="TextBox 8"/>
          <p:cNvSpPr txBox="1"/>
          <p:nvPr/>
        </p:nvSpPr>
        <p:spPr>
          <a:xfrm>
            <a:off x="1143000" y="4956048"/>
            <a:ext cx="9875520" cy="640080"/>
          </a:xfrm>
          <a:prstGeom prst="rect">
            <a:avLst/>
          </a:prstGeom>
          <a:noFill/>
        </p:spPr>
        <p:txBody>
          <a:bodyPr wrap="square" anchor="t" lIns="0" rIns="0" tIns="0" bIns="0">
            <a:spAutoFit/>
          </a:bodyPr>
          <a:lstStyle/>
          <a:p>
            <a:pPr algn="l">
              <a:lnSpc>
                <a:spcPct val="130000"/>
              </a:lnSpc>
            </a:pPr>
            <a:r>
              <a:rPr sz="1400" b="0" i="0">
                <a:solidFill>
                  <a:srgbClr val="1C1730"/>
                </a:solidFill>
                <a:latin typeface="Consolas"/>
              </a:rPr>
              <a:t>Bitcoin targets a new block roughly every 10 minutes, difficulty adjusted every ~2 weeks.</a:t>
            </a:r>
          </a:p>
        </p:txBody>
      </p:sp>
      <p:sp>
        <p:nvSpPr>
          <p:cNvPr id="10" name="TextBox 9"/>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04 / 15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12746A"/>
                </a:solidFill>
                <a:latin typeface="Calibri"/>
              </a:rPr>
              <a:t>TOPIC 04 — CONSENSUS</a:t>
            </a:r>
          </a:p>
        </p:txBody>
      </p:sp>
      <p:sp>
        <p:nvSpPr>
          <p:cNvPr id="4" name="TextBox 3"/>
          <p:cNvSpPr txBox="1"/>
          <p:nvPr/>
        </p:nvSpPr>
        <p:spPr>
          <a:xfrm>
            <a:off x="8503920" y="640080"/>
            <a:ext cx="2834640" cy="365760"/>
          </a:xfrm>
          <a:prstGeom prst="rect">
            <a:avLst/>
          </a:prstGeom>
          <a:noFill/>
        </p:spPr>
        <p:txBody>
          <a:bodyPr wrap="square" anchor="t" lIns="0" rIns="0" tIns="0" bIns="0">
            <a:spAutoFit/>
          </a:bodyPr>
          <a:lstStyle/>
          <a:p>
            <a:pPr algn="r">
              <a:lnSpc>
                <a:spcPct val="115000"/>
              </a:lnSpc>
            </a:pPr>
            <a:r>
              <a:rPr sz="1200" b="1" i="0">
                <a:solidFill>
                  <a:srgbClr val="5C576E"/>
                </a:solidFill>
                <a:latin typeface="Calibri"/>
              </a:rPr>
              <a:t>KEY IDEA 2 / 4</a:t>
            </a:r>
          </a:p>
        </p:txBody>
      </p:sp>
      <p:sp>
        <p:nvSpPr>
          <p:cNvPr id="5" name="TextBox 4"/>
          <p:cNvSpPr txBox="1"/>
          <p:nvPr/>
        </p:nvSpPr>
        <p:spPr>
          <a:xfrm>
            <a:off x="822960" y="109728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Proof of Stake</a:t>
            </a:r>
          </a:p>
        </p:txBody>
      </p:sp>
      <p:sp>
        <p:nvSpPr>
          <p:cNvPr id="6" name="TextBox 5"/>
          <p:cNvSpPr txBox="1"/>
          <p:nvPr/>
        </p:nvSpPr>
        <p:spPr>
          <a:xfrm>
            <a:off x="822960" y="2148840"/>
            <a:ext cx="9875520" cy="2011680"/>
          </a:xfrm>
          <a:prstGeom prst="rect">
            <a:avLst/>
          </a:prstGeom>
          <a:noFill/>
        </p:spPr>
        <p:txBody>
          <a:bodyPr wrap="square" anchor="t" lIns="0" rIns="0" tIns="0" bIns="0">
            <a:spAutoFit/>
          </a:bodyPr>
          <a:lstStyle/>
          <a:p>
            <a:pPr algn="l">
              <a:lnSpc>
                <a:spcPct val="150000"/>
              </a:lnSpc>
            </a:pPr>
            <a:r>
              <a:rPr sz="1650" b="0" i="0">
                <a:solidFill>
                  <a:srgbClr val="1C1730"/>
                </a:solidFill>
                <a:latin typeface="Calibri"/>
              </a:rPr>
              <a:t>Validators lock up currency as collateral — exactly 32 ETH per validator, on Ethereum. Dishonesty gets that collateral destroyed ("slashed") by the protocol itself.</a:t>
            </a:r>
          </a:p>
        </p:txBody>
      </p:sp>
      <p:sp>
        <p:nvSpPr>
          <p:cNvPr id="7" name="Rounded Rectangle 6"/>
          <p:cNvSpPr/>
          <p:nvPr/>
        </p:nvSpPr>
        <p:spPr>
          <a:xfrm>
            <a:off x="822960" y="4434840"/>
            <a:ext cx="10515600" cy="1280160"/>
          </a:xfrm>
          <a:prstGeom prst="roundRect">
            <a:avLst>
              <a:gd name="adj" fmla="val 6000"/>
            </a:avLst>
          </a:prstGeom>
          <a:solidFill>
            <a:srgbClr val="E7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617720"/>
            <a:ext cx="9875520" cy="320040"/>
          </a:xfrm>
          <a:prstGeom prst="rect">
            <a:avLst/>
          </a:prstGeom>
          <a:noFill/>
        </p:spPr>
        <p:txBody>
          <a:bodyPr wrap="square" anchor="t" lIns="0" rIns="0" tIns="0" bIns="0">
            <a:spAutoFit/>
          </a:bodyPr>
          <a:lstStyle/>
          <a:p>
            <a:pPr algn="l">
              <a:lnSpc>
                <a:spcPct val="115000"/>
              </a:lnSpc>
            </a:pPr>
            <a:r>
              <a:rPr sz="1100" b="1" i="0">
                <a:solidFill>
                  <a:srgbClr val="12746A"/>
                </a:solidFill>
                <a:latin typeface="Calibri"/>
              </a:rPr>
              <a:t>EXAMPLE</a:t>
            </a:r>
          </a:p>
        </p:txBody>
      </p:sp>
      <p:sp>
        <p:nvSpPr>
          <p:cNvPr id="9" name="TextBox 8"/>
          <p:cNvSpPr txBox="1"/>
          <p:nvPr/>
        </p:nvSpPr>
        <p:spPr>
          <a:xfrm>
            <a:off x="1143000" y="4956048"/>
            <a:ext cx="9875520" cy="640080"/>
          </a:xfrm>
          <a:prstGeom prst="rect">
            <a:avLst/>
          </a:prstGeom>
          <a:noFill/>
        </p:spPr>
        <p:txBody>
          <a:bodyPr wrap="square" anchor="t" lIns="0" rIns="0" tIns="0" bIns="0">
            <a:spAutoFit/>
          </a:bodyPr>
          <a:lstStyle/>
          <a:p>
            <a:pPr algn="l">
              <a:lnSpc>
                <a:spcPct val="130000"/>
              </a:lnSpc>
            </a:pPr>
            <a:r>
              <a:rPr sz="1400" b="0" i="0">
                <a:solidFill>
                  <a:srgbClr val="1C1730"/>
                </a:solidFill>
                <a:latin typeface="Consolas"/>
              </a:rPr>
              <a:t>Ethereum switched from PoW to PoS in September 2022.</a:t>
            </a:r>
          </a:p>
        </p:txBody>
      </p:sp>
      <p:sp>
        <p:nvSpPr>
          <p:cNvPr id="10" name="TextBox 9"/>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05 / 15</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12746A"/>
                </a:solidFill>
                <a:latin typeface="Calibri"/>
              </a:rPr>
              <a:t>TOPIC 04 — CONSENSUS</a:t>
            </a:r>
          </a:p>
        </p:txBody>
      </p:sp>
      <p:sp>
        <p:nvSpPr>
          <p:cNvPr id="4" name="TextBox 3"/>
          <p:cNvSpPr txBox="1"/>
          <p:nvPr/>
        </p:nvSpPr>
        <p:spPr>
          <a:xfrm>
            <a:off x="8503920" y="640080"/>
            <a:ext cx="2834640" cy="365760"/>
          </a:xfrm>
          <a:prstGeom prst="rect">
            <a:avLst/>
          </a:prstGeom>
          <a:noFill/>
        </p:spPr>
        <p:txBody>
          <a:bodyPr wrap="square" anchor="t" lIns="0" rIns="0" tIns="0" bIns="0">
            <a:spAutoFit/>
          </a:bodyPr>
          <a:lstStyle/>
          <a:p>
            <a:pPr algn="r">
              <a:lnSpc>
                <a:spcPct val="115000"/>
              </a:lnSpc>
            </a:pPr>
            <a:r>
              <a:rPr sz="1200" b="1" i="0">
                <a:solidFill>
                  <a:srgbClr val="5C576E"/>
                </a:solidFill>
                <a:latin typeface="Calibri"/>
              </a:rPr>
              <a:t>KEY IDEA 3 / 4</a:t>
            </a:r>
          </a:p>
        </p:txBody>
      </p:sp>
      <p:sp>
        <p:nvSpPr>
          <p:cNvPr id="5" name="TextBox 4"/>
          <p:cNvSpPr txBox="1"/>
          <p:nvPr/>
        </p:nvSpPr>
        <p:spPr>
          <a:xfrm>
            <a:off x="822960" y="109728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The Byzantine Generals Problem</a:t>
            </a:r>
          </a:p>
        </p:txBody>
      </p:sp>
      <p:sp>
        <p:nvSpPr>
          <p:cNvPr id="6" name="TextBox 5"/>
          <p:cNvSpPr txBox="1"/>
          <p:nvPr/>
        </p:nvSpPr>
        <p:spPr>
          <a:xfrm>
            <a:off x="822960" y="2148840"/>
            <a:ext cx="9875520" cy="2011680"/>
          </a:xfrm>
          <a:prstGeom prst="rect">
            <a:avLst/>
          </a:prstGeom>
          <a:noFill/>
        </p:spPr>
        <p:txBody>
          <a:bodyPr wrap="square" anchor="t" lIns="0" rIns="0" tIns="0" bIns="0">
            <a:spAutoFit/>
          </a:bodyPr>
          <a:lstStyle/>
          <a:p>
            <a:pPr algn="l">
              <a:lnSpc>
                <a:spcPct val="150000"/>
              </a:lnSpc>
            </a:pPr>
            <a:r>
              <a:rPr sz="1650" b="0" i="0">
                <a:solidFill>
                  <a:srgbClr val="1C1730"/>
                </a:solidFill>
                <a:latin typeface="Calibri"/>
              </a:rPr>
              <a:t>Independent generals, unreliable messengers, and possible traitors among them — how do the loyal generals still reach reliable agreement? The classic 1982 thought experiment for exactly this problem.</a:t>
            </a:r>
          </a:p>
        </p:txBody>
      </p:sp>
      <p:sp>
        <p:nvSpPr>
          <p:cNvPr id="7" name="Rounded Rectangle 6"/>
          <p:cNvSpPr/>
          <p:nvPr/>
        </p:nvSpPr>
        <p:spPr>
          <a:xfrm>
            <a:off x="822960" y="4434840"/>
            <a:ext cx="10515600" cy="1280160"/>
          </a:xfrm>
          <a:prstGeom prst="roundRect">
            <a:avLst>
              <a:gd name="adj" fmla="val 6000"/>
            </a:avLst>
          </a:prstGeom>
          <a:solidFill>
            <a:srgbClr val="E7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617720"/>
            <a:ext cx="9875520" cy="320040"/>
          </a:xfrm>
          <a:prstGeom prst="rect">
            <a:avLst/>
          </a:prstGeom>
          <a:noFill/>
        </p:spPr>
        <p:txBody>
          <a:bodyPr wrap="square" anchor="t" lIns="0" rIns="0" tIns="0" bIns="0">
            <a:spAutoFit/>
          </a:bodyPr>
          <a:lstStyle/>
          <a:p>
            <a:pPr algn="l">
              <a:lnSpc>
                <a:spcPct val="115000"/>
              </a:lnSpc>
            </a:pPr>
            <a:r>
              <a:rPr sz="1100" b="1" i="0">
                <a:solidFill>
                  <a:srgbClr val="12746A"/>
                </a:solidFill>
                <a:latin typeface="Calibri"/>
              </a:rPr>
              <a:t>EXAMPLE</a:t>
            </a:r>
          </a:p>
        </p:txBody>
      </p:sp>
      <p:sp>
        <p:nvSpPr>
          <p:cNvPr id="9" name="TextBox 8"/>
          <p:cNvSpPr txBox="1"/>
          <p:nvPr/>
        </p:nvSpPr>
        <p:spPr>
          <a:xfrm>
            <a:off x="1143000" y="4956048"/>
            <a:ext cx="9875520" cy="640080"/>
          </a:xfrm>
          <a:prstGeom prst="rect">
            <a:avLst/>
          </a:prstGeom>
          <a:noFill/>
        </p:spPr>
        <p:txBody>
          <a:bodyPr wrap="square" anchor="t" lIns="0" rIns="0" tIns="0" bIns="0">
            <a:spAutoFit/>
          </a:bodyPr>
          <a:lstStyle/>
          <a:p>
            <a:pPr algn="l">
              <a:lnSpc>
                <a:spcPct val="130000"/>
              </a:lnSpc>
            </a:pPr>
            <a:r>
              <a:rPr sz="1400" b="0" i="0">
                <a:solidFill>
                  <a:srgbClr val="1C1730"/>
                </a:solidFill>
                <a:latin typeface="Consolas"/>
              </a:rPr>
              <a:t>No central coordinator + some malicious participants = the consensus problem.</a:t>
            </a:r>
          </a:p>
        </p:txBody>
      </p:sp>
      <p:sp>
        <p:nvSpPr>
          <p:cNvPr id="10" name="TextBox 9"/>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06 / 15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12746A"/>
                </a:solidFill>
                <a:latin typeface="Calibri"/>
              </a:rPr>
              <a:t>TOPIC 04 — CONSENSUS</a:t>
            </a:r>
          </a:p>
        </p:txBody>
      </p:sp>
      <p:sp>
        <p:nvSpPr>
          <p:cNvPr id="4" name="TextBox 3"/>
          <p:cNvSpPr txBox="1"/>
          <p:nvPr/>
        </p:nvSpPr>
        <p:spPr>
          <a:xfrm>
            <a:off x="8503920" y="640080"/>
            <a:ext cx="2834640" cy="365760"/>
          </a:xfrm>
          <a:prstGeom prst="rect">
            <a:avLst/>
          </a:prstGeom>
          <a:noFill/>
        </p:spPr>
        <p:txBody>
          <a:bodyPr wrap="square" anchor="t" lIns="0" rIns="0" tIns="0" bIns="0">
            <a:spAutoFit/>
          </a:bodyPr>
          <a:lstStyle/>
          <a:p>
            <a:pPr algn="r">
              <a:lnSpc>
                <a:spcPct val="115000"/>
              </a:lnSpc>
            </a:pPr>
            <a:r>
              <a:rPr sz="1200" b="1" i="0">
                <a:solidFill>
                  <a:srgbClr val="5C576E"/>
                </a:solidFill>
                <a:latin typeface="Calibri"/>
              </a:rPr>
              <a:t>KEY IDEA 4 / 4</a:t>
            </a:r>
          </a:p>
        </p:txBody>
      </p:sp>
      <p:sp>
        <p:nvSpPr>
          <p:cNvPr id="5" name="TextBox 4"/>
          <p:cNvSpPr txBox="1"/>
          <p:nvPr/>
        </p:nvSpPr>
        <p:spPr>
          <a:xfrm>
            <a:off x="822960" y="109728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The n ≥ 3f + 1 Rule</a:t>
            </a:r>
          </a:p>
        </p:txBody>
      </p:sp>
      <p:sp>
        <p:nvSpPr>
          <p:cNvPr id="6" name="TextBox 5"/>
          <p:cNvSpPr txBox="1"/>
          <p:nvPr/>
        </p:nvSpPr>
        <p:spPr>
          <a:xfrm>
            <a:off x="822960" y="2148840"/>
            <a:ext cx="9875520" cy="2011680"/>
          </a:xfrm>
          <a:prstGeom prst="rect">
            <a:avLst/>
          </a:prstGeom>
          <a:noFill/>
        </p:spPr>
        <p:txBody>
          <a:bodyPr wrap="square" anchor="t" lIns="0" rIns="0" tIns="0" bIns="0">
            <a:spAutoFit/>
          </a:bodyPr>
          <a:lstStyle/>
          <a:p>
            <a:pPr algn="l">
              <a:lnSpc>
                <a:spcPct val="150000"/>
              </a:lnSpc>
            </a:pPr>
            <a:r>
              <a:rPr sz="1650" b="0" i="0">
                <a:solidFill>
                  <a:srgbClr val="1C1730"/>
                </a:solidFill>
                <a:latin typeface="Calibri"/>
              </a:rPr>
              <a:t>A network of n nodes can tolerate up to f dishonest ones only if honest nodes outnumber dishonest ones by more than 2-to-1 — not just a simple majority.</a:t>
            </a:r>
          </a:p>
        </p:txBody>
      </p:sp>
      <p:sp>
        <p:nvSpPr>
          <p:cNvPr id="7" name="Rounded Rectangle 6"/>
          <p:cNvSpPr/>
          <p:nvPr/>
        </p:nvSpPr>
        <p:spPr>
          <a:xfrm>
            <a:off x="822960" y="4434840"/>
            <a:ext cx="10515600" cy="1280160"/>
          </a:xfrm>
          <a:prstGeom prst="roundRect">
            <a:avLst>
              <a:gd name="adj" fmla="val 6000"/>
            </a:avLst>
          </a:prstGeom>
          <a:solidFill>
            <a:srgbClr val="E7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617720"/>
            <a:ext cx="9875520" cy="320040"/>
          </a:xfrm>
          <a:prstGeom prst="rect">
            <a:avLst/>
          </a:prstGeom>
          <a:noFill/>
        </p:spPr>
        <p:txBody>
          <a:bodyPr wrap="square" anchor="t" lIns="0" rIns="0" tIns="0" bIns="0">
            <a:spAutoFit/>
          </a:bodyPr>
          <a:lstStyle/>
          <a:p>
            <a:pPr algn="l">
              <a:lnSpc>
                <a:spcPct val="115000"/>
              </a:lnSpc>
            </a:pPr>
            <a:r>
              <a:rPr sz="1100" b="1" i="0">
                <a:solidFill>
                  <a:srgbClr val="12746A"/>
                </a:solidFill>
                <a:latin typeface="Calibri"/>
              </a:rPr>
              <a:t>EXAMPLE</a:t>
            </a:r>
          </a:p>
        </p:txBody>
      </p:sp>
      <p:sp>
        <p:nvSpPr>
          <p:cNvPr id="9" name="TextBox 8"/>
          <p:cNvSpPr txBox="1"/>
          <p:nvPr/>
        </p:nvSpPr>
        <p:spPr>
          <a:xfrm>
            <a:off x="1143000" y="4956048"/>
            <a:ext cx="9875520" cy="640080"/>
          </a:xfrm>
          <a:prstGeom prst="rect">
            <a:avLst/>
          </a:prstGeom>
          <a:noFill/>
        </p:spPr>
        <p:txBody>
          <a:bodyPr wrap="square" anchor="t" lIns="0" rIns="0" tIns="0" bIns="0">
            <a:spAutoFit/>
          </a:bodyPr>
          <a:lstStyle/>
          <a:p>
            <a:pPr algn="l">
              <a:lnSpc>
                <a:spcPct val="130000"/>
              </a:lnSpc>
            </a:pPr>
            <a:r>
              <a:rPr sz="1400" b="0" i="0">
                <a:solidFill>
                  <a:srgbClr val="1C1730"/>
                </a:solidFill>
                <a:latin typeface="Consolas"/>
              </a:rPr>
              <a:t>100 nodes → tolerates at most 33 dishonest ones (100 ≥ 3×33 + 1).</a:t>
            </a:r>
          </a:p>
        </p:txBody>
      </p:sp>
      <p:sp>
        <p:nvSpPr>
          <p:cNvPr id="10" name="TextBox 9"/>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07 / 15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12746A"/>
                </a:solidFill>
                <a:latin typeface="Calibri"/>
              </a:rPr>
              <a:t>WORKED EXAMPLE — PART 1</a:t>
            </a:r>
          </a:p>
        </p:txBody>
      </p:sp>
      <p:sp>
        <p:nvSpPr>
          <p:cNvPr id="4" name="TextBox 3"/>
          <p:cNvSpPr txBox="1"/>
          <p:nvPr/>
        </p:nvSpPr>
        <p:spPr>
          <a:xfrm>
            <a:off x="822960" y="1051560"/>
            <a:ext cx="10332720" cy="1005840"/>
          </a:xfrm>
          <a:prstGeom prst="rect">
            <a:avLst/>
          </a:prstGeom>
          <a:noFill/>
        </p:spPr>
        <p:txBody>
          <a:bodyPr wrap="square" anchor="t" lIns="0" rIns="0" tIns="0" bIns="0">
            <a:spAutoFit/>
          </a:bodyPr>
          <a:lstStyle/>
          <a:p>
            <a:pPr algn="l">
              <a:lnSpc>
                <a:spcPct val="105000"/>
              </a:lnSpc>
            </a:pPr>
            <a:r>
              <a:rPr sz="2700" b="1" i="0">
                <a:solidFill>
                  <a:srgbClr val="1C1730"/>
                </a:solidFill>
                <a:latin typeface="Century Gothic"/>
              </a:rPr>
              <a:t>The Fault-Tolerance Math, Worked With Real Numbers</a:t>
            </a:r>
          </a:p>
        </p:txBody>
      </p:sp>
      <p:sp>
        <p:nvSpPr>
          <p:cNvPr id="5" name="Rounded Rectangle 4"/>
          <p:cNvSpPr/>
          <p:nvPr/>
        </p:nvSpPr>
        <p:spPr>
          <a:xfrm>
            <a:off x="822960" y="1965960"/>
            <a:ext cx="10515600" cy="3840480"/>
          </a:xfrm>
          <a:prstGeom prst="roundRect">
            <a:avLst>
              <a:gd name="adj" fmla="val 4500"/>
            </a:avLst>
          </a:prstGeom>
          <a:solidFill>
            <a:srgbClr val="1410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24128" y="2130552"/>
            <a:ext cx="109728" cy="109728"/>
          </a:xfrm>
          <a:prstGeom prst="ellipse">
            <a:avLst/>
          </a:prstGeom>
          <a:solidFill>
            <a:srgbClr val="FF6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225296" y="2130552"/>
            <a:ext cx="109728" cy="109728"/>
          </a:xfrm>
          <a:prstGeom prst="ellipse">
            <a:avLst/>
          </a:prstGeom>
          <a:solidFill>
            <a:srgbClr val="FFC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426464" y="2130552"/>
            <a:ext cx="109728" cy="109728"/>
          </a:xfrm>
          <a:prstGeom prst="ellipse">
            <a:avLst/>
          </a:prstGeom>
          <a:solidFill>
            <a:srgbClr val="28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78992" y="2350008"/>
            <a:ext cx="10003536" cy="3273552"/>
          </a:xfrm>
          <a:prstGeom prst="rect">
            <a:avLst/>
          </a:prstGeom>
          <a:noFill/>
        </p:spPr>
        <p:txBody>
          <a:bodyPr wrap="square" anchor="t" lIns="0" rIns="0" tIns="0" bIns="0">
            <a:spAutoFit/>
          </a:bodyPr>
          <a:lstStyle/>
          <a:p>
            <a:pPr algn="l">
              <a:lnSpc>
                <a:spcPct val="135000"/>
              </a:lnSpc>
            </a:pPr>
            <a:r>
              <a:rPr sz="1350" b="0">
                <a:solidFill>
                  <a:srgbClr val="8B84AD"/>
                </a:solidFill>
                <a:latin typeface="Consolas"/>
              </a:rPr>
              <a:t>Total nodes (n)   Max dishonest (f)   Check</a:t>
            </a:r>
          </a:p>
          <a:p>
            <a:pPr algn="l">
              <a:lnSpc>
                <a:spcPct val="135000"/>
              </a:lnSpc>
            </a:pPr>
            <a:r>
              <a:rPr sz="1350" b="0">
                <a:solidFill>
                  <a:srgbClr val="7FE0C4"/>
                </a:solidFill>
                <a:latin typeface="Consolas"/>
              </a:rPr>
              <a:t>4                 1                    4 ≥ 3(1)+1 = 4  ✓</a:t>
            </a:r>
          </a:p>
          <a:p>
            <a:pPr algn="l">
              <a:lnSpc>
                <a:spcPct val="135000"/>
              </a:lnSpc>
            </a:pPr>
            <a:r>
              <a:rPr sz="1350" b="0">
                <a:solidFill>
                  <a:srgbClr val="7FE0C4"/>
                </a:solidFill>
                <a:latin typeface="Consolas"/>
              </a:rPr>
              <a:t>10                3                    10 ≥ 3(3)+1 = 10  ✓</a:t>
            </a:r>
          </a:p>
          <a:p>
            <a:pPr algn="l">
              <a:lnSpc>
                <a:spcPct val="135000"/>
              </a:lnSpc>
            </a:pPr>
            <a:r>
              <a:rPr sz="1350" b="0">
                <a:solidFill>
                  <a:srgbClr val="7FE0C4"/>
                </a:solidFill>
                <a:latin typeface="Consolas"/>
              </a:rPr>
              <a:t>100               33                   100 ≥ 3(33)+1 = 100  ✓</a:t>
            </a:r>
          </a:p>
          <a:p>
            <a:pPr algn="l">
              <a:lnSpc>
                <a:spcPct val="135000"/>
              </a:lnSpc>
            </a:pPr>
            <a:r>
              <a:rPr sz="1350" b="0">
                <a:solidFill>
                  <a:srgbClr val="EDE9F7"/>
                </a:solidFill>
                <a:latin typeface="Consolas"/>
              </a:rPr>
              <a:t/>
            </a:r>
          </a:p>
          <a:p>
            <a:pPr algn="l">
              <a:lnSpc>
                <a:spcPct val="135000"/>
              </a:lnSpc>
            </a:pPr>
            <a:r>
              <a:rPr sz="1350" b="0">
                <a:solidFill>
                  <a:srgbClr val="8B84AD"/>
                </a:solidFill>
                <a:latin typeface="Consolas"/>
              </a:rPr>
              <a:t># honest nodes must outnumber dishonest ones</a:t>
            </a:r>
          </a:p>
          <a:p>
            <a:pPr algn="l">
              <a:lnSpc>
                <a:spcPct val="135000"/>
              </a:lnSpc>
            </a:pPr>
            <a:r>
              <a:rPr sz="1350" b="0">
                <a:solidFill>
                  <a:srgbClr val="8B84AD"/>
                </a:solidFill>
                <a:latin typeface="Consolas"/>
              </a:rPr>
              <a:t># by MORE than 2-to-1 — not just a simple majority.</a:t>
            </a:r>
          </a:p>
        </p:txBody>
      </p:sp>
      <p:sp>
        <p:nvSpPr>
          <p:cNvPr id="10" name="TextBox 9"/>
          <p:cNvSpPr txBox="1"/>
          <p:nvPr/>
        </p:nvSpPr>
        <p:spPr>
          <a:xfrm>
            <a:off x="822960" y="6446520"/>
            <a:ext cx="10058400" cy="320040"/>
          </a:xfrm>
          <a:prstGeom prst="rect">
            <a:avLst/>
          </a:prstGeom>
          <a:noFill/>
        </p:spPr>
        <p:txBody>
          <a:bodyPr wrap="square" anchor="t" lIns="0" rIns="0" tIns="0" bIns="0">
            <a:spAutoFit/>
          </a:bodyPr>
          <a:lstStyle/>
          <a:p>
            <a:pPr algn="l">
              <a:lnSpc>
                <a:spcPct val="115000"/>
              </a:lnSpc>
            </a:pPr>
            <a:r>
              <a:rPr sz="1050" b="0" i="0">
                <a:solidFill>
                  <a:srgbClr val="5C576E"/>
                </a:solidFill>
                <a:latin typeface="Calibri"/>
              </a:rPr>
              <a:t>This is a general distributed-systems result — not specific to blockchain.</a:t>
            </a:r>
          </a:p>
        </p:txBody>
      </p:sp>
      <p:sp>
        <p:nvSpPr>
          <p:cNvPr id="11" name="TextBox 10"/>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08 / 15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12746A"/>
                </a:solidFill>
                <a:latin typeface="Calibri"/>
              </a:rPr>
              <a:t>WORKED EXAMPLE — PART 2</a:t>
            </a:r>
          </a:p>
        </p:txBody>
      </p:sp>
      <p:sp>
        <p:nvSpPr>
          <p:cNvPr id="4" name="TextBox 3"/>
          <p:cNvSpPr txBox="1"/>
          <p:nvPr/>
        </p:nvSpPr>
        <p:spPr>
          <a:xfrm>
            <a:off x="822960" y="1051560"/>
            <a:ext cx="10332720" cy="1005840"/>
          </a:xfrm>
          <a:prstGeom prst="rect">
            <a:avLst/>
          </a:prstGeom>
          <a:noFill/>
        </p:spPr>
        <p:txBody>
          <a:bodyPr wrap="square" anchor="t" lIns="0" rIns="0" tIns="0" bIns="0">
            <a:spAutoFit/>
          </a:bodyPr>
          <a:lstStyle/>
          <a:p>
            <a:pPr algn="l">
              <a:lnSpc>
                <a:spcPct val="105000"/>
              </a:lnSpc>
            </a:pPr>
            <a:r>
              <a:rPr sz="2700" b="1" i="0">
                <a:solidFill>
                  <a:srgbClr val="1C1730"/>
                </a:solidFill>
                <a:latin typeface="Century Gothic"/>
              </a:rPr>
              <a:t>A Real, Documented 51%-Attack — Ethereum Classic</a:t>
            </a:r>
          </a:p>
        </p:txBody>
      </p:sp>
      <p:sp>
        <p:nvSpPr>
          <p:cNvPr id="5" name="Rounded Rectangle 4"/>
          <p:cNvSpPr/>
          <p:nvPr/>
        </p:nvSpPr>
        <p:spPr>
          <a:xfrm>
            <a:off x="822960" y="1965960"/>
            <a:ext cx="10515600" cy="3840480"/>
          </a:xfrm>
          <a:prstGeom prst="roundRect">
            <a:avLst>
              <a:gd name="adj" fmla="val 4500"/>
            </a:avLst>
          </a:prstGeom>
          <a:solidFill>
            <a:srgbClr val="1410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24128" y="2130552"/>
            <a:ext cx="109728" cy="109728"/>
          </a:xfrm>
          <a:prstGeom prst="ellipse">
            <a:avLst/>
          </a:prstGeom>
          <a:solidFill>
            <a:srgbClr val="FF6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225296" y="2130552"/>
            <a:ext cx="109728" cy="109728"/>
          </a:xfrm>
          <a:prstGeom prst="ellipse">
            <a:avLst/>
          </a:prstGeom>
          <a:solidFill>
            <a:srgbClr val="FFC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426464" y="2130552"/>
            <a:ext cx="109728" cy="109728"/>
          </a:xfrm>
          <a:prstGeom prst="ellipse">
            <a:avLst/>
          </a:prstGeom>
          <a:solidFill>
            <a:srgbClr val="28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78992" y="2350008"/>
            <a:ext cx="10003536" cy="3273552"/>
          </a:xfrm>
          <a:prstGeom prst="rect">
            <a:avLst/>
          </a:prstGeom>
          <a:noFill/>
        </p:spPr>
        <p:txBody>
          <a:bodyPr wrap="square" anchor="t" lIns="0" rIns="0" tIns="0" bIns="0">
            <a:spAutoFit/>
          </a:bodyPr>
          <a:lstStyle/>
          <a:p>
            <a:pPr algn="l">
              <a:lnSpc>
                <a:spcPct val="135000"/>
              </a:lnSpc>
            </a:pPr>
            <a:r>
              <a:rPr sz="1350" b="0">
                <a:solidFill>
                  <a:srgbClr val="EDE9F7"/>
                </a:solidFill>
                <a:latin typeface="Consolas"/>
              </a:rPr>
              <a:t>Jan 2019   </a:t>
            </a:r>
            <a:r>
              <a:rPr sz="1350" b="1">
                <a:solidFill>
                  <a:srgbClr val="FF8E7D"/>
                </a:solidFill>
                <a:latin typeface="Consolas"/>
              </a:rPr>
              <a:t>$1.1M</a:t>
            </a:r>
            <a:r>
              <a:rPr sz="1350" b="0">
                <a:solidFill>
                  <a:srgbClr val="EDE9F7"/>
                </a:solidFill>
                <a:latin typeface="Consolas"/>
              </a:rPr>
              <a:t>  double-spent (2 attacks)</a:t>
            </a:r>
          </a:p>
          <a:p>
            <a:pPr algn="l">
              <a:lnSpc>
                <a:spcPct val="135000"/>
              </a:lnSpc>
            </a:pPr>
            <a:r>
              <a:rPr sz="1350" b="0">
                <a:solidFill>
                  <a:srgbClr val="EDE9F7"/>
                </a:solidFill>
                <a:latin typeface="Consolas"/>
              </a:rPr>
              <a:t>Jul 2020   </a:t>
            </a:r>
            <a:r>
              <a:rPr sz="1350" b="1">
                <a:solidFill>
                  <a:srgbClr val="FF8E7D"/>
                </a:solidFill>
                <a:latin typeface="Consolas"/>
              </a:rPr>
              <a:t>$5.8M</a:t>
            </a:r>
            <a:r>
              <a:rPr sz="1350" b="0">
                <a:solidFill>
                  <a:srgbClr val="EDE9F7"/>
                </a:solidFill>
                <a:latin typeface="Consolas"/>
              </a:rPr>
              <a:t>  double-spent (1 attack)</a:t>
            </a:r>
          </a:p>
          <a:p>
            <a:pPr algn="l">
              <a:lnSpc>
                <a:spcPct val="135000"/>
              </a:lnSpc>
            </a:pPr>
            <a:r>
              <a:rPr sz="1350" b="0">
                <a:solidFill>
                  <a:srgbClr val="EDE9F7"/>
                </a:solidFill>
                <a:latin typeface="Consolas"/>
              </a:rPr>
              <a:t>Aug 2020   </a:t>
            </a:r>
            <a:r>
              <a:rPr sz="1350" b="1">
                <a:solidFill>
                  <a:srgbClr val="FF8E7D"/>
                </a:solidFill>
                <a:latin typeface="Consolas"/>
              </a:rPr>
              <a:t>$3.2M</a:t>
            </a:r>
            <a:r>
              <a:rPr sz="1350" b="0">
                <a:solidFill>
                  <a:srgbClr val="EDE9F7"/>
                </a:solidFill>
                <a:latin typeface="Consolas"/>
              </a:rPr>
              <a:t>  double-spent (1 attack)</a:t>
            </a:r>
          </a:p>
          <a:p>
            <a:pPr algn="l">
              <a:lnSpc>
                <a:spcPct val="135000"/>
              </a:lnSpc>
            </a:pPr>
            <a:r>
              <a:rPr sz="1350" b="0">
                <a:solidFill>
                  <a:srgbClr val="EDE9F7"/>
                </a:solidFill>
                <a:latin typeface="Consolas"/>
              </a:rPr>
              <a:t>           </a:t>
            </a:r>
            <a:r>
              <a:rPr sz="1350" b="1">
                <a:solidFill>
                  <a:srgbClr val="FF8E7D"/>
                </a:solidFill>
                <a:latin typeface="Consolas"/>
              </a:rPr>
              <a:t>$10.1M</a:t>
            </a:r>
            <a:r>
              <a:rPr sz="1350" b="0">
                <a:solidFill>
                  <a:srgbClr val="EDE9F7"/>
                </a:solidFill>
                <a:latin typeface="Consolas"/>
              </a:rPr>
              <a:t> total — three CONFIRMED attacks</a:t>
            </a:r>
          </a:p>
          <a:p>
            <a:pPr algn="l">
              <a:lnSpc>
                <a:spcPct val="135000"/>
              </a:lnSpc>
            </a:pPr>
            <a:r>
              <a:rPr sz="1350" b="0">
                <a:solidFill>
                  <a:srgbClr val="EDE9F7"/>
                </a:solidFill>
                <a:latin typeface="Consolas"/>
              </a:rPr>
              <a:t/>
            </a:r>
          </a:p>
          <a:p>
            <a:pPr algn="l">
              <a:lnSpc>
                <a:spcPct val="135000"/>
              </a:lnSpc>
            </a:pPr>
            <a:r>
              <a:rPr sz="1350" b="0">
                <a:solidFill>
                  <a:srgbClr val="8B84AD"/>
                </a:solidFill>
                <a:latin typeface="Consolas"/>
              </a:rPr>
              <a:t># mechanism: majority mining power secretly built an</a:t>
            </a:r>
          </a:p>
          <a:p>
            <a:pPr algn="l">
              <a:lnSpc>
                <a:spcPct val="135000"/>
              </a:lnSpc>
            </a:pPr>
            <a:r>
              <a:rPr sz="1350" b="0">
                <a:solidFill>
                  <a:srgbClr val="8B84AD"/>
                </a:solidFill>
                <a:latin typeface="Consolas"/>
              </a:rPr>
              <a:t># alternate chain, released once longer than the honest one.</a:t>
            </a:r>
          </a:p>
        </p:txBody>
      </p:sp>
      <p:sp>
        <p:nvSpPr>
          <p:cNvPr id="10" name="TextBox 9"/>
          <p:cNvSpPr txBox="1"/>
          <p:nvPr/>
        </p:nvSpPr>
        <p:spPr>
          <a:xfrm>
            <a:off x="822960" y="6446520"/>
            <a:ext cx="10058400" cy="320040"/>
          </a:xfrm>
          <a:prstGeom prst="rect">
            <a:avLst/>
          </a:prstGeom>
          <a:noFill/>
        </p:spPr>
        <p:txBody>
          <a:bodyPr wrap="square" anchor="t" lIns="0" rIns="0" tIns="0" bIns="0">
            <a:spAutoFit/>
          </a:bodyPr>
          <a:lstStyle/>
          <a:p>
            <a:pPr algn="l">
              <a:lnSpc>
                <a:spcPct val="115000"/>
              </a:lnSpc>
            </a:pPr>
            <a:r>
              <a:rPr sz="1050" b="0" i="0">
                <a:solidFill>
                  <a:srgbClr val="5C576E"/>
                </a:solidFill>
                <a:latin typeface="Calibri"/>
              </a:rPr>
              <a:t>A real, cited case — not a hypothetical. Source: Coinbase &amp; CryptoPotato incident reports.</a:t>
            </a:r>
          </a:p>
        </p:txBody>
      </p:sp>
      <p:sp>
        <p:nvSpPr>
          <p:cNvPr id="11" name="TextBox 10"/>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09 / 15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12746A"/>
                </a:solidFill>
                <a:latin typeface="Calibri"/>
              </a:rPr>
              <a:t>REAL-WORLD USES</a:t>
            </a:r>
          </a:p>
        </p:txBody>
      </p:sp>
      <p:sp>
        <p:nvSpPr>
          <p:cNvPr id="4" name="TextBox 3"/>
          <p:cNvSpPr txBox="1"/>
          <p:nvPr/>
        </p:nvSpPr>
        <p:spPr>
          <a:xfrm>
            <a:off x="822960" y="105156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Not Just Blockchain</a:t>
            </a:r>
          </a:p>
        </p:txBody>
      </p:sp>
      <p:sp>
        <p:nvSpPr>
          <p:cNvPr id="5" name="Rounded Rectangle 4"/>
          <p:cNvSpPr/>
          <p:nvPr/>
        </p:nvSpPr>
        <p:spPr>
          <a:xfrm>
            <a:off x="822960" y="2011680"/>
            <a:ext cx="3322320" cy="3108960"/>
          </a:xfrm>
          <a:prstGeom prst="roundRect">
            <a:avLst>
              <a:gd name="adj" fmla="val 9000"/>
            </a:avLst>
          </a:prstGeom>
          <a:solidFill>
            <a:srgbClr val="FFFFFF"/>
          </a:solidFill>
          <a:ln w="12700">
            <a:solidFill>
              <a:srgbClr val="DED9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 y="2267712"/>
            <a:ext cx="2810256" cy="457200"/>
          </a:xfrm>
          <a:prstGeom prst="rect">
            <a:avLst/>
          </a:prstGeom>
          <a:noFill/>
        </p:spPr>
        <p:txBody>
          <a:bodyPr wrap="square" anchor="t" lIns="0" rIns="0" tIns="0" bIns="0">
            <a:spAutoFit/>
          </a:bodyPr>
          <a:lstStyle/>
          <a:p>
            <a:pPr algn="l">
              <a:lnSpc>
                <a:spcPct val="115000"/>
              </a:lnSpc>
            </a:pPr>
            <a:r>
              <a:rPr sz="1450" b="1" i="0">
                <a:solidFill>
                  <a:srgbClr val="12746A"/>
                </a:solidFill>
                <a:latin typeface="Century Gothic"/>
              </a:rPr>
              <a:t>Kubernetes' etcd (Raft)</a:t>
            </a:r>
          </a:p>
        </p:txBody>
      </p:sp>
      <p:sp>
        <p:nvSpPr>
          <p:cNvPr id="7" name="TextBox 6"/>
          <p:cNvSpPr txBox="1"/>
          <p:nvPr/>
        </p:nvSpPr>
        <p:spPr>
          <a:xfrm>
            <a:off x="1078992" y="2724912"/>
            <a:ext cx="2810256" cy="2258568"/>
          </a:xfrm>
          <a:prstGeom prst="rect">
            <a:avLst/>
          </a:prstGeom>
          <a:noFill/>
        </p:spPr>
        <p:txBody>
          <a:bodyPr wrap="square" anchor="t" lIns="0" rIns="0" tIns="0" bIns="0">
            <a:spAutoFit/>
          </a:bodyPr>
          <a:lstStyle/>
          <a:p>
            <a:pPr algn="l">
              <a:lnSpc>
                <a:spcPct val="128000"/>
              </a:lnSpc>
            </a:pPr>
            <a:r>
              <a:rPr sz="1150" b="0" i="0">
                <a:solidFill>
                  <a:srgbClr val="1C1730"/>
                </a:solidFill>
                <a:latin typeface="Calibri"/>
              </a:rPr>
              <a:t>Keeps cluster configuration consistent across servers, even through crashes.</a:t>
            </a:r>
          </a:p>
        </p:txBody>
      </p:sp>
      <p:sp>
        <p:nvSpPr>
          <p:cNvPr id="8" name="Rounded Rectangle 7"/>
          <p:cNvSpPr/>
          <p:nvPr/>
        </p:nvSpPr>
        <p:spPr>
          <a:xfrm>
            <a:off x="4419600" y="2011680"/>
            <a:ext cx="3322320" cy="3108960"/>
          </a:xfrm>
          <a:prstGeom prst="roundRect">
            <a:avLst>
              <a:gd name="adj" fmla="val 9000"/>
            </a:avLst>
          </a:prstGeom>
          <a:solidFill>
            <a:srgbClr val="FFFFFF"/>
          </a:solidFill>
          <a:ln w="12700">
            <a:solidFill>
              <a:srgbClr val="DED9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75632" y="2267712"/>
            <a:ext cx="2810256" cy="457200"/>
          </a:xfrm>
          <a:prstGeom prst="rect">
            <a:avLst/>
          </a:prstGeom>
          <a:noFill/>
        </p:spPr>
        <p:txBody>
          <a:bodyPr wrap="square" anchor="t" lIns="0" rIns="0" tIns="0" bIns="0">
            <a:spAutoFit/>
          </a:bodyPr>
          <a:lstStyle/>
          <a:p>
            <a:pPr algn="l">
              <a:lnSpc>
                <a:spcPct val="115000"/>
              </a:lnSpc>
            </a:pPr>
            <a:r>
              <a:rPr sz="1450" b="1" i="0">
                <a:solidFill>
                  <a:srgbClr val="12746A"/>
                </a:solidFill>
                <a:latin typeface="Century Gothic"/>
              </a:rPr>
              <a:t>CockroachDB / Spanner (Paxos)</a:t>
            </a:r>
          </a:p>
        </p:txBody>
      </p:sp>
      <p:sp>
        <p:nvSpPr>
          <p:cNvPr id="10" name="TextBox 9"/>
          <p:cNvSpPr txBox="1"/>
          <p:nvPr/>
        </p:nvSpPr>
        <p:spPr>
          <a:xfrm>
            <a:off x="4675632" y="2724912"/>
            <a:ext cx="2810256" cy="2258568"/>
          </a:xfrm>
          <a:prstGeom prst="rect">
            <a:avLst/>
          </a:prstGeom>
          <a:noFill/>
        </p:spPr>
        <p:txBody>
          <a:bodyPr wrap="square" anchor="t" lIns="0" rIns="0" tIns="0" bIns="0">
            <a:spAutoFit/>
          </a:bodyPr>
          <a:lstStyle/>
          <a:p>
            <a:pPr algn="l">
              <a:lnSpc>
                <a:spcPct val="128000"/>
              </a:lnSpc>
            </a:pPr>
            <a:r>
              <a:rPr sz="1150" b="0" i="0">
                <a:solidFill>
                  <a:srgbClr val="1C1730"/>
                </a:solidFill>
                <a:latin typeface="Calibri"/>
              </a:rPr>
              <a:t>Keeps globally distributed databases consistent across continents.</a:t>
            </a:r>
          </a:p>
        </p:txBody>
      </p:sp>
      <p:sp>
        <p:nvSpPr>
          <p:cNvPr id="11" name="Rounded Rectangle 10"/>
          <p:cNvSpPr/>
          <p:nvPr/>
        </p:nvSpPr>
        <p:spPr>
          <a:xfrm>
            <a:off x="8016240" y="2011680"/>
            <a:ext cx="3322320" cy="3108960"/>
          </a:xfrm>
          <a:prstGeom prst="roundRect">
            <a:avLst>
              <a:gd name="adj" fmla="val 9000"/>
            </a:avLst>
          </a:prstGeom>
          <a:solidFill>
            <a:srgbClr val="FFFFFF"/>
          </a:solidFill>
          <a:ln w="12700">
            <a:solidFill>
              <a:srgbClr val="DED9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2272" y="2267712"/>
            <a:ext cx="2810256" cy="457200"/>
          </a:xfrm>
          <a:prstGeom prst="rect">
            <a:avLst/>
          </a:prstGeom>
          <a:noFill/>
        </p:spPr>
        <p:txBody>
          <a:bodyPr wrap="square" anchor="t" lIns="0" rIns="0" tIns="0" bIns="0">
            <a:spAutoFit/>
          </a:bodyPr>
          <a:lstStyle/>
          <a:p>
            <a:pPr algn="l">
              <a:lnSpc>
                <a:spcPct val="115000"/>
              </a:lnSpc>
            </a:pPr>
            <a:r>
              <a:rPr sz="1450" b="1" i="0">
                <a:solidFill>
                  <a:srgbClr val="12746A"/>
                </a:solidFill>
                <a:latin typeface="Century Gothic"/>
              </a:rPr>
              <a:t>Flight-Control Redundancy</a:t>
            </a:r>
          </a:p>
        </p:txBody>
      </p:sp>
      <p:sp>
        <p:nvSpPr>
          <p:cNvPr id="13" name="TextBox 12"/>
          <p:cNvSpPr txBox="1"/>
          <p:nvPr/>
        </p:nvSpPr>
        <p:spPr>
          <a:xfrm>
            <a:off x="8272272" y="2724912"/>
            <a:ext cx="2810256" cy="2258568"/>
          </a:xfrm>
          <a:prstGeom prst="rect">
            <a:avLst/>
          </a:prstGeom>
          <a:noFill/>
        </p:spPr>
        <p:txBody>
          <a:bodyPr wrap="square" anchor="t" lIns="0" rIns="0" tIns="0" bIns="0">
            <a:spAutoFit/>
          </a:bodyPr>
          <a:lstStyle/>
          <a:p>
            <a:pPr algn="l">
              <a:lnSpc>
                <a:spcPct val="128000"/>
              </a:lnSpc>
            </a:pPr>
            <a:r>
              <a:rPr sz="1150" b="0" i="0">
                <a:solidFill>
                  <a:srgbClr val="1C1730"/>
                </a:solidFill>
                <a:latin typeface="Calibri"/>
              </a:rPr>
              <a:t>The 1982 Byzantine Generals paper was partly motivated by aircraft sensors needing to agree despite a faulty unit.</a:t>
            </a:r>
          </a:p>
        </p:txBody>
      </p:sp>
      <p:sp>
        <p:nvSpPr>
          <p:cNvPr id="14" name="TextBox 13"/>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10 / 15</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12746A"/>
                </a:solidFill>
                <a:latin typeface="Calibri"/>
              </a:rPr>
              <a:t>FLAGSHIP CASE STUDY</a:t>
            </a:r>
          </a:p>
        </p:txBody>
      </p:sp>
      <p:sp>
        <p:nvSpPr>
          <p:cNvPr id="4" name="TextBox 3"/>
          <p:cNvSpPr txBox="1"/>
          <p:nvPr/>
        </p:nvSpPr>
        <p:spPr>
          <a:xfrm>
            <a:off x="822960" y="1097280"/>
            <a:ext cx="10332720" cy="1005840"/>
          </a:xfrm>
          <a:prstGeom prst="rect">
            <a:avLst/>
          </a:prstGeom>
          <a:noFill/>
        </p:spPr>
        <p:txBody>
          <a:bodyPr wrap="square" anchor="t" lIns="0" rIns="0" tIns="0" bIns="0">
            <a:spAutoFit/>
          </a:bodyPr>
          <a:lstStyle/>
          <a:p>
            <a:pPr algn="l">
              <a:lnSpc>
                <a:spcPct val="105000"/>
              </a:lnSpc>
            </a:pPr>
            <a:r>
              <a:rPr sz="3000" b="1" i="0">
                <a:solidFill>
                  <a:srgbClr val="1C1730"/>
                </a:solidFill>
                <a:latin typeface="Century Gothic"/>
              </a:rPr>
              <a:t>What A 51% Attacker Can — And Can't — Do</a:t>
            </a:r>
          </a:p>
        </p:txBody>
      </p:sp>
      <p:sp>
        <p:nvSpPr>
          <p:cNvPr id="5" name="Rounded Rectangle 4"/>
          <p:cNvSpPr/>
          <p:nvPr/>
        </p:nvSpPr>
        <p:spPr>
          <a:xfrm>
            <a:off x="822960" y="2423160"/>
            <a:ext cx="10515600" cy="3749039"/>
          </a:xfrm>
          <a:prstGeom prst="roundRect">
            <a:avLst>
              <a:gd name="adj" fmla="val 4000"/>
            </a:avLst>
          </a:prstGeom>
          <a:solidFill>
            <a:srgbClr val="127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743200"/>
            <a:ext cx="9601200" cy="3200400"/>
          </a:xfrm>
          <a:prstGeom prst="rect">
            <a:avLst/>
          </a:prstGeom>
          <a:noFill/>
        </p:spPr>
        <p:txBody>
          <a:bodyPr wrap="square" anchor="t" lIns="0" rIns="0" tIns="0" bIns="0">
            <a:spAutoFit/>
          </a:bodyPr>
          <a:lstStyle/>
          <a:p>
            <a:pPr algn="l">
              <a:lnSpc>
                <a:spcPct val="155000"/>
              </a:lnSpc>
            </a:pPr>
            <a:r>
              <a:rPr sz="1600" b="0" i="0">
                <a:solidFill>
                  <a:srgbClr val="FFFFFF"/>
                </a:solidFill>
                <a:latin typeface="Calibri"/>
              </a:rPr>
              <a:t>In 2019 and 2020, Ethereum Classic suffered three confirmed 51%-attacks totaling $10.1M in double-spends. The attacker rewrote recent block ordering to reverse their OWN sent transactions. They could NOT forge a signature for funds they never controlled, and could NOT touch other users' wallets — the Topic 02 cryptography held perfectly throughout. A 51% attack breaks “who got here first,” not the underlying math.</a:t>
            </a:r>
          </a:p>
        </p:txBody>
      </p:sp>
      <p:sp>
        <p:nvSpPr>
          <p:cNvPr id="7" name="TextBox 6"/>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11 / 15</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12746A"/>
                </a:solidFill>
                <a:latin typeface="Calibri"/>
              </a:rPr>
              <a:t>REAL-LIFE ANALOGY</a:t>
            </a:r>
          </a:p>
        </p:txBody>
      </p:sp>
      <p:sp>
        <p:nvSpPr>
          <p:cNvPr id="4" name="TextBox 3"/>
          <p:cNvSpPr txBox="1"/>
          <p:nvPr/>
        </p:nvSpPr>
        <p:spPr>
          <a:xfrm>
            <a:off x="822960" y="1097280"/>
            <a:ext cx="10332720" cy="1005840"/>
          </a:xfrm>
          <a:prstGeom prst="rect">
            <a:avLst/>
          </a:prstGeom>
          <a:noFill/>
        </p:spPr>
        <p:txBody>
          <a:bodyPr wrap="square" anchor="t" lIns="0" rIns="0" tIns="0" bIns="0">
            <a:spAutoFit/>
          </a:bodyPr>
          <a:lstStyle/>
          <a:p>
            <a:pPr algn="l">
              <a:lnSpc>
                <a:spcPct val="105000"/>
              </a:lnSpc>
            </a:pPr>
            <a:r>
              <a:rPr sz="3000" b="1" i="0">
                <a:solidFill>
                  <a:srgbClr val="1C1730"/>
                </a:solidFill>
                <a:latin typeface="Century Gothic"/>
              </a:rPr>
              <a:t>Generals Surrounding A City</a:t>
            </a:r>
          </a:p>
        </p:txBody>
      </p:sp>
      <p:sp>
        <p:nvSpPr>
          <p:cNvPr id="5" name="Rectangle 4"/>
          <p:cNvSpPr/>
          <p:nvPr/>
        </p:nvSpPr>
        <p:spPr>
          <a:xfrm>
            <a:off x="822960" y="2286000"/>
            <a:ext cx="91440" cy="3657600"/>
          </a:xfrm>
          <a:prstGeom prst="rect">
            <a:avLst/>
          </a:prstGeom>
          <a:solidFill>
            <a:srgbClr val="127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377440"/>
            <a:ext cx="9784080" cy="3566160"/>
          </a:xfrm>
          <a:prstGeom prst="rect">
            <a:avLst/>
          </a:prstGeom>
          <a:noFill/>
        </p:spPr>
        <p:txBody>
          <a:bodyPr wrap="square" anchor="t" lIns="0" rIns="0" tIns="0" bIns="0">
            <a:spAutoFit/>
          </a:bodyPr>
          <a:lstStyle/>
          <a:p>
            <a:pPr algn="l">
              <a:lnSpc>
                <a:spcPct val="160000"/>
              </a:lnSpc>
            </a:pPr>
            <a:r>
              <a:rPr sz="1800" b="0" i="0">
                <a:solidFill>
                  <a:srgbClr val="1C1730"/>
                </a:solidFill>
                <a:latin typeface="Calibri"/>
              </a:rPr>
              <a:t>Several generals must all attack together, or all retreat together — communicating only via messengers who might be delayed, lost, or secretly traitorous. This is exactly the situation a blockchain network is in: independent nodes, unreliable networks, some possibly malicious — and PoW / PoS are two different, practical answers to how the honest majority still reaches agreement anyway.</a:t>
            </a:r>
          </a:p>
        </p:txBody>
      </p:sp>
      <p:sp>
        <p:nvSpPr>
          <p:cNvPr id="7" name="TextBox 6"/>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12 / 15</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12746A"/>
                </a:solidFill>
                <a:latin typeface="Calibri"/>
              </a:rPr>
              <a:t>COMMON MISCONCEPTIONS</a:t>
            </a:r>
          </a:p>
        </p:txBody>
      </p:sp>
      <p:sp>
        <p:nvSpPr>
          <p:cNvPr id="4" name="TextBox 3"/>
          <p:cNvSpPr txBox="1"/>
          <p:nvPr/>
        </p:nvSpPr>
        <p:spPr>
          <a:xfrm>
            <a:off x="822960" y="1051560"/>
            <a:ext cx="9601200" cy="1005840"/>
          </a:xfrm>
          <a:prstGeom prst="rect">
            <a:avLst/>
          </a:prstGeom>
          <a:noFill/>
        </p:spPr>
        <p:txBody>
          <a:bodyPr wrap="square" anchor="t" lIns="0" rIns="0" tIns="0" bIns="0">
            <a:spAutoFit/>
          </a:bodyPr>
          <a:lstStyle/>
          <a:p>
            <a:pPr algn="l">
              <a:lnSpc>
                <a:spcPct val="105000"/>
              </a:lnSpc>
            </a:pPr>
            <a:r>
              <a:rPr sz="3000" b="1" i="0">
                <a:solidFill>
                  <a:srgbClr val="1C1730"/>
                </a:solidFill>
                <a:latin typeface="Century Gothic"/>
              </a:rPr>
              <a:t>Where People Get Tripped Up</a:t>
            </a:r>
          </a:p>
        </p:txBody>
      </p:sp>
      <p:sp>
        <p:nvSpPr>
          <p:cNvPr id="5" name="Rounded Rectangle 4"/>
          <p:cNvSpPr/>
          <p:nvPr/>
        </p:nvSpPr>
        <p:spPr>
          <a:xfrm>
            <a:off x="822960" y="2057400"/>
            <a:ext cx="10515600" cy="1874519"/>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2057400"/>
            <a:ext cx="82296" cy="1874519"/>
          </a:xfrm>
          <a:prstGeom prst="rect">
            <a:avLst/>
          </a:prstGeom>
          <a:solidFill>
            <a:srgbClr val="127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2258568"/>
            <a:ext cx="9784080" cy="457200"/>
          </a:xfrm>
          <a:prstGeom prst="rect">
            <a:avLst/>
          </a:prstGeom>
          <a:noFill/>
        </p:spPr>
        <p:txBody>
          <a:bodyPr wrap="square" anchor="t" lIns="0" rIns="0" tIns="0" bIns="0">
            <a:spAutoFit/>
          </a:bodyPr>
          <a:lstStyle/>
          <a:p>
            <a:pPr algn="l">
              <a:lnSpc>
                <a:spcPct val="115000"/>
              </a:lnSpc>
            </a:pPr>
            <a:r>
              <a:rPr sz="1700" b="1" i="0">
                <a:solidFill>
                  <a:srgbClr val="12746A"/>
                </a:solidFill>
                <a:latin typeface="Century Gothic"/>
              </a:rPr>
              <a:t>“Proof of Stake is just Proof of Work without the hardware.”</a:t>
            </a:r>
          </a:p>
        </p:txBody>
      </p:sp>
      <p:sp>
        <p:nvSpPr>
          <p:cNvPr id="8" name="TextBox 7"/>
          <p:cNvSpPr txBox="1"/>
          <p:nvPr/>
        </p:nvSpPr>
        <p:spPr>
          <a:xfrm>
            <a:off x="1188720" y="2743200"/>
            <a:ext cx="9784080" cy="1097280"/>
          </a:xfrm>
          <a:prstGeom prst="rect">
            <a:avLst/>
          </a:prstGeom>
          <a:noFill/>
        </p:spPr>
        <p:txBody>
          <a:bodyPr wrap="square" anchor="t" lIns="0" rIns="0" tIns="0" bIns="0">
            <a:spAutoFit/>
          </a:bodyPr>
          <a:lstStyle/>
          <a:p>
            <a:pPr algn="l">
              <a:lnSpc>
                <a:spcPct val="135000"/>
              </a:lnSpc>
            </a:pPr>
            <a:r>
              <a:rPr sz="1300" b="0" i="0">
                <a:solidFill>
                  <a:srgbClr val="5C576E"/>
                </a:solidFill>
                <a:latin typeface="Calibri"/>
              </a:rPr>
              <a:t>The security models are genuinely different, not a simple swap: PoW's security is external sunk cost (electricity you can't get back). PoS's security is internal at-risk collateral (money the protocol itself destroys).</a:t>
            </a:r>
          </a:p>
        </p:txBody>
      </p:sp>
      <p:sp>
        <p:nvSpPr>
          <p:cNvPr id="9" name="Rounded Rectangle 8"/>
          <p:cNvSpPr/>
          <p:nvPr/>
        </p:nvSpPr>
        <p:spPr>
          <a:xfrm>
            <a:off x="822960" y="4160520"/>
            <a:ext cx="10515600" cy="1874519"/>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4160520"/>
            <a:ext cx="82296" cy="1874519"/>
          </a:xfrm>
          <a:prstGeom prst="rect">
            <a:avLst/>
          </a:prstGeom>
          <a:solidFill>
            <a:srgbClr val="127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4361688"/>
            <a:ext cx="9784080" cy="457200"/>
          </a:xfrm>
          <a:prstGeom prst="rect">
            <a:avLst/>
          </a:prstGeom>
          <a:noFill/>
        </p:spPr>
        <p:txBody>
          <a:bodyPr wrap="square" anchor="t" lIns="0" rIns="0" tIns="0" bIns="0">
            <a:spAutoFit/>
          </a:bodyPr>
          <a:lstStyle/>
          <a:p>
            <a:pPr algn="l">
              <a:lnSpc>
                <a:spcPct val="115000"/>
              </a:lnSpc>
            </a:pPr>
            <a:r>
              <a:rPr sz="1700" b="1" i="0">
                <a:solidFill>
                  <a:srgbClr val="12746A"/>
                </a:solidFill>
                <a:latin typeface="Century Gothic"/>
              </a:rPr>
              <a:t>“A 51% attack lets you steal anyone's funds.”</a:t>
            </a:r>
          </a:p>
        </p:txBody>
      </p:sp>
      <p:sp>
        <p:nvSpPr>
          <p:cNvPr id="12" name="TextBox 11"/>
          <p:cNvSpPr txBox="1"/>
          <p:nvPr/>
        </p:nvSpPr>
        <p:spPr>
          <a:xfrm>
            <a:off x="1188720" y="4846320"/>
            <a:ext cx="9784080" cy="1097280"/>
          </a:xfrm>
          <a:prstGeom prst="rect">
            <a:avLst/>
          </a:prstGeom>
          <a:noFill/>
        </p:spPr>
        <p:txBody>
          <a:bodyPr wrap="square" anchor="t" lIns="0" rIns="0" tIns="0" bIns="0">
            <a:spAutoFit/>
          </a:bodyPr>
          <a:lstStyle/>
          <a:p>
            <a:pPr algn="l">
              <a:lnSpc>
                <a:spcPct val="135000"/>
              </a:lnSpc>
            </a:pPr>
            <a:r>
              <a:rPr sz="1300" b="0" i="0">
                <a:solidFill>
                  <a:srgbClr val="5C576E"/>
                </a:solidFill>
                <a:latin typeface="Calibri"/>
              </a:rPr>
              <a:t>It lets you rewrite the recent ordering of YOUR OWN transactions — not forge signatures for wallets you don't control. See the case study above.</a:t>
            </a:r>
          </a:p>
        </p:txBody>
      </p:sp>
      <p:sp>
        <p:nvSpPr>
          <p:cNvPr id="13" name="TextBox 12"/>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13 / 15</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12746A"/>
                </a:solidFill>
                <a:latin typeface="Calibri"/>
              </a:rPr>
              <a:t>HANDS-ON PRACTICE</a:t>
            </a:r>
          </a:p>
        </p:txBody>
      </p:sp>
      <p:sp>
        <p:nvSpPr>
          <p:cNvPr id="4" name="TextBox 3"/>
          <p:cNvSpPr txBox="1"/>
          <p:nvPr/>
        </p:nvSpPr>
        <p:spPr>
          <a:xfrm>
            <a:off x="822960" y="105156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Do This Now</a:t>
            </a:r>
          </a:p>
        </p:txBody>
      </p:sp>
      <p:sp>
        <p:nvSpPr>
          <p:cNvPr id="5" name="Oval 4"/>
          <p:cNvSpPr/>
          <p:nvPr/>
        </p:nvSpPr>
        <p:spPr>
          <a:xfrm>
            <a:off x="822960" y="2148840"/>
            <a:ext cx="502920" cy="502920"/>
          </a:xfrm>
          <a:prstGeom prst="ellipse">
            <a:avLst/>
          </a:prstGeom>
          <a:solidFill>
            <a:srgbClr val="12746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Century Gothic"/>
              </a:rPr>
              <a:t>1</a:t>
            </a:r>
          </a:p>
        </p:txBody>
      </p:sp>
      <p:sp>
        <p:nvSpPr>
          <p:cNvPr id="6" name="TextBox 5"/>
          <p:cNvSpPr txBox="1"/>
          <p:nvPr/>
        </p:nvSpPr>
        <p:spPr>
          <a:xfrm>
            <a:off x="1600200" y="2203704"/>
            <a:ext cx="9509760" cy="822960"/>
          </a:xfrm>
          <a:prstGeom prst="rect">
            <a:avLst/>
          </a:prstGeom>
          <a:noFill/>
        </p:spPr>
        <p:txBody>
          <a:bodyPr wrap="square" anchor="t" lIns="0" rIns="0" tIns="0" bIns="0">
            <a:spAutoFit/>
          </a:bodyPr>
          <a:lstStyle/>
          <a:p>
            <a:pPr algn="l">
              <a:lnSpc>
                <a:spcPct val="130000"/>
              </a:lnSpc>
            </a:pPr>
            <a:r>
              <a:rPr sz="1500" b="0" i="0">
                <a:solidFill>
                  <a:srgbClr val="1C1730"/>
                </a:solidFill>
                <a:latin typeface="Calibri"/>
              </a:rPr>
              <a:t>Work out by hand: for a network of 31 nodes, what's the max tolerable count of dishonest nodes?</a:t>
            </a:r>
          </a:p>
        </p:txBody>
      </p:sp>
      <p:sp>
        <p:nvSpPr>
          <p:cNvPr id="7" name="Oval 6"/>
          <p:cNvSpPr/>
          <p:nvPr/>
        </p:nvSpPr>
        <p:spPr>
          <a:xfrm>
            <a:off x="822960" y="3108960"/>
            <a:ext cx="502920" cy="502920"/>
          </a:xfrm>
          <a:prstGeom prst="ellipse">
            <a:avLst/>
          </a:prstGeom>
          <a:solidFill>
            <a:srgbClr val="12746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Century Gothic"/>
              </a:rPr>
              <a:t>2</a:t>
            </a:r>
          </a:p>
        </p:txBody>
      </p:sp>
      <p:sp>
        <p:nvSpPr>
          <p:cNvPr id="8" name="TextBox 7"/>
          <p:cNvSpPr txBox="1"/>
          <p:nvPr/>
        </p:nvSpPr>
        <p:spPr>
          <a:xfrm>
            <a:off x="1600200" y="3163824"/>
            <a:ext cx="9509760" cy="822960"/>
          </a:xfrm>
          <a:prstGeom prst="rect">
            <a:avLst/>
          </a:prstGeom>
          <a:noFill/>
        </p:spPr>
        <p:txBody>
          <a:bodyPr wrap="square" anchor="t" lIns="0" rIns="0" tIns="0" bIns="0">
            <a:spAutoFit/>
          </a:bodyPr>
          <a:lstStyle/>
          <a:p>
            <a:pPr algn="l">
              <a:lnSpc>
                <a:spcPct val="130000"/>
              </a:lnSpc>
            </a:pPr>
            <a:r>
              <a:rPr sz="1500" b="0" i="0">
                <a:solidFill>
                  <a:srgbClr val="1C1730"/>
                </a:solidFill>
                <a:latin typeface="Calibri"/>
              </a:rPr>
              <a:t>On the Anders Brownworth distributed demo, mine a block on one peer and watch it propagate.</a:t>
            </a:r>
          </a:p>
        </p:txBody>
      </p:sp>
      <p:sp>
        <p:nvSpPr>
          <p:cNvPr id="9" name="Oval 8"/>
          <p:cNvSpPr/>
          <p:nvPr/>
        </p:nvSpPr>
        <p:spPr>
          <a:xfrm>
            <a:off x="822960" y="4069080"/>
            <a:ext cx="502920" cy="502920"/>
          </a:xfrm>
          <a:prstGeom prst="ellipse">
            <a:avLst/>
          </a:prstGeom>
          <a:solidFill>
            <a:srgbClr val="12746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Century Gothic"/>
              </a:rPr>
              <a:t>3</a:t>
            </a:r>
          </a:p>
        </p:txBody>
      </p:sp>
      <p:sp>
        <p:nvSpPr>
          <p:cNvPr id="10" name="TextBox 9"/>
          <p:cNvSpPr txBox="1"/>
          <p:nvPr/>
        </p:nvSpPr>
        <p:spPr>
          <a:xfrm>
            <a:off x="1600200" y="4123944"/>
            <a:ext cx="9509760" cy="822960"/>
          </a:xfrm>
          <a:prstGeom prst="rect">
            <a:avLst/>
          </a:prstGeom>
          <a:noFill/>
        </p:spPr>
        <p:txBody>
          <a:bodyPr wrap="square" anchor="t" lIns="0" rIns="0" tIns="0" bIns="0">
            <a:spAutoFit/>
          </a:bodyPr>
          <a:lstStyle/>
          <a:p>
            <a:pPr algn="l">
              <a:lnSpc>
                <a:spcPct val="130000"/>
              </a:lnSpc>
            </a:pPr>
            <a:r>
              <a:rPr sz="1500" b="0" i="0">
                <a:solidFill>
                  <a:srgbClr val="1C1730"/>
                </a:solidFill>
                <a:latin typeface="Calibri"/>
              </a:rPr>
              <a:t>Introduce a rogue block on one peer and watch the rest of the network reject it.</a:t>
            </a:r>
          </a:p>
        </p:txBody>
      </p:sp>
      <p:sp>
        <p:nvSpPr>
          <p:cNvPr id="11" name="TextBox 10"/>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14 / 15</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FFC53D"/>
                </a:solidFill>
                <a:latin typeface="Calibri"/>
              </a:rPr>
              <a:t>TAKE-HOME ASSIGNMENT</a:t>
            </a:r>
          </a:p>
        </p:txBody>
      </p:sp>
      <p:sp>
        <p:nvSpPr>
          <p:cNvPr id="4" name="TextBox 3"/>
          <p:cNvSpPr txBox="1"/>
          <p:nvPr/>
        </p:nvSpPr>
        <p:spPr>
          <a:xfrm>
            <a:off x="822960" y="1051560"/>
            <a:ext cx="9601200" cy="1005840"/>
          </a:xfrm>
          <a:prstGeom prst="rect">
            <a:avLst/>
          </a:prstGeom>
          <a:noFill/>
        </p:spPr>
        <p:txBody>
          <a:bodyPr wrap="square" anchor="t" lIns="0" rIns="0" tIns="0" bIns="0">
            <a:spAutoFit/>
          </a:bodyPr>
          <a:lstStyle/>
          <a:p>
            <a:pPr algn="l">
              <a:lnSpc>
                <a:spcPct val="105000"/>
              </a:lnSpc>
            </a:pPr>
            <a:r>
              <a:rPr sz="3200" b="1" i="0">
                <a:solidFill>
                  <a:srgbClr val="FFFFFF"/>
                </a:solidFill>
                <a:latin typeface="Century Gothic"/>
              </a:rPr>
              <a:t>Before You Move On</a:t>
            </a:r>
          </a:p>
        </p:txBody>
      </p:sp>
      <p:sp>
        <p:nvSpPr>
          <p:cNvPr id="5" name="Rectangle 4"/>
          <p:cNvSpPr/>
          <p:nvPr/>
        </p:nvSpPr>
        <p:spPr>
          <a:xfrm>
            <a:off x="822960" y="2084832"/>
            <a:ext cx="82296" cy="82296"/>
          </a:xfrm>
          <a:prstGeom prst="rect">
            <a:avLst/>
          </a:prstGeom>
          <a:solidFill>
            <a:srgbClr val="FFC5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011680"/>
            <a:ext cx="10058400" cy="548640"/>
          </a:xfrm>
          <a:prstGeom prst="rect">
            <a:avLst/>
          </a:prstGeom>
          <a:noFill/>
        </p:spPr>
        <p:txBody>
          <a:bodyPr wrap="square" anchor="t" lIns="0" rIns="0" tIns="0" bIns="0">
            <a:spAutoFit/>
          </a:bodyPr>
          <a:lstStyle/>
          <a:p>
            <a:pPr algn="l">
              <a:lnSpc>
                <a:spcPct val="130000"/>
              </a:lnSpc>
            </a:pPr>
            <a:r>
              <a:rPr sz="1350" b="0" i="0">
                <a:solidFill>
                  <a:srgbClr val="E9E6F2"/>
                </a:solidFill>
                <a:latin typeface="Calibri"/>
              </a:rPr>
              <a:t>Explain the Byzantine Generals Problem and how PoW or PoS addresses it, in your own words.</a:t>
            </a:r>
          </a:p>
        </p:txBody>
      </p:sp>
      <p:sp>
        <p:nvSpPr>
          <p:cNvPr id="7" name="Rectangle 6"/>
          <p:cNvSpPr/>
          <p:nvPr/>
        </p:nvSpPr>
        <p:spPr>
          <a:xfrm>
            <a:off x="822960" y="2706624"/>
            <a:ext cx="82296" cy="82296"/>
          </a:xfrm>
          <a:prstGeom prst="rect">
            <a:avLst/>
          </a:prstGeom>
          <a:solidFill>
            <a:srgbClr val="FFC5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633472"/>
            <a:ext cx="10058400" cy="548640"/>
          </a:xfrm>
          <a:prstGeom prst="rect">
            <a:avLst/>
          </a:prstGeom>
          <a:noFill/>
        </p:spPr>
        <p:txBody>
          <a:bodyPr wrap="square" anchor="t" lIns="0" rIns="0" tIns="0" bIns="0">
            <a:spAutoFit/>
          </a:bodyPr>
          <a:lstStyle/>
          <a:p>
            <a:pPr algn="l">
              <a:lnSpc>
                <a:spcPct val="130000"/>
              </a:lnSpc>
            </a:pPr>
            <a:r>
              <a:rPr sz="1350" b="0" i="0">
                <a:solidFill>
                  <a:srgbClr val="E9E6F2"/>
                </a:solidFill>
                <a:latin typeface="Calibri"/>
              </a:rPr>
              <a:t>Using the Ethereum Classic case, explain what the attacker could and couldn't do.</a:t>
            </a:r>
          </a:p>
        </p:txBody>
      </p:sp>
      <p:sp>
        <p:nvSpPr>
          <p:cNvPr id="9" name="Rectangle 8"/>
          <p:cNvSpPr/>
          <p:nvPr/>
        </p:nvSpPr>
        <p:spPr>
          <a:xfrm>
            <a:off x="822960" y="3328416"/>
            <a:ext cx="82296" cy="82296"/>
          </a:xfrm>
          <a:prstGeom prst="rect">
            <a:avLst/>
          </a:prstGeom>
          <a:solidFill>
            <a:srgbClr val="FFC5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255264"/>
            <a:ext cx="10058400" cy="548640"/>
          </a:xfrm>
          <a:prstGeom prst="rect">
            <a:avLst/>
          </a:prstGeom>
          <a:noFill/>
        </p:spPr>
        <p:txBody>
          <a:bodyPr wrap="square" anchor="t" lIns="0" rIns="0" tIns="0" bIns="0">
            <a:spAutoFit/>
          </a:bodyPr>
          <a:lstStyle/>
          <a:p>
            <a:pPr algn="l">
              <a:lnSpc>
                <a:spcPct val="130000"/>
              </a:lnSpc>
            </a:pPr>
            <a:r>
              <a:rPr sz="1350" b="0" i="0">
                <a:solidFill>
                  <a:srgbClr val="E9E6F2"/>
                </a:solidFill>
                <a:latin typeface="Calibri"/>
              </a:rPr>
              <a:t>List 3 concrete differences between PoW and PoS, in your own words.</a:t>
            </a:r>
          </a:p>
        </p:txBody>
      </p:sp>
      <p:sp>
        <p:nvSpPr>
          <p:cNvPr id="11" name="TextBox 10"/>
          <p:cNvSpPr txBox="1"/>
          <p:nvPr/>
        </p:nvSpPr>
        <p:spPr>
          <a:xfrm>
            <a:off x="822960" y="4014216"/>
            <a:ext cx="2743200" cy="320040"/>
          </a:xfrm>
          <a:prstGeom prst="rect">
            <a:avLst/>
          </a:prstGeom>
          <a:noFill/>
        </p:spPr>
        <p:txBody>
          <a:bodyPr wrap="square" anchor="t" lIns="0" rIns="0" tIns="0" bIns="0">
            <a:spAutoFit/>
          </a:bodyPr>
          <a:lstStyle/>
          <a:p>
            <a:pPr algn="l">
              <a:lnSpc>
                <a:spcPct val="115000"/>
              </a:lnSpc>
            </a:pPr>
            <a:r>
              <a:rPr sz="1100" b="1" i="0">
                <a:solidFill>
                  <a:srgbClr val="FFC53D"/>
                </a:solidFill>
                <a:latin typeface="Calibri"/>
              </a:rPr>
              <a:t>RECOMMENDED VIDEOS</a:t>
            </a:r>
          </a:p>
        </p:txBody>
      </p:sp>
      <p:sp>
        <p:nvSpPr>
          <p:cNvPr id="12" name="TextBox 11"/>
          <p:cNvSpPr txBox="1"/>
          <p:nvPr/>
        </p:nvSpPr>
        <p:spPr>
          <a:xfrm>
            <a:off x="822960" y="4379976"/>
            <a:ext cx="10058400" cy="365760"/>
          </a:xfrm>
          <a:prstGeom prst="rect">
            <a:avLst/>
          </a:prstGeom>
          <a:noFill/>
        </p:spPr>
        <p:txBody>
          <a:bodyPr wrap="square" anchor="t" lIns="0" rIns="0" tIns="0" bIns="0">
            <a:spAutoFit/>
          </a:bodyPr>
          <a:lstStyle/>
          <a:p>
            <a:pPr algn="l">
              <a:lnSpc>
                <a:spcPct val="115000"/>
              </a:lnSpc>
            </a:pPr>
            <a:r>
              <a:rPr sz="1250" b="0" i="0">
                <a:solidFill>
                  <a:srgbClr val="C9C3DC"/>
                </a:solidFill>
                <a:latin typeface="Calibri"/>
              </a:rPr>
              <a:t>• Crypto Whiteboard: Proof of Work vs Proof of Stake</a:t>
            </a:r>
          </a:p>
        </p:txBody>
      </p:sp>
      <p:sp>
        <p:nvSpPr>
          <p:cNvPr id="13" name="TextBox 12"/>
          <p:cNvSpPr txBox="1"/>
          <p:nvPr/>
        </p:nvSpPr>
        <p:spPr>
          <a:xfrm>
            <a:off x="822960" y="4745736"/>
            <a:ext cx="10058400" cy="365760"/>
          </a:xfrm>
          <a:prstGeom prst="rect">
            <a:avLst/>
          </a:prstGeom>
          <a:noFill/>
        </p:spPr>
        <p:txBody>
          <a:bodyPr wrap="square" anchor="t" lIns="0" rIns="0" tIns="0" bIns="0">
            <a:spAutoFit/>
          </a:bodyPr>
          <a:lstStyle/>
          <a:p>
            <a:pPr algn="l">
              <a:lnSpc>
                <a:spcPct val="115000"/>
              </a:lnSpc>
            </a:pPr>
            <a:r>
              <a:rPr sz="1250" b="0" i="0">
                <a:solidFill>
                  <a:srgbClr val="C9C3DC"/>
                </a:solidFill>
                <a:latin typeface="Calibri"/>
              </a:rPr>
              <a:t>• What is Proof of Stake - Explained in 3 Minutes (Animation)</a:t>
            </a:r>
          </a:p>
        </p:txBody>
      </p:sp>
      <p:sp>
        <p:nvSpPr>
          <p:cNvPr id="14" name="TextBox 13"/>
          <p:cNvSpPr txBox="1"/>
          <p:nvPr/>
        </p:nvSpPr>
        <p:spPr>
          <a:xfrm>
            <a:off x="822960" y="5248656"/>
            <a:ext cx="2743200" cy="320040"/>
          </a:xfrm>
          <a:prstGeom prst="rect">
            <a:avLst/>
          </a:prstGeom>
          <a:noFill/>
        </p:spPr>
        <p:txBody>
          <a:bodyPr wrap="square" anchor="t" lIns="0" rIns="0" tIns="0" bIns="0">
            <a:spAutoFit/>
          </a:bodyPr>
          <a:lstStyle/>
          <a:p>
            <a:pPr algn="l">
              <a:lnSpc>
                <a:spcPct val="115000"/>
              </a:lnSpc>
            </a:pPr>
            <a:r>
              <a:rPr sz="1100" b="1" i="0">
                <a:solidFill>
                  <a:srgbClr val="FFC53D"/>
                </a:solidFill>
                <a:latin typeface="Calibri"/>
              </a:rPr>
              <a:t>PRACTICE SITE</a:t>
            </a:r>
          </a:p>
        </p:txBody>
      </p:sp>
      <p:sp>
        <p:nvSpPr>
          <p:cNvPr id="15" name="TextBox 14"/>
          <p:cNvSpPr txBox="1"/>
          <p:nvPr/>
        </p:nvSpPr>
        <p:spPr>
          <a:xfrm>
            <a:off x="822960" y="5614416"/>
            <a:ext cx="10058400" cy="457200"/>
          </a:xfrm>
          <a:prstGeom prst="rect">
            <a:avLst/>
          </a:prstGeom>
          <a:noFill/>
        </p:spPr>
        <p:txBody>
          <a:bodyPr wrap="square" anchor="t" lIns="0" rIns="0" tIns="0" bIns="0">
            <a:spAutoFit/>
          </a:bodyPr>
          <a:lstStyle/>
          <a:p>
            <a:pPr algn="l">
              <a:lnSpc>
                <a:spcPct val="115000"/>
              </a:lnSpc>
            </a:pPr>
            <a:r>
              <a:rPr sz="1250" b="0" i="0">
                <a:solidFill>
                  <a:srgbClr val="C9C3DC"/>
                </a:solidFill>
                <a:latin typeface="Consolas"/>
              </a:rPr>
              <a:t>andersbrownworth.com/blockchain/distributed</a:t>
            </a:r>
          </a:p>
        </p:txBody>
      </p:sp>
      <p:sp>
        <p:nvSpPr>
          <p:cNvPr id="16" name="TextBox 15"/>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15 / 15</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005840"/>
            <a:ext cx="10058400" cy="365760"/>
          </a:xfrm>
          <a:prstGeom prst="rect">
            <a:avLst/>
          </a:prstGeom>
          <a:noFill/>
        </p:spPr>
        <p:txBody>
          <a:bodyPr wrap="square" anchor="t" lIns="0" rIns="0" tIns="0" bIns="0">
            <a:spAutoFit/>
          </a:bodyPr>
          <a:lstStyle/>
          <a:p>
            <a:pPr algn="l">
              <a:lnSpc>
                <a:spcPct val="115000"/>
              </a:lnSpc>
            </a:pPr>
            <a:r>
              <a:rPr sz="1300" b="1" i="0">
                <a:solidFill>
                  <a:srgbClr val="FFC53D"/>
                </a:solidFill>
                <a:latin typeface="Calibri"/>
              </a:rPr>
              <a:t>READY?</a:t>
            </a:r>
          </a:p>
        </p:txBody>
      </p:sp>
      <p:sp>
        <p:nvSpPr>
          <p:cNvPr id="4" name="TextBox 3"/>
          <p:cNvSpPr txBox="1"/>
          <p:nvPr/>
        </p:nvSpPr>
        <p:spPr>
          <a:xfrm>
            <a:off x="822960" y="1463040"/>
            <a:ext cx="8229600" cy="1005840"/>
          </a:xfrm>
          <a:prstGeom prst="rect">
            <a:avLst/>
          </a:prstGeom>
          <a:noFill/>
        </p:spPr>
        <p:txBody>
          <a:bodyPr wrap="square" anchor="t" lIns="0" rIns="0" tIns="0" bIns="0">
            <a:spAutoFit/>
          </a:bodyPr>
          <a:lstStyle/>
          <a:p>
            <a:pPr algn="l">
              <a:lnSpc>
                <a:spcPct val="105000"/>
              </a:lnSpc>
            </a:pPr>
            <a:r>
              <a:rPr sz="5200" b="1" i="0">
                <a:solidFill>
                  <a:srgbClr val="FFFFFF"/>
                </a:solidFill>
                <a:latin typeface="Century Gothic"/>
              </a:rPr>
              <a:t>Start Hashing.</a:t>
            </a:r>
          </a:p>
        </p:txBody>
      </p:sp>
      <p:sp>
        <p:nvSpPr>
          <p:cNvPr id="5" name="TextBox 4"/>
          <p:cNvSpPr txBox="1"/>
          <p:nvPr/>
        </p:nvSpPr>
        <p:spPr>
          <a:xfrm>
            <a:off x="822960" y="2651760"/>
            <a:ext cx="6858000" cy="731520"/>
          </a:xfrm>
          <a:prstGeom prst="rect">
            <a:avLst/>
          </a:prstGeom>
          <a:noFill/>
        </p:spPr>
        <p:txBody>
          <a:bodyPr wrap="square" anchor="t" lIns="0" rIns="0" tIns="0" bIns="0">
            <a:spAutoFit/>
          </a:bodyPr>
          <a:lstStyle/>
          <a:p>
            <a:pPr algn="l">
              <a:lnSpc>
                <a:spcPct val="115000"/>
              </a:lnSpc>
            </a:pPr>
            <a:r>
              <a:rPr sz="1700" b="0" i="0">
                <a:solidFill>
                  <a:srgbClr val="D8D3E8"/>
                </a:solidFill>
                <a:latin typeface="Calibri"/>
              </a:rPr>
              <a:t>60 slides down. Begin with Topic 01, Slide 1, and reproduce every example yourself.</a:t>
            </a:r>
          </a:p>
        </p:txBody>
      </p:sp>
      <p:sp>
        <p:nvSpPr>
          <p:cNvPr id="6" name="TextBox 5"/>
          <p:cNvSpPr txBox="1"/>
          <p:nvPr/>
        </p:nvSpPr>
        <p:spPr>
          <a:xfrm>
            <a:off x="822960" y="4114800"/>
            <a:ext cx="3383280" cy="320040"/>
          </a:xfrm>
          <a:prstGeom prst="rect">
            <a:avLst/>
          </a:prstGeom>
          <a:noFill/>
        </p:spPr>
        <p:txBody>
          <a:bodyPr wrap="square" anchor="t" lIns="0" rIns="0" tIns="0" bIns="0">
            <a:spAutoFit/>
          </a:bodyPr>
          <a:lstStyle/>
          <a:p>
            <a:pPr algn="l">
              <a:lnSpc>
                <a:spcPct val="115000"/>
              </a:lnSpc>
            </a:pPr>
            <a:r>
              <a:rPr sz="1100" b="1" i="0">
                <a:solidFill>
                  <a:srgbClr val="FFC53D"/>
                </a:solidFill>
                <a:latin typeface="Calibri"/>
              </a:rPr>
              <a:t>REPOSITORY</a:t>
            </a:r>
          </a:p>
        </p:txBody>
      </p:sp>
      <p:sp>
        <p:nvSpPr>
          <p:cNvPr id="7" name="TextBox 6"/>
          <p:cNvSpPr txBox="1"/>
          <p:nvPr/>
        </p:nvSpPr>
        <p:spPr>
          <a:xfrm>
            <a:off x="822960" y="4480560"/>
            <a:ext cx="3383280" cy="1097280"/>
          </a:xfrm>
          <a:prstGeom prst="rect">
            <a:avLst/>
          </a:prstGeom>
          <a:noFill/>
        </p:spPr>
        <p:txBody>
          <a:bodyPr wrap="square" anchor="t" lIns="0" rIns="0" tIns="0" bIns="0">
            <a:spAutoFit/>
          </a:bodyPr>
          <a:lstStyle/>
          <a:p>
            <a:pPr algn="l">
              <a:lnSpc>
                <a:spcPct val="130000"/>
              </a:lnSpc>
            </a:pPr>
            <a:r>
              <a:rPr sz="1400" b="0" i="0">
                <a:solidFill>
                  <a:srgbClr val="FFFFFF"/>
                </a:solidFill>
                <a:latin typeface="Calibri"/>
              </a:rPr>
              <a:t>github.com/jadonamite/BlockchainCourse</a:t>
            </a:r>
          </a:p>
        </p:txBody>
      </p:sp>
      <p:sp>
        <p:nvSpPr>
          <p:cNvPr id="8" name="TextBox 7"/>
          <p:cNvSpPr txBox="1"/>
          <p:nvPr/>
        </p:nvSpPr>
        <p:spPr>
          <a:xfrm>
            <a:off x="4480560" y="4114800"/>
            <a:ext cx="3383280" cy="320040"/>
          </a:xfrm>
          <a:prstGeom prst="rect">
            <a:avLst/>
          </a:prstGeom>
          <a:noFill/>
        </p:spPr>
        <p:txBody>
          <a:bodyPr wrap="square" anchor="t" lIns="0" rIns="0" tIns="0" bIns="0">
            <a:spAutoFit/>
          </a:bodyPr>
          <a:lstStyle/>
          <a:p>
            <a:pPr algn="l">
              <a:lnSpc>
                <a:spcPct val="115000"/>
              </a:lnSpc>
            </a:pPr>
            <a:r>
              <a:rPr sz="1100" b="1" i="0">
                <a:solidFill>
                  <a:srgbClr val="FFC53D"/>
                </a:solidFill>
                <a:latin typeface="Calibri"/>
              </a:rPr>
              <a:t>START HERE</a:t>
            </a:r>
          </a:p>
        </p:txBody>
      </p:sp>
      <p:sp>
        <p:nvSpPr>
          <p:cNvPr id="9" name="TextBox 8"/>
          <p:cNvSpPr txBox="1"/>
          <p:nvPr/>
        </p:nvSpPr>
        <p:spPr>
          <a:xfrm>
            <a:off x="4480560" y="4480560"/>
            <a:ext cx="3383280" cy="1097280"/>
          </a:xfrm>
          <a:prstGeom prst="rect">
            <a:avLst/>
          </a:prstGeom>
          <a:noFill/>
        </p:spPr>
        <p:txBody>
          <a:bodyPr wrap="square" anchor="t" lIns="0" rIns="0" tIns="0" bIns="0">
            <a:spAutoFit/>
          </a:bodyPr>
          <a:lstStyle/>
          <a:p>
            <a:pPr algn="l">
              <a:lnSpc>
                <a:spcPct val="130000"/>
              </a:lnSpc>
            </a:pPr>
            <a:r>
              <a:rPr sz="1400" b="0" i="0">
                <a:solidFill>
                  <a:srgbClr val="FFFFFF"/>
                </a:solidFill>
                <a:latin typeface="Calibri"/>
              </a:rPr>
              <a:t>curriculum/week-01/01-hashing.md</a:t>
            </a:r>
          </a:p>
        </p:txBody>
      </p:sp>
      <p:sp>
        <p:nvSpPr>
          <p:cNvPr id="10" name="TextBox 9"/>
          <p:cNvSpPr txBox="1"/>
          <p:nvPr/>
        </p:nvSpPr>
        <p:spPr>
          <a:xfrm>
            <a:off x="8138160" y="4114800"/>
            <a:ext cx="3383280" cy="320040"/>
          </a:xfrm>
          <a:prstGeom prst="rect">
            <a:avLst/>
          </a:prstGeom>
          <a:noFill/>
        </p:spPr>
        <p:txBody>
          <a:bodyPr wrap="square" anchor="t" lIns="0" rIns="0" tIns="0" bIns="0">
            <a:spAutoFit/>
          </a:bodyPr>
          <a:lstStyle/>
          <a:p>
            <a:pPr algn="l">
              <a:lnSpc>
                <a:spcPct val="115000"/>
              </a:lnSpc>
            </a:pPr>
            <a:r>
              <a:rPr sz="1100" b="1" i="0">
                <a:solidFill>
                  <a:srgbClr val="FFC53D"/>
                </a:solidFill>
                <a:latin typeface="Calibri"/>
              </a:rPr>
              <a:t>NEXT UP</a:t>
            </a:r>
          </a:p>
        </p:txBody>
      </p:sp>
      <p:sp>
        <p:nvSpPr>
          <p:cNvPr id="11" name="TextBox 10"/>
          <p:cNvSpPr txBox="1"/>
          <p:nvPr/>
        </p:nvSpPr>
        <p:spPr>
          <a:xfrm>
            <a:off x="8138160" y="4480560"/>
            <a:ext cx="3383280" cy="1097280"/>
          </a:xfrm>
          <a:prstGeom prst="rect">
            <a:avLst/>
          </a:prstGeom>
          <a:noFill/>
        </p:spPr>
        <p:txBody>
          <a:bodyPr wrap="square" anchor="t" lIns="0" rIns="0" tIns="0" bIns="0">
            <a:spAutoFit/>
          </a:bodyPr>
          <a:lstStyle/>
          <a:p>
            <a:pPr algn="l">
              <a:lnSpc>
                <a:spcPct val="130000"/>
              </a:lnSpc>
            </a:pPr>
            <a:r>
              <a:rPr sz="1400" b="0" i="0">
                <a:solidFill>
                  <a:srgbClr val="FFFFFF"/>
                </a:solidFill>
                <a:latin typeface="Calibri"/>
              </a:rPr>
              <a:t>Week 2 — Writing &amp; Deploying Your First Smart Contract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