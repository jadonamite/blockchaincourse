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C53D"/>
                </a:solidFill>
                <a:latin typeface="Calibri"/>
              </a:rPr>
              <a:t>BLOCKCHAINCOURSE · CURRICULUM · WEEK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58368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  <a:latin typeface="Century Gothic"/>
              </a:rPr>
              <a:t>How a Blockchain</a:t>
            </a:r>
          </a:p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  <a:latin typeface="Century Gothic"/>
              </a:rPr>
              <a:t>Actually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6035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D8D3E8"/>
                </a:solidFill>
                <a:latin typeface="Calibri"/>
              </a:rPr>
              <a:t>Four building blocks — hashing, keys, chained blocks, and consensus — before you touch a single line of Solidity.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52628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FFF9EB"/>
          </a:solidFill>
          <a:ln w="12700">
            <a:solidFill>
              <a:srgbClr val="FFC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200" b="1">
                <a:solidFill>
                  <a:srgbClr val="FFC53D"/>
                </a:solidFill>
                <a:latin typeface="Calibri"/>
              </a:rPr>
              <a:t>4 Topics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3080" y="4526280"/>
            <a:ext cx="1677924" cy="384048"/>
          </a:xfrm>
          <a:prstGeom prst="roundRect">
            <a:avLst>
              <a:gd name="adj" fmla="val 50000"/>
            </a:avLst>
          </a:prstGeom>
          <a:solidFill>
            <a:srgbClr val="FFF9EB"/>
          </a:solidFill>
          <a:ln w="12700">
            <a:solidFill>
              <a:srgbClr val="FFC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200" b="1">
                <a:solidFill>
                  <a:srgbClr val="FFC53D"/>
                </a:solidFill>
                <a:latin typeface="Calibri"/>
              </a:rPr>
              <a:t>16 Deep-Dive Slides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98164" y="452628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FFF9EB"/>
          </a:solidFill>
          <a:ln w="12700">
            <a:solidFill>
              <a:srgbClr val="FFC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200" b="1">
                <a:solidFill>
                  <a:srgbClr val="FFC53D"/>
                </a:solidFill>
                <a:latin typeface="Calibri"/>
              </a:rPr>
              <a:t>Real Worked Examples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90972" y="4526280"/>
            <a:ext cx="2066544" cy="384048"/>
          </a:xfrm>
          <a:prstGeom prst="roundRect">
            <a:avLst>
              <a:gd name="adj" fmla="val 50000"/>
            </a:avLst>
          </a:prstGeom>
          <a:solidFill>
            <a:srgbClr val="FFF9EB"/>
          </a:solidFill>
          <a:ln w="12700">
            <a:solidFill>
              <a:srgbClr val="FFC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200" b="1">
                <a:solidFill>
                  <a:srgbClr val="FFC53D"/>
                </a:solidFill>
                <a:latin typeface="Calibri"/>
              </a:rPr>
              <a:t>Zero Background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463040"/>
            <a:ext cx="3977639" cy="219456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53528" y="1627632"/>
            <a:ext cx="109728" cy="109728"/>
          </a:xfrm>
          <a:prstGeom prst="ellipse">
            <a:avLst/>
          </a:prstGeom>
          <a:solidFill>
            <a:srgbClr val="FF6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54696" y="1627632"/>
            <a:ext cx="109728" cy="109728"/>
          </a:xfrm>
          <a:prstGeom prst="ellipse">
            <a:avLst/>
          </a:prstGeom>
          <a:solidFill>
            <a:srgbClr val="FFC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55864" y="1627632"/>
            <a:ext cx="109728" cy="109728"/>
          </a:xfrm>
          <a:prstGeom prst="ellipse">
            <a:avLst/>
          </a:prstGeom>
          <a:solidFill>
            <a:srgbClr val="28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08392" y="1847088"/>
            <a:ext cx="3465575" cy="1627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9C93C9"/>
                </a:solidFill>
                <a:latin typeface="Consolas"/>
              </a:rPr>
              <a:t>$ </a:t>
            </a:r>
            <a:r>
              <a:rPr sz="1200" b="0">
                <a:solidFill>
                  <a:srgbClr val="EDE9F7"/>
                </a:solidFill>
                <a:latin typeface="Consolas"/>
              </a:rPr>
              <a:t>echo -n "hello" | shasum -a 256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7FE0C4"/>
                </a:solidFill>
                <a:latin typeface="Consolas"/>
              </a:rPr>
              <a:t>2cf24dba5fb0a30e26e83b2ac5b9e29e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7FE0C4"/>
                </a:solidFill>
                <a:latin typeface="Consolas"/>
              </a:rPr>
              <a:t>1b161e5c1fa7425e73043362938b9824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EDE9F7"/>
                </a:solidFill>
                <a:latin typeface="Consola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8B84AD"/>
                </a:solidFill>
                <a:latin typeface="Consolas"/>
              </a:rPr>
              <a:t># run it again —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9C93C9"/>
                </a:solidFill>
                <a:latin typeface="Consolas"/>
              </a:rPr>
              <a:t>$ </a:t>
            </a:r>
            <a:r>
              <a:rPr sz="1200" b="0">
                <a:solidFill>
                  <a:srgbClr val="EDE9F7"/>
                </a:solidFill>
                <a:latin typeface="Consolas"/>
              </a:rPr>
              <a:t>echo -n "hello" | shasum -a 256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7FE0C4"/>
                </a:solidFill>
                <a:latin typeface="Consolas"/>
              </a:rPr>
              <a:t>2cf24dba5fb0a30e26e83b2ac5b9e29e...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8B84AD"/>
                </a:solidFill>
                <a:latin typeface="Consolas"/>
              </a:rPr>
              <a:t># identical, every time. real output.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C576E"/>
                </a:solidFill>
                <a:latin typeface="Calibri"/>
              </a:rPr>
              <a:t>THE FOUR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C1730"/>
                </a:solidFill>
                <a:latin typeface="Century Gothic"/>
              </a:rPr>
              <a:t>What You'll Master This Week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C1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37744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TOPIC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8892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FFFFFF"/>
                </a:solidFill>
                <a:latin typeface="Century Gothic"/>
              </a:rPr>
              <a:t>Hashing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977639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3F0FA"/>
                </a:solidFill>
                <a:latin typeface="Calibri"/>
              </a:rPr>
              <a:t>Turn anything into a tamper-evident fingerprint.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85032" y="214884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C6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13632" y="237744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TOPIC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13632" y="278892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FFFFFF"/>
                </a:solidFill>
                <a:latin typeface="Century Gothic"/>
              </a:rPr>
              <a:t>Public / Private Keys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3632" y="3977639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3F0FA"/>
                </a:solidFill>
                <a:latin typeface="Calibri"/>
              </a:rPr>
              <a:t>Prove you authorized something without revealing your secret.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47104" y="214884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33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75704" y="237744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TOPIC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5704" y="278892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FFFFFF"/>
                </a:solidFill>
                <a:latin typeface="Century Gothic"/>
              </a:rPr>
              <a:t>Blocks &amp; Chains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5704" y="3977639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3F0FA"/>
                </a:solidFill>
                <a:latin typeface="Calibri"/>
              </a:rPr>
              <a:t>Link history together so tampering breaks the chain.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09176" y="214884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127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37776" y="237744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TOPIC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7776" y="2788920"/>
            <a:ext cx="2148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FFFFFF"/>
                </a:solidFill>
                <a:latin typeface="Century Gothic"/>
              </a:rPr>
              <a:t>Consensus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7776" y="3977639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3F0FA"/>
                </a:solidFill>
                <a:latin typeface="Calibri"/>
              </a:rPr>
              <a:t>Get thousands of strangers to agree without a referee.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C576E"/>
                </a:solidFill>
                <a:latin typeface="Calibri"/>
              </a:rPr>
              <a:t>BEFORE YOU WRITE ANY SOLIDITY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C1730"/>
                </a:solidFill>
                <a:latin typeface="Century Gothic"/>
              </a:rPr>
              <a:t>Why Start With Theory?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5C576E"/>
                </a:solidFill>
                <a:latin typeface="Calibri"/>
              </a:rPr>
              <a:t>Most Web3 tutorials skip straight to code. This week builds the mental model first — so nothing later feels like magic.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06040"/>
            <a:ext cx="2606040" cy="2834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862072"/>
            <a:ext cx="2093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1432B"/>
                </a:solidFill>
                <a:latin typeface="Century Gothic"/>
              </a:rPr>
              <a:t>Zero Assumptions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300984"/>
            <a:ext cx="2093976" cy="2002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C1730"/>
                </a:solidFill>
                <a:latin typeface="Calibri"/>
              </a:rPr>
              <a:t>No prior crypto or CS background needed — every term is defined from scratch.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85032" y="2606040"/>
            <a:ext cx="2606040" cy="2834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41064" y="2862072"/>
            <a:ext cx="2093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67A1E"/>
                </a:solidFill>
                <a:latin typeface="Century Gothic"/>
              </a:rPr>
              <a:t>Reproducible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1064" y="3300984"/>
            <a:ext cx="2093976" cy="2002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C1730"/>
                </a:solidFill>
                <a:latin typeface="Calibri"/>
              </a:rPr>
              <a:t>Every hash, signature, and chain in these docs was generated live — run the same commands yourself.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47104" y="2606040"/>
            <a:ext cx="2606040" cy="2834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03136" y="2862072"/>
            <a:ext cx="2093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3506A"/>
                </a:solidFill>
                <a:latin typeface="Century Gothic"/>
              </a:rPr>
              <a:t>Grounded Outside Crypto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3136" y="3300984"/>
            <a:ext cx="2093976" cy="2002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C1730"/>
                </a:solidFill>
                <a:latin typeface="Calibri"/>
              </a:rPr>
              <a:t>The same math secures HTTPS, SSH, git commits, and Kubernetes — not just wallets.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09176" y="2606040"/>
            <a:ext cx="2606040" cy="2834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65208" y="2862072"/>
            <a:ext cx="2093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2746A"/>
                </a:solidFill>
                <a:latin typeface="Century Gothic"/>
              </a:rPr>
              <a:t>Built For Week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5208" y="3300984"/>
            <a:ext cx="2093976" cy="2002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C1730"/>
                </a:solidFill>
                <a:latin typeface="Calibri"/>
              </a:rPr>
              <a:t>By Week 4 you ship a working dApp. This week is the foundation it stands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cover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73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43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0" b="1" i="0">
                <a:solidFill>
                  <a:srgbClr val="FFFFFF"/>
                </a:solidFill>
                <a:latin typeface="Century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8961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  <a:latin typeface="Century Gothic"/>
              </a:rPr>
              <a:t>Hashing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6858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FFFFFF"/>
                </a:solidFill>
                <a:latin typeface="Calibri"/>
              </a:rPr>
              <a:t>A tamper-evident fingerprint for data — change one letter, get an unrecognizable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9E6F2"/>
                </a:solidFill>
                <a:latin typeface="Calibri"/>
              </a:rPr>
              <a:t>Photo: Simon A. Eugster (LivingShadow) / Wikimedia Commons, CC BY-SA 3.0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432B"/>
                </a:solidFill>
                <a:latin typeface="Calibri"/>
              </a:rPr>
              <a:t>TOPIC 01 — HASHING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1730"/>
                </a:solidFill>
                <a:latin typeface="Century Gothic"/>
              </a:rPr>
              <a:t>Four Properties That Make It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470916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404872"/>
            <a:ext cx="4197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1432B"/>
                </a:solidFill>
                <a:latin typeface="Century Gothic"/>
              </a:rPr>
              <a:t>Deterministic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843784"/>
            <a:ext cx="419709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C1730"/>
                </a:solidFill>
                <a:latin typeface="Calibri"/>
              </a:rPr>
              <a:t>The same input always produces the exact same output — hash “hello” today or in ten years, identical result.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2148840"/>
            <a:ext cx="470916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2472" y="2404872"/>
            <a:ext cx="4197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1432B"/>
                </a:solidFill>
                <a:latin typeface="Century Gothic"/>
              </a:rPr>
              <a:t>One-Way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2472" y="2843784"/>
            <a:ext cx="419709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C1730"/>
                </a:solidFill>
                <a:latin typeface="Calibri"/>
              </a:rPr>
              <a:t>Given a hash, there's no way back to the original input — like a wax seal you can't un-melt into the letter.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343400"/>
            <a:ext cx="470916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599432"/>
            <a:ext cx="4197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1432B"/>
                </a:solidFill>
                <a:latin typeface="Century Gothic"/>
              </a:rPr>
              <a:t>Avalanche Effect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5038344"/>
            <a:ext cx="419709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C1730"/>
                </a:solidFill>
                <a:latin typeface="Calibri"/>
              </a:rPr>
              <a:t>Change one character of the input, and the entire output becomes unrecognizable — no partial resemblance.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4343400"/>
            <a:ext cx="470916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62472" y="4599432"/>
            <a:ext cx="4197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1432B"/>
                </a:solidFill>
                <a:latin typeface="Century Gothic"/>
              </a:rPr>
              <a:t>Collision-Resistant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2472" y="5038344"/>
            <a:ext cx="419709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C1730"/>
                </a:solidFill>
                <a:latin typeface="Calibri"/>
              </a:rPr>
              <a:t>Practically impossible to find two different inputs that produce the same hash.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76E"/>
                </a:solidFill>
                <a:latin typeface="Calibri"/>
              </a:rPr>
              <a:t>Full explanation: curriculum/week-01/01-hashing.md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432B"/>
                </a:solidFill>
                <a:latin typeface="Calibri"/>
              </a:rPr>
              <a:t>WORKED EXAMPLE — REAL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C1730"/>
                </a:solidFill>
                <a:latin typeface="Century Gothic"/>
              </a:rPr>
              <a:t>One Flipped Letter, Zero Resemblance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393192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2130552"/>
            <a:ext cx="109728" cy="109728"/>
          </a:xfrm>
          <a:prstGeom prst="ellipse">
            <a:avLst/>
          </a:prstGeom>
          <a:solidFill>
            <a:srgbClr val="FF6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25296" y="2130552"/>
            <a:ext cx="109728" cy="109728"/>
          </a:xfrm>
          <a:prstGeom prst="ellipse">
            <a:avLst/>
          </a:prstGeom>
          <a:solidFill>
            <a:srgbClr val="FFC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6464" y="2130552"/>
            <a:ext cx="109728" cy="109728"/>
          </a:xfrm>
          <a:prstGeom prst="ellipse">
            <a:avLst/>
          </a:prstGeom>
          <a:solidFill>
            <a:srgbClr val="28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350008"/>
            <a:ext cx="10003536" cy="3364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9C93C9"/>
                </a:solidFill>
                <a:latin typeface="Consolas"/>
              </a:rPr>
              <a:t>$ </a:t>
            </a:r>
            <a:r>
              <a:rPr sz="1350" b="0">
                <a:solidFill>
                  <a:srgbClr val="EDE9F7"/>
                </a:solidFill>
                <a:latin typeface="Consolas"/>
              </a:rPr>
              <a:t>echo -n "Send 1 ETH to Alice" | shasum -a 256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7FE0C4"/>
                </a:solidFill>
                <a:latin typeface="Consolas"/>
              </a:rPr>
              <a:t>9bed087e0a716e203d57c1ba36493085f7a8762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7FE0C4"/>
                </a:solidFill>
                <a:latin typeface="Consolas"/>
              </a:rPr>
              <a:t>8da1cb1fe18bf5b4631bd7e45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50" b="1">
                <a:solidFill>
                  <a:srgbClr val="9C93C9"/>
                </a:solidFill>
                <a:latin typeface="Consolas"/>
              </a:rPr>
              <a:t>$ </a:t>
            </a:r>
            <a:r>
              <a:rPr sz="1350" b="0">
                <a:solidFill>
                  <a:srgbClr val="EDE9F7"/>
                </a:solidFill>
                <a:latin typeface="Consolas"/>
              </a:rPr>
              <a:t>echo -n "Send 1 ETH to Alicf" | shasum -a 256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FF8E7D"/>
                </a:solidFill>
                <a:latin typeface="Consolas"/>
              </a:rPr>
              <a:t>94f17d20a09db58f6a7fe2cf97f00b2ae2dc1a6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FF8E7D"/>
                </a:solidFill>
                <a:latin typeface="Consolas"/>
              </a:rPr>
              <a:t>7802b6e74776b0b6785e4b1eb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8B84AD"/>
                </a:solidFill>
                <a:latin typeface="Consolas"/>
              </a:rPr>
              <a:t># one letter changed: e → f. total mismatch.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76E"/>
                </a:solidFill>
                <a:latin typeface="Calibri"/>
              </a:rPr>
              <a:t>Reproduce this yourself: shasum -a 256 is already on your machine.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1432B"/>
                </a:solidFill>
                <a:latin typeface="Calibri"/>
              </a:rPr>
              <a:t>REAL-WORLD 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1730"/>
                </a:solidFill>
                <a:latin typeface="Century Gothic"/>
              </a:rPr>
              <a:t>Not Just Blockchain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8ECE9"/>
          </a:solidFill>
          <a:ln w="12700">
            <a:solidFill>
              <a:srgbClr val="C14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200" b="1">
                <a:solidFill>
                  <a:srgbClr val="C1432B"/>
                </a:solidFill>
                <a:latin typeface="Calibri"/>
              </a:rPr>
              <a:t>Software checksums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965960"/>
            <a:ext cx="1677924" cy="384048"/>
          </a:xfrm>
          <a:prstGeom prst="roundRect">
            <a:avLst>
              <a:gd name="adj" fmla="val 50000"/>
            </a:avLst>
          </a:prstGeom>
          <a:solidFill>
            <a:srgbClr val="F8ECE9"/>
          </a:solidFill>
          <a:ln w="12700">
            <a:solidFill>
              <a:srgbClr val="C14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200" b="1">
                <a:solidFill>
                  <a:srgbClr val="C1432B"/>
                </a:solidFill>
                <a:latin typeface="Calibri"/>
              </a:rPr>
              <a:t>Git version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5404" y="1965960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F8ECE9"/>
          </a:solidFill>
          <a:ln w="12700">
            <a:solidFill>
              <a:srgbClr val="C14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200" b="1">
                <a:solidFill>
                  <a:srgbClr val="C1432B"/>
                </a:solidFill>
                <a:latin typeface="Calibri"/>
              </a:rPr>
              <a:t>Password storage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57316" y="1965960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F8ECE9"/>
          </a:solidFill>
          <a:ln w="12700">
            <a:solidFill>
              <a:srgbClr val="C14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200" b="1">
                <a:solidFill>
                  <a:srgbClr val="C1432B"/>
                </a:solidFill>
                <a:latin typeface="Calibri"/>
              </a:rPr>
              <a:t>Cloud dedup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1965960"/>
            <a:ext cx="1522476" cy="384048"/>
          </a:xfrm>
          <a:prstGeom prst="roundRect">
            <a:avLst>
              <a:gd name="adj" fmla="val 50000"/>
            </a:avLst>
          </a:prstGeom>
          <a:solidFill>
            <a:srgbClr val="F8ECE9"/>
          </a:solidFill>
          <a:ln w="12700">
            <a:solidFill>
              <a:srgbClr val="C14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200" b="1">
                <a:solidFill>
                  <a:srgbClr val="C1432B"/>
                </a:solidFill>
                <a:latin typeface="Calibri"/>
              </a:rPr>
              <a:t>Digital forensics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10244" y="1965960"/>
            <a:ext cx="2066544" cy="384048"/>
          </a:xfrm>
          <a:prstGeom prst="roundRect">
            <a:avLst>
              <a:gd name="adj" fmla="val 50000"/>
            </a:avLst>
          </a:prstGeom>
          <a:solidFill>
            <a:srgbClr val="F8ECE9"/>
          </a:solidFill>
          <a:ln w="12700">
            <a:solidFill>
              <a:srgbClr val="C14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200" b="1">
                <a:solidFill>
                  <a:srgbClr val="C1432B"/>
                </a:solidFill>
                <a:latin typeface="Calibri"/>
              </a:rPr>
              <a:t>Certificate Transparency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926080"/>
            <a:ext cx="10515600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926080"/>
            <a:ext cx="82296" cy="3063240"/>
          </a:xfrm>
          <a:prstGeom prst="rect">
            <a:avLst/>
          </a:prstGeom>
          <a:solidFill>
            <a:srgbClr val="C1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20040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1432B"/>
                </a:solidFill>
                <a:latin typeface="Calibri"/>
              </a:rPr>
              <a:t>COMMON MISCONCEPTION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657600"/>
            <a:ext cx="9784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C1730"/>
                </a:solidFill>
                <a:latin typeface="Century Gothic"/>
              </a:rPr>
              <a:t>“Hashing is a form of encryption.”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251960"/>
            <a:ext cx="9601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5C576E"/>
                </a:solidFill>
                <a:latin typeface="Calibri"/>
              </a:rPr>
              <a:t>It isn't. Encryption is reversible on purpose — the right key decrypts it back. Hashing is deliberately one-way: there is no key that turns a hash back into its original input. “Decrypting a hash” is a contradiction in terms.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cover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73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67A1E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0" b="1" i="0">
                <a:solidFill>
                  <a:srgbClr val="FFFFFF"/>
                </a:solidFill>
                <a:latin typeface="Century Gothi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8961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  <a:latin typeface="Century Gothic"/>
              </a:rPr>
              <a:t>Public / Private Keys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6858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FFFFFF"/>
                </a:solidFill>
                <a:latin typeface="Calibri"/>
              </a:rPr>
              <a:t>Prove ownership without ever revealing the secret that proves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9E6F2"/>
                </a:solidFill>
                <a:latin typeface="Calibri"/>
              </a:rPr>
              <a:t>Photo: Shillings1005 / Wikimedia Commons, CC BY-SA 4.0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67A1E"/>
                </a:solidFill>
                <a:latin typeface="Calibri"/>
              </a:rPr>
              <a:t>TOPIC 02 — PUBLIC / PRIVATE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1730"/>
                </a:solidFill>
                <a:latin typeface="Century Gothic"/>
              </a:rPr>
              <a:t>Two Keys, Two Different Jobs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470916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404872"/>
            <a:ext cx="4197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67A1E"/>
                </a:solidFill>
                <a:latin typeface="Century Gothic"/>
              </a:rPr>
              <a:t>Private 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843784"/>
            <a:ext cx="419709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C1730"/>
                </a:solidFill>
                <a:latin typeface="Calibri"/>
              </a:rPr>
              <a:t>A secret number that signs transactions. Never leaves your device, never shared.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2148840"/>
            <a:ext cx="470916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2472" y="2404872"/>
            <a:ext cx="4197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67A1E"/>
                </a:solidFill>
                <a:latin typeface="Century Gothic"/>
              </a:rPr>
              <a:t>Public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2472" y="2843784"/>
            <a:ext cx="419709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C1730"/>
                </a:solidFill>
                <a:latin typeface="Calibri"/>
              </a:rPr>
              <a:t>Derived one-way from the private key. Safe to share — can't be reversed back to the secret.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343400"/>
            <a:ext cx="470916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599432"/>
            <a:ext cx="4197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67A1E"/>
                </a:solidFill>
                <a:latin typeface="Century Gothic"/>
              </a:rPr>
              <a:t>Signature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5038344"/>
            <a:ext cx="419709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C1730"/>
                </a:solidFill>
                <a:latin typeface="Calibri"/>
              </a:rPr>
              <a:t>Proof you hold the private key, produced without ever revealing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4343400"/>
            <a:ext cx="470916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62472" y="4599432"/>
            <a:ext cx="4197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67A1E"/>
                </a:solidFill>
                <a:latin typeface="Century Gothic"/>
              </a:rPr>
              <a:t>Address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2472" y="5038344"/>
            <a:ext cx="419709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C1730"/>
                </a:solidFill>
                <a:latin typeface="Calibri"/>
              </a:rPr>
              <a:t>A hash of the public key — one more one-way step, for extra safety margin.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76E"/>
                </a:solidFill>
                <a:latin typeface="Calibri"/>
              </a:rPr>
              <a:t>Important: blockchain wallets mostly use signing (proving authorship), not encryption (hiding content).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67A1E"/>
                </a:solidFill>
                <a:latin typeface="Calibri"/>
              </a:rPr>
              <a:t>WORKED EXAMPLE — REAL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C1730"/>
                </a:solidFill>
                <a:latin typeface="Century Gothic"/>
              </a:rPr>
              <a:t>Generated With openssl, on secp256k1 — Ethereum's Own Curve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393192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2130552"/>
            <a:ext cx="109728" cy="109728"/>
          </a:xfrm>
          <a:prstGeom prst="ellipse">
            <a:avLst/>
          </a:prstGeom>
          <a:solidFill>
            <a:srgbClr val="FF6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25296" y="2130552"/>
            <a:ext cx="109728" cy="109728"/>
          </a:xfrm>
          <a:prstGeom prst="ellipse">
            <a:avLst/>
          </a:prstGeom>
          <a:solidFill>
            <a:srgbClr val="FFC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6464" y="2130552"/>
            <a:ext cx="109728" cy="109728"/>
          </a:xfrm>
          <a:prstGeom prst="ellipse">
            <a:avLst/>
          </a:prstGeom>
          <a:solidFill>
            <a:srgbClr val="28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350008"/>
            <a:ext cx="10003536" cy="3364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9C93C9"/>
                </a:solidFill>
                <a:latin typeface="Consolas"/>
              </a:rPr>
              <a:t>$ </a:t>
            </a:r>
            <a:r>
              <a:rPr sz="1350" b="0">
                <a:solidFill>
                  <a:srgbClr val="EDE9F7"/>
                </a:solidFill>
                <a:latin typeface="Consolas"/>
              </a:rPr>
              <a:t>openssl dgst -sha256 -verify pub.pem \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>    -signature sig.bin message.txt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7FE0C4"/>
                </a:solidFill>
                <a:latin typeface="Consolas"/>
              </a:rPr>
              <a:t>Verified OK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8B84AD"/>
                </a:solidFill>
                <a:latin typeface="Consolas"/>
              </a:rPr>
              <a:t># same signature, tampered message:</a:t>
            </a:r>
          </a:p>
          <a:p>
            <a:pPr algn="l">
              <a:lnSpc>
                <a:spcPct val="135000"/>
              </a:lnSpc>
            </a:pPr>
            <a:r>
              <a:rPr sz="1350" b="1">
                <a:solidFill>
                  <a:srgbClr val="9C93C9"/>
                </a:solidFill>
                <a:latin typeface="Consolas"/>
              </a:rPr>
              <a:t>$ </a:t>
            </a:r>
            <a:r>
              <a:rPr sz="1350" b="0">
                <a:solidFill>
                  <a:srgbClr val="EDE9F7"/>
                </a:solidFill>
                <a:latin typeface="Consolas"/>
              </a:rPr>
              <a:t>openssl dgst -sha256 -verify pub.pem \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>    -signature sig.bin tampered.txt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FF8E7D"/>
                </a:solidFill>
                <a:latin typeface="Consolas"/>
              </a:rPr>
              <a:t>Verification failure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76E"/>
                </a:solidFill>
                <a:latin typeface="Calibri"/>
              </a:rPr>
              <a:t>An attacker can't alter the amount without invalidating the signature — and can't forge a new 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67A1E"/>
                </a:solidFill>
                <a:latin typeface="Calibri"/>
              </a:rPr>
              <a:t>REAL-WORLD 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1730"/>
                </a:solidFill>
                <a:latin typeface="Century Gothic"/>
              </a:rPr>
              <a:t>Not Just Blockchain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F9F1E8"/>
          </a:solidFill>
          <a:ln w="12700">
            <a:solidFill>
              <a:srgbClr val="C6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200" b="1">
                <a:solidFill>
                  <a:srgbClr val="C67A1E"/>
                </a:solidFill>
                <a:latin typeface="Calibri"/>
              </a:rPr>
              <a:t>HTTPS / TLS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6252" y="196596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F9F1E8"/>
          </a:solidFill>
          <a:ln w="12700">
            <a:solidFill>
              <a:srgbClr val="C6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200" b="1">
                <a:solidFill>
                  <a:srgbClr val="C67A1E"/>
                </a:solidFill>
                <a:latin typeface="Calibri"/>
              </a:rPr>
              <a:t>SSH keys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6372" y="1965960"/>
            <a:ext cx="1133856" cy="384048"/>
          </a:xfrm>
          <a:prstGeom prst="roundRect">
            <a:avLst>
              <a:gd name="adj" fmla="val 50000"/>
            </a:avLst>
          </a:prstGeom>
          <a:solidFill>
            <a:srgbClr val="F9F1E8"/>
          </a:solidFill>
          <a:ln w="12700">
            <a:solidFill>
              <a:srgbClr val="C6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200" b="1">
                <a:solidFill>
                  <a:srgbClr val="C67A1E"/>
                </a:solidFill>
                <a:latin typeface="Calibri"/>
              </a:rPr>
              <a:t>Code signing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7388" y="19659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9F1E8"/>
          </a:solidFill>
          <a:ln w="12700">
            <a:solidFill>
              <a:srgbClr val="C6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200" b="1">
                <a:solidFill>
                  <a:srgbClr val="C67A1E"/>
                </a:solidFill>
                <a:latin typeface="Calibri"/>
              </a:rPr>
              <a:t>Signed git commits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4748" y="1965960"/>
            <a:ext cx="900684" cy="384048"/>
          </a:xfrm>
          <a:prstGeom prst="roundRect">
            <a:avLst>
              <a:gd name="adj" fmla="val 50000"/>
            </a:avLst>
          </a:prstGeom>
          <a:solidFill>
            <a:srgbClr val="F9F1E8"/>
          </a:solidFill>
          <a:ln w="12700">
            <a:solidFill>
              <a:srgbClr val="C6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200" b="1">
                <a:solidFill>
                  <a:srgbClr val="C67A1E"/>
                </a:solidFill>
                <a:latin typeface="Calibri"/>
              </a:rPr>
              <a:t>PGP 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26080"/>
            <a:ext cx="10515600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926080"/>
            <a:ext cx="82296" cy="3063240"/>
          </a:xfrm>
          <a:prstGeom prst="rect">
            <a:avLst/>
          </a:prstGeom>
          <a:solidFill>
            <a:srgbClr val="C6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20040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67A1E"/>
                </a:solidFill>
                <a:latin typeface="Calibri"/>
              </a:rPr>
              <a:t>COMMON MISCONCEPTION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657600"/>
            <a:ext cx="9784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C1730"/>
                </a:solidFill>
                <a:latin typeface="Century Gothic"/>
              </a:rPr>
              <a:t>“My wallet address IS my public key.”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251960"/>
            <a:ext cx="9601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5C576E"/>
                </a:solidFill>
                <a:latin typeface="Calibri"/>
              </a:rPr>
              <a:t>Not quite — your address is a hash of your public key (the last 20 bytes of its Keccak-256 hash, on Ethereum). It's private key → public key → hash → address: one more one-way step for extra safety margin.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cover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73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506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0" b="1" i="0">
                <a:solidFill>
                  <a:srgbClr val="FFFFFF"/>
                </a:solidFill>
                <a:latin typeface="Century Gothic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8961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  <a:latin typeface="Century Gothic"/>
              </a:rPr>
              <a:t>Blocks &amp; Chains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6858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FFFFFF"/>
                </a:solidFill>
                <a:latin typeface="Calibri"/>
              </a:rPr>
              <a:t>Link history together so a single altered link breaks everything after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9E6F2"/>
                </a:solidFill>
                <a:latin typeface="Calibri"/>
              </a:rPr>
              <a:t>Photo: Petritap / Wikimedia Commons, CC BY-SA 3.0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3506A"/>
                </a:solidFill>
                <a:latin typeface="Calibri"/>
              </a:rPr>
              <a:t>TOPIC 03 — BLOCKS &amp; CHAINS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1730"/>
                </a:solidFill>
                <a:latin typeface="Century Gothic"/>
              </a:rPr>
              <a:t>Anatomy Of A Block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470916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404872"/>
            <a:ext cx="4197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3506A"/>
                </a:solidFill>
                <a:latin typeface="Century Gothic"/>
              </a:rPr>
              <a:t>Timestamp &amp; Transactions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843784"/>
            <a:ext cx="419709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C1730"/>
                </a:solidFill>
                <a:latin typeface="Calibri"/>
              </a:rPr>
              <a:t>When the block was created, and the batch of data it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2148840"/>
            <a:ext cx="470916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2472" y="2404872"/>
            <a:ext cx="4197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3506A"/>
                </a:solidFill>
                <a:latin typeface="Century Gothic"/>
              </a:rPr>
              <a:t>Previous Hash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2472" y="2843784"/>
            <a:ext cx="419709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C1730"/>
                </a:solidFill>
                <a:latin typeface="Calibri"/>
              </a:rPr>
              <a:t>The literal link to the block that came before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343400"/>
            <a:ext cx="470916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599432"/>
            <a:ext cx="4197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3506A"/>
                </a:solidFill>
                <a:latin typeface="Century Gothic"/>
              </a:rPr>
              <a:t>Own Hash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5038344"/>
            <a:ext cx="419709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C1730"/>
                </a:solidFill>
                <a:latin typeface="Calibri"/>
              </a:rPr>
              <a:t>Computed from everything in the block — including the previous hash.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4343400"/>
            <a:ext cx="470916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62472" y="4599432"/>
            <a:ext cx="4197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3506A"/>
                </a:solidFill>
                <a:latin typeface="Century Gothic"/>
              </a:rPr>
              <a:t>The Chain Effect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2472" y="5038344"/>
            <a:ext cx="419709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C1730"/>
                </a:solidFill>
                <a:latin typeface="Calibri"/>
              </a:rPr>
              <a:t>Because of the avalanche effect, editing an old block changes its hash — breaking every block chained after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76E"/>
                </a:solidFill>
                <a:latin typeface="Calibri"/>
              </a:rPr>
              <a:t>Full explanation: curriculum/week-01/03-blockchain-viewing.md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3506A"/>
                </a:solidFill>
                <a:latin typeface="Calibri"/>
              </a:rPr>
              <a:t>WORKED EXAMPLE — REAL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C1730"/>
                </a:solidFill>
                <a:latin typeface="Century Gothic"/>
              </a:rPr>
              <a:t>You Already Use This Structure — It's Called Git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120640" cy="356616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2130552"/>
            <a:ext cx="109728" cy="109728"/>
          </a:xfrm>
          <a:prstGeom prst="ellipse">
            <a:avLst/>
          </a:prstGeom>
          <a:solidFill>
            <a:srgbClr val="FF6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25296" y="2130552"/>
            <a:ext cx="109728" cy="109728"/>
          </a:xfrm>
          <a:prstGeom prst="ellipse">
            <a:avLst/>
          </a:prstGeom>
          <a:solidFill>
            <a:srgbClr val="FFC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6464" y="2130552"/>
            <a:ext cx="109728" cy="109728"/>
          </a:xfrm>
          <a:prstGeom prst="ellipse">
            <a:avLst/>
          </a:prstGeom>
          <a:solidFill>
            <a:srgbClr val="28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350008"/>
            <a:ext cx="4608576" cy="2999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8B84AD"/>
                </a:solidFill>
                <a:latin typeface="Consolas"/>
              </a:rPr>
              <a:t># 3-block chain, attacker edits block 2: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>Block 2 original hash: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7FE0C4"/>
                </a:solidFill>
                <a:latin typeface="Consolas"/>
              </a:rPr>
              <a:t>7dd7f6149021fd74...23f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>Block 3 still expects prev =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7FE0C4"/>
                </a:solidFill>
                <a:latin typeface="Consolas"/>
              </a:rPr>
              <a:t>7dd7f6149021fd74...23f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>Block 2 hash AFTER edit: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FF8E7D"/>
                </a:solidFill>
                <a:latin typeface="Consolas"/>
              </a:rPr>
              <a:t>6c7db182ce1b8061...216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>Match? </a:t>
            </a:r>
            <a:r>
              <a:rPr sz="1350" b="1">
                <a:solidFill>
                  <a:srgbClr val="FF8E7D"/>
                </a:solidFill>
                <a:latin typeface="Consolas"/>
              </a:rPr>
              <a:t>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737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3506A"/>
                </a:solidFill>
                <a:latin typeface="Calibri"/>
              </a:rPr>
              <a:t>REAL GIT REPO, REAL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120640" cy="356616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64808" y="2130552"/>
            <a:ext cx="109728" cy="109728"/>
          </a:xfrm>
          <a:prstGeom prst="ellipse">
            <a:avLst/>
          </a:prstGeom>
          <a:solidFill>
            <a:srgbClr val="FF6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65976" y="2130552"/>
            <a:ext cx="109728" cy="109728"/>
          </a:xfrm>
          <a:prstGeom prst="ellipse">
            <a:avLst/>
          </a:prstGeom>
          <a:solidFill>
            <a:srgbClr val="FFC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67144" y="2130552"/>
            <a:ext cx="109728" cy="109728"/>
          </a:xfrm>
          <a:prstGeom prst="ellipse">
            <a:avLst/>
          </a:prstGeom>
          <a:solidFill>
            <a:srgbClr val="28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350008"/>
            <a:ext cx="4608576" cy="2999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9C93C9"/>
                </a:solidFill>
                <a:latin typeface="Consolas"/>
              </a:rPr>
              <a:t>$ </a:t>
            </a:r>
            <a:r>
              <a:rPr sz="1350" b="0">
                <a:solidFill>
                  <a:srgbClr val="EDE9F7"/>
                </a:solidFill>
                <a:latin typeface="Consolas"/>
              </a:rPr>
              <a:t>git log --format="commit %H%nparent %P"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>commit </a:t>
            </a:r>
            <a:r>
              <a:rPr sz="1350" b="0">
                <a:solidFill>
                  <a:srgbClr val="7FE0C4"/>
                </a:solidFill>
                <a:latin typeface="Consolas"/>
              </a:rPr>
              <a:t>14170b8693832cd8...4361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>parent </a:t>
            </a:r>
            <a:r>
              <a:rPr sz="1350" b="0">
                <a:solidFill>
                  <a:srgbClr val="7FE0C4"/>
                </a:solidFill>
                <a:latin typeface="Consolas"/>
              </a:rPr>
              <a:t>5c0144c7a07feca6...1304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>commit </a:t>
            </a:r>
            <a:r>
              <a:rPr sz="1350" b="0">
                <a:solidFill>
                  <a:srgbClr val="7FE0C4"/>
                </a:solidFill>
                <a:latin typeface="Consolas"/>
              </a:rPr>
              <a:t>5c0144c7a07feca6...1304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>parent </a:t>
            </a:r>
            <a:r>
              <a:rPr sz="1350" b="0">
                <a:solidFill>
                  <a:srgbClr val="8B84AD"/>
                </a:solidFill>
                <a:latin typeface="Consolas"/>
              </a:rPr>
              <a:t>(none — first commit)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76E"/>
                </a:solidFill>
                <a:latin typeface="Calibri"/>
              </a:rPr>
              <a:t>Every commit you've ever made stores its parent's hash — same structure, different ledger.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3506A"/>
                </a:solidFill>
                <a:latin typeface="Calibri"/>
              </a:rPr>
              <a:t>REAL-WORLD 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1730"/>
                </a:solidFill>
                <a:latin typeface="Century Gothic"/>
              </a:rPr>
              <a:t>Not Just Blockchain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978408" cy="384048"/>
          </a:xfrm>
          <a:prstGeom prst="roundRect">
            <a:avLst>
              <a:gd name="adj" fmla="val 50000"/>
            </a:avLst>
          </a:prstGeom>
          <a:solidFill>
            <a:srgbClr val="EAEDF0"/>
          </a:solidFill>
          <a:ln w="12700">
            <a:solidFill>
              <a:srgbClr val="335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200" b="1">
                <a:solidFill>
                  <a:srgbClr val="33506A"/>
                </a:solidFill>
                <a:latin typeface="Calibri"/>
              </a:rPr>
              <a:t>Audit logs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38528" y="1965960"/>
            <a:ext cx="2066544" cy="384048"/>
          </a:xfrm>
          <a:prstGeom prst="roundRect">
            <a:avLst>
              <a:gd name="adj" fmla="val 50000"/>
            </a:avLst>
          </a:prstGeom>
          <a:solidFill>
            <a:srgbClr val="EAEDF0"/>
          </a:solidFill>
          <a:ln w="12700">
            <a:solidFill>
              <a:srgbClr val="335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200" b="1">
                <a:solidFill>
                  <a:srgbClr val="33506A"/>
                </a:solidFill>
                <a:latin typeface="Calibri"/>
              </a:rPr>
              <a:t>Certificate Transparency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42232" y="19659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EAEDF0"/>
          </a:solidFill>
          <a:ln w="12700">
            <a:solidFill>
              <a:srgbClr val="335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200" b="1">
                <a:solidFill>
                  <a:srgbClr val="33506A"/>
                </a:solidFill>
                <a:latin typeface="Calibri"/>
              </a:rPr>
              <a:t>Merkle trees / SPV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26080"/>
            <a:ext cx="10515600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926080"/>
            <a:ext cx="82296" cy="3063240"/>
          </a:xfrm>
          <a:prstGeom prst="rect">
            <a:avLst/>
          </a:prstGeom>
          <a:solidFill>
            <a:srgbClr val="33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20040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3506A"/>
                </a:solidFill>
                <a:latin typeface="Calibri"/>
              </a:rPr>
              <a:t>COMMON MISCONCEPTION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657600"/>
            <a:ext cx="9784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C1730"/>
                </a:solidFill>
                <a:latin typeface="Century Gothic"/>
              </a:rPr>
              <a:t>“Immutable means literally impossible to change.”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251960"/>
            <a:ext cx="9601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5C576E"/>
                </a:solidFill>
                <a:latin typeface="Calibri"/>
              </a:rPr>
              <a:t>More precisely: changing it is detectable, and for a large network, economically infeasible — not physically impossible. Attackers with enough resources genuinely can rewrite recent blocks (see Topic 04's real 51%-attack case).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cover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73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746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0" b="1" i="0">
                <a:solidFill>
                  <a:srgbClr val="FFFFFF"/>
                </a:solidFill>
                <a:latin typeface="Century Gothic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8961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  <a:latin typeface="Century Gothic"/>
              </a:rPr>
              <a:t>Consensus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6858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FFFFFF"/>
                </a:solidFill>
                <a:latin typeface="Calibri"/>
              </a:rPr>
              <a:t>How thousands of strangers agree on one shared truth, with no referee.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9E6F2"/>
                </a:solidFill>
                <a:latin typeface="Calibri"/>
              </a:rPr>
              <a:t>Photo: Carl Lender / Wikimedia Commons, CC BY 2.0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2746A"/>
                </a:solidFill>
                <a:latin typeface="Calibri"/>
              </a:rPr>
              <a:t>TOPIC 04 — CONSENSUS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1730"/>
                </a:solidFill>
                <a:latin typeface="Century Gothic"/>
              </a:rPr>
              <a:t>Two Answers To The Same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470916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404872"/>
            <a:ext cx="4197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2746A"/>
                </a:solidFill>
                <a:latin typeface="Century Gothic"/>
              </a:rPr>
              <a:t>Proof of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843784"/>
            <a:ext cx="419709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C1730"/>
                </a:solidFill>
                <a:latin typeface="Calibri"/>
              </a:rPr>
              <a:t>Miners burn real electricity solving a puzzle. Hard to solve, instant to verify. Cheating wastes your own money.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2148840"/>
            <a:ext cx="470916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2472" y="2404872"/>
            <a:ext cx="4197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2746A"/>
                </a:solidFill>
                <a:latin typeface="Century Gothic"/>
              </a:rPr>
              <a:t>Proof of Stake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2472" y="2843784"/>
            <a:ext cx="419709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C1730"/>
                </a:solidFill>
                <a:latin typeface="Calibri"/>
              </a:rPr>
              <a:t>Validators lock up currency as collateral. Cheating gets that collateral destroyed (“slashed”).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343400"/>
            <a:ext cx="470916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599432"/>
            <a:ext cx="4197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2746A"/>
                </a:solidFill>
                <a:latin typeface="Century Gothic"/>
              </a:rPr>
              <a:t>The Byzantine Generals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5038344"/>
            <a:ext cx="419709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C1730"/>
                </a:solidFill>
                <a:latin typeface="Calibri"/>
              </a:rPr>
              <a:t>Independent nodes, no coordinator, some possibly lying — how does the honest majority still agree?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4343400"/>
            <a:ext cx="470916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62472" y="4599432"/>
            <a:ext cx="4197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2746A"/>
                </a:solidFill>
                <a:latin typeface="Century Gothic"/>
              </a:rPr>
              <a:t>Ethereum's Switch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2472" y="5038344"/>
            <a:ext cx="419709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C1730"/>
                </a:solidFill>
                <a:latin typeface="Calibri"/>
              </a:rPr>
              <a:t>Moved from PoW to PoS in September 2022 — same goal, different economic answer.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76E"/>
                </a:solidFill>
                <a:latin typeface="Calibri"/>
              </a:rPr>
              <a:t>Full explanation: curriculum/week-01/04-consensus.md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2746A"/>
                </a:solidFill>
                <a:latin typeface="Calibri"/>
              </a:rPr>
              <a:t>WORKED EXAMPLE — REAL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C1730"/>
                </a:solidFill>
                <a:latin typeface="Century Gothic"/>
              </a:rPr>
              <a:t>Consensus, By The Numbers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393192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2130552"/>
            <a:ext cx="109728" cy="109728"/>
          </a:xfrm>
          <a:prstGeom prst="ellipse">
            <a:avLst/>
          </a:prstGeom>
          <a:solidFill>
            <a:srgbClr val="FF6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25296" y="2130552"/>
            <a:ext cx="109728" cy="109728"/>
          </a:xfrm>
          <a:prstGeom prst="ellipse">
            <a:avLst/>
          </a:prstGeom>
          <a:solidFill>
            <a:srgbClr val="FFC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6464" y="2130552"/>
            <a:ext cx="109728" cy="109728"/>
          </a:xfrm>
          <a:prstGeom prst="ellipse">
            <a:avLst/>
          </a:prstGeom>
          <a:solidFill>
            <a:srgbClr val="28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350008"/>
            <a:ext cx="10003536" cy="3364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7FE0C4"/>
                </a:solidFill>
                <a:latin typeface="Consolas"/>
              </a:rPr>
              <a:t>n ≥ 3f + 1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>the fault-tolerance rule: honest nodes must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>outnumber dishonest ones more than 2-to-1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50" b="1">
                <a:solidFill>
                  <a:srgbClr val="7FE0C4"/>
                </a:solidFill>
                <a:latin typeface="Consolas"/>
              </a:rPr>
              <a:t>32 ETH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>locked per validator to propose blocks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>under Ethereum's Proof of Stake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50" b="1">
                <a:solidFill>
                  <a:srgbClr val="FF8E7D"/>
                </a:solidFill>
                <a:latin typeface="Consolas"/>
              </a:rPr>
              <a:t>$10.1M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>double-spent across Ethereum Classic's THREE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E9F7"/>
                </a:solidFill>
                <a:latin typeface="Consolas"/>
              </a:rPr>
              <a:t>confirmed 51%-attacks — Jan 2019, Jul &amp; Aug 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576E"/>
                </a:solidFill>
                <a:latin typeface="Calibri"/>
              </a:rPr>
              <a:t>A real, documented case — not a hypothetical. The attacker's own funds; other wallets stayed secure.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2746A"/>
                </a:solidFill>
                <a:latin typeface="Calibri"/>
              </a:rPr>
              <a:t>REAL-WORLD 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1730"/>
                </a:solidFill>
                <a:latin typeface="Century Gothic"/>
              </a:rPr>
              <a:t>Not Just Blockchain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988820" cy="384048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12700">
            <a:solidFill>
              <a:srgbClr val="127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200" b="1">
                <a:solidFill>
                  <a:srgbClr val="12746A"/>
                </a:solidFill>
                <a:latin typeface="Calibri"/>
              </a:rPr>
              <a:t>Kubernetes’ etcd (Raft)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48940" y="1965960"/>
            <a:ext cx="2455164" cy="384048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12700">
            <a:solidFill>
              <a:srgbClr val="127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200" b="1">
                <a:solidFill>
                  <a:srgbClr val="12746A"/>
                </a:solidFill>
                <a:latin typeface="Calibri"/>
              </a:rPr>
              <a:t>CockroachDB / Spanner (Paxos)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41264" y="1965960"/>
            <a:ext cx="3154680" cy="384048"/>
          </a:xfrm>
          <a:prstGeom prst="roundRect">
            <a:avLst>
              <a:gd name="adj" fmla="val 50000"/>
            </a:avLst>
          </a:prstGeom>
          <a:solidFill>
            <a:srgbClr val="E7F1F0"/>
          </a:solidFill>
          <a:ln w="12700">
            <a:solidFill>
              <a:srgbClr val="127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18288" wrap="none"/>
          <a:lstStyle/>
          <a:p>
            <a:pPr algn="ctr"/>
            <a:r>
              <a:rPr sz="1200" b="1">
                <a:solidFill>
                  <a:srgbClr val="12746A"/>
                </a:solidFill>
                <a:latin typeface="Calibri"/>
              </a:rPr>
              <a:t>Flight-control redundancy (BFT origin)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26080"/>
            <a:ext cx="10515600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926080"/>
            <a:ext cx="82296" cy="3063240"/>
          </a:xfrm>
          <a:prstGeom prst="rect">
            <a:avLst/>
          </a:prstGeom>
          <a:solidFill>
            <a:srgbClr val="127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200400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2746A"/>
                </a:solidFill>
                <a:latin typeface="Calibri"/>
              </a:rPr>
              <a:t>COMMON MISCONCEPTION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657600"/>
            <a:ext cx="9784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C1730"/>
                </a:solidFill>
                <a:latin typeface="Century Gothic"/>
              </a:rPr>
              <a:t>“A 51% attack lets you steal anyone's funds.”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251960"/>
            <a:ext cx="9601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5C576E"/>
                </a:solidFill>
                <a:latin typeface="Calibri"/>
              </a:rPr>
              <a:t>An attacker with majority control can rewrite recent transaction ordering and double-spend their own recently sent funds — they cannot forge a signature for a wallet they don't control. The Topic 02 cryptography stays intact even during a successful consensus attack.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C576E"/>
                </a:solidFill>
                <a:latin typeface="Calibri"/>
              </a:rPr>
              <a:t>HOW TO WORK THROUGH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C1730"/>
                </a:solidFill>
                <a:latin typeface="Century Gothic"/>
              </a:rPr>
              <a:t>Four Topics, One Sequence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103120"/>
            <a:ext cx="685800" cy="685800"/>
          </a:xfrm>
          <a:prstGeom prst="ellipse">
            <a:avLst/>
          </a:prstGeom>
          <a:solidFill>
            <a:srgbClr val="1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C53D"/>
                </a:solidFill>
                <a:latin typeface="Century Gothic"/>
              </a:rPr>
              <a:t>01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65860" y="2788920"/>
            <a:ext cx="0" cy="365760"/>
          </a:xfrm>
          <a:prstGeom prst="line">
            <a:avLst/>
          </a:prstGeom>
          <a:ln w="25400">
            <a:solidFill>
              <a:srgbClr val="DED9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83080" y="2130552"/>
            <a:ext cx="8686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1730"/>
                </a:solidFill>
                <a:latin typeface="Century Gothic"/>
              </a:rPr>
              <a:t>Read the doc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560320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C576E"/>
                </a:solidFill>
                <a:latin typeface="Calibri"/>
              </a:rPr>
              <a:t>Plain-language explanation, a worked example, and real-world use cases.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154680"/>
            <a:ext cx="685800" cy="685800"/>
          </a:xfrm>
          <a:prstGeom prst="ellipse">
            <a:avLst/>
          </a:prstGeom>
          <a:solidFill>
            <a:srgbClr val="1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C53D"/>
                </a:solidFill>
                <a:latin typeface="Century Gothic"/>
              </a:rPr>
              <a:t>02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65860" y="3840480"/>
            <a:ext cx="0" cy="365760"/>
          </a:xfrm>
          <a:prstGeom prst="line">
            <a:avLst/>
          </a:prstGeom>
          <a:ln w="25400">
            <a:solidFill>
              <a:srgbClr val="DED9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783080" y="3182112"/>
            <a:ext cx="8686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1730"/>
                </a:solidFill>
                <a:latin typeface="Century Gothic"/>
              </a:rPr>
              <a:t>Watch &amp; try the 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611880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C576E"/>
                </a:solidFill>
                <a:latin typeface="Calibri"/>
              </a:rPr>
              <a:t>15–20 min video, then 15–20 min on an interactive practice site.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206240"/>
            <a:ext cx="685800" cy="685800"/>
          </a:xfrm>
          <a:prstGeom prst="ellipse">
            <a:avLst/>
          </a:prstGeom>
          <a:solidFill>
            <a:srgbClr val="1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C53D"/>
                </a:solidFill>
                <a:latin typeface="Century Gothic"/>
              </a:rPr>
              <a:t>03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65860" y="4892040"/>
            <a:ext cx="0" cy="365760"/>
          </a:xfrm>
          <a:prstGeom prst="line">
            <a:avLst/>
          </a:prstGeom>
          <a:ln w="25400">
            <a:solidFill>
              <a:srgbClr val="DED9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83080" y="4233672"/>
            <a:ext cx="8686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1730"/>
                </a:solidFill>
                <a:latin typeface="Century Gothic"/>
              </a:rPr>
              <a:t>Reproduce the worked example yourself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663440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C576E"/>
                </a:solidFill>
                <a:latin typeface="Calibri"/>
              </a:rPr>
              <a:t>Every example runs with tools already on your machine — nothing to install.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257800"/>
            <a:ext cx="685800" cy="685800"/>
          </a:xfrm>
          <a:prstGeom prst="ellipse">
            <a:avLst/>
          </a:prstGeom>
          <a:solidFill>
            <a:srgbClr val="1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C53D"/>
                </a:solidFill>
                <a:latin typeface="Century Gothic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285232"/>
            <a:ext cx="8686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1730"/>
                </a:solidFill>
                <a:latin typeface="Century Gothic"/>
              </a:rPr>
              <a:t>Submit the take-home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715000"/>
            <a:ext cx="8686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C576E"/>
                </a:solidFill>
                <a:latin typeface="Calibri"/>
              </a:rPr>
              <a:t>Then move to the next topic — each one builds on the last.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C576E"/>
                </a:solidFill>
                <a:latin typeface="Calibri"/>
              </a:rPr>
              <a:t>WHAT MAKES THIS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C1730"/>
                </a:solidFill>
                <a:latin typeface="Century Gothic"/>
              </a:rPr>
              <a:t>Not Another Buzzword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3429000" cy="3108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633472"/>
            <a:ext cx="29169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1432B"/>
                </a:solidFill>
                <a:latin typeface="Century Gothic"/>
              </a:rPr>
              <a:t>Reproducible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072384"/>
            <a:ext cx="2916936" cy="2276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C1730"/>
                </a:solidFill>
                <a:latin typeface="Calibri"/>
              </a:rPr>
              <a:t>Every example runs with tools already on your machine: shasum, openssl, python3, git.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7992" y="2377440"/>
            <a:ext cx="3429000" cy="3108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64024" y="2633472"/>
            <a:ext cx="29169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3506A"/>
                </a:solidFill>
                <a:latin typeface="Century Gothic"/>
              </a:rPr>
              <a:t>Cross-Disciplinary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4024" y="3072384"/>
            <a:ext cx="2916936" cy="2276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C1730"/>
                </a:solidFill>
                <a:latin typeface="Calibri"/>
              </a:rPr>
              <a:t>Ties into HTTPS, SSH, Kubernetes, and version control you already 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4" y="2377440"/>
            <a:ext cx="3429000" cy="3108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E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2633472"/>
            <a:ext cx="29169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2746A"/>
                </a:solidFill>
                <a:latin typeface="Century Gothic"/>
              </a:rPr>
              <a:t>Consequence-Aware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9056" y="3072384"/>
            <a:ext cx="2916936" cy="2276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C1730"/>
                </a:solidFill>
                <a:latin typeface="Calibri"/>
              </a:rPr>
              <a:t>Real incidents — like Ethereum Classic's $10.1M in 51%-attacks — instead of toy examples.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C53D"/>
                </a:solidFill>
                <a:latin typeface="Calibri"/>
              </a:rPr>
              <a:t>READY?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FFFFFF"/>
                </a:solidFill>
                <a:latin typeface="Century Gothic"/>
              </a:rPr>
              <a:t>Start Hashing.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6858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8D3E8"/>
                </a:solidFill>
                <a:latin typeface="Calibri"/>
              </a:rPr>
              <a:t>Begin with Topic 01 and reproduce every example yourself.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C53D"/>
                </a:solidFill>
                <a:latin typeface="Calibri"/>
              </a:rPr>
              <a:t>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github.com/jadonamite/BlockchainCourse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411480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C53D"/>
                </a:solidFill>
                <a:latin typeface="Calibri"/>
              </a:rPr>
              <a:t>START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44805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curriculum/week-01/01-hashing.md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11480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C53D"/>
                </a:solidFill>
                <a:latin typeface="Calibri"/>
              </a:rPr>
              <a:t>NEXT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48056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Week 2 — Writing &amp; Deploying Your First Smart Contract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