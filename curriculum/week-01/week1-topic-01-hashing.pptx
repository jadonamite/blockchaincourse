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1.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C1432B">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01</a:t>
            </a:r>
          </a:p>
        </p:txBody>
      </p:sp>
      <p:sp>
        <p:nvSpPr>
          <p:cNvPr id="7" name="TextBox 6"/>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Hashing</a:t>
            </a:r>
          </a:p>
        </p:txBody>
      </p:sp>
      <p:sp>
        <p:nvSpPr>
          <p:cNvPr id="8" name="TextBox 7"/>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A tamper-evident fingerprint for data — change one letter, get an unrecognizable result.</a:t>
            </a:r>
          </a:p>
        </p:txBody>
      </p:sp>
      <p:sp>
        <p:nvSpPr>
          <p:cNvPr id="9" name="TextBox 8"/>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Simon A. Eugster (LivingShadow) / Wikimedia Commons, CC BY-SA 3.0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Before any other concept in this course makes sense, you need hashing — it's the primitive every other piece (signatures, blocks, chains) is built on top of. Everything from here on assumes you understand what a hash actually is and isn't.</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C1432B"/>
                </a:solidFill>
                <a:latin typeface="Calibri"/>
              </a:rPr>
              <a:t>WHAT THIS SECTION COVERS</a:t>
            </a:r>
          </a:p>
        </p:txBody>
      </p:sp>
      <p:sp>
        <p:nvSpPr>
          <p:cNvPr id="7" name="Rectangle 6"/>
          <p:cNvSpPr/>
          <p:nvPr/>
        </p:nvSpPr>
        <p:spPr>
          <a:xfrm>
            <a:off x="82296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hash function takes any input — a letter, a word, a gigabyte of data — and turns it into a fixed-length string of characters called a hash. For blockchain, that function is SHA-256 (Bitcoin) or Keccak-256 (Ethereum). Same input, same output, every time — but there's no way back.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Deterministic</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same input always produces the exact same output. Hash the word “hello” today, tomorrow, or on a different continent — identical result, every time. There's no randomness involved anywhere in the process.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"hello" → 2cf24dba...9824  (always, forever)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One-Way</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Given a hash, there's no way to work backwards to the original input — other than guessing inputs and re-hashing until one matches, which for anything non-trivial would take longer than the age of the universe. Easy to fall through, impossible to climb back up.</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You can reverse-engineer neither a fingerprint into a face, nor a hash into its input.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Avalanche Effect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Changing even a single character of input — flipping one letter's capitalization — produces a completely different, unrecognizable hash. There's no partial similarity between hashes of similar inputs.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"Alice" vs "Alicf" → two totally unrelated 64-character hashes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Collision-Resistant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It should be practically impossible to find two different inputs that produce the same hash. This is what makes a hash trustworthy as a stand-in for the original data — one hash, one piece of data.</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No two distinct files should ever share a SHA-256 hash in practice.</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Determinism, Proven On A Real Machine</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run it again, on a totally separate invocation —</a:t>
            </a:r>
          </a:p>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identical, character for character. no randomness.</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Try it yourself: shasum -a 256 (macOS) or sha256sum (Linux) — already on your machine.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The Avalanche Effect, Proven With A Real Transaction-Like String</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"Send 1 ETH to Alice" | shasum -a 256</a:t>
            </a:r>
          </a:p>
          <a:p>
            <a:pPr algn="l">
              <a:lnSpc>
                <a:spcPct val="135000"/>
              </a:lnSpc>
            </a:pPr>
            <a:r>
              <a:rPr sz="1350" b="0">
                <a:solidFill>
                  <a:srgbClr val="7FE0C4"/>
                </a:solidFill>
                <a:latin typeface="Consolas"/>
              </a:rPr>
              <a:t>9bed087e0a716e203d57c1ba36493085f7a87628da1cb1fe18bf5b4631bd7e45</a:t>
            </a:r>
          </a:p>
          <a:p>
            <a:pPr algn="l">
              <a:lnSpc>
                <a:spcPct val="135000"/>
              </a:lnSpc>
            </a:pPr>
            <a:r>
              <a:rPr sz="1350" b="0">
                <a:solidFill>
                  <a:srgbClr val="EDE9F7"/>
                </a:solidFill>
                <a:latin typeface="Consolas"/>
              </a:rPr>
              <a:t/>
            </a:r>
          </a:p>
          <a:p>
            <a:pPr algn="l">
              <a:lnSpc>
                <a:spcPct val="135000"/>
              </a:lnSpc>
            </a:pPr>
            <a:r>
              <a:rPr sz="1350" b="1">
                <a:solidFill>
                  <a:srgbClr val="9C93C9"/>
                </a:solidFill>
                <a:latin typeface="Consolas"/>
              </a:rPr>
              <a:t>$ </a:t>
            </a:r>
            <a:r>
              <a:rPr sz="1350" b="0">
                <a:solidFill>
                  <a:srgbClr val="EDE9F7"/>
                </a:solidFill>
                <a:latin typeface="Consolas"/>
              </a:rPr>
              <a:t>echo -n "Send 1 ETH to Alicf" | shasum -a 256</a:t>
            </a:r>
          </a:p>
          <a:p>
            <a:pPr algn="l">
              <a:lnSpc>
                <a:spcPct val="135000"/>
              </a:lnSpc>
            </a:pPr>
            <a:r>
              <a:rPr sz="1350" b="0">
                <a:solidFill>
                  <a:srgbClr val="FF8E7D"/>
                </a:solidFill>
                <a:latin typeface="Consolas"/>
              </a:rPr>
              <a:t>94f17d20a09db58f6a7fe2cf97f00b2ae2dc1a67802b6e74776b0b6785e4b1eb</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one letter changed: e → f. total, unrelated mismatch.</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This is exactly why altering one digit of a real transaction is instantly detectable.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Software Checksums</a:t>
            </a:r>
          </a:p>
        </p:txBody>
      </p:sp>
      <p:sp>
        <p:nvSpPr>
          <p:cNvPr id="7" name="TextBox 6"/>
          <p:cNvSpPr txBox="1"/>
          <p:nvPr/>
        </p:nvSpPr>
        <p:spPr>
          <a:xfrm>
            <a:off x="107899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Verify a download wasn't corrupted or tampered with in transit.</a:t>
            </a:r>
          </a:p>
        </p:txBody>
      </p:sp>
      <p:sp>
        <p:nvSpPr>
          <p:cNvPr id="8" name="Rounded Rectangle 7"/>
          <p:cNvSpPr/>
          <p:nvPr/>
        </p:nvSpPr>
        <p:spPr>
          <a:xfrm>
            <a:off x="441960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Git Version Control</a:t>
            </a:r>
          </a:p>
        </p:txBody>
      </p:sp>
      <p:sp>
        <p:nvSpPr>
          <p:cNvPr id="10" name="TextBox 9"/>
          <p:cNvSpPr txBox="1"/>
          <p:nvPr/>
        </p:nvSpPr>
        <p:spPr>
          <a:xfrm>
            <a:off x="467563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commit and file is identified by a hash — full deep-dive in Topic 03.</a:t>
            </a:r>
          </a:p>
        </p:txBody>
      </p:sp>
      <p:sp>
        <p:nvSpPr>
          <p:cNvPr id="11" name="Rounded Rectangle 10"/>
          <p:cNvSpPr/>
          <p:nvPr/>
        </p:nvSpPr>
        <p:spPr>
          <a:xfrm>
            <a:off x="801624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Password Storage</a:t>
            </a:r>
          </a:p>
        </p:txBody>
      </p:sp>
      <p:sp>
        <p:nvSpPr>
          <p:cNvPr id="13" name="TextBox 12"/>
          <p:cNvSpPr txBox="1"/>
          <p:nvPr/>
        </p:nvSpPr>
        <p:spPr>
          <a:xfrm>
            <a:off x="827227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Systems store a hash of your password, never the password itself.</a:t>
            </a:r>
          </a:p>
        </p:txBody>
      </p:sp>
      <p:sp>
        <p:nvSpPr>
          <p:cNvPr id="14" name="Rounded Rectangle 13"/>
          <p:cNvSpPr/>
          <p:nvPr/>
        </p:nvSpPr>
        <p:spPr>
          <a:xfrm>
            <a:off x="82296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Cloud Deduplication</a:t>
            </a:r>
          </a:p>
        </p:txBody>
      </p:sp>
      <p:sp>
        <p:nvSpPr>
          <p:cNvPr id="16" name="TextBox 15"/>
          <p:cNvSpPr txBox="1"/>
          <p:nvPr/>
        </p:nvSpPr>
        <p:spPr>
          <a:xfrm>
            <a:off x="107899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Identical files across users are recognized by matching hashes.</a:t>
            </a:r>
          </a:p>
        </p:txBody>
      </p:sp>
      <p:sp>
        <p:nvSpPr>
          <p:cNvPr id="17" name="Rounded Rectangle 16"/>
          <p:cNvSpPr/>
          <p:nvPr/>
        </p:nvSpPr>
        <p:spPr>
          <a:xfrm>
            <a:off x="441960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7563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Digital Forensics</a:t>
            </a:r>
          </a:p>
        </p:txBody>
      </p:sp>
      <p:sp>
        <p:nvSpPr>
          <p:cNvPr id="19" name="TextBox 18"/>
          <p:cNvSpPr txBox="1"/>
          <p:nvPr/>
        </p:nvSpPr>
        <p:spPr>
          <a:xfrm>
            <a:off x="467563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Investigators hash evidence to prove it wasn't altered after collection.</a:t>
            </a:r>
          </a:p>
        </p:txBody>
      </p:sp>
      <p:sp>
        <p:nvSpPr>
          <p:cNvPr id="20" name="Rounded Rectangle 19"/>
          <p:cNvSpPr/>
          <p:nvPr/>
        </p:nvSpPr>
        <p:spPr>
          <a:xfrm>
            <a:off x="801624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227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Certificate Transparency</a:t>
            </a:r>
          </a:p>
        </p:txBody>
      </p:sp>
      <p:sp>
        <p:nvSpPr>
          <p:cNvPr id="22" name="TextBox 21"/>
          <p:cNvSpPr txBox="1"/>
          <p:nvPr/>
        </p:nvSpPr>
        <p:spPr>
          <a:xfrm>
            <a:off x="827227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 logged into a public, tamper-evident hash-chained record.</a:t>
            </a:r>
          </a:p>
        </p:txBody>
      </p:sp>
      <p:sp>
        <p:nvSpPr>
          <p:cNvPr id="23" name="TextBox 2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Why Plain SHA-256 Is Wrong For Passwords</a:t>
            </a:r>
          </a:p>
        </p:txBody>
      </p:sp>
      <p:sp>
        <p:nvSpPr>
          <p:cNvPr id="5" name="Rounded Rectangle 4"/>
          <p:cNvSpPr/>
          <p:nvPr/>
        </p:nvSpPr>
        <p:spPr>
          <a:xfrm>
            <a:off x="822960" y="2423160"/>
            <a:ext cx="10515600" cy="3749039"/>
          </a:xfrm>
          <a:prstGeom prst="roundRect">
            <a:avLst>
              <a:gd name="adj" fmla="val 4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SHA-256 is designed to be fast — which means an attacker with a leaked hash database can try billions of guesses per second. Purpose-built password-hashing algorithms like bcrypt and Argon2 are deliberately slow, and add random “salt” per password, specifically to make brute-forcing impractical. Using the right hash function for the job is a real engineering judgment call — not a minor detail.</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Tamper-Evident Wax Seal</a:t>
            </a:r>
          </a:p>
        </p:txBody>
      </p:sp>
      <p:sp>
        <p:nvSpPr>
          <p:cNvPr id="5" name="Rectangle 4"/>
          <p:cNvSpPr/>
          <p:nvPr/>
        </p:nvSpPr>
        <p:spPr>
          <a:xfrm>
            <a:off x="822960" y="2286000"/>
            <a:ext cx="91440" cy="365760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Think of a hash like a wax seal on an old letter. The seal doesn't tell you what's written inside — you can't reverse it back into words (one-way). But if someone opens the letter, changes one word, and reseals it, the new seal looks completely different (avalanche effect). Anyone who remembers the original seal can instantly tell it was tampered with — without reading a single word.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“Hashing is a form of encryption.”</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It isn't. Encryption is reversible on purpose — the right key decrypts it back. Hashing is deliberately one-way: there is no key that turns a hash back into its original input. “Decrypting a hash” is a contradiction in terms.</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“If a hash is public, that's always safe.”</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Only for high-entropy inputs. A 4-digit PIN's hash can be cracked instantly by hashing all 10,000 possibilities — exactly why passwords need random salt added before hashing.</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your own name twice in a terminal — confirm the output is identical both times.</a:t>
            </a:r>
          </a:p>
        </p:txBody>
      </p:sp>
      <p:sp>
        <p:nvSpPr>
          <p:cNvPr id="7" name="Oval 6"/>
          <p:cNvSpPr/>
          <p:nvPr/>
        </p:nvSpPr>
        <p:spPr>
          <a:xfrm>
            <a:off x="822960" y="310896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Change one character and re-hash — confirm the entire output changes, not just part of it.</a:t>
            </a:r>
          </a:p>
        </p:txBody>
      </p:sp>
      <p:sp>
        <p:nvSpPr>
          <p:cNvPr id="9" name="Oval 8"/>
          <p:cNvSpPr/>
          <p:nvPr/>
        </p:nvSpPr>
        <p:spPr>
          <a:xfrm>
            <a:off x="822960" y="406908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Try the live Anders Brownworth hash demo — watch the hash update character-by-character as you type.</a:t>
            </a:r>
          </a:p>
        </p:txBody>
      </p:sp>
      <p:sp>
        <p:nvSpPr>
          <p:cNvPr id="11" name="Oval 10"/>
          <p:cNvSpPr/>
          <p:nvPr/>
        </p:nvSpPr>
        <p:spPr>
          <a:xfrm>
            <a:off x="822960" y="502920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"Hello World" vs "hello World" in CyberChef and compare the two outputs side by side.</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Written (5–6 sentences): explain why a blockchain's immutability depends entirely on hashing.</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Pick one non-blockchain use case from this section and explain which property of hashing makes it work.</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Write a script that hashes a string, then simulates a 2-block mini-chain using that hash.</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does SHA-256 work? (full explanation)</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What is SHA-256 | Blockchain | The Beginner Guide</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andersbrownworth.com/blockchain/hash  ·  gchq.github.io/CyberChef</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