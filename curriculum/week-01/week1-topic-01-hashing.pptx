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over_01.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1C173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6858000"/>
          </a:xfrm>
          <a:prstGeom prst="rect">
            <a:avLst/>
          </a:prstGeom>
          <a:solidFill>
            <a:srgbClr val="C143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02920"/>
            <a:ext cx="9144000" cy="365760"/>
          </a:xfrm>
          <a:prstGeom prst="rect">
            <a:avLst/>
          </a:prstGeom>
          <a:noFill/>
        </p:spPr>
        <p:txBody>
          <a:bodyPr wrap="square" anchor="t" lIns="0" rIns="0" tIns="0" bIns="0">
            <a:spAutoFit/>
          </a:bodyPr>
          <a:lstStyle/>
          <a:p>
            <a:pPr algn="l">
              <a:lnSpc>
                <a:spcPct val="115000"/>
              </a:lnSpc>
            </a:pPr>
            <a:r>
              <a:rPr sz="1300" b="1" i="0">
                <a:solidFill>
                  <a:srgbClr val="FFC53D"/>
                </a:solidFill>
                <a:latin typeface="Calibri"/>
              </a:rPr>
              <a:t>BlockchainCourse · Curriculum · Week 01 · Topic 01 of 04</a:t>
            </a:r>
          </a:p>
        </p:txBody>
      </p:sp>
      <p:sp>
        <p:nvSpPr>
          <p:cNvPr id="7" name="TextBox 6"/>
          <p:cNvSpPr txBox="1"/>
          <p:nvPr/>
        </p:nvSpPr>
        <p:spPr>
          <a:xfrm>
            <a:off x="822960" y="1188720"/>
            <a:ext cx="5486400" cy="1188720"/>
          </a:xfrm>
          <a:prstGeom prst="rect">
            <a:avLst/>
          </a:prstGeom>
          <a:noFill/>
        </p:spPr>
        <p:txBody>
          <a:bodyPr wrap="square" anchor="t" lIns="0" rIns="0" tIns="0" bIns="0">
            <a:spAutoFit/>
          </a:bodyPr>
          <a:lstStyle/>
          <a:p>
            <a:pPr algn="l">
              <a:lnSpc>
                <a:spcPct val="115000"/>
              </a:lnSpc>
            </a:pPr>
            <a:r>
              <a:rPr sz="10000" b="1" i="0">
                <a:solidFill>
                  <a:srgbClr val="FFFFFF"/>
                </a:solidFill>
                <a:latin typeface="Century Gothic"/>
              </a:rPr>
              <a:t>01</a:t>
            </a:r>
          </a:p>
        </p:txBody>
      </p:sp>
      <p:sp>
        <p:nvSpPr>
          <p:cNvPr id="8" name="TextBox 7"/>
          <p:cNvSpPr txBox="1"/>
          <p:nvPr/>
        </p:nvSpPr>
        <p:spPr>
          <a:xfrm>
            <a:off x="822960" y="2423160"/>
            <a:ext cx="8961120" cy="1554480"/>
          </a:xfrm>
          <a:prstGeom prst="rect">
            <a:avLst/>
          </a:prstGeom>
          <a:noFill/>
        </p:spPr>
        <p:txBody>
          <a:bodyPr wrap="square" anchor="t" lIns="0" rIns="0" tIns="0" bIns="0">
            <a:spAutoFit/>
          </a:bodyPr>
          <a:lstStyle/>
          <a:p>
            <a:pPr algn="l">
              <a:lnSpc>
                <a:spcPct val="105000"/>
              </a:lnSpc>
            </a:pPr>
            <a:r>
              <a:rPr sz="4600" b="1" i="0">
                <a:solidFill>
                  <a:srgbClr val="FFFFFF"/>
                </a:solidFill>
                <a:latin typeface="Century Gothic"/>
              </a:rPr>
              <a:t>Hashing</a:t>
            </a:r>
          </a:p>
        </p:txBody>
      </p:sp>
      <p:sp>
        <p:nvSpPr>
          <p:cNvPr id="9" name="TextBox 8"/>
          <p:cNvSpPr txBox="1"/>
          <p:nvPr/>
        </p:nvSpPr>
        <p:spPr>
          <a:xfrm>
            <a:off x="822960" y="4160520"/>
            <a:ext cx="6858000" cy="1097280"/>
          </a:xfrm>
          <a:prstGeom prst="rect">
            <a:avLst/>
          </a:prstGeom>
          <a:noFill/>
        </p:spPr>
        <p:txBody>
          <a:bodyPr wrap="square" anchor="t" lIns="0" rIns="0" tIns="0" bIns="0">
            <a:spAutoFit/>
          </a:bodyPr>
          <a:lstStyle/>
          <a:p>
            <a:pPr algn="l">
              <a:lnSpc>
                <a:spcPct val="125000"/>
              </a:lnSpc>
            </a:pPr>
            <a:r>
              <a:rPr sz="1900" b="0" i="0">
                <a:solidFill>
                  <a:srgbClr val="FFFFFF"/>
                </a:solidFill>
                <a:latin typeface="Calibri"/>
              </a:rPr>
              <a:t>A tamper-evident fingerprint for data — change one letter, get an unrecognizable result.</a:t>
            </a:r>
          </a:p>
        </p:txBody>
      </p:sp>
      <p:sp>
        <p:nvSpPr>
          <p:cNvPr id="10" name="Rounded Rectangle 9"/>
          <p:cNvSpPr/>
          <p:nvPr/>
        </p:nvSpPr>
        <p:spPr>
          <a:xfrm>
            <a:off x="822960" y="5669280"/>
            <a:ext cx="1100937" cy="402336"/>
          </a:xfrm>
          <a:prstGeom prst="roundRect">
            <a:avLst>
              <a:gd name="adj" fmla="val 50000"/>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1">
                <a:solidFill>
                  <a:srgbClr val="FFFFFF"/>
                </a:solidFill>
                <a:latin typeface="Calibri"/>
              </a:rPr>
              <a:t>01 · Hashing</a:t>
            </a:r>
          </a:p>
        </p:txBody>
      </p:sp>
      <p:sp>
        <p:nvSpPr>
          <p:cNvPr id="11" name="Rounded Rectangle 10"/>
          <p:cNvSpPr/>
          <p:nvPr/>
        </p:nvSpPr>
        <p:spPr>
          <a:xfrm>
            <a:off x="2070201" y="5669280"/>
            <a:ext cx="2022652" cy="402336"/>
          </a:xfrm>
          <a:prstGeom prst="roundRect">
            <a:avLst>
              <a:gd name="adj" fmla="val 50000"/>
            </a:avLst>
          </a:prstGeom>
          <a:solidFill>
            <a:srgbClr val="FFFFFF">
              <a:alpha val="14000"/>
            </a:srgb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0">
                <a:solidFill>
                  <a:srgbClr val="DDD9E8"/>
                </a:solidFill>
                <a:latin typeface="Calibri"/>
              </a:rPr>
              <a:t>02 · Public / Private Keys</a:t>
            </a:r>
          </a:p>
        </p:txBody>
      </p:sp>
      <p:sp>
        <p:nvSpPr>
          <p:cNvPr id="12" name="Rounded Rectangle 11"/>
          <p:cNvSpPr/>
          <p:nvPr/>
        </p:nvSpPr>
        <p:spPr>
          <a:xfrm>
            <a:off x="4239157" y="5669280"/>
            <a:ext cx="1627632" cy="402336"/>
          </a:xfrm>
          <a:prstGeom prst="roundRect">
            <a:avLst>
              <a:gd name="adj" fmla="val 50000"/>
            </a:avLst>
          </a:prstGeom>
          <a:solidFill>
            <a:srgbClr val="FFFFFF">
              <a:alpha val="14000"/>
            </a:srgb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0">
                <a:solidFill>
                  <a:srgbClr val="DDD9E8"/>
                </a:solidFill>
                <a:latin typeface="Calibri"/>
              </a:rPr>
              <a:t>03 · Blocks &amp; Chains</a:t>
            </a:r>
          </a:p>
        </p:txBody>
      </p:sp>
      <p:sp>
        <p:nvSpPr>
          <p:cNvPr id="13" name="Rounded Rectangle 12"/>
          <p:cNvSpPr/>
          <p:nvPr/>
        </p:nvSpPr>
        <p:spPr>
          <a:xfrm>
            <a:off x="6013093" y="5669280"/>
            <a:ext cx="1232611" cy="402336"/>
          </a:xfrm>
          <a:prstGeom prst="roundRect">
            <a:avLst>
              <a:gd name="adj" fmla="val 50000"/>
            </a:avLst>
          </a:prstGeom>
          <a:solidFill>
            <a:srgbClr val="FFFFFF">
              <a:alpha val="14000"/>
            </a:srgbClr>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none"/>
          <a:lstStyle/>
          <a:p>
            <a:pPr algn="ctr"/>
            <a:r>
              <a:rPr sz="1100" b="0">
                <a:solidFill>
                  <a:srgbClr val="DDD9E8"/>
                </a:solidFill>
                <a:latin typeface="Calibri"/>
              </a:rPr>
              <a:t>04 · Consensus</a:t>
            </a:r>
          </a:p>
        </p:txBody>
      </p:sp>
      <p:sp>
        <p:nvSpPr>
          <p:cNvPr id="14" name="TextBox 13"/>
          <p:cNvSpPr txBox="1"/>
          <p:nvPr/>
        </p:nvSpPr>
        <p:spPr>
          <a:xfrm>
            <a:off x="822960" y="6446520"/>
            <a:ext cx="8229600" cy="320040"/>
          </a:xfrm>
          <a:prstGeom prst="rect">
            <a:avLst/>
          </a:prstGeom>
          <a:noFill/>
        </p:spPr>
        <p:txBody>
          <a:bodyPr wrap="square" anchor="t" lIns="0" rIns="0" tIns="0" bIns="0">
            <a:spAutoFit/>
          </a:bodyPr>
          <a:lstStyle/>
          <a:p>
            <a:pPr algn="l">
              <a:lnSpc>
                <a:spcPct val="115000"/>
              </a:lnSpc>
            </a:pPr>
            <a:r>
              <a:rPr sz="1000" b="0" i="0">
                <a:solidFill>
                  <a:srgbClr val="E9E6F2"/>
                </a:solidFill>
                <a:latin typeface="Calibri"/>
              </a:rPr>
              <a:t>Photo: Simon A. Eugster (LivingShadow) / Wikimedia Commons, CC BY-SA 3.0</a:t>
            </a:r>
          </a:p>
        </p:txBody>
      </p:sp>
      <p:sp>
        <p:nvSpPr>
          <p:cNvPr id="15" name="TextBox 14"/>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Why This Matters</a:t>
            </a:r>
          </a:p>
        </p:txBody>
      </p:sp>
      <p:sp>
        <p:nvSpPr>
          <p:cNvPr id="5" name="TextBox 4"/>
          <p:cNvSpPr txBox="1"/>
          <p:nvPr/>
        </p:nvSpPr>
        <p:spPr>
          <a:xfrm>
            <a:off x="822960" y="1965960"/>
            <a:ext cx="9875520" cy="1463040"/>
          </a:xfrm>
          <a:prstGeom prst="rect">
            <a:avLst/>
          </a:prstGeom>
          <a:noFill/>
        </p:spPr>
        <p:txBody>
          <a:bodyPr wrap="square" anchor="t" lIns="0" rIns="0" tIns="0" bIns="0">
            <a:spAutoFit/>
          </a:bodyPr>
          <a:lstStyle/>
          <a:p>
            <a:pPr algn="l">
              <a:lnSpc>
                <a:spcPct val="140000"/>
              </a:lnSpc>
            </a:pPr>
            <a:r>
              <a:rPr sz="1600" b="0" i="0">
                <a:solidFill>
                  <a:srgbClr val="5C576E"/>
                </a:solidFill>
                <a:latin typeface="Calibri"/>
              </a:rPr>
              <a:t>Before any other concept in this course makes sense, you need hashing — it's the primitive every other piece (signatures, blocks, chains) is built on top of. Everything from here on assumes you understand what a hash actually is and isn't.</a:t>
            </a:r>
          </a:p>
        </p:txBody>
      </p:sp>
      <p:sp>
        <p:nvSpPr>
          <p:cNvPr id="6" name="TextBox 5"/>
          <p:cNvSpPr txBox="1"/>
          <p:nvPr/>
        </p:nvSpPr>
        <p:spPr>
          <a:xfrm>
            <a:off x="822960" y="3657600"/>
            <a:ext cx="9875520" cy="365760"/>
          </a:xfrm>
          <a:prstGeom prst="rect">
            <a:avLst/>
          </a:prstGeom>
          <a:noFill/>
        </p:spPr>
        <p:txBody>
          <a:bodyPr wrap="square" anchor="t" lIns="0" rIns="0" tIns="0" bIns="0">
            <a:spAutoFit/>
          </a:bodyPr>
          <a:lstStyle/>
          <a:p>
            <a:pPr algn="l">
              <a:lnSpc>
                <a:spcPct val="115000"/>
              </a:lnSpc>
            </a:pPr>
            <a:r>
              <a:rPr sz="1200" b="1" i="0">
                <a:solidFill>
                  <a:srgbClr val="C1432B"/>
                </a:solidFill>
                <a:latin typeface="Calibri"/>
              </a:rPr>
              <a:t>WHAT THIS SECTION COVERS</a:t>
            </a:r>
          </a:p>
        </p:txBody>
      </p:sp>
      <p:sp>
        <p:nvSpPr>
          <p:cNvPr id="7" name="Rectangle 6"/>
          <p:cNvSpPr/>
          <p:nvPr/>
        </p:nvSpPr>
        <p:spPr>
          <a:xfrm>
            <a:off x="822960" y="41970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1148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Core concept</a:t>
            </a:r>
          </a:p>
        </p:txBody>
      </p:sp>
      <p:sp>
        <p:nvSpPr>
          <p:cNvPr id="9" name="Rectangle 8"/>
          <p:cNvSpPr/>
          <p:nvPr/>
        </p:nvSpPr>
        <p:spPr>
          <a:xfrm>
            <a:off x="6035040" y="41970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41148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Four key ideas, one at a time</a:t>
            </a:r>
          </a:p>
        </p:txBody>
      </p:sp>
      <p:sp>
        <p:nvSpPr>
          <p:cNvPr id="11" name="Rectangle 10"/>
          <p:cNvSpPr/>
          <p:nvPr/>
        </p:nvSpPr>
        <p:spPr>
          <a:xfrm>
            <a:off x="822960" y="46542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5720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real, reproducible worked example</a:t>
            </a:r>
          </a:p>
        </p:txBody>
      </p:sp>
      <p:sp>
        <p:nvSpPr>
          <p:cNvPr id="13" name="Rectangle 12"/>
          <p:cNvSpPr/>
          <p:nvPr/>
        </p:nvSpPr>
        <p:spPr>
          <a:xfrm>
            <a:off x="6035040" y="46542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45720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Real-world uses beyond blockchain</a:t>
            </a:r>
          </a:p>
        </p:txBody>
      </p:sp>
      <p:sp>
        <p:nvSpPr>
          <p:cNvPr id="15" name="Rectangle 14"/>
          <p:cNvSpPr/>
          <p:nvPr/>
        </p:nvSpPr>
        <p:spPr>
          <a:xfrm>
            <a:off x="822960" y="51114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0292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flagship case study</a:t>
            </a:r>
          </a:p>
        </p:txBody>
      </p:sp>
      <p:sp>
        <p:nvSpPr>
          <p:cNvPr id="17" name="Rectangle 16"/>
          <p:cNvSpPr/>
          <p:nvPr/>
        </p:nvSpPr>
        <p:spPr>
          <a:xfrm>
            <a:off x="6035040" y="51114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50292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A real-life analogy</a:t>
            </a:r>
          </a:p>
        </p:txBody>
      </p:sp>
      <p:sp>
        <p:nvSpPr>
          <p:cNvPr id="19" name="Rectangle 18"/>
          <p:cNvSpPr/>
          <p:nvPr/>
        </p:nvSpPr>
        <p:spPr>
          <a:xfrm>
            <a:off x="822960" y="55686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4864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Common misconceptions</a:t>
            </a:r>
          </a:p>
        </p:txBody>
      </p:sp>
      <p:sp>
        <p:nvSpPr>
          <p:cNvPr id="21" name="Rectangle 20"/>
          <p:cNvSpPr/>
          <p:nvPr/>
        </p:nvSpPr>
        <p:spPr>
          <a:xfrm>
            <a:off x="6035040" y="55686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54864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Hands-on practice</a:t>
            </a:r>
          </a:p>
        </p:txBody>
      </p:sp>
      <p:sp>
        <p:nvSpPr>
          <p:cNvPr id="23" name="Rectangle 22"/>
          <p:cNvSpPr/>
          <p:nvPr/>
        </p:nvSpPr>
        <p:spPr>
          <a:xfrm>
            <a:off x="822960" y="6025896"/>
            <a:ext cx="82296" cy="82296"/>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943600"/>
            <a:ext cx="4709160" cy="365760"/>
          </a:xfrm>
          <a:prstGeom prst="rect">
            <a:avLst/>
          </a:prstGeom>
          <a:noFill/>
        </p:spPr>
        <p:txBody>
          <a:bodyPr wrap="square" anchor="t" lIns="0" rIns="0" tIns="0" bIns="0">
            <a:spAutoFit/>
          </a:bodyPr>
          <a:lstStyle/>
          <a:p>
            <a:pPr algn="l">
              <a:lnSpc>
                <a:spcPct val="115000"/>
              </a:lnSpc>
            </a:pPr>
            <a:r>
              <a:rPr sz="1350" b="0" i="0">
                <a:solidFill>
                  <a:srgbClr val="1C1730"/>
                </a:solidFill>
                <a:latin typeface="Calibri"/>
              </a:rPr>
              <a:t>Take-home assignment</a:t>
            </a:r>
          </a:p>
        </p:txBody>
      </p:sp>
      <p:sp>
        <p:nvSpPr>
          <p:cNvPr id="25" name="TextBox 24"/>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400" b="1" i="0">
                <a:solidFill>
                  <a:srgbClr val="1C1730"/>
                </a:solidFill>
                <a:latin typeface="Century Gothic"/>
              </a:rPr>
              <a:t>The Core Concept</a:t>
            </a:r>
          </a:p>
        </p:txBody>
      </p:sp>
      <p:sp>
        <p:nvSpPr>
          <p:cNvPr id="5" name="Rounded Rectangle 4"/>
          <p:cNvSpPr/>
          <p:nvPr/>
        </p:nvSpPr>
        <p:spPr>
          <a:xfrm>
            <a:off x="822960" y="2286000"/>
            <a:ext cx="10515600" cy="3291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286000"/>
            <a:ext cx="91440" cy="3291840"/>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697480"/>
            <a:ext cx="9601200" cy="2560320"/>
          </a:xfrm>
          <a:prstGeom prst="rect">
            <a:avLst/>
          </a:prstGeom>
          <a:noFill/>
        </p:spPr>
        <p:txBody>
          <a:bodyPr wrap="square" anchor="t" lIns="0" rIns="0" tIns="0" bIns="0">
            <a:spAutoFit/>
          </a:bodyPr>
          <a:lstStyle/>
          <a:p>
            <a:pPr algn="l">
              <a:lnSpc>
                <a:spcPct val="155000"/>
              </a:lnSpc>
            </a:pPr>
            <a:r>
              <a:rPr sz="2000" b="0" i="0">
                <a:solidFill>
                  <a:srgbClr val="1C1730"/>
                </a:solidFill>
                <a:latin typeface="Calibri"/>
              </a:rPr>
              <a:t>A hash function takes any input — a letter, a word, a gigabyte of data — and turns it into a fixed-length string of characters called a hash. For blockchain, that function is SHA-256 (Bitcoin) or Keccak-256 (Ethereum). Same input, same output, every time — but there's no way back.</a:t>
            </a:r>
          </a:p>
        </p:txBody>
      </p:sp>
      <p:sp>
        <p:nvSpPr>
          <p:cNvPr id="8" name="TextBox 7"/>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1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Deterministic</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The same input always produces the exact same output. Hash the word “hello” today, tomorrow, or on a different continent — identical result, every time. There's no randomness involved anywhere in the process.</a:t>
            </a:r>
          </a:p>
        </p:txBody>
      </p:sp>
      <p:sp>
        <p:nvSpPr>
          <p:cNvPr id="7" name="Rounded Rectangle 6"/>
          <p:cNvSpPr/>
          <p:nvPr/>
        </p:nvSpPr>
        <p:spPr>
          <a:xfrm>
            <a:off x="822960" y="4434840"/>
            <a:ext cx="10515600" cy="1280160"/>
          </a:xfrm>
          <a:prstGeom prst="roundRect">
            <a:avLst>
              <a:gd name="adj" fmla="val 6000"/>
            </a:avLst>
          </a:prstGeom>
          <a:solidFill>
            <a:srgbClr val="F8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C1432B"/>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"hello" → 2cf24dba...9824  (always, forever)</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2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One-Way</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Given a hash, there's no way to work backwards to the original input — other than guessing inputs and re-hashing until one matches, which for anything non-trivial would take longer than the age of the universe. Easy to fall through, impossible to climb back up.</a:t>
            </a:r>
          </a:p>
        </p:txBody>
      </p:sp>
      <p:sp>
        <p:nvSpPr>
          <p:cNvPr id="7" name="Rounded Rectangle 6"/>
          <p:cNvSpPr/>
          <p:nvPr/>
        </p:nvSpPr>
        <p:spPr>
          <a:xfrm>
            <a:off x="822960" y="4434840"/>
            <a:ext cx="10515600" cy="1280160"/>
          </a:xfrm>
          <a:prstGeom prst="roundRect">
            <a:avLst>
              <a:gd name="adj" fmla="val 6000"/>
            </a:avLst>
          </a:prstGeom>
          <a:solidFill>
            <a:srgbClr val="F8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C1432B"/>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You can reverse-engineer neither a fingerprint into a face, nor a hash into its input.</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3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Avalanche Effect</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Changing even a single character of input — flipping one letter's capitalization — produces a completely different, unrecognizable hash. There's no partial similarity between hashes of similar inputs.</a:t>
            </a:r>
          </a:p>
        </p:txBody>
      </p:sp>
      <p:sp>
        <p:nvSpPr>
          <p:cNvPr id="7" name="Rounded Rectangle 6"/>
          <p:cNvSpPr/>
          <p:nvPr/>
        </p:nvSpPr>
        <p:spPr>
          <a:xfrm>
            <a:off x="822960" y="4434840"/>
            <a:ext cx="10515600" cy="1280160"/>
          </a:xfrm>
          <a:prstGeom prst="roundRect">
            <a:avLst>
              <a:gd name="adj" fmla="val 6000"/>
            </a:avLst>
          </a:prstGeom>
          <a:solidFill>
            <a:srgbClr val="F8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C1432B"/>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"Alice" vs "Alicf" → two totally unrelated 64-character hashes</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TOPIC 01 — HASHING</a:t>
            </a:r>
          </a:p>
        </p:txBody>
      </p:sp>
      <p:sp>
        <p:nvSpPr>
          <p:cNvPr id="4" name="TextBox 3"/>
          <p:cNvSpPr txBox="1"/>
          <p:nvPr/>
        </p:nvSpPr>
        <p:spPr>
          <a:xfrm>
            <a:off x="8503920" y="640080"/>
            <a:ext cx="2834640" cy="365760"/>
          </a:xfrm>
          <a:prstGeom prst="rect">
            <a:avLst/>
          </a:prstGeom>
          <a:noFill/>
        </p:spPr>
        <p:txBody>
          <a:bodyPr wrap="square" anchor="t" lIns="0" rIns="0" tIns="0" bIns="0">
            <a:spAutoFit/>
          </a:bodyPr>
          <a:lstStyle/>
          <a:p>
            <a:pPr algn="r">
              <a:lnSpc>
                <a:spcPct val="115000"/>
              </a:lnSpc>
            </a:pPr>
            <a:r>
              <a:rPr sz="1200" b="1" i="0">
                <a:solidFill>
                  <a:srgbClr val="5C576E"/>
                </a:solidFill>
                <a:latin typeface="Calibri"/>
              </a:rPr>
              <a:t>KEY IDEA 4 / 4</a:t>
            </a:r>
          </a:p>
        </p:txBody>
      </p:sp>
      <p:sp>
        <p:nvSpPr>
          <p:cNvPr id="5" name="TextBox 4"/>
          <p:cNvSpPr txBox="1"/>
          <p:nvPr/>
        </p:nvSpPr>
        <p:spPr>
          <a:xfrm>
            <a:off x="822960" y="109728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Collision-Resistant</a:t>
            </a:r>
          </a:p>
        </p:txBody>
      </p:sp>
      <p:sp>
        <p:nvSpPr>
          <p:cNvPr id="6" name="TextBox 5"/>
          <p:cNvSpPr txBox="1"/>
          <p:nvPr/>
        </p:nvSpPr>
        <p:spPr>
          <a:xfrm>
            <a:off x="822960" y="2148840"/>
            <a:ext cx="9875520" cy="2011680"/>
          </a:xfrm>
          <a:prstGeom prst="rect">
            <a:avLst/>
          </a:prstGeom>
          <a:noFill/>
        </p:spPr>
        <p:txBody>
          <a:bodyPr wrap="square" anchor="t" lIns="0" rIns="0" tIns="0" bIns="0">
            <a:spAutoFit/>
          </a:bodyPr>
          <a:lstStyle/>
          <a:p>
            <a:pPr algn="l">
              <a:lnSpc>
                <a:spcPct val="150000"/>
              </a:lnSpc>
            </a:pPr>
            <a:r>
              <a:rPr sz="1650" b="0" i="0">
                <a:solidFill>
                  <a:srgbClr val="1C1730"/>
                </a:solidFill>
                <a:latin typeface="Calibri"/>
              </a:rPr>
              <a:t>It should be practically impossible to find two different inputs that produce the same hash. This is what makes a hash trustworthy as a stand-in for the original data — one hash, one piece of data.</a:t>
            </a:r>
          </a:p>
        </p:txBody>
      </p:sp>
      <p:sp>
        <p:nvSpPr>
          <p:cNvPr id="7" name="Rounded Rectangle 6"/>
          <p:cNvSpPr/>
          <p:nvPr/>
        </p:nvSpPr>
        <p:spPr>
          <a:xfrm>
            <a:off x="822960" y="4434840"/>
            <a:ext cx="10515600" cy="1280160"/>
          </a:xfrm>
          <a:prstGeom prst="roundRect">
            <a:avLst>
              <a:gd name="adj" fmla="val 6000"/>
            </a:avLst>
          </a:prstGeom>
          <a:solidFill>
            <a:srgbClr val="F8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617720"/>
            <a:ext cx="9875520" cy="320040"/>
          </a:xfrm>
          <a:prstGeom prst="rect">
            <a:avLst/>
          </a:prstGeom>
          <a:noFill/>
        </p:spPr>
        <p:txBody>
          <a:bodyPr wrap="square" anchor="t" lIns="0" rIns="0" tIns="0" bIns="0">
            <a:spAutoFit/>
          </a:bodyPr>
          <a:lstStyle/>
          <a:p>
            <a:pPr algn="l">
              <a:lnSpc>
                <a:spcPct val="115000"/>
              </a:lnSpc>
            </a:pPr>
            <a:r>
              <a:rPr sz="1100" b="1" i="0">
                <a:solidFill>
                  <a:srgbClr val="C1432B"/>
                </a:solidFill>
                <a:latin typeface="Calibri"/>
              </a:rPr>
              <a:t>EXAMPLE</a:t>
            </a:r>
          </a:p>
        </p:txBody>
      </p:sp>
      <p:sp>
        <p:nvSpPr>
          <p:cNvPr id="9" name="TextBox 8"/>
          <p:cNvSpPr txBox="1"/>
          <p:nvPr/>
        </p:nvSpPr>
        <p:spPr>
          <a:xfrm>
            <a:off x="1143000" y="4956048"/>
            <a:ext cx="9875520" cy="640080"/>
          </a:xfrm>
          <a:prstGeom prst="rect">
            <a:avLst/>
          </a:prstGeom>
          <a:noFill/>
        </p:spPr>
        <p:txBody>
          <a:bodyPr wrap="square" anchor="t" lIns="0" rIns="0" tIns="0" bIns="0">
            <a:spAutoFit/>
          </a:bodyPr>
          <a:lstStyle/>
          <a:p>
            <a:pPr algn="l">
              <a:lnSpc>
                <a:spcPct val="130000"/>
              </a:lnSpc>
            </a:pPr>
            <a:r>
              <a:rPr sz="1400" b="0" i="0">
                <a:solidFill>
                  <a:srgbClr val="1C1730"/>
                </a:solidFill>
                <a:latin typeface="Consolas"/>
              </a:rPr>
              <a:t>No two distinct files should ever share a SHA-256 hash in practice.</a:t>
            </a:r>
          </a:p>
        </p:txBody>
      </p:sp>
      <p:sp>
        <p:nvSpPr>
          <p:cNvPr id="10" name="TextBox 9"/>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WORKED EXAMPLE — PART 1</a:t>
            </a:r>
          </a:p>
        </p:txBody>
      </p:sp>
      <p:sp>
        <p:nvSpPr>
          <p:cNvPr id="4" name="TextBox 3"/>
          <p:cNvSpPr txBox="1"/>
          <p:nvPr/>
        </p:nvSpPr>
        <p:spPr>
          <a:xfrm>
            <a:off x="822960" y="1051560"/>
            <a:ext cx="10332720" cy="1005840"/>
          </a:xfrm>
          <a:prstGeom prst="rect">
            <a:avLst/>
          </a:prstGeom>
          <a:noFill/>
        </p:spPr>
        <p:txBody>
          <a:bodyPr wrap="square" anchor="t" lIns="0" rIns="0" tIns="0" bIns="0">
            <a:spAutoFit/>
          </a:bodyPr>
          <a:lstStyle/>
          <a:p>
            <a:pPr algn="l">
              <a:lnSpc>
                <a:spcPct val="105000"/>
              </a:lnSpc>
            </a:pPr>
            <a:r>
              <a:rPr sz="2700" b="1" i="0">
                <a:solidFill>
                  <a:srgbClr val="1C1730"/>
                </a:solidFill>
                <a:latin typeface="Century Gothic"/>
              </a:rPr>
              <a:t>Determinism, Proven On A Real Machine</a:t>
            </a:r>
          </a:p>
        </p:txBody>
      </p:sp>
      <p:sp>
        <p:nvSpPr>
          <p:cNvPr id="5" name="Rounded Rectangle 4"/>
          <p:cNvSpPr/>
          <p:nvPr/>
        </p:nvSpPr>
        <p:spPr>
          <a:xfrm>
            <a:off x="822960" y="1965960"/>
            <a:ext cx="10515600" cy="3840480"/>
          </a:xfrm>
          <a:prstGeom prst="roundRect">
            <a:avLst>
              <a:gd name="adj" fmla="val 4500"/>
            </a:avLst>
          </a:prstGeom>
          <a:solidFill>
            <a:srgbClr val="141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2130552"/>
            <a:ext cx="109728" cy="109728"/>
          </a:xfrm>
          <a:prstGeom prst="ellipse">
            <a:avLst/>
          </a:prstGeom>
          <a:solidFill>
            <a:srgbClr val="FF6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130552"/>
            <a:ext cx="109728" cy="109728"/>
          </a:xfrm>
          <a:prstGeom prst="ellipse">
            <a:avLst/>
          </a:prstGeom>
          <a:solidFill>
            <a:srgbClr val="FFC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26464" y="2130552"/>
            <a:ext cx="109728" cy="109728"/>
          </a:xfrm>
          <a:prstGeom prst="ellipse">
            <a:avLst/>
          </a:prstGeom>
          <a:solidFill>
            <a:srgbClr val="28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2350008"/>
            <a:ext cx="10003536" cy="3273552"/>
          </a:xfrm>
          <a:prstGeom prst="rect">
            <a:avLst/>
          </a:prstGeom>
          <a:noFill/>
        </p:spPr>
        <p:txBody>
          <a:bodyPr wrap="square" anchor="t" lIns="0" rIns="0" tIns="0" bIns="0">
            <a:spAutoFit/>
          </a:bodyPr>
          <a:lstStyle/>
          <a:p>
            <a:pPr algn="l">
              <a:lnSpc>
                <a:spcPct val="135000"/>
              </a:lnSpc>
            </a:pPr>
            <a:r>
              <a:rPr sz="1350" b="1">
                <a:solidFill>
                  <a:srgbClr val="9C93C9"/>
                </a:solidFill>
                <a:latin typeface="Consolas"/>
              </a:rPr>
              <a:t>$ </a:t>
            </a:r>
            <a:r>
              <a:rPr sz="1350" b="0">
                <a:solidFill>
                  <a:srgbClr val="EDE9F7"/>
                </a:solidFill>
                <a:latin typeface="Consolas"/>
              </a:rPr>
              <a:t>echo -n "hello" | shasum -a 256</a:t>
            </a:r>
          </a:p>
          <a:p>
            <a:pPr algn="l">
              <a:lnSpc>
                <a:spcPct val="135000"/>
              </a:lnSpc>
            </a:pPr>
            <a:r>
              <a:rPr sz="1350" b="0">
                <a:solidFill>
                  <a:srgbClr val="7FE0C4"/>
                </a:solidFill>
                <a:latin typeface="Consolas"/>
              </a:rPr>
              <a:t>2cf24dba5fb0a30e26e83b2ac5b9e29e1b161e5c1fa7425e73043362938b9824</a:t>
            </a:r>
          </a:p>
          <a:p>
            <a:pPr algn="l">
              <a:lnSpc>
                <a:spcPct val="135000"/>
              </a:lnSpc>
            </a:pPr>
            <a:r>
              <a:rPr sz="1350" b="0">
                <a:solidFill>
                  <a:srgbClr val="EDE9F7"/>
                </a:solidFill>
                <a:latin typeface="Consolas"/>
              </a:rPr>
              <a:t/>
            </a:r>
          </a:p>
          <a:p>
            <a:pPr algn="l">
              <a:lnSpc>
                <a:spcPct val="135000"/>
              </a:lnSpc>
            </a:pPr>
            <a:r>
              <a:rPr sz="1350" b="0">
                <a:solidFill>
                  <a:srgbClr val="8B84AD"/>
                </a:solidFill>
                <a:latin typeface="Consolas"/>
              </a:rPr>
              <a:t># run it again, on a totally separate invocation —</a:t>
            </a:r>
          </a:p>
          <a:p>
            <a:pPr algn="l">
              <a:lnSpc>
                <a:spcPct val="135000"/>
              </a:lnSpc>
            </a:pPr>
            <a:r>
              <a:rPr sz="1350" b="1">
                <a:solidFill>
                  <a:srgbClr val="9C93C9"/>
                </a:solidFill>
                <a:latin typeface="Consolas"/>
              </a:rPr>
              <a:t>$ </a:t>
            </a:r>
            <a:r>
              <a:rPr sz="1350" b="0">
                <a:solidFill>
                  <a:srgbClr val="EDE9F7"/>
                </a:solidFill>
                <a:latin typeface="Consolas"/>
              </a:rPr>
              <a:t>echo -n "hello" | shasum -a 256</a:t>
            </a:r>
          </a:p>
          <a:p>
            <a:pPr algn="l">
              <a:lnSpc>
                <a:spcPct val="135000"/>
              </a:lnSpc>
            </a:pPr>
            <a:r>
              <a:rPr sz="1350" b="0">
                <a:solidFill>
                  <a:srgbClr val="7FE0C4"/>
                </a:solidFill>
                <a:latin typeface="Consolas"/>
              </a:rPr>
              <a:t>2cf24dba5fb0a30e26e83b2ac5b9e29e1b161e5c1fa7425e73043362938b9824</a:t>
            </a:r>
          </a:p>
          <a:p>
            <a:pPr algn="l">
              <a:lnSpc>
                <a:spcPct val="135000"/>
              </a:lnSpc>
            </a:pPr>
            <a:r>
              <a:rPr sz="1350" b="0">
                <a:solidFill>
                  <a:srgbClr val="EDE9F7"/>
                </a:solidFill>
                <a:latin typeface="Consolas"/>
              </a:rPr>
              <a:t/>
            </a:r>
          </a:p>
          <a:p>
            <a:pPr algn="l">
              <a:lnSpc>
                <a:spcPct val="135000"/>
              </a:lnSpc>
            </a:pPr>
            <a:r>
              <a:rPr sz="1350" b="0">
                <a:solidFill>
                  <a:srgbClr val="8B84AD"/>
                </a:solidFill>
                <a:latin typeface="Consolas"/>
              </a:rPr>
              <a:t># identical, character for character. no randomness.</a:t>
            </a:r>
          </a:p>
        </p:txBody>
      </p:sp>
      <p:sp>
        <p:nvSpPr>
          <p:cNvPr id="10" name="TextBox 9"/>
          <p:cNvSpPr txBox="1"/>
          <p:nvPr/>
        </p:nvSpPr>
        <p:spPr>
          <a:xfrm>
            <a:off x="822960" y="6446520"/>
            <a:ext cx="10058400" cy="320040"/>
          </a:xfrm>
          <a:prstGeom prst="rect">
            <a:avLst/>
          </a:prstGeom>
          <a:noFill/>
        </p:spPr>
        <p:txBody>
          <a:bodyPr wrap="square" anchor="t" lIns="0" rIns="0" tIns="0" bIns="0">
            <a:spAutoFit/>
          </a:bodyPr>
          <a:lstStyle/>
          <a:p>
            <a:pPr algn="l">
              <a:lnSpc>
                <a:spcPct val="115000"/>
              </a:lnSpc>
            </a:pPr>
            <a:r>
              <a:rPr sz="1050" b="0" i="0">
                <a:solidFill>
                  <a:srgbClr val="5C576E"/>
                </a:solidFill>
                <a:latin typeface="Calibri"/>
              </a:rPr>
              <a:t>Try it yourself: shasum -a 256 (macOS) or sha256sum (Linux) — already on your machine.</a:t>
            </a:r>
          </a:p>
        </p:txBody>
      </p:sp>
      <p:sp>
        <p:nvSpPr>
          <p:cNvPr id="11" name="TextBox 10"/>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WORKED EXAMPLE — PART 2</a:t>
            </a:r>
          </a:p>
        </p:txBody>
      </p:sp>
      <p:sp>
        <p:nvSpPr>
          <p:cNvPr id="4" name="TextBox 3"/>
          <p:cNvSpPr txBox="1"/>
          <p:nvPr/>
        </p:nvSpPr>
        <p:spPr>
          <a:xfrm>
            <a:off x="822960" y="1051560"/>
            <a:ext cx="10332720" cy="1005840"/>
          </a:xfrm>
          <a:prstGeom prst="rect">
            <a:avLst/>
          </a:prstGeom>
          <a:noFill/>
        </p:spPr>
        <p:txBody>
          <a:bodyPr wrap="square" anchor="t" lIns="0" rIns="0" tIns="0" bIns="0">
            <a:spAutoFit/>
          </a:bodyPr>
          <a:lstStyle/>
          <a:p>
            <a:pPr algn="l">
              <a:lnSpc>
                <a:spcPct val="105000"/>
              </a:lnSpc>
            </a:pPr>
            <a:r>
              <a:rPr sz="2700" b="1" i="0">
                <a:solidFill>
                  <a:srgbClr val="1C1730"/>
                </a:solidFill>
                <a:latin typeface="Century Gothic"/>
              </a:rPr>
              <a:t>The Avalanche Effect, Proven With A Real Transaction-Like String</a:t>
            </a:r>
          </a:p>
        </p:txBody>
      </p:sp>
      <p:sp>
        <p:nvSpPr>
          <p:cNvPr id="5" name="Rounded Rectangle 4"/>
          <p:cNvSpPr/>
          <p:nvPr/>
        </p:nvSpPr>
        <p:spPr>
          <a:xfrm>
            <a:off x="822960" y="1965960"/>
            <a:ext cx="10515600" cy="3840480"/>
          </a:xfrm>
          <a:prstGeom prst="roundRect">
            <a:avLst>
              <a:gd name="adj" fmla="val 4500"/>
            </a:avLst>
          </a:prstGeom>
          <a:solidFill>
            <a:srgbClr val="1410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 y="2130552"/>
            <a:ext cx="109728" cy="109728"/>
          </a:xfrm>
          <a:prstGeom prst="ellipse">
            <a:avLst/>
          </a:prstGeom>
          <a:solidFill>
            <a:srgbClr val="FF6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130552"/>
            <a:ext cx="109728" cy="109728"/>
          </a:xfrm>
          <a:prstGeom prst="ellipse">
            <a:avLst/>
          </a:prstGeom>
          <a:solidFill>
            <a:srgbClr val="FFC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26464" y="2130552"/>
            <a:ext cx="109728" cy="109728"/>
          </a:xfrm>
          <a:prstGeom prst="ellipse">
            <a:avLst/>
          </a:prstGeom>
          <a:solidFill>
            <a:srgbClr val="28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2350008"/>
            <a:ext cx="10003536" cy="3273552"/>
          </a:xfrm>
          <a:prstGeom prst="rect">
            <a:avLst/>
          </a:prstGeom>
          <a:noFill/>
        </p:spPr>
        <p:txBody>
          <a:bodyPr wrap="square" anchor="t" lIns="0" rIns="0" tIns="0" bIns="0">
            <a:spAutoFit/>
          </a:bodyPr>
          <a:lstStyle/>
          <a:p>
            <a:pPr algn="l">
              <a:lnSpc>
                <a:spcPct val="135000"/>
              </a:lnSpc>
            </a:pPr>
            <a:r>
              <a:rPr sz="1350" b="1">
                <a:solidFill>
                  <a:srgbClr val="9C93C9"/>
                </a:solidFill>
                <a:latin typeface="Consolas"/>
              </a:rPr>
              <a:t>$ </a:t>
            </a:r>
            <a:r>
              <a:rPr sz="1350" b="0">
                <a:solidFill>
                  <a:srgbClr val="EDE9F7"/>
                </a:solidFill>
                <a:latin typeface="Consolas"/>
              </a:rPr>
              <a:t>echo -n "Send 1 ETH to Alice" | shasum -a 256</a:t>
            </a:r>
          </a:p>
          <a:p>
            <a:pPr algn="l">
              <a:lnSpc>
                <a:spcPct val="135000"/>
              </a:lnSpc>
            </a:pPr>
            <a:r>
              <a:rPr sz="1350" b="0">
                <a:solidFill>
                  <a:srgbClr val="7FE0C4"/>
                </a:solidFill>
                <a:latin typeface="Consolas"/>
              </a:rPr>
              <a:t>9bed087e0a716e203d57c1ba36493085f7a87628da1cb1fe18bf5b4631bd7e45</a:t>
            </a:r>
          </a:p>
          <a:p>
            <a:pPr algn="l">
              <a:lnSpc>
                <a:spcPct val="135000"/>
              </a:lnSpc>
            </a:pPr>
            <a:r>
              <a:rPr sz="1350" b="0">
                <a:solidFill>
                  <a:srgbClr val="EDE9F7"/>
                </a:solidFill>
                <a:latin typeface="Consolas"/>
              </a:rPr>
              <a:t/>
            </a:r>
          </a:p>
          <a:p>
            <a:pPr algn="l">
              <a:lnSpc>
                <a:spcPct val="135000"/>
              </a:lnSpc>
            </a:pPr>
            <a:r>
              <a:rPr sz="1350" b="1">
                <a:solidFill>
                  <a:srgbClr val="9C93C9"/>
                </a:solidFill>
                <a:latin typeface="Consolas"/>
              </a:rPr>
              <a:t>$ </a:t>
            </a:r>
            <a:r>
              <a:rPr sz="1350" b="0">
                <a:solidFill>
                  <a:srgbClr val="EDE9F7"/>
                </a:solidFill>
                <a:latin typeface="Consolas"/>
              </a:rPr>
              <a:t>echo -n "Send 1 ETH to Alicf" | shasum -a 256</a:t>
            </a:r>
          </a:p>
          <a:p>
            <a:pPr algn="l">
              <a:lnSpc>
                <a:spcPct val="135000"/>
              </a:lnSpc>
            </a:pPr>
            <a:r>
              <a:rPr sz="1350" b="0">
                <a:solidFill>
                  <a:srgbClr val="FF8E7D"/>
                </a:solidFill>
                <a:latin typeface="Consolas"/>
              </a:rPr>
              <a:t>94f17d20a09db58f6a7fe2cf97f00b2ae2dc1a67802b6e74776b0b6785e4b1eb</a:t>
            </a:r>
          </a:p>
          <a:p>
            <a:pPr algn="l">
              <a:lnSpc>
                <a:spcPct val="135000"/>
              </a:lnSpc>
            </a:pPr>
            <a:r>
              <a:rPr sz="1350" b="0">
                <a:solidFill>
                  <a:srgbClr val="EDE9F7"/>
                </a:solidFill>
                <a:latin typeface="Consolas"/>
              </a:rPr>
              <a:t/>
            </a:r>
          </a:p>
          <a:p>
            <a:pPr algn="l">
              <a:lnSpc>
                <a:spcPct val="135000"/>
              </a:lnSpc>
            </a:pPr>
            <a:r>
              <a:rPr sz="1350" b="0">
                <a:solidFill>
                  <a:srgbClr val="8B84AD"/>
                </a:solidFill>
                <a:latin typeface="Consolas"/>
              </a:rPr>
              <a:t># one letter changed: e → f. total, unrelated mismatch.</a:t>
            </a:r>
          </a:p>
        </p:txBody>
      </p:sp>
      <p:sp>
        <p:nvSpPr>
          <p:cNvPr id="10" name="TextBox 9"/>
          <p:cNvSpPr txBox="1"/>
          <p:nvPr/>
        </p:nvSpPr>
        <p:spPr>
          <a:xfrm>
            <a:off x="822960" y="6446520"/>
            <a:ext cx="10058400" cy="320040"/>
          </a:xfrm>
          <a:prstGeom prst="rect">
            <a:avLst/>
          </a:prstGeom>
          <a:noFill/>
        </p:spPr>
        <p:txBody>
          <a:bodyPr wrap="square" anchor="t" lIns="0" rIns="0" tIns="0" bIns="0">
            <a:spAutoFit/>
          </a:bodyPr>
          <a:lstStyle/>
          <a:p>
            <a:pPr algn="l">
              <a:lnSpc>
                <a:spcPct val="115000"/>
              </a:lnSpc>
            </a:pPr>
            <a:r>
              <a:rPr sz="1050" b="0" i="0">
                <a:solidFill>
                  <a:srgbClr val="5C576E"/>
                </a:solidFill>
                <a:latin typeface="Calibri"/>
              </a:rPr>
              <a:t>This is exactly why altering one digit of a real transaction is instantly detectable.</a:t>
            </a:r>
          </a:p>
        </p:txBody>
      </p:sp>
      <p:sp>
        <p:nvSpPr>
          <p:cNvPr id="11" name="TextBox 10"/>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REAL-WORLD USES</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Not Just Blockchain</a:t>
            </a:r>
          </a:p>
        </p:txBody>
      </p:sp>
      <p:sp>
        <p:nvSpPr>
          <p:cNvPr id="5" name="Rounded Rectangle 4"/>
          <p:cNvSpPr/>
          <p:nvPr/>
        </p:nvSpPr>
        <p:spPr>
          <a:xfrm>
            <a:off x="822960" y="201168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226771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Software Checksums</a:t>
            </a:r>
          </a:p>
        </p:txBody>
      </p:sp>
      <p:sp>
        <p:nvSpPr>
          <p:cNvPr id="7" name="TextBox 6"/>
          <p:cNvSpPr txBox="1"/>
          <p:nvPr/>
        </p:nvSpPr>
        <p:spPr>
          <a:xfrm>
            <a:off x="1078992" y="272491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Verify a download wasn't corrupted or tampered with in transit.</a:t>
            </a:r>
          </a:p>
        </p:txBody>
      </p:sp>
      <p:sp>
        <p:nvSpPr>
          <p:cNvPr id="8" name="Rounded Rectangle 7"/>
          <p:cNvSpPr/>
          <p:nvPr/>
        </p:nvSpPr>
        <p:spPr>
          <a:xfrm>
            <a:off x="4419600" y="201168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75632" y="226771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Git Version Control</a:t>
            </a:r>
          </a:p>
        </p:txBody>
      </p:sp>
      <p:sp>
        <p:nvSpPr>
          <p:cNvPr id="10" name="TextBox 9"/>
          <p:cNvSpPr txBox="1"/>
          <p:nvPr/>
        </p:nvSpPr>
        <p:spPr>
          <a:xfrm>
            <a:off x="4675632" y="272491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Every commit and file is identified by a hash — full deep-dive in Topic 03.</a:t>
            </a:r>
          </a:p>
        </p:txBody>
      </p:sp>
      <p:sp>
        <p:nvSpPr>
          <p:cNvPr id="11" name="Rounded Rectangle 10"/>
          <p:cNvSpPr/>
          <p:nvPr/>
        </p:nvSpPr>
        <p:spPr>
          <a:xfrm>
            <a:off x="8016240" y="201168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2272" y="226771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Password Storage</a:t>
            </a:r>
          </a:p>
        </p:txBody>
      </p:sp>
      <p:sp>
        <p:nvSpPr>
          <p:cNvPr id="13" name="TextBox 12"/>
          <p:cNvSpPr txBox="1"/>
          <p:nvPr/>
        </p:nvSpPr>
        <p:spPr>
          <a:xfrm>
            <a:off x="8272272" y="272491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Systems store a hash of your password, never the password itself.</a:t>
            </a:r>
          </a:p>
        </p:txBody>
      </p:sp>
      <p:sp>
        <p:nvSpPr>
          <p:cNvPr id="14" name="Rounded Rectangle 13"/>
          <p:cNvSpPr/>
          <p:nvPr/>
        </p:nvSpPr>
        <p:spPr>
          <a:xfrm>
            <a:off x="822960" y="374904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400507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Cloud Deduplication</a:t>
            </a:r>
          </a:p>
        </p:txBody>
      </p:sp>
      <p:sp>
        <p:nvSpPr>
          <p:cNvPr id="16" name="TextBox 15"/>
          <p:cNvSpPr txBox="1"/>
          <p:nvPr/>
        </p:nvSpPr>
        <p:spPr>
          <a:xfrm>
            <a:off x="1078992" y="446227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Identical files across users are recognized by matching hashes.</a:t>
            </a:r>
          </a:p>
        </p:txBody>
      </p:sp>
      <p:sp>
        <p:nvSpPr>
          <p:cNvPr id="17" name="Rounded Rectangle 16"/>
          <p:cNvSpPr/>
          <p:nvPr/>
        </p:nvSpPr>
        <p:spPr>
          <a:xfrm>
            <a:off x="4419600" y="374904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5632" y="400507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Digital Forensics</a:t>
            </a:r>
          </a:p>
        </p:txBody>
      </p:sp>
      <p:sp>
        <p:nvSpPr>
          <p:cNvPr id="19" name="TextBox 18"/>
          <p:cNvSpPr txBox="1"/>
          <p:nvPr/>
        </p:nvSpPr>
        <p:spPr>
          <a:xfrm>
            <a:off x="4675632" y="446227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Investigators hash evidence to prove it wasn't altered after collection.</a:t>
            </a:r>
          </a:p>
        </p:txBody>
      </p:sp>
      <p:sp>
        <p:nvSpPr>
          <p:cNvPr id="20" name="Rounded Rectangle 19"/>
          <p:cNvSpPr/>
          <p:nvPr/>
        </p:nvSpPr>
        <p:spPr>
          <a:xfrm>
            <a:off x="8016240" y="3749040"/>
            <a:ext cx="3322320" cy="1508760"/>
          </a:xfrm>
          <a:prstGeom prst="roundRect">
            <a:avLst>
              <a:gd name="adj" fmla="val 9000"/>
            </a:avLst>
          </a:prstGeom>
          <a:solidFill>
            <a:srgbClr val="FFFFFF"/>
          </a:solidFill>
          <a:ln w="12700">
            <a:solidFill>
              <a:srgbClr val="DED9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2272" y="4005072"/>
            <a:ext cx="2810256" cy="457200"/>
          </a:xfrm>
          <a:prstGeom prst="rect">
            <a:avLst/>
          </a:prstGeom>
          <a:noFill/>
        </p:spPr>
        <p:txBody>
          <a:bodyPr wrap="square" anchor="t" lIns="0" rIns="0" tIns="0" bIns="0">
            <a:spAutoFit/>
          </a:bodyPr>
          <a:lstStyle/>
          <a:p>
            <a:pPr algn="l">
              <a:lnSpc>
                <a:spcPct val="115000"/>
              </a:lnSpc>
            </a:pPr>
            <a:r>
              <a:rPr sz="1450" b="1" i="0">
                <a:solidFill>
                  <a:srgbClr val="C1432B"/>
                </a:solidFill>
                <a:latin typeface="Century Gothic"/>
              </a:rPr>
              <a:t>Certificate Transparency</a:t>
            </a:r>
          </a:p>
        </p:txBody>
      </p:sp>
      <p:sp>
        <p:nvSpPr>
          <p:cNvPr id="22" name="TextBox 21"/>
          <p:cNvSpPr txBox="1"/>
          <p:nvPr/>
        </p:nvSpPr>
        <p:spPr>
          <a:xfrm>
            <a:off x="8272272" y="4462272"/>
            <a:ext cx="2810256" cy="658368"/>
          </a:xfrm>
          <a:prstGeom prst="rect">
            <a:avLst/>
          </a:prstGeom>
          <a:noFill/>
        </p:spPr>
        <p:txBody>
          <a:bodyPr wrap="square" anchor="t" lIns="0" rIns="0" tIns="0" bIns="0">
            <a:spAutoFit/>
          </a:bodyPr>
          <a:lstStyle/>
          <a:p>
            <a:pPr algn="l">
              <a:lnSpc>
                <a:spcPct val="128000"/>
              </a:lnSpc>
            </a:pPr>
            <a:r>
              <a:rPr sz="1150" b="0" i="0">
                <a:solidFill>
                  <a:srgbClr val="1C1730"/>
                </a:solidFill>
                <a:latin typeface="Calibri"/>
              </a:rPr>
              <a:t>Every SSL certificate is logged into a public, tamper-evident hash-chained record.</a:t>
            </a:r>
          </a:p>
        </p:txBody>
      </p:sp>
      <p:sp>
        <p:nvSpPr>
          <p:cNvPr id="23" name="TextBox 22"/>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FLAGSHIP CASE STUDY</a:t>
            </a:r>
          </a:p>
        </p:txBody>
      </p:sp>
      <p:sp>
        <p:nvSpPr>
          <p:cNvPr id="4" name="TextBox 3"/>
          <p:cNvSpPr txBox="1"/>
          <p:nvPr/>
        </p:nvSpPr>
        <p:spPr>
          <a:xfrm>
            <a:off x="822960" y="1097280"/>
            <a:ext cx="1033272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Why Plain SHA-256 Is Wrong For Passwords</a:t>
            </a:r>
          </a:p>
        </p:txBody>
      </p:sp>
      <p:sp>
        <p:nvSpPr>
          <p:cNvPr id="5" name="Rounded Rectangle 4"/>
          <p:cNvSpPr/>
          <p:nvPr/>
        </p:nvSpPr>
        <p:spPr>
          <a:xfrm>
            <a:off x="822960" y="2423160"/>
            <a:ext cx="10515600" cy="3749039"/>
          </a:xfrm>
          <a:prstGeom prst="roundRect">
            <a:avLst>
              <a:gd name="adj" fmla="val 4000"/>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43200"/>
            <a:ext cx="9601200" cy="3200400"/>
          </a:xfrm>
          <a:prstGeom prst="rect">
            <a:avLst/>
          </a:prstGeom>
          <a:noFill/>
        </p:spPr>
        <p:txBody>
          <a:bodyPr wrap="square" anchor="t" lIns="0" rIns="0" tIns="0" bIns="0">
            <a:spAutoFit/>
          </a:bodyPr>
          <a:lstStyle/>
          <a:p>
            <a:pPr algn="l">
              <a:lnSpc>
                <a:spcPct val="155000"/>
              </a:lnSpc>
            </a:pPr>
            <a:r>
              <a:rPr sz="1600" b="0" i="0">
                <a:solidFill>
                  <a:srgbClr val="FFFFFF"/>
                </a:solidFill>
                <a:latin typeface="Calibri"/>
              </a:rPr>
              <a:t>SHA-256 is designed to be fast — which means an attacker with a leaked hash database can try billions of guesses per second. Purpose-built password-hashing algorithms like bcrypt and Argon2 are deliberately slow, and add random “salt” per password, specifically to make brute-forcing impractical. Using the right hash function for the job is a real engineering judgment call — not a minor detail.</a:t>
            </a:r>
          </a:p>
        </p:txBody>
      </p:sp>
      <p:sp>
        <p:nvSpPr>
          <p:cNvPr id="7" name="TextBox 6"/>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REAL-LIFE ANALOGY</a:t>
            </a:r>
          </a:p>
        </p:txBody>
      </p:sp>
      <p:sp>
        <p:nvSpPr>
          <p:cNvPr id="4" name="TextBox 3"/>
          <p:cNvSpPr txBox="1"/>
          <p:nvPr/>
        </p:nvSpPr>
        <p:spPr>
          <a:xfrm>
            <a:off x="822960" y="1097280"/>
            <a:ext cx="1033272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A Tamper-Evident Wax Seal</a:t>
            </a:r>
          </a:p>
        </p:txBody>
      </p:sp>
      <p:sp>
        <p:nvSpPr>
          <p:cNvPr id="5" name="Rectangle 4"/>
          <p:cNvSpPr/>
          <p:nvPr/>
        </p:nvSpPr>
        <p:spPr>
          <a:xfrm>
            <a:off x="822960" y="2286000"/>
            <a:ext cx="91440" cy="3657600"/>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377440"/>
            <a:ext cx="9784080" cy="3566160"/>
          </a:xfrm>
          <a:prstGeom prst="rect">
            <a:avLst/>
          </a:prstGeom>
          <a:noFill/>
        </p:spPr>
        <p:txBody>
          <a:bodyPr wrap="square" anchor="t" lIns="0" rIns="0" tIns="0" bIns="0">
            <a:spAutoFit/>
          </a:bodyPr>
          <a:lstStyle/>
          <a:p>
            <a:pPr algn="l">
              <a:lnSpc>
                <a:spcPct val="160000"/>
              </a:lnSpc>
            </a:pPr>
            <a:r>
              <a:rPr sz="1800" b="0" i="0">
                <a:solidFill>
                  <a:srgbClr val="1C1730"/>
                </a:solidFill>
                <a:latin typeface="Calibri"/>
              </a:rPr>
              <a:t>Think of a hash like a wax seal on an old letter. The seal doesn't tell you what's written inside — you can't reverse it back into words (one-way). But if someone opens the letter, changes one word, and reseals it, the new seal looks completely different (avalanche effect). Anyone who remembers the original seal can instantly tell it was tampered with — without reading a single word.</a:t>
            </a:r>
          </a:p>
        </p:txBody>
      </p:sp>
      <p:sp>
        <p:nvSpPr>
          <p:cNvPr id="7" name="TextBox 6"/>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COMMON MISCONCEPTIONS</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000" b="1" i="0">
                <a:solidFill>
                  <a:srgbClr val="1C1730"/>
                </a:solidFill>
                <a:latin typeface="Century Gothic"/>
              </a:rPr>
              <a:t>Where People Get Tripped Up</a:t>
            </a:r>
          </a:p>
        </p:txBody>
      </p:sp>
      <p:sp>
        <p:nvSpPr>
          <p:cNvPr id="5" name="Rounded Rectangle 4"/>
          <p:cNvSpPr/>
          <p:nvPr/>
        </p:nvSpPr>
        <p:spPr>
          <a:xfrm>
            <a:off x="822960" y="2057400"/>
            <a:ext cx="10515600" cy="1874519"/>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57400"/>
            <a:ext cx="82296" cy="1874519"/>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258568"/>
            <a:ext cx="9784080" cy="457200"/>
          </a:xfrm>
          <a:prstGeom prst="rect">
            <a:avLst/>
          </a:prstGeom>
          <a:noFill/>
        </p:spPr>
        <p:txBody>
          <a:bodyPr wrap="square" anchor="t" lIns="0" rIns="0" tIns="0" bIns="0">
            <a:spAutoFit/>
          </a:bodyPr>
          <a:lstStyle/>
          <a:p>
            <a:pPr algn="l">
              <a:lnSpc>
                <a:spcPct val="115000"/>
              </a:lnSpc>
            </a:pPr>
            <a:r>
              <a:rPr sz="1700" b="1" i="0">
                <a:solidFill>
                  <a:srgbClr val="C1432B"/>
                </a:solidFill>
                <a:latin typeface="Century Gothic"/>
              </a:rPr>
              <a:t>“Hashing is a form of encryption.”</a:t>
            </a:r>
          </a:p>
        </p:txBody>
      </p:sp>
      <p:sp>
        <p:nvSpPr>
          <p:cNvPr id="8" name="TextBox 7"/>
          <p:cNvSpPr txBox="1"/>
          <p:nvPr/>
        </p:nvSpPr>
        <p:spPr>
          <a:xfrm>
            <a:off x="1188720" y="2743200"/>
            <a:ext cx="9784080" cy="1097280"/>
          </a:xfrm>
          <a:prstGeom prst="rect">
            <a:avLst/>
          </a:prstGeom>
          <a:noFill/>
        </p:spPr>
        <p:txBody>
          <a:bodyPr wrap="square" anchor="t" lIns="0" rIns="0" tIns="0" bIns="0">
            <a:spAutoFit/>
          </a:bodyPr>
          <a:lstStyle/>
          <a:p>
            <a:pPr algn="l">
              <a:lnSpc>
                <a:spcPct val="135000"/>
              </a:lnSpc>
            </a:pPr>
            <a:r>
              <a:rPr sz="1300" b="0" i="0">
                <a:solidFill>
                  <a:srgbClr val="5C576E"/>
                </a:solidFill>
                <a:latin typeface="Calibri"/>
              </a:rPr>
              <a:t>It isn't. Encryption is reversible on purpose — the right key decrypts it back. Hashing is deliberately one-way: there is no key that turns a hash back into its original input. “Decrypting a hash” is a contradiction in terms.</a:t>
            </a:r>
          </a:p>
        </p:txBody>
      </p:sp>
      <p:sp>
        <p:nvSpPr>
          <p:cNvPr id="9" name="Rounded Rectangle 8"/>
          <p:cNvSpPr/>
          <p:nvPr/>
        </p:nvSpPr>
        <p:spPr>
          <a:xfrm>
            <a:off x="822960" y="4160520"/>
            <a:ext cx="10515600" cy="1874519"/>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4160520"/>
            <a:ext cx="82296" cy="1874519"/>
          </a:xfrm>
          <a:prstGeom prst="rect">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361688"/>
            <a:ext cx="9784080" cy="457200"/>
          </a:xfrm>
          <a:prstGeom prst="rect">
            <a:avLst/>
          </a:prstGeom>
          <a:noFill/>
        </p:spPr>
        <p:txBody>
          <a:bodyPr wrap="square" anchor="t" lIns="0" rIns="0" tIns="0" bIns="0">
            <a:spAutoFit/>
          </a:bodyPr>
          <a:lstStyle/>
          <a:p>
            <a:pPr algn="l">
              <a:lnSpc>
                <a:spcPct val="115000"/>
              </a:lnSpc>
            </a:pPr>
            <a:r>
              <a:rPr sz="1700" b="1" i="0">
                <a:solidFill>
                  <a:srgbClr val="C1432B"/>
                </a:solidFill>
                <a:latin typeface="Century Gothic"/>
              </a:rPr>
              <a:t>“If a hash is public, that's always safe.”</a:t>
            </a:r>
          </a:p>
        </p:txBody>
      </p:sp>
      <p:sp>
        <p:nvSpPr>
          <p:cNvPr id="12" name="TextBox 11"/>
          <p:cNvSpPr txBox="1"/>
          <p:nvPr/>
        </p:nvSpPr>
        <p:spPr>
          <a:xfrm>
            <a:off x="1188720" y="4846320"/>
            <a:ext cx="9784080" cy="1097280"/>
          </a:xfrm>
          <a:prstGeom prst="rect">
            <a:avLst/>
          </a:prstGeom>
          <a:noFill/>
        </p:spPr>
        <p:txBody>
          <a:bodyPr wrap="square" anchor="t" lIns="0" rIns="0" tIns="0" bIns="0">
            <a:spAutoFit/>
          </a:bodyPr>
          <a:lstStyle/>
          <a:p>
            <a:pPr algn="l">
              <a:lnSpc>
                <a:spcPct val="135000"/>
              </a:lnSpc>
            </a:pPr>
            <a:r>
              <a:rPr sz="1300" b="0" i="0">
                <a:solidFill>
                  <a:srgbClr val="5C576E"/>
                </a:solidFill>
                <a:latin typeface="Calibri"/>
              </a:rPr>
              <a:t>Only for high-entropy inputs. A 4-digit PIN's hash can be cracked instantly by hashing all 10,000 possibilities — exactly why passwords need random salt added before hashing.</a:t>
            </a:r>
          </a:p>
        </p:txBody>
      </p:sp>
      <p:sp>
        <p:nvSpPr>
          <p:cNvPr id="13" name="TextBox 12"/>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C1432B"/>
                </a:solidFill>
                <a:latin typeface="Calibri"/>
              </a:rPr>
              <a:t>HANDS-ON PRACTICE</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1C1730"/>
                </a:solidFill>
                <a:latin typeface="Century Gothic"/>
              </a:rPr>
              <a:t>Do This Now</a:t>
            </a:r>
          </a:p>
        </p:txBody>
      </p:sp>
      <p:sp>
        <p:nvSpPr>
          <p:cNvPr id="5" name="Oval 4"/>
          <p:cNvSpPr/>
          <p:nvPr/>
        </p:nvSpPr>
        <p:spPr>
          <a:xfrm>
            <a:off x="822960" y="2148840"/>
            <a:ext cx="502920" cy="502920"/>
          </a:xfrm>
          <a:prstGeom prst="ellipse">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1</a:t>
            </a:r>
          </a:p>
        </p:txBody>
      </p:sp>
      <p:sp>
        <p:nvSpPr>
          <p:cNvPr id="6" name="TextBox 5"/>
          <p:cNvSpPr txBox="1"/>
          <p:nvPr/>
        </p:nvSpPr>
        <p:spPr>
          <a:xfrm>
            <a:off x="1600200" y="220370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Hash your own name twice in a terminal — confirm the output is identical both times.</a:t>
            </a:r>
          </a:p>
        </p:txBody>
      </p:sp>
      <p:sp>
        <p:nvSpPr>
          <p:cNvPr id="7" name="Oval 6"/>
          <p:cNvSpPr/>
          <p:nvPr/>
        </p:nvSpPr>
        <p:spPr>
          <a:xfrm>
            <a:off x="822960" y="3108960"/>
            <a:ext cx="502920" cy="502920"/>
          </a:xfrm>
          <a:prstGeom prst="ellipse">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2</a:t>
            </a:r>
          </a:p>
        </p:txBody>
      </p:sp>
      <p:sp>
        <p:nvSpPr>
          <p:cNvPr id="8" name="TextBox 7"/>
          <p:cNvSpPr txBox="1"/>
          <p:nvPr/>
        </p:nvSpPr>
        <p:spPr>
          <a:xfrm>
            <a:off x="1600200" y="316382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Change one character and re-hash — confirm the entire output changes, not just part of it.</a:t>
            </a:r>
          </a:p>
        </p:txBody>
      </p:sp>
      <p:sp>
        <p:nvSpPr>
          <p:cNvPr id="9" name="Oval 8"/>
          <p:cNvSpPr/>
          <p:nvPr/>
        </p:nvSpPr>
        <p:spPr>
          <a:xfrm>
            <a:off x="822960" y="4069080"/>
            <a:ext cx="502920" cy="502920"/>
          </a:xfrm>
          <a:prstGeom prst="ellipse">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3</a:t>
            </a:r>
          </a:p>
        </p:txBody>
      </p:sp>
      <p:sp>
        <p:nvSpPr>
          <p:cNvPr id="10" name="TextBox 9"/>
          <p:cNvSpPr txBox="1"/>
          <p:nvPr/>
        </p:nvSpPr>
        <p:spPr>
          <a:xfrm>
            <a:off x="1600200" y="412394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Try the live Anders Brownworth hash demo — watch the hash update character-by-character as you type.</a:t>
            </a:r>
          </a:p>
        </p:txBody>
      </p:sp>
      <p:sp>
        <p:nvSpPr>
          <p:cNvPr id="11" name="Oval 10"/>
          <p:cNvSpPr/>
          <p:nvPr/>
        </p:nvSpPr>
        <p:spPr>
          <a:xfrm>
            <a:off x="822960" y="5029200"/>
            <a:ext cx="502920" cy="502920"/>
          </a:xfrm>
          <a:prstGeom prst="ellipse">
            <a:avLst/>
          </a:prstGeom>
          <a:solidFill>
            <a:srgbClr val="C14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FFFFFF"/>
                </a:solidFill>
                <a:latin typeface="Century Gothic"/>
              </a:rPr>
              <a:t>4</a:t>
            </a:r>
          </a:p>
        </p:txBody>
      </p:sp>
      <p:sp>
        <p:nvSpPr>
          <p:cNvPr id="12" name="TextBox 11"/>
          <p:cNvSpPr txBox="1"/>
          <p:nvPr/>
        </p:nvSpPr>
        <p:spPr>
          <a:xfrm>
            <a:off x="1600200" y="5084064"/>
            <a:ext cx="9509760" cy="822960"/>
          </a:xfrm>
          <a:prstGeom prst="rect">
            <a:avLst/>
          </a:prstGeom>
          <a:noFill/>
        </p:spPr>
        <p:txBody>
          <a:bodyPr wrap="square" anchor="t" lIns="0" rIns="0" tIns="0" bIns="0">
            <a:spAutoFit/>
          </a:bodyPr>
          <a:lstStyle/>
          <a:p>
            <a:pPr algn="l">
              <a:lnSpc>
                <a:spcPct val="130000"/>
              </a:lnSpc>
            </a:pPr>
            <a:r>
              <a:rPr sz="1500" b="0" i="0">
                <a:solidFill>
                  <a:srgbClr val="1C1730"/>
                </a:solidFill>
                <a:latin typeface="Calibri"/>
              </a:rPr>
              <a:t>Hash "Hello World" vs "hello World" in CyberChef and compare the two outputs side by side.</a:t>
            </a:r>
          </a:p>
        </p:txBody>
      </p:sp>
      <p:sp>
        <p:nvSpPr>
          <p:cNvPr id="13" name="TextBox 12"/>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lIns="0" rIns="0" tIns="0" bIns="0">
            <a:spAutoFit/>
          </a:bodyPr>
          <a:lstStyle/>
          <a:p>
            <a:pPr algn="l">
              <a:lnSpc>
                <a:spcPct val="115000"/>
              </a:lnSpc>
            </a:pPr>
            <a:r>
              <a:rPr sz="1300" b="1" i="0">
                <a:solidFill>
                  <a:srgbClr val="FFC53D"/>
                </a:solidFill>
                <a:latin typeface="Calibri"/>
              </a:rPr>
              <a:t>TAKE-HOME ASSIGNMENT</a:t>
            </a:r>
          </a:p>
        </p:txBody>
      </p:sp>
      <p:sp>
        <p:nvSpPr>
          <p:cNvPr id="4" name="TextBox 3"/>
          <p:cNvSpPr txBox="1"/>
          <p:nvPr/>
        </p:nvSpPr>
        <p:spPr>
          <a:xfrm>
            <a:off x="822960" y="1051560"/>
            <a:ext cx="9601200" cy="1005840"/>
          </a:xfrm>
          <a:prstGeom prst="rect">
            <a:avLst/>
          </a:prstGeom>
          <a:noFill/>
        </p:spPr>
        <p:txBody>
          <a:bodyPr wrap="square" anchor="t" lIns="0" rIns="0" tIns="0" bIns="0">
            <a:spAutoFit/>
          </a:bodyPr>
          <a:lstStyle/>
          <a:p>
            <a:pPr algn="l">
              <a:lnSpc>
                <a:spcPct val="105000"/>
              </a:lnSpc>
            </a:pPr>
            <a:r>
              <a:rPr sz="3200" b="1" i="0">
                <a:solidFill>
                  <a:srgbClr val="FFFFFF"/>
                </a:solidFill>
                <a:latin typeface="Century Gothic"/>
              </a:rPr>
              <a:t>Before You Move On</a:t>
            </a:r>
          </a:p>
        </p:txBody>
      </p:sp>
      <p:sp>
        <p:nvSpPr>
          <p:cNvPr id="5" name="Rectangle 4"/>
          <p:cNvSpPr/>
          <p:nvPr/>
        </p:nvSpPr>
        <p:spPr>
          <a:xfrm>
            <a:off x="822960" y="2084832"/>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Written (5–6 sentences): explain why a blockchain's immutability depends entirely on hashing.</a:t>
            </a:r>
          </a:p>
        </p:txBody>
      </p:sp>
      <p:sp>
        <p:nvSpPr>
          <p:cNvPr id="7" name="Rectangle 6"/>
          <p:cNvSpPr/>
          <p:nvPr/>
        </p:nvSpPr>
        <p:spPr>
          <a:xfrm>
            <a:off x="822960" y="2706624"/>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33472"/>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Pick one non-blockchain use case from this section and explain which property of hashing makes it work.</a:t>
            </a:r>
          </a:p>
        </p:txBody>
      </p:sp>
      <p:sp>
        <p:nvSpPr>
          <p:cNvPr id="9" name="Rectangle 8"/>
          <p:cNvSpPr/>
          <p:nvPr/>
        </p:nvSpPr>
        <p:spPr>
          <a:xfrm>
            <a:off x="822960" y="3328416"/>
            <a:ext cx="82296" cy="82296"/>
          </a:xfrm>
          <a:prstGeom prst="rect">
            <a:avLst/>
          </a:prstGeom>
          <a:solidFill>
            <a:srgbClr val="FF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255264"/>
            <a:ext cx="10058400" cy="548640"/>
          </a:xfrm>
          <a:prstGeom prst="rect">
            <a:avLst/>
          </a:prstGeom>
          <a:noFill/>
        </p:spPr>
        <p:txBody>
          <a:bodyPr wrap="square" anchor="t" lIns="0" rIns="0" tIns="0" bIns="0">
            <a:spAutoFit/>
          </a:bodyPr>
          <a:lstStyle/>
          <a:p>
            <a:pPr algn="l">
              <a:lnSpc>
                <a:spcPct val="130000"/>
              </a:lnSpc>
            </a:pPr>
            <a:r>
              <a:rPr sz="1350" b="0" i="0">
                <a:solidFill>
                  <a:srgbClr val="E9E6F2"/>
                </a:solidFill>
                <a:latin typeface="Calibri"/>
              </a:rPr>
              <a:t>Write a script that hashes a string, then simulates a 2-block mini-chain using that hash.</a:t>
            </a:r>
          </a:p>
        </p:txBody>
      </p:sp>
      <p:sp>
        <p:nvSpPr>
          <p:cNvPr id="11" name="TextBox 10"/>
          <p:cNvSpPr txBox="1"/>
          <p:nvPr/>
        </p:nvSpPr>
        <p:spPr>
          <a:xfrm>
            <a:off x="822960" y="4014216"/>
            <a:ext cx="2743200" cy="320040"/>
          </a:xfrm>
          <a:prstGeom prst="rect">
            <a:avLst/>
          </a:prstGeom>
          <a:noFill/>
        </p:spPr>
        <p:txBody>
          <a:bodyPr wrap="square" anchor="t" lIns="0" rIns="0" tIns="0" bIns="0">
            <a:spAutoFit/>
          </a:bodyPr>
          <a:lstStyle/>
          <a:p>
            <a:pPr algn="l">
              <a:lnSpc>
                <a:spcPct val="115000"/>
              </a:lnSpc>
            </a:pPr>
            <a:r>
              <a:rPr sz="1100" b="1" i="0">
                <a:solidFill>
                  <a:srgbClr val="FFC53D"/>
                </a:solidFill>
                <a:latin typeface="Calibri"/>
              </a:rPr>
              <a:t>RECOMMENDED VIDEOS</a:t>
            </a:r>
          </a:p>
        </p:txBody>
      </p:sp>
      <p:sp>
        <p:nvSpPr>
          <p:cNvPr id="12" name="TextBox 11"/>
          <p:cNvSpPr txBox="1"/>
          <p:nvPr/>
        </p:nvSpPr>
        <p:spPr>
          <a:xfrm>
            <a:off x="822960" y="4379976"/>
            <a:ext cx="10058400" cy="365760"/>
          </a:xfrm>
          <a:prstGeom prst="rect">
            <a:avLst/>
          </a:prstGeom>
          <a:noFill/>
        </p:spPr>
        <p:txBody>
          <a:bodyPr wrap="square" anchor="t" lIns="0" rIns="0" tIns="0" bIns="0">
            <a:spAutoFit/>
          </a:bodyPr>
          <a:lstStyle/>
          <a:p>
            <a:pPr algn="l">
              <a:lnSpc>
                <a:spcPct val="115000"/>
              </a:lnSpc>
            </a:pPr>
            <a:r>
              <a:rPr sz="1250" b="0" i="0">
                <a:solidFill>
                  <a:srgbClr val="C9C3DC"/>
                </a:solidFill>
                <a:latin typeface="Calibri"/>
              </a:rPr>
              <a:t>• How does SHA-256 work? (full explanation)</a:t>
            </a:r>
          </a:p>
        </p:txBody>
      </p:sp>
      <p:sp>
        <p:nvSpPr>
          <p:cNvPr id="13" name="TextBox 12"/>
          <p:cNvSpPr txBox="1"/>
          <p:nvPr/>
        </p:nvSpPr>
        <p:spPr>
          <a:xfrm>
            <a:off x="822960" y="4745736"/>
            <a:ext cx="10058400" cy="365760"/>
          </a:xfrm>
          <a:prstGeom prst="rect">
            <a:avLst/>
          </a:prstGeom>
          <a:noFill/>
        </p:spPr>
        <p:txBody>
          <a:bodyPr wrap="square" anchor="t" lIns="0" rIns="0" tIns="0" bIns="0">
            <a:spAutoFit/>
          </a:bodyPr>
          <a:lstStyle/>
          <a:p>
            <a:pPr algn="l">
              <a:lnSpc>
                <a:spcPct val="115000"/>
              </a:lnSpc>
            </a:pPr>
            <a:r>
              <a:rPr sz="1250" b="0" i="0">
                <a:solidFill>
                  <a:srgbClr val="C9C3DC"/>
                </a:solidFill>
                <a:latin typeface="Calibri"/>
              </a:rPr>
              <a:t>• What is SHA-256 | Blockchain | The Beginner Guide</a:t>
            </a:r>
          </a:p>
        </p:txBody>
      </p:sp>
      <p:sp>
        <p:nvSpPr>
          <p:cNvPr id="14" name="TextBox 13"/>
          <p:cNvSpPr txBox="1"/>
          <p:nvPr/>
        </p:nvSpPr>
        <p:spPr>
          <a:xfrm>
            <a:off x="822960" y="5248656"/>
            <a:ext cx="2743200" cy="320040"/>
          </a:xfrm>
          <a:prstGeom prst="rect">
            <a:avLst/>
          </a:prstGeom>
          <a:noFill/>
        </p:spPr>
        <p:txBody>
          <a:bodyPr wrap="square" anchor="t" lIns="0" rIns="0" tIns="0" bIns="0">
            <a:spAutoFit/>
          </a:bodyPr>
          <a:lstStyle/>
          <a:p>
            <a:pPr algn="l">
              <a:lnSpc>
                <a:spcPct val="115000"/>
              </a:lnSpc>
            </a:pPr>
            <a:r>
              <a:rPr sz="1100" b="1" i="0">
                <a:solidFill>
                  <a:srgbClr val="FFC53D"/>
                </a:solidFill>
                <a:latin typeface="Calibri"/>
              </a:rPr>
              <a:t>PRACTICE SITE</a:t>
            </a:r>
          </a:p>
        </p:txBody>
      </p:sp>
      <p:sp>
        <p:nvSpPr>
          <p:cNvPr id="15" name="TextBox 14"/>
          <p:cNvSpPr txBox="1"/>
          <p:nvPr/>
        </p:nvSpPr>
        <p:spPr>
          <a:xfrm>
            <a:off x="822960" y="5614416"/>
            <a:ext cx="10058400" cy="457200"/>
          </a:xfrm>
          <a:prstGeom prst="rect">
            <a:avLst/>
          </a:prstGeom>
          <a:noFill/>
        </p:spPr>
        <p:txBody>
          <a:bodyPr wrap="square" anchor="t" lIns="0" rIns="0" tIns="0" bIns="0">
            <a:spAutoFit/>
          </a:bodyPr>
          <a:lstStyle/>
          <a:p>
            <a:pPr algn="l">
              <a:lnSpc>
                <a:spcPct val="115000"/>
              </a:lnSpc>
            </a:pPr>
            <a:r>
              <a:rPr sz="1250" b="0" i="0">
                <a:solidFill>
                  <a:srgbClr val="C9C3DC"/>
                </a:solidFill>
                <a:latin typeface="Consolas"/>
              </a:rPr>
              <a:t>andersbrownworth.com/blockchain/hash  ·  gchq.github.io/CyberChef</a:t>
            </a:r>
          </a:p>
        </p:txBody>
      </p:sp>
      <p:sp>
        <p:nvSpPr>
          <p:cNvPr id="16" name="TextBox 15"/>
          <p:cNvSpPr txBox="1"/>
          <p:nvPr/>
        </p:nvSpPr>
        <p:spPr>
          <a:xfrm>
            <a:off x="9966960" y="502920"/>
            <a:ext cx="1371600" cy="320040"/>
          </a:xfrm>
          <a:prstGeom prst="rect">
            <a:avLst/>
          </a:prstGeom>
          <a:noFill/>
        </p:spPr>
        <p:txBody>
          <a:bodyPr wrap="square" anchor="t" lIns="0" rIns="0" tIns="0" bIns="0">
            <a:spAutoFit/>
          </a:bodyPr>
          <a:lstStyle/>
          <a:p>
            <a:pPr algn="r">
              <a:lnSpc>
                <a:spcPct val="115000"/>
              </a:lnSpc>
            </a:pPr>
            <a:r>
              <a:rPr sz="1100" b="1" i="0">
                <a:solidFill>
                  <a:srgbClr val="5C576E"/>
                </a:solidFill>
                <a:latin typeface="Consolas"/>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