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6C5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737360" y="320040"/>
            <a:ext cx="502920" cy="502920"/>
          </a:xfrm>
          <a:prstGeom prst="ellipse">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2470947" y="1051560"/>
            <a:ext cx="3010801" cy="2286000"/>
          </a:xfrm>
          <a:custGeom>
            <a:avLst/>
            <a:gdLst/>
            <a:ahLst/>
            <a:cxnLst/>
            <a:rect l="l" t="t" r="r" b="b"/>
            <a:pathLst>
              <a:path w="3010801" h="2286000">
                <a:moveTo>
                  <a:pt x="1506693" y="0"/>
                </a:moveTo>
                <a:lnTo>
                  <a:pt x="1935203" y="47625"/>
                </a:lnTo>
                <a:lnTo>
                  <a:pt x="2328422" y="95250"/>
                </a:lnTo>
                <a:lnTo>
                  <a:pt x="2653963" y="142875"/>
                </a:lnTo>
                <a:lnTo>
                  <a:pt x="2885013" y="190500"/>
                </a:lnTo>
                <a:lnTo>
                  <a:pt x="3002545" y="238125"/>
                </a:lnTo>
                <a:lnTo>
                  <a:pt x="2996877" y="285750"/>
                </a:lnTo>
                <a:lnTo>
                  <a:pt x="2868477" y="333375"/>
                </a:lnTo>
                <a:lnTo>
                  <a:pt x="2627920" y="381000"/>
                </a:lnTo>
                <a:lnTo>
                  <a:pt x="2295017" y="428625"/>
                </a:lnTo>
                <a:lnTo>
                  <a:pt x="1897188" y="476250"/>
                </a:lnTo>
                <a:lnTo>
                  <a:pt x="1467198" y="523875"/>
                </a:lnTo>
                <a:lnTo>
                  <a:pt x="1040460" y="571500"/>
                </a:lnTo>
                <a:lnTo>
                  <a:pt x="652121" y="619125"/>
                </a:lnTo>
                <a:lnTo>
                  <a:pt x="334166" y="666750"/>
                </a:lnTo>
                <a:lnTo>
                  <a:pt x="112780" y="714375"/>
                </a:lnTo>
                <a:lnTo>
                  <a:pt x="6198" y="762000"/>
                </a:lnTo>
                <a:lnTo>
                  <a:pt x="23197" y="809625"/>
                </a:lnTo>
                <a:lnTo>
                  <a:pt x="162377" y="857250"/>
                </a:lnTo>
                <a:lnTo>
                  <a:pt x="412277" y="904875"/>
                </a:lnTo>
                <a:lnTo>
                  <a:pt x="752313" y="952500"/>
                </a:lnTo>
                <a:lnTo>
                  <a:pt x="1154479" y="1000125"/>
                </a:lnTo>
                <a:lnTo>
                  <a:pt x="1585655" y="1047750"/>
                </a:lnTo>
                <a:lnTo>
                  <a:pt x="2010327" y="1095375"/>
                </a:lnTo>
                <a:lnTo>
                  <a:pt x="2393519" y="1143000"/>
                </a:lnTo>
                <a:lnTo>
                  <a:pt x="2703672" y="1190625"/>
                </a:lnTo>
                <a:lnTo>
                  <a:pt x="2915241" y="1238250"/>
                </a:lnTo>
                <a:lnTo>
                  <a:pt x="3010801" y="1285875"/>
                </a:lnTo>
                <a:lnTo>
                  <a:pt x="2982482" y="1333500"/>
                </a:lnTo>
                <a:lnTo>
                  <a:pt x="2832617" y="1381125"/>
                </a:lnTo>
                <a:lnTo>
                  <a:pt x="2573547" y="1428750"/>
                </a:lnTo>
                <a:lnTo>
                  <a:pt x="2226611" y="1476375"/>
                </a:lnTo>
                <a:lnTo>
                  <a:pt x="1820381" y="1524000"/>
                </a:lnTo>
                <a:lnTo>
                  <a:pt x="1388317" y="1571625"/>
                </a:lnTo>
                <a:lnTo>
                  <a:pt x="966001" y="1619250"/>
                </a:lnTo>
                <a:lnTo>
                  <a:pt x="588218" y="1666875"/>
                </a:lnTo>
                <a:lnTo>
                  <a:pt x="286080" y="1714500"/>
                </a:lnTo>
                <a:lnTo>
                  <a:pt x="84473" y="1762125"/>
                </a:lnTo>
                <a:lnTo>
                  <a:pt x="0" y="1809750"/>
                </a:lnTo>
                <a:lnTo>
                  <a:pt x="39620" y="1857375"/>
                </a:lnTo>
                <a:lnTo>
                  <a:pt x="200068" y="1905000"/>
                </a:lnTo>
                <a:lnTo>
                  <a:pt x="468131" y="1952625"/>
                </a:lnTo>
                <a:lnTo>
                  <a:pt x="821730" y="2000250"/>
                </a:lnTo>
                <a:lnTo>
                  <a:pt x="1231743" y="2047875"/>
                </a:lnTo>
                <a:lnTo>
                  <a:pt x="1664401" y="2095500"/>
                </a:lnTo>
                <a:lnTo>
                  <a:pt x="2084070" y="2143125"/>
                </a:lnTo>
                <a:lnTo>
                  <a:pt x="2456186" y="2190750"/>
                </a:lnTo>
                <a:lnTo>
                  <a:pt x="2750101" y="2238375"/>
                </a:lnTo>
                <a:lnTo>
                  <a:pt x="2941609" y="2286000"/>
                </a:lnTo>
              </a:path>
            </a:pathLst>
          </a:custGeom>
          <a:noFill/>
          <a:ln w="182880" cap="rnd">
            <a:solidFill>
              <a:srgbClr val="FDC6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103120" y="4160520"/>
            <a:ext cx="365760" cy="365760"/>
          </a:xfrm>
          <a:prstGeom prst="ellipse">
            <a:avLst/>
          </a:prstGeom>
          <a:solidFill>
            <a:srgbClr val="F27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02920" y="4434840"/>
            <a:ext cx="502920" cy="502920"/>
          </a:xfrm>
          <a:prstGeom prst="ellipse">
            <a:avLst/>
          </a:prstGeom>
          <a:noFill/>
          <a:ln w="31750">
            <a:solidFill>
              <a:srgbClr val="938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02920"/>
            <a:ext cx="8229600" cy="320040"/>
          </a:xfrm>
          <a:prstGeom prst="rect">
            <a:avLst/>
          </a:prstGeom>
          <a:noFill/>
        </p:spPr>
        <p:txBody>
          <a:bodyPr wrap="square" anchor="t" lIns="0" rIns="0" tIns="0" bIns="0">
            <a:spAutoFit/>
          </a:bodyPr>
          <a:lstStyle/>
          <a:p>
            <a:pPr algn="l">
              <a:lnSpc>
                <a:spcPct val="115000"/>
              </a:lnSpc>
            </a:pPr>
            <a:r>
              <a:rPr sz="1150" b="1" i="0">
                <a:solidFill>
                  <a:srgbClr val="FDC646"/>
                </a:solidFill>
                <a:latin typeface="Arial"/>
              </a:rPr>
              <a:t>BLOCKCHAINCOURSE · CURRICULUM</a:t>
            </a:r>
          </a:p>
        </p:txBody>
      </p:sp>
      <p:sp>
        <p:nvSpPr>
          <p:cNvPr id="8" name="TextBox 7"/>
          <p:cNvSpPr txBox="1"/>
          <p:nvPr/>
        </p:nvSpPr>
        <p:spPr>
          <a:xfrm>
            <a:off x="685800" y="914400"/>
            <a:ext cx="6035040" cy="2377440"/>
          </a:xfrm>
          <a:prstGeom prst="rect">
            <a:avLst/>
          </a:prstGeom>
          <a:noFill/>
        </p:spPr>
        <p:txBody>
          <a:bodyPr wrap="square" anchor="t" lIns="0" rIns="0" tIns="0" bIns="0">
            <a:spAutoFit/>
          </a:bodyPr>
          <a:lstStyle/>
          <a:p>
            <a:pPr algn="l">
              <a:lnSpc>
                <a:spcPct val="102000"/>
              </a:lnSpc>
            </a:pPr>
            <a:r>
              <a:rPr sz="4200" b="1" i="0">
                <a:solidFill>
                  <a:srgbClr val="FFFFFF"/>
                </a:solidFill>
                <a:latin typeface="Arial Rounded MT Bold"/>
              </a:rPr>
              <a:t>Practical Engineering
Over Hype</a:t>
            </a:r>
          </a:p>
        </p:txBody>
      </p:sp>
      <p:sp>
        <p:nvSpPr>
          <p:cNvPr id="9" name="TextBox 8"/>
          <p:cNvSpPr txBox="1"/>
          <p:nvPr/>
        </p:nvSpPr>
        <p:spPr>
          <a:xfrm>
            <a:off x="685800" y="3246120"/>
            <a:ext cx="5120640" cy="1051560"/>
          </a:xfrm>
          <a:prstGeom prst="rect">
            <a:avLst/>
          </a:prstGeom>
          <a:noFill/>
        </p:spPr>
        <p:txBody>
          <a:bodyPr wrap="square" anchor="t" lIns="0" rIns="0" tIns="0" bIns="0">
            <a:spAutoFit/>
          </a:bodyPr>
          <a:lstStyle/>
          <a:p>
            <a:pPr algn="l">
              <a:lnSpc>
                <a:spcPct val="140000"/>
              </a:lnSpc>
            </a:pPr>
            <a:r>
              <a:rPr sz="1350" b="0" i="1">
                <a:solidFill>
                  <a:srgbClr val="E3E0F7"/>
                </a:solidFill>
                <a:latin typeface="Arial"/>
              </a:rPr>
              <a:t>No memorized buzzwords, no copy-pasted templates you can't explain. Understand the mechanics first.</a:t>
            </a:r>
          </a:p>
        </p:txBody>
      </p:sp>
      <p:sp>
        <p:nvSpPr>
          <p:cNvPr id="10" name="Rounded Rectangle 9"/>
          <p:cNvSpPr/>
          <p:nvPr/>
        </p:nvSpPr>
        <p:spPr>
          <a:xfrm>
            <a:off x="685800" y="4526280"/>
            <a:ext cx="1609344" cy="4572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228600" wrap="none"/>
          <a:lstStyle/>
          <a:p>
            <a:pPr algn="ctr"/>
            <a:r>
              <a:rPr sz="1300" b="1">
                <a:solidFill>
                  <a:srgbClr val="221F33"/>
                </a:solidFill>
                <a:latin typeface="Arial"/>
              </a:rPr>
              <a:t>Start Learning</a:t>
            </a:r>
          </a:p>
        </p:txBody>
      </p:sp>
      <p:sp>
        <p:nvSpPr>
          <p:cNvPr id="11" name="Oval 10"/>
          <p:cNvSpPr/>
          <p:nvPr/>
        </p:nvSpPr>
        <p:spPr>
          <a:xfrm>
            <a:off x="2432304" y="4526280"/>
            <a:ext cx="457200" cy="457200"/>
          </a:xfrm>
          <a:prstGeom prst="ellipse">
            <a:avLst/>
          </a:prstGeom>
          <a:solidFill>
            <a:srgbClr val="F2734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800" b="1">
                <a:solidFill>
                  <a:srgbClr val="FFFFFF"/>
                </a:solidFill>
              </a:rPr>
              <a:t>→</a:t>
            </a:r>
          </a:p>
        </p:txBody>
      </p:sp>
      <p:pic>
        <p:nvPicPr>
          <p:cNvPr id="12" name="Picture 11" descr="_c_hero1.jpg"/>
          <p:cNvPicPr>
            <a:picLocks noChangeAspect="1"/>
          </p:cNvPicPr>
          <p:nvPr/>
        </p:nvPicPr>
        <p:blipFill>
          <a:blip r:embed="rId2"/>
          <a:stretch>
            <a:fillRect/>
          </a:stretch>
        </p:blipFill>
        <p:spPr>
          <a:xfrm>
            <a:off x="6949440" y="502920"/>
            <a:ext cx="4663440" cy="5852160"/>
          </a:xfrm>
          <a:prstGeom prst="rect">
            <a:avLst/>
          </a:prstGeom>
        </p:spPr>
      </p:pic>
      <p:sp>
        <p:nvSpPr>
          <p:cNvPr id="13" name="Rounded Rectangle 12"/>
          <p:cNvSpPr/>
          <p:nvPr/>
        </p:nvSpPr>
        <p:spPr>
          <a:xfrm>
            <a:off x="6720840" y="1051560"/>
            <a:ext cx="2468880" cy="86868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03720" y="1170432"/>
            <a:ext cx="2148840" cy="274320"/>
          </a:xfrm>
          <a:prstGeom prst="rect">
            <a:avLst/>
          </a:prstGeom>
          <a:noFill/>
        </p:spPr>
        <p:txBody>
          <a:bodyPr wrap="square" anchor="t" lIns="0" rIns="0" tIns="0" bIns="0">
            <a:spAutoFit/>
          </a:bodyPr>
          <a:lstStyle/>
          <a:p>
            <a:pPr algn="l">
              <a:lnSpc>
                <a:spcPct val="115000"/>
              </a:lnSpc>
            </a:pPr>
            <a:r>
              <a:rPr sz="950" b="1" i="0">
                <a:solidFill>
                  <a:srgbClr val="8B8899"/>
                </a:solidFill>
                <a:latin typeface="Arial"/>
              </a:rPr>
              <a:t>This Slide</a:t>
            </a:r>
          </a:p>
        </p:txBody>
      </p:sp>
      <p:sp>
        <p:nvSpPr>
          <p:cNvPr id="15" name="TextBox 14"/>
          <p:cNvSpPr txBox="1"/>
          <p:nvPr/>
        </p:nvSpPr>
        <p:spPr>
          <a:xfrm>
            <a:off x="6903720" y="1444752"/>
            <a:ext cx="2148840" cy="411480"/>
          </a:xfrm>
          <a:prstGeom prst="rect">
            <a:avLst/>
          </a:prstGeom>
          <a:noFill/>
        </p:spPr>
        <p:txBody>
          <a:bodyPr wrap="square" anchor="t" lIns="0" rIns="0" tIns="0" bIns="0">
            <a:spAutoFit/>
          </a:bodyPr>
          <a:lstStyle/>
          <a:p>
            <a:pPr algn="l">
              <a:lnSpc>
                <a:spcPct val="110000"/>
              </a:lnSpc>
            </a:pPr>
            <a:r>
              <a:rPr sz="1050" b="1" i="0">
                <a:solidFill>
                  <a:srgbClr val="221F33"/>
                </a:solidFill>
                <a:latin typeface="Arial"/>
              </a:rPr>
              <a:t>Week 01 · Blockchain Basics</a:t>
            </a:r>
          </a:p>
        </p:txBody>
      </p:sp>
      <p:sp>
        <p:nvSpPr>
          <p:cNvPr id="16" name="TextBox 15"/>
          <p:cNvSpPr txBox="1"/>
          <p:nvPr/>
        </p:nvSpPr>
        <p:spPr>
          <a:xfrm>
            <a:off x="685800" y="6446520"/>
            <a:ext cx="5943600" cy="274320"/>
          </a:xfrm>
          <a:prstGeom prst="rect">
            <a:avLst/>
          </a:prstGeom>
          <a:noFill/>
        </p:spPr>
        <p:txBody>
          <a:bodyPr wrap="square" anchor="t" lIns="0" rIns="0" tIns="0" bIns="0">
            <a:spAutoFit/>
          </a:bodyPr>
          <a:lstStyle/>
          <a:p>
            <a:pPr algn="l">
              <a:lnSpc>
                <a:spcPct val="115000"/>
              </a:lnSpc>
            </a:pPr>
            <a:r>
              <a:rPr sz="850" b="0" i="0">
                <a:solidFill>
                  <a:srgbClr val="C7C2E8"/>
                </a:solidFill>
                <a:latin typeface="Arial"/>
              </a:rPr>
              <a:t/>
            </a:r>
          </a:p>
        </p:txBody>
      </p:sp>
      <p:sp>
        <p:nvSpPr>
          <p:cNvPr id="17" name="TextBox 16"/>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C7C2E8"/>
                </a:solidFill>
                <a:latin typeface="Courier New"/>
              </a:rPr>
              <a:t>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8229600" cy="320040"/>
          </a:xfrm>
          <a:prstGeom prst="rect">
            <a:avLst/>
          </a:prstGeom>
          <a:noFill/>
        </p:spPr>
        <p:txBody>
          <a:bodyPr wrap="square" anchor="t" lIns="0" rIns="0" tIns="0" bIns="0">
            <a:spAutoFit/>
          </a:bodyPr>
          <a:lstStyle/>
          <a:p>
            <a:pPr algn="l">
              <a:lnSpc>
                <a:spcPct val="115000"/>
              </a:lnSpc>
            </a:pPr>
            <a:r>
              <a:rPr sz="1150" b="1" i="0">
                <a:solidFill>
                  <a:srgbClr val="8B8899"/>
                </a:solidFill>
                <a:latin typeface="Arial"/>
              </a:rPr>
              <a:t>HOW THIS COURSE IS STRUCTURED</a:t>
            </a:r>
          </a:p>
        </p:txBody>
      </p:sp>
      <p:sp>
        <p:nvSpPr>
          <p:cNvPr id="4" name="TextBox 3"/>
          <p:cNvSpPr txBox="1"/>
          <p:nvPr/>
        </p:nvSpPr>
        <p:spPr>
          <a:xfrm>
            <a:off x="685800" y="914400"/>
            <a:ext cx="10515600" cy="822960"/>
          </a:xfrm>
          <a:prstGeom prst="rect">
            <a:avLst/>
          </a:prstGeom>
          <a:noFill/>
        </p:spPr>
        <p:txBody>
          <a:bodyPr wrap="square" anchor="t" lIns="0" rIns="0" tIns="0" bIns="0">
            <a:spAutoFit/>
          </a:bodyPr>
          <a:lstStyle/>
          <a:p>
            <a:pPr algn="l">
              <a:lnSpc>
                <a:spcPct val="115000"/>
              </a:lnSpc>
            </a:pPr>
            <a:r>
              <a:rPr sz="3000" b="1" i="0">
                <a:solidFill>
                  <a:srgbClr val="221F33"/>
                </a:solidFill>
                <a:latin typeface="Arial Rounded MT Bold"/>
              </a:rPr>
              <a:t>Two Halves</a:t>
            </a:r>
          </a:p>
        </p:txBody>
      </p:sp>
      <p:sp>
        <p:nvSpPr>
          <p:cNvPr id="5" name="TextBox 4"/>
          <p:cNvSpPr txBox="1"/>
          <p:nvPr/>
        </p:nvSpPr>
        <p:spPr>
          <a:xfrm>
            <a:off x="685800" y="1691640"/>
            <a:ext cx="10515600" cy="548640"/>
          </a:xfrm>
          <a:prstGeom prst="rect">
            <a:avLst/>
          </a:prstGeom>
          <a:noFill/>
        </p:spPr>
        <p:txBody>
          <a:bodyPr wrap="square" anchor="t" lIns="0" rIns="0" tIns="0" bIns="0">
            <a:spAutoFit/>
          </a:bodyPr>
          <a:lstStyle/>
          <a:p>
            <a:pPr algn="l">
              <a:lnSpc>
                <a:spcPct val="140000"/>
              </a:lnSpc>
            </a:pPr>
            <a:r>
              <a:rPr sz="1300" b="0" i="0">
                <a:solidFill>
                  <a:srgbClr val="8B8899"/>
                </a:solidFill>
                <a:latin typeface="Arial"/>
              </a:rPr>
              <a:t>Everything builds toward one goal: understand how it works, then ship something real.</a:t>
            </a:r>
          </a:p>
        </p:txBody>
      </p:sp>
      <p:sp>
        <p:nvSpPr>
          <p:cNvPr id="6" name="Rounded Rectangle 5"/>
          <p:cNvSpPr/>
          <p:nvPr/>
        </p:nvSpPr>
        <p:spPr>
          <a:xfrm>
            <a:off x="685800" y="2560320"/>
            <a:ext cx="5120640" cy="3520440"/>
          </a:xfrm>
          <a:prstGeom prst="roundRect">
            <a:avLst>
              <a:gd name="adj" fmla="val 6000"/>
            </a:avLst>
          </a:prstGeom>
          <a:solidFill>
            <a:srgbClr val="6C5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2926080"/>
            <a:ext cx="640080" cy="6400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6C5FE8"/>
                </a:solidFill>
                <a:latin typeface="Arial Rounded MT Bold"/>
              </a:rPr>
              <a:t>1</a:t>
            </a:r>
          </a:p>
        </p:txBody>
      </p:sp>
      <p:sp>
        <p:nvSpPr>
          <p:cNvPr id="8" name="TextBox 7"/>
          <p:cNvSpPr txBox="1"/>
          <p:nvPr/>
        </p:nvSpPr>
        <p:spPr>
          <a:xfrm>
            <a:off x="1051560" y="3794760"/>
            <a:ext cx="4389120" cy="548640"/>
          </a:xfrm>
          <a:prstGeom prst="rect">
            <a:avLst/>
          </a:prstGeom>
          <a:noFill/>
        </p:spPr>
        <p:txBody>
          <a:bodyPr wrap="square" anchor="t" lIns="0" rIns="0" tIns="0" bIns="0">
            <a:spAutoFit/>
          </a:bodyPr>
          <a:lstStyle/>
          <a:p>
            <a:pPr algn="l">
              <a:lnSpc>
                <a:spcPct val="115000"/>
              </a:lnSpc>
            </a:pPr>
            <a:r>
              <a:rPr sz="2000" b="1" i="0">
                <a:solidFill>
                  <a:srgbClr val="FFFFFF"/>
                </a:solidFill>
                <a:latin typeface="Arial Rounded MT Bold"/>
              </a:rPr>
              <a:t>Half 1 · Weeks 1-5</a:t>
            </a:r>
          </a:p>
        </p:txBody>
      </p:sp>
      <p:sp>
        <p:nvSpPr>
          <p:cNvPr id="9" name="TextBox 8"/>
          <p:cNvSpPr txBox="1"/>
          <p:nvPr/>
        </p:nvSpPr>
        <p:spPr>
          <a:xfrm>
            <a:off x="1051560" y="4343400"/>
            <a:ext cx="4389120" cy="1554480"/>
          </a:xfrm>
          <a:prstGeom prst="rect">
            <a:avLst/>
          </a:prstGeom>
          <a:noFill/>
        </p:spPr>
        <p:txBody>
          <a:bodyPr wrap="square" anchor="t" lIns="0" rIns="0" tIns="0" bIns="0">
            <a:spAutoFit/>
          </a:bodyPr>
          <a:lstStyle/>
          <a:p>
            <a:pPr algn="l">
              <a:lnSpc>
                <a:spcPct val="140000"/>
              </a:lnSpc>
            </a:pPr>
            <a:r>
              <a:rPr sz="1300" b="0" i="0">
                <a:solidFill>
                  <a:srgbClr val="F3F1FC"/>
                </a:solidFill>
                <a:latin typeface="Arial"/>
              </a:rPr>
              <a:t>Basics &amp; core concepts. Everything you need to walk into a hackathon and build something real — wallets, contracts, tokens, a working dApp.</a:t>
            </a:r>
          </a:p>
        </p:txBody>
      </p:sp>
      <p:sp>
        <p:nvSpPr>
          <p:cNvPr id="10" name="Rounded Rectangle 9"/>
          <p:cNvSpPr/>
          <p:nvPr/>
        </p:nvSpPr>
        <p:spPr>
          <a:xfrm>
            <a:off x="1051560" y="5394960"/>
            <a:ext cx="2432304"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228600" wrap="none"/>
          <a:lstStyle/>
          <a:p>
            <a:pPr algn="ctr"/>
            <a:r>
              <a:rPr sz="1100" b="1">
                <a:solidFill>
                  <a:srgbClr val="6C5FE8"/>
                </a:solidFill>
                <a:latin typeface="Arial"/>
              </a:rPr>
              <a:t>◉ You are here — Week 01</a:t>
            </a:r>
          </a:p>
        </p:txBody>
      </p:sp>
      <p:sp>
        <p:nvSpPr>
          <p:cNvPr id="11" name="Rounded Rectangle 10"/>
          <p:cNvSpPr/>
          <p:nvPr/>
        </p:nvSpPr>
        <p:spPr>
          <a:xfrm>
            <a:off x="6126480" y="2560320"/>
            <a:ext cx="5120640" cy="3520440"/>
          </a:xfrm>
          <a:prstGeom prst="roundRect">
            <a:avLst>
              <a:gd name="adj" fmla="val 6000"/>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92240" y="2926080"/>
            <a:ext cx="640080" cy="6400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35C078"/>
                </a:solidFill>
                <a:latin typeface="Arial Rounded MT Bold"/>
              </a:rPr>
              <a:t>2</a:t>
            </a:r>
          </a:p>
        </p:txBody>
      </p:sp>
      <p:sp>
        <p:nvSpPr>
          <p:cNvPr id="13" name="TextBox 12"/>
          <p:cNvSpPr txBox="1"/>
          <p:nvPr/>
        </p:nvSpPr>
        <p:spPr>
          <a:xfrm>
            <a:off x="6492240" y="3794760"/>
            <a:ext cx="4389120" cy="548640"/>
          </a:xfrm>
          <a:prstGeom prst="rect">
            <a:avLst/>
          </a:prstGeom>
          <a:noFill/>
        </p:spPr>
        <p:txBody>
          <a:bodyPr wrap="square" anchor="t" lIns="0" rIns="0" tIns="0" bIns="0">
            <a:spAutoFit/>
          </a:bodyPr>
          <a:lstStyle/>
          <a:p>
            <a:pPr algn="l">
              <a:lnSpc>
                <a:spcPct val="115000"/>
              </a:lnSpc>
            </a:pPr>
            <a:r>
              <a:rPr sz="2000" b="1" i="0">
                <a:solidFill>
                  <a:srgbClr val="FFFFFF"/>
                </a:solidFill>
                <a:latin typeface="Arial Rounded MT Bold"/>
              </a:rPr>
              <a:t>Half 2 · Weeks 6-9</a:t>
            </a:r>
          </a:p>
        </p:txBody>
      </p:sp>
      <p:sp>
        <p:nvSpPr>
          <p:cNvPr id="14" name="TextBox 13"/>
          <p:cNvSpPr txBox="1"/>
          <p:nvPr/>
        </p:nvSpPr>
        <p:spPr>
          <a:xfrm>
            <a:off x="6492240" y="4343400"/>
            <a:ext cx="4389120" cy="1554480"/>
          </a:xfrm>
          <a:prstGeom prst="rect">
            <a:avLst/>
          </a:prstGeom>
          <a:noFill/>
        </p:spPr>
        <p:txBody>
          <a:bodyPr wrap="square" anchor="t" lIns="0" rIns="0" tIns="0" bIns="0">
            <a:spAutoFit/>
          </a:bodyPr>
          <a:lstStyle/>
          <a:p>
            <a:pPr algn="l">
              <a:lnSpc>
                <a:spcPct val="140000"/>
              </a:lnSpc>
            </a:pPr>
            <a:r>
              <a:rPr sz="1300" b="0" i="0">
                <a:solidFill>
                  <a:srgbClr val="F3F1FC"/>
                </a:solidFill>
                <a:latin typeface="Arial"/>
              </a:rPr>
              <a:t>Advanced topics. Security, upgradeable contracts, Layer 2s, and the wider ecosystem — what separates a prototype from production.</a:t>
            </a:r>
          </a:p>
        </p:txBody>
      </p:sp>
      <p:sp>
        <p:nvSpPr>
          <p:cNvPr id="15" name="TextBox 14"/>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8B8899"/>
                </a:solidFill>
                <a:latin typeface="Courier New"/>
              </a:rPr>
              <a:t>02/18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8229600" cy="320040"/>
          </a:xfrm>
          <a:prstGeom prst="rect">
            <a:avLst/>
          </a:prstGeom>
          <a:noFill/>
        </p:spPr>
        <p:txBody>
          <a:bodyPr wrap="square" anchor="t" lIns="0" rIns="0" tIns="0" bIns="0">
            <a:spAutoFit/>
          </a:bodyPr>
          <a:lstStyle/>
          <a:p>
            <a:pPr algn="l">
              <a:lnSpc>
                <a:spcPct val="115000"/>
              </a:lnSpc>
            </a:pPr>
            <a:r>
              <a:rPr sz="1150" b="1" i="0">
                <a:solidFill>
                  <a:srgbClr val="6C5FE8"/>
                </a:solidFill>
                <a:latin typeface="Arial"/>
              </a:rPr>
              <a:t>BEFORE YOU BEGIN</a:t>
            </a:r>
          </a:p>
        </p:txBody>
      </p:sp>
      <p:sp>
        <p:nvSpPr>
          <p:cNvPr id="4" name="TextBox 3"/>
          <p:cNvSpPr txBox="1"/>
          <p:nvPr/>
        </p:nvSpPr>
        <p:spPr>
          <a:xfrm>
            <a:off x="685800" y="914400"/>
            <a:ext cx="4206240" cy="1280160"/>
          </a:xfrm>
          <a:prstGeom prst="rect">
            <a:avLst/>
          </a:prstGeom>
          <a:noFill/>
        </p:spPr>
        <p:txBody>
          <a:bodyPr wrap="square" anchor="t" lIns="0" rIns="0" tIns="0" bIns="0">
            <a:spAutoFit/>
          </a:bodyPr>
          <a:lstStyle/>
          <a:p>
            <a:pPr algn="l">
              <a:lnSpc>
                <a:spcPct val="105000"/>
              </a:lnSpc>
            </a:pPr>
            <a:r>
              <a:rPr sz="2500" b="1" i="0">
                <a:solidFill>
                  <a:srgbClr val="221F33"/>
                </a:solidFill>
                <a:latin typeface="Arial Rounded MT Bold"/>
              </a:rPr>
              <a:t>Ground Rules</a:t>
            </a:r>
          </a:p>
        </p:txBody>
      </p:sp>
      <p:pic>
        <p:nvPicPr>
          <p:cNvPr id="5" name="Picture 4" descr="_c_tl3_rules.jpg"/>
          <p:cNvPicPr>
            <a:picLocks noChangeAspect="1"/>
          </p:cNvPicPr>
          <p:nvPr/>
        </p:nvPicPr>
        <p:blipFill>
          <a:blip r:embed="rId2"/>
          <a:stretch>
            <a:fillRect/>
          </a:stretch>
        </p:blipFill>
        <p:spPr>
          <a:xfrm>
            <a:off x="685800" y="2377440"/>
            <a:ext cx="4206240" cy="3291840"/>
          </a:xfrm>
          <a:prstGeom prst="rect">
            <a:avLst/>
          </a:prstGeom>
        </p:spPr>
      </p:pic>
      <p:sp>
        <p:nvSpPr>
          <p:cNvPr id="6" name="Rounded Rectangle 5"/>
          <p:cNvSpPr/>
          <p:nvPr/>
        </p:nvSpPr>
        <p:spPr>
          <a:xfrm>
            <a:off x="5486400" y="1005840"/>
            <a:ext cx="621792" cy="365760"/>
          </a:xfrm>
          <a:prstGeom prst="roundRect">
            <a:avLst>
              <a:gd name="adj" fmla="val 50000"/>
            </a:avLst>
          </a:prstGeom>
          <a:solidFill>
            <a:srgbClr val="6C5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228600" wrap="none"/>
          <a:lstStyle/>
          <a:p>
            <a:pPr algn="ctr"/>
            <a:r>
              <a:rPr sz="1200" b="1">
                <a:solidFill>
                  <a:srgbClr val="FFFFFF"/>
                </a:solidFill>
                <a:latin typeface="Arial"/>
              </a:rPr>
              <a:t>01</a:t>
            </a:r>
          </a:p>
        </p:txBody>
      </p:sp>
      <p:sp>
        <p:nvSpPr>
          <p:cNvPr id="7" name="TextBox 6"/>
          <p:cNvSpPr txBox="1"/>
          <p:nvPr/>
        </p:nvSpPr>
        <p:spPr>
          <a:xfrm>
            <a:off x="6172200" y="987552"/>
            <a:ext cx="5486400" cy="365760"/>
          </a:xfrm>
          <a:prstGeom prst="rect">
            <a:avLst/>
          </a:prstGeom>
          <a:noFill/>
        </p:spPr>
        <p:txBody>
          <a:bodyPr wrap="square" anchor="t" lIns="0" rIns="0" tIns="0" bIns="0">
            <a:spAutoFit/>
          </a:bodyPr>
          <a:lstStyle/>
          <a:p>
            <a:pPr algn="l">
              <a:lnSpc>
                <a:spcPct val="115000"/>
              </a:lnSpc>
            </a:pPr>
            <a:r>
              <a:rPr sz="1450" b="1" i="0">
                <a:solidFill>
                  <a:srgbClr val="221F33"/>
                </a:solidFill>
                <a:latin typeface="Arial Rounded MT Bold"/>
              </a:rPr>
              <a:t>Understand before you copy</a:t>
            </a:r>
          </a:p>
        </p:txBody>
      </p:sp>
      <p:sp>
        <p:nvSpPr>
          <p:cNvPr id="8" name="TextBox 7"/>
          <p:cNvSpPr txBox="1"/>
          <p:nvPr/>
        </p:nvSpPr>
        <p:spPr>
          <a:xfrm>
            <a:off x="6172200" y="1389888"/>
            <a:ext cx="5486400" cy="548640"/>
          </a:xfrm>
          <a:prstGeom prst="rect">
            <a:avLst/>
          </a:prstGeom>
          <a:noFill/>
        </p:spPr>
        <p:txBody>
          <a:bodyPr wrap="square" anchor="t" lIns="0" rIns="0" tIns="0" bIns="0">
            <a:spAutoFit/>
          </a:bodyPr>
          <a:lstStyle/>
          <a:p>
            <a:pPr algn="l">
              <a:lnSpc>
                <a:spcPct val="130000"/>
              </a:lnSpc>
            </a:pPr>
            <a:r>
              <a:rPr sz="1050" b="0" i="0">
                <a:solidFill>
                  <a:srgbClr val="8B8899"/>
                </a:solidFill>
                <a:latin typeface="Arial"/>
              </a:rPr>
              <a:t>If you can't explain a line of code, don't ship it.</a:t>
            </a:r>
          </a:p>
        </p:txBody>
      </p:sp>
      <p:cxnSp>
        <p:nvCxnSpPr>
          <p:cNvPr id="9" name="Connector 8"/>
          <p:cNvCxnSpPr/>
          <p:nvPr/>
        </p:nvCxnSpPr>
        <p:spPr>
          <a:xfrm>
            <a:off x="5742432" y="1417320"/>
            <a:ext cx="0" cy="640080"/>
          </a:xfrm>
          <a:prstGeom prst="line">
            <a:avLst/>
          </a:prstGeom>
          <a:ln w="19050">
            <a:solidFill>
              <a:srgbClr val="ECEAF3"/>
            </a:solidFill>
            <a:prstDash val="sys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486400" y="2057400"/>
            <a:ext cx="621792" cy="365760"/>
          </a:xfrm>
          <a:prstGeom prst="roundRect">
            <a:avLst>
              <a:gd name="adj" fmla="val 50000"/>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228600" wrap="none"/>
          <a:lstStyle/>
          <a:p>
            <a:pPr algn="ctr"/>
            <a:r>
              <a:rPr sz="1200" b="1">
                <a:solidFill>
                  <a:srgbClr val="FFFFFF"/>
                </a:solidFill>
                <a:latin typeface="Arial"/>
              </a:rPr>
              <a:t>02</a:t>
            </a:r>
          </a:p>
        </p:txBody>
      </p:sp>
      <p:sp>
        <p:nvSpPr>
          <p:cNvPr id="11" name="TextBox 10"/>
          <p:cNvSpPr txBox="1"/>
          <p:nvPr/>
        </p:nvSpPr>
        <p:spPr>
          <a:xfrm>
            <a:off x="6172200" y="2039112"/>
            <a:ext cx="5486400" cy="365760"/>
          </a:xfrm>
          <a:prstGeom prst="rect">
            <a:avLst/>
          </a:prstGeom>
          <a:noFill/>
        </p:spPr>
        <p:txBody>
          <a:bodyPr wrap="square" anchor="t" lIns="0" rIns="0" tIns="0" bIns="0">
            <a:spAutoFit/>
          </a:bodyPr>
          <a:lstStyle/>
          <a:p>
            <a:pPr algn="l">
              <a:lnSpc>
                <a:spcPct val="115000"/>
              </a:lnSpc>
            </a:pPr>
            <a:r>
              <a:rPr sz="1450" b="1" i="0">
                <a:solidFill>
                  <a:srgbClr val="221F33"/>
                </a:solidFill>
                <a:latin typeface="Arial Rounded MT Bold"/>
              </a:rPr>
              <a:t>Testnet first, always</a:t>
            </a:r>
          </a:p>
        </p:txBody>
      </p:sp>
      <p:sp>
        <p:nvSpPr>
          <p:cNvPr id="12" name="TextBox 11"/>
          <p:cNvSpPr txBox="1"/>
          <p:nvPr/>
        </p:nvSpPr>
        <p:spPr>
          <a:xfrm>
            <a:off x="6172200" y="2441448"/>
            <a:ext cx="5486400" cy="548640"/>
          </a:xfrm>
          <a:prstGeom prst="rect">
            <a:avLst/>
          </a:prstGeom>
          <a:noFill/>
        </p:spPr>
        <p:txBody>
          <a:bodyPr wrap="square" anchor="t" lIns="0" rIns="0" tIns="0" bIns="0">
            <a:spAutoFit/>
          </a:bodyPr>
          <a:lstStyle/>
          <a:p>
            <a:pPr algn="l">
              <a:lnSpc>
                <a:spcPct val="130000"/>
              </a:lnSpc>
            </a:pPr>
            <a:r>
              <a:rPr sz="1050" b="0" i="0">
                <a:solidFill>
                  <a:srgbClr val="8B8899"/>
                </a:solidFill>
                <a:latin typeface="Arial"/>
              </a:rPr>
              <a:t>Never deploy something you haven't tested.</a:t>
            </a:r>
          </a:p>
        </p:txBody>
      </p:sp>
      <p:cxnSp>
        <p:nvCxnSpPr>
          <p:cNvPr id="13" name="Connector 12"/>
          <p:cNvCxnSpPr/>
          <p:nvPr/>
        </p:nvCxnSpPr>
        <p:spPr>
          <a:xfrm>
            <a:off x="5742432" y="2468880"/>
            <a:ext cx="0" cy="640080"/>
          </a:xfrm>
          <a:prstGeom prst="line">
            <a:avLst/>
          </a:prstGeom>
          <a:ln w="19050">
            <a:solidFill>
              <a:srgbClr val="ECEAF3"/>
            </a:solidFill>
            <a:prstDash val="sys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0" y="3108960"/>
            <a:ext cx="621792" cy="365760"/>
          </a:xfrm>
          <a:prstGeom prst="roundRect">
            <a:avLst>
              <a:gd name="adj" fmla="val 50000"/>
            </a:avLst>
          </a:prstGeom>
          <a:solidFill>
            <a:srgbClr val="F2734B"/>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228600" wrap="none"/>
          <a:lstStyle/>
          <a:p>
            <a:pPr algn="ctr"/>
            <a:r>
              <a:rPr sz="1200" b="1">
                <a:solidFill>
                  <a:srgbClr val="FFFFFF"/>
                </a:solidFill>
                <a:latin typeface="Arial"/>
              </a:rPr>
              <a:t>03</a:t>
            </a:r>
          </a:p>
        </p:txBody>
      </p:sp>
      <p:sp>
        <p:nvSpPr>
          <p:cNvPr id="15" name="TextBox 14"/>
          <p:cNvSpPr txBox="1"/>
          <p:nvPr/>
        </p:nvSpPr>
        <p:spPr>
          <a:xfrm>
            <a:off x="6172200" y="3090672"/>
            <a:ext cx="5486400" cy="365760"/>
          </a:xfrm>
          <a:prstGeom prst="rect">
            <a:avLst/>
          </a:prstGeom>
          <a:noFill/>
        </p:spPr>
        <p:txBody>
          <a:bodyPr wrap="square" anchor="t" lIns="0" rIns="0" tIns="0" bIns="0">
            <a:spAutoFit/>
          </a:bodyPr>
          <a:lstStyle/>
          <a:p>
            <a:pPr algn="l">
              <a:lnSpc>
                <a:spcPct val="115000"/>
              </a:lnSpc>
            </a:pPr>
            <a:r>
              <a:rPr sz="1450" b="1" i="0">
                <a:solidFill>
                  <a:srgbClr val="221F33"/>
                </a:solidFill>
                <a:latin typeface="Arial Rounded MT Bold"/>
              </a:rPr>
              <a:t>No frontend before the CLI works</a:t>
            </a:r>
          </a:p>
        </p:txBody>
      </p:sp>
      <p:sp>
        <p:nvSpPr>
          <p:cNvPr id="16" name="TextBox 15"/>
          <p:cNvSpPr txBox="1"/>
          <p:nvPr/>
        </p:nvSpPr>
        <p:spPr>
          <a:xfrm>
            <a:off x="6172200" y="3493008"/>
            <a:ext cx="5486400" cy="548640"/>
          </a:xfrm>
          <a:prstGeom prst="rect">
            <a:avLst/>
          </a:prstGeom>
          <a:noFill/>
        </p:spPr>
        <p:txBody>
          <a:bodyPr wrap="square" anchor="t" lIns="0" rIns="0" tIns="0" bIns="0">
            <a:spAutoFit/>
          </a:bodyPr>
          <a:lstStyle/>
          <a:p>
            <a:pPr algn="l">
              <a:lnSpc>
                <a:spcPct val="130000"/>
              </a:lnSpc>
            </a:pPr>
            <a:r>
              <a:rPr sz="1050" b="0" i="0">
                <a:solidFill>
                  <a:srgbClr val="8B8899"/>
                </a:solidFill>
                <a:latin typeface="Arial"/>
              </a:rPr>
              <a:t>Deploy and call a contract with cast first.</a:t>
            </a:r>
          </a:p>
        </p:txBody>
      </p:sp>
      <p:cxnSp>
        <p:nvCxnSpPr>
          <p:cNvPr id="17" name="Connector 16"/>
          <p:cNvCxnSpPr/>
          <p:nvPr/>
        </p:nvCxnSpPr>
        <p:spPr>
          <a:xfrm>
            <a:off x="5742432" y="3520440"/>
            <a:ext cx="0" cy="640080"/>
          </a:xfrm>
          <a:prstGeom prst="line">
            <a:avLst/>
          </a:prstGeom>
          <a:ln w="19050">
            <a:solidFill>
              <a:srgbClr val="ECEAF3"/>
            </a:solidFill>
            <a:prstDash val="sys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486400" y="4160520"/>
            <a:ext cx="621792" cy="365760"/>
          </a:xfrm>
          <a:prstGeom prst="roundRect">
            <a:avLst>
              <a:gd name="adj" fmla="val 50000"/>
            </a:avLst>
          </a:prstGeom>
          <a:solidFill>
            <a:srgbClr val="FDC646"/>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228600" wrap="none"/>
          <a:lstStyle/>
          <a:p>
            <a:pPr algn="ctr"/>
            <a:r>
              <a:rPr sz="1200" b="1">
                <a:solidFill>
                  <a:srgbClr val="FFFFFF"/>
                </a:solidFill>
                <a:latin typeface="Arial"/>
              </a:rPr>
              <a:t>04</a:t>
            </a:r>
          </a:p>
        </p:txBody>
      </p:sp>
      <p:sp>
        <p:nvSpPr>
          <p:cNvPr id="19" name="TextBox 18"/>
          <p:cNvSpPr txBox="1"/>
          <p:nvPr/>
        </p:nvSpPr>
        <p:spPr>
          <a:xfrm>
            <a:off x="6172200" y="4142232"/>
            <a:ext cx="5486400" cy="365760"/>
          </a:xfrm>
          <a:prstGeom prst="rect">
            <a:avLst/>
          </a:prstGeom>
          <a:noFill/>
        </p:spPr>
        <p:txBody>
          <a:bodyPr wrap="square" anchor="t" lIns="0" rIns="0" tIns="0" bIns="0">
            <a:spAutoFit/>
          </a:bodyPr>
          <a:lstStyle/>
          <a:p>
            <a:pPr algn="l">
              <a:lnSpc>
                <a:spcPct val="115000"/>
              </a:lnSpc>
            </a:pPr>
            <a:r>
              <a:rPr sz="1450" b="1" i="0">
                <a:solidFill>
                  <a:srgbClr val="221F33"/>
                </a:solidFill>
                <a:latin typeface="Arial Rounded MT Bold"/>
              </a:rPr>
              <a:t>Every contract gets a test</a:t>
            </a:r>
          </a:p>
        </p:txBody>
      </p:sp>
      <p:sp>
        <p:nvSpPr>
          <p:cNvPr id="20" name="TextBox 19"/>
          <p:cNvSpPr txBox="1"/>
          <p:nvPr/>
        </p:nvSpPr>
        <p:spPr>
          <a:xfrm>
            <a:off x="6172200" y="4544568"/>
            <a:ext cx="5486400" cy="548640"/>
          </a:xfrm>
          <a:prstGeom prst="rect">
            <a:avLst/>
          </a:prstGeom>
          <a:noFill/>
        </p:spPr>
        <p:txBody>
          <a:bodyPr wrap="square" anchor="t" lIns="0" rIns="0" tIns="0" bIns="0">
            <a:spAutoFit/>
          </a:bodyPr>
          <a:lstStyle/>
          <a:p>
            <a:pPr algn="l">
              <a:lnSpc>
                <a:spcPct val="130000"/>
              </a:lnSpc>
            </a:pPr>
            <a:r>
              <a:rPr sz="1050" b="0" i="0">
                <a:solidFill>
                  <a:srgbClr val="8B8899"/>
                </a:solidFill>
                <a:latin typeface="Arial"/>
              </a:rPr>
              <a:t>An untested contract is unfinished.</a:t>
            </a:r>
          </a:p>
        </p:txBody>
      </p:sp>
      <p:sp>
        <p:nvSpPr>
          <p:cNvPr id="21" name="TextBox 20"/>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8B8899"/>
                </a:solidFill>
                <a:latin typeface="Courier New"/>
              </a:rPr>
              <a:t>03/18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6C5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737360" y="320040"/>
            <a:ext cx="502920" cy="502920"/>
          </a:xfrm>
          <a:prstGeom prst="ellipse">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2470947" y="1051560"/>
            <a:ext cx="3010801" cy="2286000"/>
          </a:xfrm>
          <a:custGeom>
            <a:avLst/>
            <a:gdLst/>
            <a:ahLst/>
            <a:cxnLst/>
            <a:rect l="l" t="t" r="r" b="b"/>
            <a:pathLst>
              <a:path w="3010801" h="2286000">
                <a:moveTo>
                  <a:pt x="1506693" y="0"/>
                </a:moveTo>
                <a:lnTo>
                  <a:pt x="1935203" y="47625"/>
                </a:lnTo>
                <a:lnTo>
                  <a:pt x="2328422" y="95250"/>
                </a:lnTo>
                <a:lnTo>
                  <a:pt x="2653963" y="142875"/>
                </a:lnTo>
                <a:lnTo>
                  <a:pt x="2885013" y="190500"/>
                </a:lnTo>
                <a:lnTo>
                  <a:pt x="3002545" y="238125"/>
                </a:lnTo>
                <a:lnTo>
                  <a:pt x="2996877" y="285750"/>
                </a:lnTo>
                <a:lnTo>
                  <a:pt x="2868477" y="333375"/>
                </a:lnTo>
                <a:lnTo>
                  <a:pt x="2627920" y="381000"/>
                </a:lnTo>
                <a:lnTo>
                  <a:pt x="2295017" y="428625"/>
                </a:lnTo>
                <a:lnTo>
                  <a:pt x="1897188" y="476250"/>
                </a:lnTo>
                <a:lnTo>
                  <a:pt x="1467198" y="523875"/>
                </a:lnTo>
                <a:lnTo>
                  <a:pt x="1040460" y="571500"/>
                </a:lnTo>
                <a:lnTo>
                  <a:pt x="652121" y="619125"/>
                </a:lnTo>
                <a:lnTo>
                  <a:pt x="334166" y="666750"/>
                </a:lnTo>
                <a:lnTo>
                  <a:pt x="112780" y="714375"/>
                </a:lnTo>
                <a:lnTo>
                  <a:pt x="6198" y="762000"/>
                </a:lnTo>
                <a:lnTo>
                  <a:pt x="23197" y="809625"/>
                </a:lnTo>
                <a:lnTo>
                  <a:pt x="162377" y="857250"/>
                </a:lnTo>
                <a:lnTo>
                  <a:pt x="412277" y="904875"/>
                </a:lnTo>
                <a:lnTo>
                  <a:pt x="752313" y="952500"/>
                </a:lnTo>
                <a:lnTo>
                  <a:pt x="1154479" y="1000125"/>
                </a:lnTo>
                <a:lnTo>
                  <a:pt x="1585655" y="1047750"/>
                </a:lnTo>
                <a:lnTo>
                  <a:pt x="2010327" y="1095375"/>
                </a:lnTo>
                <a:lnTo>
                  <a:pt x="2393519" y="1143000"/>
                </a:lnTo>
                <a:lnTo>
                  <a:pt x="2703672" y="1190625"/>
                </a:lnTo>
                <a:lnTo>
                  <a:pt x="2915241" y="1238250"/>
                </a:lnTo>
                <a:lnTo>
                  <a:pt x="3010801" y="1285875"/>
                </a:lnTo>
                <a:lnTo>
                  <a:pt x="2982482" y="1333500"/>
                </a:lnTo>
                <a:lnTo>
                  <a:pt x="2832617" y="1381125"/>
                </a:lnTo>
                <a:lnTo>
                  <a:pt x="2573547" y="1428750"/>
                </a:lnTo>
                <a:lnTo>
                  <a:pt x="2226611" y="1476375"/>
                </a:lnTo>
                <a:lnTo>
                  <a:pt x="1820381" y="1524000"/>
                </a:lnTo>
                <a:lnTo>
                  <a:pt x="1388317" y="1571625"/>
                </a:lnTo>
                <a:lnTo>
                  <a:pt x="966001" y="1619250"/>
                </a:lnTo>
                <a:lnTo>
                  <a:pt x="588218" y="1666875"/>
                </a:lnTo>
                <a:lnTo>
                  <a:pt x="286080" y="1714500"/>
                </a:lnTo>
                <a:lnTo>
                  <a:pt x="84473" y="1762125"/>
                </a:lnTo>
                <a:lnTo>
                  <a:pt x="0" y="1809750"/>
                </a:lnTo>
                <a:lnTo>
                  <a:pt x="39620" y="1857375"/>
                </a:lnTo>
                <a:lnTo>
                  <a:pt x="200068" y="1905000"/>
                </a:lnTo>
                <a:lnTo>
                  <a:pt x="468131" y="1952625"/>
                </a:lnTo>
                <a:lnTo>
                  <a:pt x="821730" y="2000250"/>
                </a:lnTo>
                <a:lnTo>
                  <a:pt x="1231743" y="2047875"/>
                </a:lnTo>
                <a:lnTo>
                  <a:pt x="1664401" y="2095500"/>
                </a:lnTo>
                <a:lnTo>
                  <a:pt x="2084070" y="2143125"/>
                </a:lnTo>
                <a:lnTo>
                  <a:pt x="2456186" y="2190750"/>
                </a:lnTo>
                <a:lnTo>
                  <a:pt x="2750101" y="2238375"/>
                </a:lnTo>
                <a:lnTo>
                  <a:pt x="2941609" y="2286000"/>
                </a:lnTo>
              </a:path>
            </a:pathLst>
          </a:custGeom>
          <a:noFill/>
          <a:ln w="182880" cap="rnd">
            <a:solidFill>
              <a:srgbClr val="FDC6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103120" y="4160520"/>
            <a:ext cx="365760" cy="365760"/>
          </a:xfrm>
          <a:prstGeom prst="ellipse">
            <a:avLst/>
          </a:prstGeom>
          <a:solidFill>
            <a:srgbClr val="F27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02920" y="4434840"/>
            <a:ext cx="502920" cy="502920"/>
          </a:xfrm>
          <a:prstGeom prst="ellipse">
            <a:avLst/>
          </a:prstGeom>
          <a:noFill/>
          <a:ln w="31750">
            <a:solidFill>
              <a:srgbClr val="938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02920"/>
            <a:ext cx="8229600" cy="320040"/>
          </a:xfrm>
          <a:prstGeom prst="rect">
            <a:avLst/>
          </a:prstGeom>
          <a:noFill/>
        </p:spPr>
        <p:txBody>
          <a:bodyPr wrap="square" anchor="t" lIns="0" rIns="0" tIns="0" bIns="0">
            <a:spAutoFit/>
          </a:bodyPr>
          <a:lstStyle/>
          <a:p>
            <a:pPr algn="l">
              <a:lnSpc>
                <a:spcPct val="115000"/>
              </a:lnSpc>
            </a:pPr>
            <a:r>
              <a:rPr sz="1150" b="1" i="0">
                <a:solidFill>
                  <a:srgbClr val="FDC646"/>
                </a:solidFill>
                <a:latin typeface="Arial"/>
              </a:rPr>
              <a:t>BLOCKCHAINCOURSE · WEEK 01 · TOPIC 01 OF 04</a:t>
            </a:r>
          </a:p>
        </p:txBody>
      </p:sp>
      <p:sp>
        <p:nvSpPr>
          <p:cNvPr id="8" name="TextBox 7"/>
          <p:cNvSpPr txBox="1"/>
          <p:nvPr/>
        </p:nvSpPr>
        <p:spPr>
          <a:xfrm>
            <a:off x="685800" y="914400"/>
            <a:ext cx="6035040" cy="2377440"/>
          </a:xfrm>
          <a:prstGeom prst="rect">
            <a:avLst/>
          </a:prstGeom>
          <a:noFill/>
        </p:spPr>
        <p:txBody>
          <a:bodyPr wrap="square" anchor="t" lIns="0" rIns="0" tIns="0" bIns="0">
            <a:spAutoFit/>
          </a:bodyPr>
          <a:lstStyle/>
          <a:p>
            <a:pPr algn="l">
              <a:lnSpc>
                <a:spcPct val="102000"/>
              </a:lnSpc>
            </a:pPr>
            <a:r>
              <a:rPr sz="4200" b="1" i="0">
                <a:solidFill>
                  <a:srgbClr val="FFFFFF"/>
                </a:solidFill>
                <a:latin typeface="Arial Rounded MT Bold"/>
              </a:rPr>
              <a:t>Hashing</a:t>
            </a:r>
          </a:p>
        </p:txBody>
      </p:sp>
      <p:sp>
        <p:nvSpPr>
          <p:cNvPr id="9" name="TextBox 8"/>
          <p:cNvSpPr txBox="1"/>
          <p:nvPr/>
        </p:nvSpPr>
        <p:spPr>
          <a:xfrm>
            <a:off x="685800" y="3246120"/>
            <a:ext cx="5120640" cy="1051560"/>
          </a:xfrm>
          <a:prstGeom prst="rect">
            <a:avLst/>
          </a:prstGeom>
          <a:noFill/>
        </p:spPr>
        <p:txBody>
          <a:bodyPr wrap="square" anchor="t" lIns="0" rIns="0" tIns="0" bIns="0">
            <a:spAutoFit/>
          </a:bodyPr>
          <a:lstStyle/>
          <a:p>
            <a:pPr algn="l">
              <a:lnSpc>
                <a:spcPct val="140000"/>
              </a:lnSpc>
            </a:pPr>
            <a:r>
              <a:rPr sz="1350" b="0" i="1">
                <a:solidFill>
                  <a:srgbClr val="E3E0F7"/>
                </a:solidFill>
                <a:latin typeface="Arial"/>
              </a:rPr>
              <a:t>A tamper-evident fingerprint for data — change one letter, get an unrecognizable result.</a:t>
            </a:r>
          </a:p>
        </p:txBody>
      </p:sp>
      <p:sp>
        <p:nvSpPr>
          <p:cNvPr id="10" name="Oval 9"/>
          <p:cNvSpPr/>
          <p:nvPr/>
        </p:nvSpPr>
        <p:spPr>
          <a:xfrm>
            <a:off x="685800" y="4617720"/>
            <a:ext cx="146304" cy="146304"/>
          </a:xfrm>
          <a:prstGeom prst="ellipse">
            <a:avLst/>
          </a:prstGeom>
          <a:solidFill>
            <a:srgbClr val="FDC6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60120" y="4617720"/>
            <a:ext cx="146304" cy="146304"/>
          </a:xfrm>
          <a:prstGeom prst="ellipse">
            <a:avLst/>
          </a:prstGeom>
          <a:solidFill>
            <a:srgbClr val="FDC6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34440" y="4617720"/>
            <a:ext cx="146304" cy="146304"/>
          </a:xfrm>
          <a:prstGeom prst="ellipse">
            <a:avLst/>
          </a:prstGeom>
          <a:solidFill>
            <a:srgbClr val="FDC6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_c_hero4.jpg"/>
          <p:cNvPicPr>
            <a:picLocks noChangeAspect="1"/>
          </p:cNvPicPr>
          <p:nvPr/>
        </p:nvPicPr>
        <p:blipFill>
          <a:blip r:embed="rId2"/>
          <a:stretch>
            <a:fillRect/>
          </a:stretch>
        </p:blipFill>
        <p:spPr>
          <a:xfrm>
            <a:off x="6949440" y="502920"/>
            <a:ext cx="4663440" cy="5852160"/>
          </a:xfrm>
          <a:prstGeom prst="rect">
            <a:avLst/>
          </a:prstGeom>
        </p:spPr>
      </p:pic>
      <p:sp>
        <p:nvSpPr>
          <p:cNvPr id="14" name="TextBox 13"/>
          <p:cNvSpPr txBox="1"/>
          <p:nvPr/>
        </p:nvSpPr>
        <p:spPr>
          <a:xfrm>
            <a:off x="685800" y="6446520"/>
            <a:ext cx="5943600" cy="274320"/>
          </a:xfrm>
          <a:prstGeom prst="rect">
            <a:avLst/>
          </a:prstGeom>
          <a:noFill/>
        </p:spPr>
        <p:txBody>
          <a:bodyPr wrap="square" anchor="t" lIns="0" rIns="0" tIns="0" bIns="0">
            <a:spAutoFit/>
          </a:bodyPr>
          <a:lstStyle/>
          <a:p>
            <a:pPr algn="l">
              <a:lnSpc>
                <a:spcPct val="115000"/>
              </a:lnSpc>
            </a:pPr>
            <a:r>
              <a:rPr sz="850" b="0" i="0">
                <a:solidFill>
                  <a:srgbClr val="C7C2E8"/>
                </a:solidFill>
                <a:latin typeface="Arial"/>
              </a:rPr>
              <a:t>Photo: Simon A. Eugster / Wikimedia Commons, CC BY-SA 3.0</a:t>
            </a:r>
          </a:p>
        </p:txBody>
      </p:sp>
      <p:sp>
        <p:nvSpPr>
          <p:cNvPr id="15" name="TextBox 14"/>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C7C2E8"/>
                </a:solidFill>
                <a:latin typeface="Courier New"/>
              </a:rPr>
              <a:t>04/18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c_sp5_why.jpg"/>
          <p:cNvPicPr>
            <a:picLocks noChangeAspect="1"/>
          </p:cNvPicPr>
          <p:nvPr/>
        </p:nvPicPr>
        <p:blipFill>
          <a:blip r:embed="rId2"/>
          <a:stretch>
            <a:fillRect/>
          </a:stretch>
        </p:blipFill>
        <p:spPr>
          <a:xfrm>
            <a:off x="6949440" y="1234440"/>
            <a:ext cx="4572000" cy="4297680"/>
          </a:xfrm>
          <a:prstGeom prst="rect">
            <a:avLst/>
          </a:prstGeom>
        </p:spPr>
      </p:pic>
      <p:sp>
        <p:nvSpPr>
          <p:cNvPr id="4" name="Oval 3"/>
          <p:cNvSpPr/>
          <p:nvPr/>
        </p:nvSpPr>
        <p:spPr>
          <a:xfrm>
            <a:off x="10789920" y="868680"/>
            <a:ext cx="502920" cy="502920"/>
          </a:xfrm>
          <a:prstGeom prst="ellipse">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40080"/>
            <a:ext cx="4846320" cy="320040"/>
          </a:xfrm>
          <a:prstGeom prst="rect">
            <a:avLst/>
          </a:prstGeom>
          <a:noFill/>
        </p:spPr>
        <p:txBody>
          <a:bodyPr wrap="square" anchor="t" lIns="0" rIns="0" tIns="0" bIns="0">
            <a:spAutoFit/>
          </a:bodyPr>
          <a:lstStyle/>
          <a:p>
            <a:pPr algn="l">
              <a:lnSpc>
                <a:spcPct val="115000"/>
              </a:lnSpc>
            </a:pPr>
            <a:r>
              <a:rPr sz="1150" b="1" i="0">
                <a:solidFill>
                  <a:srgbClr val="F2734B"/>
                </a:solidFill>
                <a:latin typeface="Arial"/>
              </a:rPr>
              <a:t>TOPIC 01 — HASHING</a:t>
            </a:r>
          </a:p>
        </p:txBody>
      </p:sp>
      <p:sp>
        <p:nvSpPr>
          <p:cNvPr id="6" name="TextBox 5"/>
          <p:cNvSpPr txBox="1"/>
          <p:nvPr/>
        </p:nvSpPr>
        <p:spPr>
          <a:xfrm>
            <a:off x="685800" y="1005840"/>
            <a:ext cx="4846320" cy="1280160"/>
          </a:xfrm>
          <a:prstGeom prst="rect">
            <a:avLst/>
          </a:prstGeom>
          <a:noFill/>
        </p:spPr>
        <p:txBody>
          <a:bodyPr wrap="square" anchor="t" lIns="0" rIns="0" tIns="0" bIns="0">
            <a:spAutoFit/>
          </a:bodyPr>
          <a:lstStyle/>
          <a:p>
            <a:pPr algn="l">
              <a:lnSpc>
                <a:spcPct val="105000"/>
              </a:lnSpc>
            </a:pPr>
            <a:r>
              <a:rPr sz="2500" b="1" i="0">
                <a:solidFill>
                  <a:srgbClr val="221F33"/>
                </a:solidFill>
                <a:latin typeface="Arial Rounded MT Bold"/>
              </a:rPr>
              <a:t>Why This Matters</a:t>
            </a:r>
          </a:p>
        </p:txBody>
      </p:sp>
      <p:sp>
        <p:nvSpPr>
          <p:cNvPr id="7" name="TextBox 6"/>
          <p:cNvSpPr txBox="1"/>
          <p:nvPr/>
        </p:nvSpPr>
        <p:spPr>
          <a:xfrm>
            <a:off x="685800" y="2148840"/>
            <a:ext cx="4846320" cy="2377440"/>
          </a:xfrm>
          <a:prstGeom prst="rect">
            <a:avLst/>
          </a:prstGeom>
          <a:noFill/>
        </p:spPr>
        <p:txBody>
          <a:bodyPr wrap="square" anchor="t" lIns="0" rIns="0" tIns="0" bIns="0">
            <a:spAutoFit/>
          </a:bodyPr>
          <a:lstStyle/>
          <a:p>
            <a:pPr algn="l">
              <a:lnSpc>
                <a:spcPct val="142000"/>
              </a:lnSpc>
            </a:pPr>
            <a:r>
              <a:rPr sz="1250" b="0" i="0">
                <a:solidFill>
                  <a:srgbClr val="8B8899"/>
                </a:solidFill>
                <a:latin typeface="Arial"/>
              </a:rPr>
              <a:t>Before any other concept in this course makes sense, you need hashing — it's the primitive every other piece (signatures, blocks, chains) is built on top of. This topic covers the four core properties, a real worked example, real-world uses, and the misconceptions that trip people up.</a:t>
            </a:r>
          </a:p>
        </p:txBody>
      </p:sp>
      <p:sp>
        <p:nvSpPr>
          <p:cNvPr id="8" name="Freeform 7"/>
          <p:cNvSpPr/>
          <p:nvPr/>
        </p:nvSpPr>
        <p:spPr>
          <a:xfrm>
            <a:off x="10744591" y="502920"/>
            <a:ext cx="776751" cy="1051560"/>
          </a:xfrm>
          <a:custGeom>
            <a:avLst/>
            <a:gdLst/>
            <a:ahLst/>
            <a:cxnLst/>
            <a:rect l="l" t="t" r="r" b="b"/>
            <a:pathLst>
              <a:path w="776751" h="1051560">
                <a:moveTo>
                  <a:pt x="388229" y="0"/>
                </a:moveTo>
                <a:lnTo>
                  <a:pt x="499995" y="37555"/>
                </a:lnTo>
                <a:lnTo>
                  <a:pt x="602318" y="75111"/>
                </a:lnTo>
                <a:lnTo>
                  <a:pt x="686551" y="112667"/>
                </a:lnTo>
                <a:lnTo>
                  <a:pt x="745575" y="150222"/>
                </a:lnTo>
                <a:lnTo>
                  <a:pt x="774405" y="187778"/>
                </a:lnTo>
                <a:lnTo>
                  <a:pt x="770603" y="225334"/>
                </a:lnTo>
                <a:lnTo>
                  <a:pt x="734491" y="262890"/>
                </a:lnTo>
                <a:lnTo>
                  <a:pt x="669121" y="300445"/>
                </a:lnTo>
                <a:lnTo>
                  <a:pt x="580016" y="338001"/>
                </a:lnTo>
                <a:lnTo>
                  <a:pt x="474705" y="375557"/>
                </a:lnTo>
                <a:lnTo>
                  <a:pt x="362086" y="413112"/>
                </a:lnTo>
                <a:lnTo>
                  <a:pt x="251677" y="450668"/>
                </a:lnTo>
                <a:lnTo>
                  <a:pt x="152806" y="488224"/>
                </a:lnTo>
                <a:lnTo>
                  <a:pt x="73828" y="525780"/>
                </a:lnTo>
                <a:lnTo>
                  <a:pt x="21417" y="563335"/>
                </a:lnTo>
                <a:lnTo>
                  <a:pt x="0" y="600891"/>
                </a:lnTo>
                <a:lnTo>
                  <a:pt x="11388" y="638447"/>
                </a:lnTo>
                <a:lnTo>
                  <a:pt x="54618" y="676002"/>
                </a:lnTo>
                <a:lnTo>
                  <a:pt x="126038" y="713558"/>
                </a:lnTo>
                <a:lnTo>
                  <a:pt x="219613" y="751114"/>
                </a:lnTo>
                <a:lnTo>
                  <a:pt x="327435" y="788670"/>
                </a:lnTo>
                <a:lnTo>
                  <a:pt x="440394" y="826225"/>
                </a:lnTo>
                <a:lnTo>
                  <a:pt x="548946" y="863781"/>
                </a:lnTo>
                <a:lnTo>
                  <a:pt x="643917" y="901337"/>
                </a:lnTo>
                <a:lnTo>
                  <a:pt x="717282" y="938892"/>
                </a:lnTo>
                <a:lnTo>
                  <a:pt x="762844" y="976448"/>
                </a:lnTo>
                <a:lnTo>
                  <a:pt x="776751" y="1014004"/>
                </a:lnTo>
                <a:lnTo>
                  <a:pt x="757828" y="1051560"/>
                </a:lnTo>
              </a:path>
            </a:pathLst>
          </a:custGeom>
          <a:noFill/>
          <a:ln w="68580" cap="rnd">
            <a:solidFill>
              <a:srgbClr val="FDC6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8B8899"/>
                </a:solidFill>
                <a:latin typeface="Courier New"/>
              </a:rPr>
              <a:t>05/18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c_sp6_core.jpg"/>
          <p:cNvPicPr>
            <a:picLocks noChangeAspect="1"/>
          </p:cNvPicPr>
          <p:nvPr/>
        </p:nvPicPr>
        <p:blipFill>
          <a:blip r:embed="rId2"/>
          <a:stretch>
            <a:fillRect/>
          </a:stretch>
        </p:blipFill>
        <p:spPr>
          <a:xfrm>
            <a:off x="685800" y="1234440"/>
            <a:ext cx="4572000" cy="4297680"/>
          </a:xfrm>
          <a:prstGeom prst="rect">
            <a:avLst/>
          </a:prstGeom>
        </p:spPr>
      </p:pic>
      <p:sp>
        <p:nvSpPr>
          <p:cNvPr id="4" name="Oval 3"/>
          <p:cNvSpPr/>
          <p:nvPr/>
        </p:nvSpPr>
        <p:spPr>
          <a:xfrm>
            <a:off x="4526280" y="868680"/>
            <a:ext cx="502920" cy="502920"/>
          </a:xfrm>
          <a:prstGeom prst="ellipse">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0" y="640080"/>
            <a:ext cx="4846320" cy="320040"/>
          </a:xfrm>
          <a:prstGeom prst="rect">
            <a:avLst/>
          </a:prstGeom>
          <a:noFill/>
        </p:spPr>
        <p:txBody>
          <a:bodyPr wrap="square" anchor="t" lIns="0" rIns="0" tIns="0" bIns="0">
            <a:spAutoFit/>
          </a:bodyPr>
          <a:lstStyle/>
          <a:p>
            <a:pPr algn="l">
              <a:lnSpc>
                <a:spcPct val="115000"/>
              </a:lnSpc>
            </a:pPr>
            <a:r>
              <a:rPr sz="1150" b="1" i="0">
                <a:solidFill>
                  <a:srgbClr val="F2734B"/>
                </a:solidFill>
                <a:latin typeface="Arial"/>
              </a:rPr>
              <a:t>TOPIC 01 — HASHING</a:t>
            </a:r>
          </a:p>
        </p:txBody>
      </p:sp>
      <p:sp>
        <p:nvSpPr>
          <p:cNvPr id="6" name="TextBox 5"/>
          <p:cNvSpPr txBox="1"/>
          <p:nvPr/>
        </p:nvSpPr>
        <p:spPr>
          <a:xfrm>
            <a:off x="6309360" y="1005840"/>
            <a:ext cx="4846320" cy="1280160"/>
          </a:xfrm>
          <a:prstGeom prst="rect">
            <a:avLst/>
          </a:prstGeom>
          <a:noFill/>
        </p:spPr>
        <p:txBody>
          <a:bodyPr wrap="square" anchor="t" lIns="0" rIns="0" tIns="0" bIns="0">
            <a:spAutoFit/>
          </a:bodyPr>
          <a:lstStyle/>
          <a:p>
            <a:pPr algn="l">
              <a:lnSpc>
                <a:spcPct val="105000"/>
              </a:lnSpc>
            </a:pPr>
            <a:r>
              <a:rPr sz="2500" b="1" i="0">
                <a:solidFill>
                  <a:srgbClr val="221F33"/>
                </a:solidFill>
                <a:latin typeface="Arial Rounded MT Bold"/>
              </a:rPr>
              <a:t>The Core Concept</a:t>
            </a:r>
          </a:p>
        </p:txBody>
      </p:sp>
      <p:sp>
        <p:nvSpPr>
          <p:cNvPr id="7" name="TextBox 6"/>
          <p:cNvSpPr txBox="1"/>
          <p:nvPr/>
        </p:nvSpPr>
        <p:spPr>
          <a:xfrm>
            <a:off x="6309360" y="2148840"/>
            <a:ext cx="4846320" cy="2377440"/>
          </a:xfrm>
          <a:prstGeom prst="rect">
            <a:avLst/>
          </a:prstGeom>
          <a:noFill/>
        </p:spPr>
        <p:txBody>
          <a:bodyPr wrap="square" anchor="t" lIns="0" rIns="0" tIns="0" bIns="0">
            <a:spAutoFit/>
          </a:bodyPr>
          <a:lstStyle/>
          <a:p>
            <a:pPr algn="l">
              <a:lnSpc>
                <a:spcPct val="142000"/>
              </a:lnSpc>
            </a:pPr>
            <a:r>
              <a:rPr sz="1250" b="0" i="0">
                <a:solidFill>
                  <a:srgbClr val="8B8899"/>
                </a:solidFill>
                <a:latin typeface="Arial"/>
              </a:rPr>
              <a:t>A hash function takes any input — a letter, a word, a gigabyte of data — and turns it into a fixed-length string of characters called a hash. For blockchain, that function is SHA-256 (Bitcoin) or Keccak-256 (Ethereum). Same input, same output, every time — but there's no way back.</a:t>
            </a:r>
          </a:p>
        </p:txBody>
      </p:sp>
      <p:sp>
        <p:nvSpPr>
          <p:cNvPr id="8" name="Freeform 7"/>
          <p:cNvSpPr/>
          <p:nvPr/>
        </p:nvSpPr>
        <p:spPr>
          <a:xfrm>
            <a:off x="10744591" y="502920"/>
            <a:ext cx="776751" cy="1051560"/>
          </a:xfrm>
          <a:custGeom>
            <a:avLst/>
            <a:gdLst/>
            <a:ahLst/>
            <a:cxnLst/>
            <a:rect l="l" t="t" r="r" b="b"/>
            <a:pathLst>
              <a:path w="776751" h="1051560">
                <a:moveTo>
                  <a:pt x="388229" y="0"/>
                </a:moveTo>
                <a:lnTo>
                  <a:pt x="499995" y="37555"/>
                </a:lnTo>
                <a:lnTo>
                  <a:pt x="602318" y="75111"/>
                </a:lnTo>
                <a:lnTo>
                  <a:pt x="686551" y="112667"/>
                </a:lnTo>
                <a:lnTo>
                  <a:pt x="745575" y="150222"/>
                </a:lnTo>
                <a:lnTo>
                  <a:pt x="774405" y="187778"/>
                </a:lnTo>
                <a:lnTo>
                  <a:pt x="770603" y="225334"/>
                </a:lnTo>
                <a:lnTo>
                  <a:pt x="734491" y="262890"/>
                </a:lnTo>
                <a:lnTo>
                  <a:pt x="669121" y="300445"/>
                </a:lnTo>
                <a:lnTo>
                  <a:pt x="580016" y="338001"/>
                </a:lnTo>
                <a:lnTo>
                  <a:pt x="474705" y="375557"/>
                </a:lnTo>
                <a:lnTo>
                  <a:pt x="362086" y="413112"/>
                </a:lnTo>
                <a:lnTo>
                  <a:pt x="251677" y="450668"/>
                </a:lnTo>
                <a:lnTo>
                  <a:pt x="152806" y="488224"/>
                </a:lnTo>
                <a:lnTo>
                  <a:pt x="73828" y="525780"/>
                </a:lnTo>
                <a:lnTo>
                  <a:pt x="21417" y="563335"/>
                </a:lnTo>
                <a:lnTo>
                  <a:pt x="0" y="600891"/>
                </a:lnTo>
                <a:lnTo>
                  <a:pt x="11388" y="638447"/>
                </a:lnTo>
                <a:lnTo>
                  <a:pt x="54618" y="676002"/>
                </a:lnTo>
                <a:lnTo>
                  <a:pt x="126038" y="713558"/>
                </a:lnTo>
                <a:lnTo>
                  <a:pt x="219613" y="751114"/>
                </a:lnTo>
                <a:lnTo>
                  <a:pt x="327435" y="788670"/>
                </a:lnTo>
                <a:lnTo>
                  <a:pt x="440394" y="826225"/>
                </a:lnTo>
                <a:lnTo>
                  <a:pt x="548946" y="863781"/>
                </a:lnTo>
                <a:lnTo>
                  <a:pt x="643917" y="901337"/>
                </a:lnTo>
                <a:lnTo>
                  <a:pt x="717282" y="938892"/>
                </a:lnTo>
                <a:lnTo>
                  <a:pt x="762844" y="976448"/>
                </a:lnTo>
                <a:lnTo>
                  <a:pt x="776751" y="1014004"/>
                </a:lnTo>
                <a:lnTo>
                  <a:pt x="757828" y="1051560"/>
                </a:lnTo>
              </a:path>
            </a:pathLst>
          </a:custGeom>
          <a:noFill/>
          <a:ln w="68580" cap="rnd">
            <a:solidFill>
              <a:srgbClr val="FDC6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8B8899"/>
                </a:solidFill>
                <a:latin typeface="Courier New"/>
              </a:rPr>
              <a:t>06/18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c_sp7_sub0.jpg"/>
          <p:cNvPicPr>
            <a:picLocks noChangeAspect="1"/>
          </p:cNvPicPr>
          <p:nvPr/>
        </p:nvPicPr>
        <p:blipFill>
          <a:blip r:embed="rId2"/>
          <a:stretch>
            <a:fillRect/>
          </a:stretch>
        </p:blipFill>
        <p:spPr>
          <a:xfrm>
            <a:off x="685800" y="1234440"/>
            <a:ext cx="4572000" cy="4297680"/>
          </a:xfrm>
          <a:prstGeom prst="rect">
            <a:avLst/>
          </a:prstGeom>
        </p:spPr>
      </p:pic>
      <p:sp>
        <p:nvSpPr>
          <p:cNvPr id="4" name="Oval 3"/>
          <p:cNvSpPr/>
          <p:nvPr/>
        </p:nvSpPr>
        <p:spPr>
          <a:xfrm>
            <a:off x="4526280" y="868680"/>
            <a:ext cx="502920" cy="502920"/>
          </a:xfrm>
          <a:prstGeom prst="ellipse">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0" y="640080"/>
            <a:ext cx="4846320" cy="320040"/>
          </a:xfrm>
          <a:prstGeom prst="rect">
            <a:avLst/>
          </a:prstGeom>
          <a:noFill/>
        </p:spPr>
        <p:txBody>
          <a:bodyPr wrap="square" anchor="t" lIns="0" rIns="0" tIns="0" bIns="0">
            <a:spAutoFit/>
          </a:bodyPr>
          <a:lstStyle/>
          <a:p>
            <a:pPr algn="l">
              <a:lnSpc>
                <a:spcPct val="115000"/>
              </a:lnSpc>
            </a:pPr>
            <a:r>
              <a:rPr sz="1150" b="1" i="0">
                <a:solidFill>
                  <a:srgbClr val="F2734B"/>
                </a:solidFill>
                <a:latin typeface="Arial"/>
              </a:rPr>
              <a:t>KEY IDEA 1 / 4</a:t>
            </a:r>
          </a:p>
        </p:txBody>
      </p:sp>
      <p:sp>
        <p:nvSpPr>
          <p:cNvPr id="6" name="TextBox 5"/>
          <p:cNvSpPr txBox="1"/>
          <p:nvPr/>
        </p:nvSpPr>
        <p:spPr>
          <a:xfrm>
            <a:off x="6309360" y="1005840"/>
            <a:ext cx="4846320" cy="1280160"/>
          </a:xfrm>
          <a:prstGeom prst="rect">
            <a:avLst/>
          </a:prstGeom>
          <a:noFill/>
        </p:spPr>
        <p:txBody>
          <a:bodyPr wrap="square" anchor="t" lIns="0" rIns="0" tIns="0" bIns="0">
            <a:spAutoFit/>
          </a:bodyPr>
          <a:lstStyle/>
          <a:p>
            <a:pPr algn="l">
              <a:lnSpc>
                <a:spcPct val="105000"/>
              </a:lnSpc>
            </a:pPr>
            <a:r>
              <a:rPr sz="2500" b="1" i="0">
                <a:solidFill>
                  <a:srgbClr val="221F33"/>
                </a:solidFill>
                <a:latin typeface="Arial Rounded MT Bold"/>
              </a:rPr>
              <a:t>Deterministic</a:t>
            </a:r>
          </a:p>
        </p:txBody>
      </p:sp>
      <p:sp>
        <p:nvSpPr>
          <p:cNvPr id="7" name="TextBox 6"/>
          <p:cNvSpPr txBox="1"/>
          <p:nvPr/>
        </p:nvSpPr>
        <p:spPr>
          <a:xfrm>
            <a:off x="6309360" y="2148840"/>
            <a:ext cx="4846320" cy="2377440"/>
          </a:xfrm>
          <a:prstGeom prst="rect">
            <a:avLst/>
          </a:prstGeom>
          <a:noFill/>
        </p:spPr>
        <p:txBody>
          <a:bodyPr wrap="square" anchor="t" lIns="0" rIns="0" tIns="0" bIns="0">
            <a:spAutoFit/>
          </a:bodyPr>
          <a:lstStyle/>
          <a:p>
            <a:pPr algn="l">
              <a:lnSpc>
                <a:spcPct val="142000"/>
              </a:lnSpc>
            </a:pPr>
            <a:r>
              <a:rPr sz="1250" b="0" i="0">
                <a:solidFill>
                  <a:srgbClr val="8B8899"/>
                </a:solidFill>
                <a:latin typeface="Arial"/>
              </a:rPr>
              <a:t>The same input always produces the exact same output. Hash “hello” today or in ten years — identical result, every time.</a:t>
            </a:r>
          </a:p>
        </p:txBody>
      </p:sp>
      <p:sp>
        <p:nvSpPr>
          <p:cNvPr id="8" name="Rounded Rectangle 7"/>
          <p:cNvSpPr/>
          <p:nvPr/>
        </p:nvSpPr>
        <p:spPr>
          <a:xfrm>
            <a:off x="6309360" y="4892040"/>
            <a:ext cx="4846320" cy="1234440"/>
          </a:xfrm>
          <a:prstGeom prst="roundRect">
            <a:avLst>
              <a:gd name="adj" fmla="val 8000"/>
            </a:avLst>
          </a:prstGeom>
          <a:solidFill>
            <a:srgbClr val="F6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5029200"/>
            <a:ext cx="4389120" cy="274320"/>
          </a:xfrm>
          <a:prstGeom prst="rect">
            <a:avLst/>
          </a:prstGeom>
          <a:noFill/>
        </p:spPr>
        <p:txBody>
          <a:bodyPr wrap="square" anchor="t" lIns="0" rIns="0" tIns="0" bIns="0">
            <a:spAutoFit/>
          </a:bodyPr>
          <a:lstStyle/>
          <a:p>
            <a:pPr algn="l">
              <a:lnSpc>
                <a:spcPct val="115000"/>
              </a:lnSpc>
            </a:pPr>
            <a:r>
              <a:rPr sz="950" b="1" i="0">
                <a:solidFill>
                  <a:srgbClr val="F2734B"/>
                </a:solidFill>
                <a:latin typeface="Arial"/>
              </a:rPr>
              <a:t>EXAMPLE</a:t>
            </a:r>
          </a:p>
        </p:txBody>
      </p:sp>
      <p:sp>
        <p:nvSpPr>
          <p:cNvPr id="10" name="TextBox 9"/>
          <p:cNvSpPr txBox="1"/>
          <p:nvPr/>
        </p:nvSpPr>
        <p:spPr>
          <a:xfrm>
            <a:off x="6537960" y="5321808"/>
            <a:ext cx="4389120" cy="685800"/>
          </a:xfrm>
          <a:prstGeom prst="rect">
            <a:avLst/>
          </a:prstGeom>
          <a:noFill/>
        </p:spPr>
        <p:txBody>
          <a:bodyPr wrap="square" anchor="t" lIns="0" rIns="0" tIns="0" bIns="0">
            <a:spAutoFit/>
          </a:bodyPr>
          <a:lstStyle/>
          <a:p>
            <a:pPr algn="l">
              <a:lnSpc>
                <a:spcPct val="125000"/>
              </a:lnSpc>
            </a:pPr>
            <a:r>
              <a:rPr sz="1100" b="0" i="0">
                <a:solidFill>
                  <a:srgbClr val="221F33"/>
                </a:solidFill>
                <a:latin typeface="Courier New"/>
              </a:rPr>
              <a:t>"hello" → 2cf24dba...9824 (always)</a:t>
            </a:r>
          </a:p>
        </p:txBody>
      </p:sp>
      <p:sp>
        <p:nvSpPr>
          <p:cNvPr id="11" name="Freeform 10"/>
          <p:cNvSpPr/>
          <p:nvPr/>
        </p:nvSpPr>
        <p:spPr>
          <a:xfrm>
            <a:off x="10744591" y="502920"/>
            <a:ext cx="776751" cy="1051560"/>
          </a:xfrm>
          <a:custGeom>
            <a:avLst/>
            <a:gdLst/>
            <a:ahLst/>
            <a:cxnLst/>
            <a:rect l="l" t="t" r="r" b="b"/>
            <a:pathLst>
              <a:path w="776751" h="1051560">
                <a:moveTo>
                  <a:pt x="388229" y="0"/>
                </a:moveTo>
                <a:lnTo>
                  <a:pt x="499995" y="37555"/>
                </a:lnTo>
                <a:lnTo>
                  <a:pt x="602318" y="75111"/>
                </a:lnTo>
                <a:lnTo>
                  <a:pt x="686551" y="112667"/>
                </a:lnTo>
                <a:lnTo>
                  <a:pt x="745575" y="150222"/>
                </a:lnTo>
                <a:lnTo>
                  <a:pt x="774405" y="187778"/>
                </a:lnTo>
                <a:lnTo>
                  <a:pt x="770603" y="225334"/>
                </a:lnTo>
                <a:lnTo>
                  <a:pt x="734491" y="262890"/>
                </a:lnTo>
                <a:lnTo>
                  <a:pt x="669121" y="300445"/>
                </a:lnTo>
                <a:lnTo>
                  <a:pt x="580016" y="338001"/>
                </a:lnTo>
                <a:lnTo>
                  <a:pt x="474705" y="375557"/>
                </a:lnTo>
                <a:lnTo>
                  <a:pt x="362086" y="413112"/>
                </a:lnTo>
                <a:lnTo>
                  <a:pt x="251677" y="450668"/>
                </a:lnTo>
                <a:lnTo>
                  <a:pt x="152806" y="488224"/>
                </a:lnTo>
                <a:lnTo>
                  <a:pt x="73828" y="525780"/>
                </a:lnTo>
                <a:lnTo>
                  <a:pt x="21417" y="563335"/>
                </a:lnTo>
                <a:lnTo>
                  <a:pt x="0" y="600891"/>
                </a:lnTo>
                <a:lnTo>
                  <a:pt x="11388" y="638447"/>
                </a:lnTo>
                <a:lnTo>
                  <a:pt x="54618" y="676002"/>
                </a:lnTo>
                <a:lnTo>
                  <a:pt x="126038" y="713558"/>
                </a:lnTo>
                <a:lnTo>
                  <a:pt x="219613" y="751114"/>
                </a:lnTo>
                <a:lnTo>
                  <a:pt x="327435" y="788670"/>
                </a:lnTo>
                <a:lnTo>
                  <a:pt x="440394" y="826225"/>
                </a:lnTo>
                <a:lnTo>
                  <a:pt x="548946" y="863781"/>
                </a:lnTo>
                <a:lnTo>
                  <a:pt x="643917" y="901337"/>
                </a:lnTo>
                <a:lnTo>
                  <a:pt x="717282" y="938892"/>
                </a:lnTo>
                <a:lnTo>
                  <a:pt x="762844" y="976448"/>
                </a:lnTo>
                <a:lnTo>
                  <a:pt x="776751" y="1014004"/>
                </a:lnTo>
                <a:lnTo>
                  <a:pt x="757828" y="1051560"/>
                </a:lnTo>
              </a:path>
            </a:pathLst>
          </a:custGeom>
          <a:noFill/>
          <a:ln w="68580" cap="rnd">
            <a:solidFill>
              <a:srgbClr val="FDC6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8B8899"/>
                </a:solidFill>
                <a:latin typeface="Courier New"/>
              </a:rPr>
              <a:t>07/18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c_sp5_why.jpg"/>
          <p:cNvPicPr>
            <a:picLocks noChangeAspect="1"/>
          </p:cNvPicPr>
          <p:nvPr/>
        </p:nvPicPr>
        <p:blipFill>
          <a:blip r:embed="rId2"/>
          <a:stretch>
            <a:fillRect/>
          </a:stretch>
        </p:blipFill>
        <p:spPr>
          <a:xfrm>
            <a:off x="6949440" y="1234440"/>
            <a:ext cx="4572000" cy="4297680"/>
          </a:xfrm>
          <a:prstGeom prst="rect">
            <a:avLst/>
          </a:prstGeom>
        </p:spPr>
      </p:pic>
      <p:sp>
        <p:nvSpPr>
          <p:cNvPr id="4" name="Oval 3"/>
          <p:cNvSpPr/>
          <p:nvPr/>
        </p:nvSpPr>
        <p:spPr>
          <a:xfrm>
            <a:off x="10789920" y="868680"/>
            <a:ext cx="502920" cy="502920"/>
          </a:xfrm>
          <a:prstGeom prst="ellipse">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40080"/>
            <a:ext cx="4846320" cy="320040"/>
          </a:xfrm>
          <a:prstGeom prst="rect">
            <a:avLst/>
          </a:prstGeom>
          <a:noFill/>
        </p:spPr>
        <p:txBody>
          <a:bodyPr wrap="square" anchor="t" lIns="0" rIns="0" tIns="0" bIns="0">
            <a:spAutoFit/>
          </a:bodyPr>
          <a:lstStyle/>
          <a:p>
            <a:pPr algn="l">
              <a:lnSpc>
                <a:spcPct val="115000"/>
              </a:lnSpc>
            </a:pPr>
            <a:r>
              <a:rPr sz="1150" b="1" i="0">
                <a:solidFill>
                  <a:srgbClr val="F2734B"/>
                </a:solidFill>
                <a:latin typeface="Arial"/>
              </a:rPr>
              <a:t>KEY IDEA 2 / 4</a:t>
            </a:r>
          </a:p>
        </p:txBody>
      </p:sp>
      <p:sp>
        <p:nvSpPr>
          <p:cNvPr id="6" name="TextBox 5"/>
          <p:cNvSpPr txBox="1"/>
          <p:nvPr/>
        </p:nvSpPr>
        <p:spPr>
          <a:xfrm>
            <a:off x="685800" y="1005840"/>
            <a:ext cx="4846320" cy="1280160"/>
          </a:xfrm>
          <a:prstGeom prst="rect">
            <a:avLst/>
          </a:prstGeom>
          <a:noFill/>
        </p:spPr>
        <p:txBody>
          <a:bodyPr wrap="square" anchor="t" lIns="0" rIns="0" tIns="0" bIns="0">
            <a:spAutoFit/>
          </a:bodyPr>
          <a:lstStyle/>
          <a:p>
            <a:pPr algn="l">
              <a:lnSpc>
                <a:spcPct val="105000"/>
              </a:lnSpc>
            </a:pPr>
            <a:r>
              <a:rPr sz="2500" b="1" i="0">
                <a:solidFill>
                  <a:srgbClr val="221F33"/>
                </a:solidFill>
                <a:latin typeface="Arial Rounded MT Bold"/>
              </a:rPr>
              <a:t>One-Way</a:t>
            </a:r>
          </a:p>
        </p:txBody>
      </p:sp>
      <p:sp>
        <p:nvSpPr>
          <p:cNvPr id="7" name="TextBox 6"/>
          <p:cNvSpPr txBox="1"/>
          <p:nvPr/>
        </p:nvSpPr>
        <p:spPr>
          <a:xfrm>
            <a:off x="685800" y="2148840"/>
            <a:ext cx="4846320" cy="2377440"/>
          </a:xfrm>
          <a:prstGeom prst="rect">
            <a:avLst/>
          </a:prstGeom>
          <a:noFill/>
        </p:spPr>
        <p:txBody>
          <a:bodyPr wrap="square" anchor="t" lIns="0" rIns="0" tIns="0" bIns="0">
            <a:spAutoFit/>
          </a:bodyPr>
          <a:lstStyle/>
          <a:p>
            <a:pPr algn="l">
              <a:lnSpc>
                <a:spcPct val="142000"/>
              </a:lnSpc>
            </a:pPr>
            <a:r>
              <a:rPr sz="1250" b="0" i="0">
                <a:solidFill>
                  <a:srgbClr val="8B8899"/>
                </a:solidFill>
                <a:latin typeface="Arial"/>
              </a:rPr>
              <a:t>Given a hash, there's no way to work backwards to the original input — easy to fall through, impossible to climb back up.</a:t>
            </a:r>
          </a:p>
        </p:txBody>
      </p:sp>
      <p:sp>
        <p:nvSpPr>
          <p:cNvPr id="8" name="Rounded Rectangle 7"/>
          <p:cNvSpPr/>
          <p:nvPr/>
        </p:nvSpPr>
        <p:spPr>
          <a:xfrm>
            <a:off x="685800" y="4892040"/>
            <a:ext cx="4846320" cy="1234440"/>
          </a:xfrm>
          <a:prstGeom prst="roundRect">
            <a:avLst>
              <a:gd name="adj" fmla="val 8000"/>
            </a:avLst>
          </a:prstGeom>
          <a:solidFill>
            <a:srgbClr val="F6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29200"/>
            <a:ext cx="4389120" cy="274320"/>
          </a:xfrm>
          <a:prstGeom prst="rect">
            <a:avLst/>
          </a:prstGeom>
          <a:noFill/>
        </p:spPr>
        <p:txBody>
          <a:bodyPr wrap="square" anchor="t" lIns="0" rIns="0" tIns="0" bIns="0">
            <a:spAutoFit/>
          </a:bodyPr>
          <a:lstStyle/>
          <a:p>
            <a:pPr algn="l">
              <a:lnSpc>
                <a:spcPct val="115000"/>
              </a:lnSpc>
            </a:pPr>
            <a:r>
              <a:rPr sz="950" b="1" i="0">
                <a:solidFill>
                  <a:srgbClr val="F2734B"/>
                </a:solidFill>
                <a:latin typeface="Arial"/>
              </a:rPr>
              <a:t>EXAMPLE</a:t>
            </a:r>
          </a:p>
        </p:txBody>
      </p:sp>
      <p:sp>
        <p:nvSpPr>
          <p:cNvPr id="10" name="TextBox 9"/>
          <p:cNvSpPr txBox="1"/>
          <p:nvPr/>
        </p:nvSpPr>
        <p:spPr>
          <a:xfrm>
            <a:off x="914400" y="5321808"/>
            <a:ext cx="4389120" cy="685800"/>
          </a:xfrm>
          <a:prstGeom prst="rect">
            <a:avLst/>
          </a:prstGeom>
          <a:noFill/>
        </p:spPr>
        <p:txBody>
          <a:bodyPr wrap="square" anchor="t" lIns="0" rIns="0" tIns="0" bIns="0">
            <a:spAutoFit/>
          </a:bodyPr>
          <a:lstStyle/>
          <a:p>
            <a:pPr algn="l">
              <a:lnSpc>
                <a:spcPct val="125000"/>
              </a:lnSpc>
            </a:pPr>
            <a:r>
              <a:rPr sz="1100" b="0" i="0">
                <a:solidFill>
                  <a:srgbClr val="221F33"/>
                </a:solidFill>
                <a:latin typeface="Courier New"/>
              </a:rPr>
              <a:t>Can't reverse a fingerprint into a face.</a:t>
            </a:r>
          </a:p>
        </p:txBody>
      </p:sp>
      <p:sp>
        <p:nvSpPr>
          <p:cNvPr id="11" name="Freeform 10"/>
          <p:cNvSpPr/>
          <p:nvPr/>
        </p:nvSpPr>
        <p:spPr>
          <a:xfrm>
            <a:off x="10744591" y="502920"/>
            <a:ext cx="776751" cy="1051560"/>
          </a:xfrm>
          <a:custGeom>
            <a:avLst/>
            <a:gdLst/>
            <a:ahLst/>
            <a:cxnLst/>
            <a:rect l="l" t="t" r="r" b="b"/>
            <a:pathLst>
              <a:path w="776751" h="1051560">
                <a:moveTo>
                  <a:pt x="388229" y="0"/>
                </a:moveTo>
                <a:lnTo>
                  <a:pt x="499995" y="37555"/>
                </a:lnTo>
                <a:lnTo>
                  <a:pt x="602318" y="75111"/>
                </a:lnTo>
                <a:lnTo>
                  <a:pt x="686551" y="112667"/>
                </a:lnTo>
                <a:lnTo>
                  <a:pt x="745575" y="150222"/>
                </a:lnTo>
                <a:lnTo>
                  <a:pt x="774405" y="187778"/>
                </a:lnTo>
                <a:lnTo>
                  <a:pt x="770603" y="225334"/>
                </a:lnTo>
                <a:lnTo>
                  <a:pt x="734491" y="262890"/>
                </a:lnTo>
                <a:lnTo>
                  <a:pt x="669121" y="300445"/>
                </a:lnTo>
                <a:lnTo>
                  <a:pt x="580016" y="338001"/>
                </a:lnTo>
                <a:lnTo>
                  <a:pt x="474705" y="375557"/>
                </a:lnTo>
                <a:lnTo>
                  <a:pt x="362086" y="413112"/>
                </a:lnTo>
                <a:lnTo>
                  <a:pt x="251677" y="450668"/>
                </a:lnTo>
                <a:lnTo>
                  <a:pt x="152806" y="488224"/>
                </a:lnTo>
                <a:lnTo>
                  <a:pt x="73828" y="525780"/>
                </a:lnTo>
                <a:lnTo>
                  <a:pt x="21417" y="563335"/>
                </a:lnTo>
                <a:lnTo>
                  <a:pt x="0" y="600891"/>
                </a:lnTo>
                <a:lnTo>
                  <a:pt x="11388" y="638447"/>
                </a:lnTo>
                <a:lnTo>
                  <a:pt x="54618" y="676002"/>
                </a:lnTo>
                <a:lnTo>
                  <a:pt x="126038" y="713558"/>
                </a:lnTo>
                <a:lnTo>
                  <a:pt x="219613" y="751114"/>
                </a:lnTo>
                <a:lnTo>
                  <a:pt x="327435" y="788670"/>
                </a:lnTo>
                <a:lnTo>
                  <a:pt x="440394" y="826225"/>
                </a:lnTo>
                <a:lnTo>
                  <a:pt x="548946" y="863781"/>
                </a:lnTo>
                <a:lnTo>
                  <a:pt x="643917" y="901337"/>
                </a:lnTo>
                <a:lnTo>
                  <a:pt x="717282" y="938892"/>
                </a:lnTo>
                <a:lnTo>
                  <a:pt x="762844" y="976448"/>
                </a:lnTo>
                <a:lnTo>
                  <a:pt x="776751" y="1014004"/>
                </a:lnTo>
                <a:lnTo>
                  <a:pt x="757828" y="1051560"/>
                </a:lnTo>
              </a:path>
            </a:pathLst>
          </a:custGeom>
          <a:noFill/>
          <a:ln w="68580" cap="rnd">
            <a:solidFill>
              <a:srgbClr val="FDC6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8B8899"/>
                </a:solidFill>
                <a:latin typeface="Courier New"/>
              </a:rPr>
              <a:t>08/18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c_sp6_core.jpg"/>
          <p:cNvPicPr>
            <a:picLocks noChangeAspect="1"/>
          </p:cNvPicPr>
          <p:nvPr/>
        </p:nvPicPr>
        <p:blipFill>
          <a:blip r:embed="rId2"/>
          <a:stretch>
            <a:fillRect/>
          </a:stretch>
        </p:blipFill>
        <p:spPr>
          <a:xfrm>
            <a:off x="685800" y="1234440"/>
            <a:ext cx="4572000" cy="4297680"/>
          </a:xfrm>
          <a:prstGeom prst="rect">
            <a:avLst/>
          </a:prstGeom>
        </p:spPr>
      </p:pic>
      <p:sp>
        <p:nvSpPr>
          <p:cNvPr id="4" name="Oval 3"/>
          <p:cNvSpPr/>
          <p:nvPr/>
        </p:nvSpPr>
        <p:spPr>
          <a:xfrm>
            <a:off x="4526280" y="868680"/>
            <a:ext cx="502920" cy="502920"/>
          </a:xfrm>
          <a:prstGeom prst="ellipse">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0" y="640080"/>
            <a:ext cx="4846320" cy="320040"/>
          </a:xfrm>
          <a:prstGeom prst="rect">
            <a:avLst/>
          </a:prstGeom>
          <a:noFill/>
        </p:spPr>
        <p:txBody>
          <a:bodyPr wrap="square" anchor="t" lIns="0" rIns="0" tIns="0" bIns="0">
            <a:spAutoFit/>
          </a:bodyPr>
          <a:lstStyle/>
          <a:p>
            <a:pPr algn="l">
              <a:lnSpc>
                <a:spcPct val="115000"/>
              </a:lnSpc>
            </a:pPr>
            <a:r>
              <a:rPr sz="1150" b="1" i="0">
                <a:solidFill>
                  <a:srgbClr val="F2734B"/>
                </a:solidFill>
                <a:latin typeface="Arial"/>
              </a:rPr>
              <a:t>KEY IDEA 3 / 4</a:t>
            </a:r>
          </a:p>
        </p:txBody>
      </p:sp>
      <p:sp>
        <p:nvSpPr>
          <p:cNvPr id="6" name="TextBox 5"/>
          <p:cNvSpPr txBox="1"/>
          <p:nvPr/>
        </p:nvSpPr>
        <p:spPr>
          <a:xfrm>
            <a:off x="6309360" y="1005840"/>
            <a:ext cx="4846320" cy="1280160"/>
          </a:xfrm>
          <a:prstGeom prst="rect">
            <a:avLst/>
          </a:prstGeom>
          <a:noFill/>
        </p:spPr>
        <p:txBody>
          <a:bodyPr wrap="square" anchor="t" lIns="0" rIns="0" tIns="0" bIns="0">
            <a:spAutoFit/>
          </a:bodyPr>
          <a:lstStyle/>
          <a:p>
            <a:pPr algn="l">
              <a:lnSpc>
                <a:spcPct val="105000"/>
              </a:lnSpc>
            </a:pPr>
            <a:r>
              <a:rPr sz="2500" b="1" i="0">
                <a:solidFill>
                  <a:srgbClr val="221F33"/>
                </a:solidFill>
                <a:latin typeface="Arial Rounded MT Bold"/>
              </a:rPr>
              <a:t>Avalanche Effect</a:t>
            </a:r>
          </a:p>
        </p:txBody>
      </p:sp>
      <p:sp>
        <p:nvSpPr>
          <p:cNvPr id="7" name="TextBox 6"/>
          <p:cNvSpPr txBox="1"/>
          <p:nvPr/>
        </p:nvSpPr>
        <p:spPr>
          <a:xfrm>
            <a:off x="6309360" y="2148840"/>
            <a:ext cx="4846320" cy="2377440"/>
          </a:xfrm>
          <a:prstGeom prst="rect">
            <a:avLst/>
          </a:prstGeom>
          <a:noFill/>
        </p:spPr>
        <p:txBody>
          <a:bodyPr wrap="square" anchor="t" lIns="0" rIns="0" tIns="0" bIns="0">
            <a:spAutoFit/>
          </a:bodyPr>
          <a:lstStyle/>
          <a:p>
            <a:pPr algn="l">
              <a:lnSpc>
                <a:spcPct val="142000"/>
              </a:lnSpc>
            </a:pPr>
            <a:r>
              <a:rPr sz="1250" b="0" i="0">
                <a:solidFill>
                  <a:srgbClr val="8B8899"/>
                </a:solidFill>
                <a:latin typeface="Arial"/>
              </a:rPr>
              <a:t>Changing one character of input produces a completely different, unrecognizable hash. No partial similarity, ever.</a:t>
            </a:r>
          </a:p>
        </p:txBody>
      </p:sp>
      <p:sp>
        <p:nvSpPr>
          <p:cNvPr id="8" name="Rounded Rectangle 7"/>
          <p:cNvSpPr/>
          <p:nvPr/>
        </p:nvSpPr>
        <p:spPr>
          <a:xfrm>
            <a:off x="6309360" y="4892040"/>
            <a:ext cx="4846320" cy="1234440"/>
          </a:xfrm>
          <a:prstGeom prst="roundRect">
            <a:avLst>
              <a:gd name="adj" fmla="val 8000"/>
            </a:avLst>
          </a:prstGeom>
          <a:solidFill>
            <a:srgbClr val="F6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5029200"/>
            <a:ext cx="4389120" cy="274320"/>
          </a:xfrm>
          <a:prstGeom prst="rect">
            <a:avLst/>
          </a:prstGeom>
          <a:noFill/>
        </p:spPr>
        <p:txBody>
          <a:bodyPr wrap="square" anchor="t" lIns="0" rIns="0" tIns="0" bIns="0">
            <a:spAutoFit/>
          </a:bodyPr>
          <a:lstStyle/>
          <a:p>
            <a:pPr algn="l">
              <a:lnSpc>
                <a:spcPct val="115000"/>
              </a:lnSpc>
            </a:pPr>
            <a:r>
              <a:rPr sz="950" b="1" i="0">
                <a:solidFill>
                  <a:srgbClr val="F2734B"/>
                </a:solidFill>
                <a:latin typeface="Arial"/>
              </a:rPr>
              <a:t>EXAMPLE</a:t>
            </a:r>
          </a:p>
        </p:txBody>
      </p:sp>
      <p:sp>
        <p:nvSpPr>
          <p:cNvPr id="10" name="TextBox 9"/>
          <p:cNvSpPr txBox="1"/>
          <p:nvPr/>
        </p:nvSpPr>
        <p:spPr>
          <a:xfrm>
            <a:off x="6537960" y="5321808"/>
            <a:ext cx="4389120" cy="685800"/>
          </a:xfrm>
          <a:prstGeom prst="rect">
            <a:avLst/>
          </a:prstGeom>
          <a:noFill/>
        </p:spPr>
        <p:txBody>
          <a:bodyPr wrap="square" anchor="t" lIns="0" rIns="0" tIns="0" bIns="0">
            <a:spAutoFit/>
          </a:bodyPr>
          <a:lstStyle/>
          <a:p>
            <a:pPr algn="l">
              <a:lnSpc>
                <a:spcPct val="125000"/>
              </a:lnSpc>
            </a:pPr>
            <a:r>
              <a:rPr sz="1100" b="0" i="0">
                <a:solidFill>
                  <a:srgbClr val="221F33"/>
                </a:solidFill>
                <a:latin typeface="Courier New"/>
              </a:rPr>
              <a:t>"Alice" vs "Alicf" → totally unrelated hashes</a:t>
            </a:r>
          </a:p>
        </p:txBody>
      </p:sp>
      <p:sp>
        <p:nvSpPr>
          <p:cNvPr id="11" name="Freeform 10"/>
          <p:cNvSpPr/>
          <p:nvPr/>
        </p:nvSpPr>
        <p:spPr>
          <a:xfrm>
            <a:off x="10744591" y="502920"/>
            <a:ext cx="776751" cy="1051560"/>
          </a:xfrm>
          <a:custGeom>
            <a:avLst/>
            <a:gdLst/>
            <a:ahLst/>
            <a:cxnLst/>
            <a:rect l="l" t="t" r="r" b="b"/>
            <a:pathLst>
              <a:path w="776751" h="1051560">
                <a:moveTo>
                  <a:pt x="388229" y="0"/>
                </a:moveTo>
                <a:lnTo>
                  <a:pt x="499995" y="37555"/>
                </a:lnTo>
                <a:lnTo>
                  <a:pt x="602318" y="75111"/>
                </a:lnTo>
                <a:lnTo>
                  <a:pt x="686551" y="112667"/>
                </a:lnTo>
                <a:lnTo>
                  <a:pt x="745575" y="150222"/>
                </a:lnTo>
                <a:lnTo>
                  <a:pt x="774405" y="187778"/>
                </a:lnTo>
                <a:lnTo>
                  <a:pt x="770603" y="225334"/>
                </a:lnTo>
                <a:lnTo>
                  <a:pt x="734491" y="262890"/>
                </a:lnTo>
                <a:lnTo>
                  <a:pt x="669121" y="300445"/>
                </a:lnTo>
                <a:lnTo>
                  <a:pt x="580016" y="338001"/>
                </a:lnTo>
                <a:lnTo>
                  <a:pt x="474705" y="375557"/>
                </a:lnTo>
                <a:lnTo>
                  <a:pt x="362086" y="413112"/>
                </a:lnTo>
                <a:lnTo>
                  <a:pt x="251677" y="450668"/>
                </a:lnTo>
                <a:lnTo>
                  <a:pt x="152806" y="488224"/>
                </a:lnTo>
                <a:lnTo>
                  <a:pt x="73828" y="525780"/>
                </a:lnTo>
                <a:lnTo>
                  <a:pt x="21417" y="563335"/>
                </a:lnTo>
                <a:lnTo>
                  <a:pt x="0" y="600891"/>
                </a:lnTo>
                <a:lnTo>
                  <a:pt x="11388" y="638447"/>
                </a:lnTo>
                <a:lnTo>
                  <a:pt x="54618" y="676002"/>
                </a:lnTo>
                <a:lnTo>
                  <a:pt x="126038" y="713558"/>
                </a:lnTo>
                <a:lnTo>
                  <a:pt x="219613" y="751114"/>
                </a:lnTo>
                <a:lnTo>
                  <a:pt x="327435" y="788670"/>
                </a:lnTo>
                <a:lnTo>
                  <a:pt x="440394" y="826225"/>
                </a:lnTo>
                <a:lnTo>
                  <a:pt x="548946" y="863781"/>
                </a:lnTo>
                <a:lnTo>
                  <a:pt x="643917" y="901337"/>
                </a:lnTo>
                <a:lnTo>
                  <a:pt x="717282" y="938892"/>
                </a:lnTo>
                <a:lnTo>
                  <a:pt x="762844" y="976448"/>
                </a:lnTo>
                <a:lnTo>
                  <a:pt x="776751" y="1014004"/>
                </a:lnTo>
                <a:lnTo>
                  <a:pt x="757828" y="1051560"/>
                </a:lnTo>
              </a:path>
            </a:pathLst>
          </a:custGeom>
          <a:noFill/>
          <a:ln w="68580" cap="rnd">
            <a:solidFill>
              <a:srgbClr val="FDC6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8B8899"/>
                </a:solidFill>
                <a:latin typeface="Courier New"/>
              </a:rPr>
              <a:t>09/18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c_sp10_sub3.jpg"/>
          <p:cNvPicPr>
            <a:picLocks noChangeAspect="1"/>
          </p:cNvPicPr>
          <p:nvPr/>
        </p:nvPicPr>
        <p:blipFill>
          <a:blip r:embed="rId2"/>
          <a:stretch>
            <a:fillRect/>
          </a:stretch>
        </p:blipFill>
        <p:spPr>
          <a:xfrm>
            <a:off x="6949440" y="1234440"/>
            <a:ext cx="4572000" cy="4297680"/>
          </a:xfrm>
          <a:prstGeom prst="rect">
            <a:avLst/>
          </a:prstGeom>
        </p:spPr>
      </p:pic>
      <p:sp>
        <p:nvSpPr>
          <p:cNvPr id="4" name="Oval 3"/>
          <p:cNvSpPr/>
          <p:nvPr/>
        </p:nvSpPr>
        <p:spPr>
          <a:xfrm>
            <a:off x="10789920" y="868680"/>
            <a:ext cx="502920" cy="502920"/>
          </a:xfrm>
          <a:prstGeom prst="ellipse">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40080"/>
            <a:ext cx="4846320" cy="320040"/>
          </a:xfrm>
          <a:prstGeom prst="rect">
            <a:avLst/>
          </a:prstGeom>
          <a:noFill/>
        </p:spPr>
        <p:txBody>
          <a:bodyPr wrap="square" anchor="t" lIns="0" rIns="0" tIns="0" bIns="0">
            <a:spAutoFit/>
          </a:bodyPr>
          <a:lstStyle/>
          <a:p>
            <a:pPr algn="l">
              <a:lnSpc>
                <a:spcPct val="115000"/>
              </a:lnSpc>
            </a:pPr>
            <a:r>
              <a:rPr sz="1150" b="1" i="0">
                <a:solidFill>
                  <a:srgbClr val="F2734B"/>
                </a:solidFill>
                <a:latin typeface="Arial"/>
              </a:rPr>
              <a:t>KEY IDEA 4 / 4</a:t>
            </a:r>
          </a:p>
        </p:txBody>
      </p:sp>
      <p:sp>
        <p:nvSpPr>
          <p:cNvPr id="6" name="TextBox 5"/>
          <p:cNvSpPr txBox="1"/>
          <p:nvPr/>
        </p:nvSpPr>
        <p:spPr>
          <a:xfrm>
            <a:off x="685800" y="1005840"/>
            <a:ext cx="4846320" cy="1280160"/>
          </a:xfrm>
          <a:prstGeom prst="rect">
            <a:avLst/>
          </a:prstGeom>
          <a:noFill/>
        </p:spPr>
        <p:txBody>
          <a:bodyPr wrap="square" anchor="t" lIns="0" rIns="0" tIns="0" bIns="0">
            <a:spAutoFit/>
          </a:bodyPr>
          <a:lstStyle/>
          <a:p>
            <a:pPr algn="l">
              <a:lnSpc>
                <a:spcPct val="105000"/>
              </a:lnSpc>
            </a:pPr>
            <a:r>
              <a:rPr sz="2500" b="1" i="0">
                <a:solidFill>
                  <a:srgbClr val="221F33"/>
                </a:solidFill>
                <a:latin typeface="Arial Rounded MT Bold"/>
              </a:rPr>
              <a:t>Collision-Resistant</a:t>
            </a:r>
          </a:p>
        </p:txBody>
      </p:sp>
      <p:sp>
        <p:nvSpPr>
          <p:cNvPr id="7" name="TextBox 6"/>
          <p:cNvSpPr txBox="1"/>
          <p:nvPr/>
        </p:nvSpPr>
        <p:spPr>
          <a:xfrm>
            <a:off x="685800" y="2148840"/>
            <a:ext cx="4846320" cy="2377440"/>
          </a:xfrm>
          <a:prstGeom prst="rect">
            <a:avLst/>
          </a:prstGeom>
          <a:noFill/>
        </p:spPr>
        <p:txBody>
          <a:bodyPr wrap="square" anchor="t" lIns="0" rIns="0" tIns="0" bIns="0">
            <a:spAutoFit/>
          </a:bodyPr>
          <a:lstStyle/>
          <a:p>
            <a:pPr algn="l">
              <a:lnSpc>
                <a:spcPct val="142000"/>
              </a:lnSpc>
            </a:pPr>
            <a:r>
              <a:rPr sz="1250" b="0" i="0">
                <a:solidFill>
                  <a:srgbClr val="8B8899"/>
                </a:solidFill>
                <a:latin typeface="Arial"/>
              </a:rPr>
              <a:t>Practically impossible to find two different inputs producing the same hash — one hash, one piece of data.</a:t>
            </a:r>
          </a:p>
        </p:txBody>
      </p:sp>
      <p:sp>
        <p:nvSpPr>
          <p:cNvPr id="8" name="Rounded Rectangle 7"/>
          <p:cNvSpPr/>
          <p:nvPr/>
        </p:nvSpPr>
        <p:spPr>
          <a:xfrm>
            <a:off x="685800" y="4892040"/>
            <a:ext cx="4846320" cy="1234440"/>
          </a:xfrm>
          <a:prstGeom prst="roundRect">
            <a:avLst>
              <a:gd name="adj" fmla="val 8000"/>
            </a:avLst>
          </a:prstGeom>
          <a:solidFill>
            <a:srgbClr val="F6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29200"/>
            <a:ext cx="4389120" cy="274320"/>
          </a:xfrm>
          <a:prstGeom prst="rect">
            <a:avLst/>
          </a:prstGeom>
          <a:noFill/>
        </p:spPr>
        <p:txBody>
          <a:bodyPr wrap="square" anchor="t" lIns="0" rIns="0" tIns="0" bIns="0">
            <a:spAutoFit/>
          </a:bodyPr>
          <a:lstStyle/>
          <a:p>
            <a:pPr algn="l">
              <a:lnSpc>
                <a:spcPct val="115000"/>
              </a:lnSpc>
            </a:pPr>
            <a:r>
              <a:rPr sz="950" b="1" i="0">
                <a:solidFill>
                  <a:srgbClr val="F2734B"/>
                </a:solidFill>
                <a:latin typeface="Arial"/>
              </a:rPr>
              <a:t>EXAMPLE</a:t>
            </a:r>
          </a:p>
        </p:txBody>
      </p:sp>
      <p:sp>
        <p:nvSpPr>
          <p:cNvPr id="10" name="TextBox 9"/>
          <p:cNvSpPr txBox="1"/>
          <p:nvPr/>
        </p:nvSpPr>
        <p:spPr>
          <a:xfrm>
            <a:off x="914400" y="5321808"/>
            <a:ext cx="4389120" cy="685800"/>
          </a:xfrm>
          <a:prstGeom prst="rect">
            <a:avLst/>
          </a:prstGeom>
          <a:noFill/>
        </p:spPr>
        <p:txBody>
          <a:bodyPr wrap="square" anchor="t" lIns="0" rIns="0" tIns="0" bIns="0">
            <a:spAutoFit/>
          </a:bodyPr>
          <a:lstStyle/>
          <a:p>
            <a:pPr algn="l">
              <a:lnSpc>
                <a:spcPct val="125000"/>
              </a:lnSpc>
            </a:pPr>
            <a:r>
              <a:rPr sz="1100" b="0" i="0">
                <a:solidFill>
                  <a:srgbClr val="221F33"/>
                </a:solidFill>
                <a:latin typeface="Courier New"/>
              </a:rPr>
              <a:t>No two files should share a SHA-256 hash.</a:t>
            </a:r>
          </a:p>
        </p:txBody>
      </p:sp>
      <p:sp>
        <p:nvSpPr>
          <p:cNvPr id="11" name="Freeform 10"/>
          <p:cNvSpPr/>
          <p:nvPr/>
        </p:nvSpPr>
        <p:spPr>
          <a:xfrm>
            <a:off x="10744591" y="502920"/>
            <a:ext cx="776751" cy="1051560"/>
          </a:xfrm>
          <a:custGeom>
            <a:avLst/>
            <a:gdLst/>
            <a:ahLst/>
            <a:cxnLst/>
            <a:rect l="l" t="t" r="r" b="b"/>
            <a:pathLst>
              <a:path w="776751" h="1051560">
                <a:moveTo>
                  <a:pt x="388229" y="0"/>
                </a:moveTo>
                <a:lnTo>
                  <a:pt x="499995" y="37555"/>
                </a:lnTo>
                <a:lnTo>
                  <a:pt x="602318" y="75111"/>
                </a:lnTo>
                <a:lnTo>
                  <a:pt x="686551" y="112667"/>
                </a:lnTo>
                <a:lnTo>
                  <a:pt x="745575" y="150222"/>
                </a:lnTo>
                <a:lnTo>
                  <a:pt x="774405" y="187778"/>
                </a:lnTo>
                <a:lnTo>
                  <a:pt x="770603" y="225334"/>
                </a:lnTo>
                <a:lnTo>
                  <a:pt x="734491" y="262890"/>
                </a:lnTo>
                <a:lnTo>
                  <a:pt x="669121" y="300445"/>
                </a:lnTo>
                <a:lnTo>
                  <a:pt x="580016" y="338001"/>
                </a:lnTo>
                <a:lnTo>
                  <a:pt x="474705" y="375557"/>
                </a:lnTo>
                <a:lnTo>
                  <a:pt x="362086" y="413112"/>
                </a:lnTo>
                <a:lnTo>
                  <a:pt x="251677" y="450668"/>
                </a:lnTo>
                <a:lnTo>
                  <a:pt x="152806" y="488224"/>
                </a:lnTo>
                <a:lnTo>
                  <a:pt x="73828" y="525780"/>
                </a:lnTo>
                <a:lnTo>
                  <a:pt x="21417" y="563335"/>
                </a:lnTo>
                <a:lnTo>
                  <a:pt x="0" y="600891"/>
                </a:lnTo>
                <a:lnTo>
                  <a:pt x="11388" y="638447"/>
                </a:lnTo>
                <a:lnTo>
                  <a:pt x="54618" y="676002"/>
                </a:lnTo>
                <a:lnTo>
                  <a:pt x="126038" y="713558"/>
                </a:lnTo>
                <a:lnTo>
                  <a:pt x="219613" y="751114"/>
                </a:lnTo>
                <a:lnTo>
                  <a:pt x="327435" y="788670"/>
                </a:lnTo>
                <a:lnTo>
                  <a:pt x="440394" y="826225"/>
                </a:lnTo>
                <a:lnTo>
                  <a:pt x="548946" y="863781"/>
                </a:lnTo>
                <a:lnTo>
                  <a:pt x="643917" y="901337"/>
                </a:lnTo>
                <a:lnTo>
                  <a:pt x="717282" y="938892"/>
                </a:lnTo>
                <a:lnTo>
                  <a:pt x="762844" y="976448"/>
                </a:lnTo>
                <a:lnTo>
                  <a:pt x="776751" y="1014004"/>
                </a:lnTo>
                <a:lnTo>
                  <a:pt x="757828" y="1051560"/>
                </a:lnTo>
              </a:path>
            </a:pathLst>
          </a:custGeom>
          <a:noFill/>
          <a:ln w="68580" cap="rnd">
            <a:solidFill>
              <a:srgbClr val="FDC6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8B8899"/>
                </a:solidFill>
                <a:latin typeface="Courier New"/>
              </a:rPr>
              <a:t>10/18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8229600" cy="320040"/>
          </a:xfrm>
          <a:prstGeom prst="rect">
            <a:avLst/>
          </a:prstGeom>
          <a:noFill/>
        </p:spPr>
        <p:txBody>
          <a:bodyPr wrap="square" anchor="t" lIns="0" rIns="0" tIns="0" bIns="0">
            <a:spAutoFit/>
          </a:bodyPr>
          <a:lstStyle/>
          <a:p>
            <a:pPr algn="l">
              <a:lnSpc>
                <a:spcPct val="115000"/>
              </a:lnSpc>
            </a:pPr>
            <a:r>
              <a:rPr sz="1150" b="1" i="0">
                <a:solidFill>
                  <a:srgbClr val="F2734B"/>
                </a:solidFill>
                <a:latin typeface="Arial"/>
              </a:rPr>
              <a:t>WORKED EXAMPLE — PART 1</a:t>
            </a:r>
          </a:p>
        </p:txBody>
      </p:sp>
      <p:sp>
        <p:nvSpPr>
          <p:cNvPr id="4" name="TextBox 3"/>
          <p:cNvSpPr txBox="1"/>
          <p:nvPr/>
        </p:nvSpPr>
        <p:spPr>
          <a:xfrm>
            <a:off x="685800" y="914400"/>
            <a:ext cx="10332720" cy="822960"/>
          </a:xfrm>
          <a:prstGeom prst="rect">
            <a:avLst/>
          </a:prstGeom>
          <a:noFill/>
        </p:spPr>
        <p:txBody>
          <a:bodyPr wrap="square" anchor="t" lIns="0" rIns="0" tIns="0" bIns="0">
            <a:spAutoFit/>
          </a:bodyPr>
          <a:lstStyle/>
          <a:p>
            <a:pPr algn="l">
              <a:lnSpc>
                <a:spcPct val="115000"/>
              </a:lnSpc>
            </a:pPr>
            <a:r>
              <a:rPr sz="2400" b="1" i="0">
                <a:solidFill>
                  <a:srgbClr val="221F33"/>
                </a:solidFill>
                <a:latin typeface="Arial Rounded MT Bold"/>
              </a:rPr>
              <a:t>Determinism, Proven On A Real Machine</a:t>
            </a:r>
          </a:p>
        </p:txBody>
      </p:sp>
      <p:sp>
        <p:nvSpPr>
          <p:cNvPr id="5" name="Rounded Rectangle 4"/>
          <p:cNvSpPr/>
          <p:nvPr/>
        </p:nvSpPr>
        <p:spPr>
          <a:xfrm>
            <a:off x="685800" y="1737360"/>
            <a:ext cx="10789920" cy="3840480"/>
          </a:xfrm>
          <a:prstGeom prst="roundRect">
            <a:avLst>
              <a:gd name="adj" fmla="val 4500"/>
            </a:avLst>
          </a:prstGeom>
          <a:solidFill>
            <a:srgbClr val="1E27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41832" y="1938528"/>
            <a:ext cx="118872" cy="118872"/>
          </a:xfrm>
          <a:prstGeom prst="ellipse">
            <a:avLst/>
          </a:prstGeom>
          <a:solidFill>
            <a:srgbClr val="F27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61288" y="1938528"/>
            <a:ext cx="118872" cy="118872"/>
          </a:xfrm>
          <a:prstGeom prst="ellipse">
            <a:avLst/>
          </a:prstGeom>
          <a:solidFill>
            <a:srgbClr val="FDC6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80744" y="1938528"/>
            <a:ext cx="118872" cy="118872"/>
          </a:xfrm>
          <a:prstGeom prst="ellipse">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286000"/>
            <a:ext cx="10149840" cy="3154680"/>
          </a:xfrm>
          <a:prstGeom prst="rect">
            <a:avLst/>
          </a:prstGeom>
          <a:noFill/>
        </p:spPr>
        <p:txBody>
          <a:bodyPr wrap="square" anchor="t" lIns="0" rIns="0" tIns="0" bIns="0">
            <a:spAutoFit/>
          </a:bodyPr>
          <a:lstStyle/>
          <a:p>
            <a:pPr algn="l">
              <a:lnSpc>
                <a:spcPct val="140000"/>
              </a:lnSpc>
            </a:pPr>
            <a:r>
              <a:rPr sz="1300" b="1">
                <a:solidFill>
                  <a:srgbClr val="E7E4F5"/>
                </a:solidFill>
                <a:latin typeface="Courier New"/>
              </a:rPr>
              <a:t>$ </a:t>
            </a:r>
            <a:r>
              <a:rPr sz="1300" b="0">
                <a:solidFill>
                  <a:srgbClr val="E7E4F5"/>
                </a:solidFill>
                <a:latin typeface="Courier New"/>
              </a:rPr>
              <a:t>echo -n "hello" | shasum -a 256</a:t>
            </a:r>
          </a:p>
          <a:p>
            <a:pPr algn="l">
              <a:lnSpc>
                <a:spcPct val="140000"/>
              </a:lnSpc>
            </a:pPr>
            <a:r>
              <a:rPr sz="1300" b="0">
                <a:solidFill>
                  <a:srgbClr val="7AE3B8"/>
                </a:solidFill>
                <a:latin typeface="Courier New"/>
              </a:rPr>
              <a:t>2cf24dba5fb0a30e26e83b2ac5b9e29e1b161e5c1fa7425e73043362938b9824</a:t>
            </a:r>
          </a:p>
          <a:p>
            <a:pPr algn="l">
              <a:lnSpc>
                <a:spcPct val="140000"/>
              </a:lnSpc>
            </a:pPr>
            <a:r>
              <a:rPr sz="1300" b="0">
                <a:solidFill>
                  <a:srgbClr val="E7E4F5"/>
                </a:solidFill>
                <a:latin typeface="Courier New"/>
              </a:rPr>
              <a:t/>
            </a:r>
          </a:p>
          <a:p>
            <a:pPr algn="l">
              <a:lnSpc>
                <a:spcPct val="140000"/>
              </a:lnSpc>
            </a:pPr>
            <a:r>
              <a:rPr sz="1300" b="0">
                <a:solidFill>
                  <a:srgbClr val="8B8899"/>
                </a:solidFill>
                <a:latin typeface="Courier New"/>
              </a:rPr>
              <a:t># run it again —</a:t>
            </a:r>
          </a:p>
          <a:p>
            <a:pPr algn="l">
              <a:lnSpc>
                <a:spcPct val="140000"/>
              </a:lnSpc>
            </a:pPr>
            <a:r>
              <a:rPr sz="1300" b="1">
                <a:solidFill>
                  <a:srgbClr val="E7E4F5"/>
                </a:solidFill>
                <a:latin typeface="Courier New"/>
              </a:rPr>
              <a:t>$ </a:t>
            </a:r>
            <a:r>
              <a:rPr sz="1300" b="0">
                <a:solidFill>
                  <a:srgbClr val="E7E4F5"/>
                </a:solidFill>
                <a:latin typeface="Courier New"/>
              </a:rPr>
              <a:t>echo -n "hello" | shasum -a 256</a:t>
            </a:r>
          </a:p>
          <a:p>
            <a:pPr algn="l">
              <a:lnSpc>
                <a:spcPct val="140000"/>
              </a:lnSpc>
            </a:pPr>
            <a:r>
              <a:rPr sz="1300" b="0">
                <a:solidFill>
                  <a:srgbClr val="7AE3B8"/>
                </a:solidFill>
                <a:latin typeface="Courier New"/>
              </a:rPr>
              <a:t>2cf24dba5fb0a30e26e83b2ac5b9e29e1b161e5c1fa7425e73043362938b9824</a:t>
            </a:r>
          </a:p>
          <a:p>
            <a:pPr algn="l">
              <a:lnSpc>
                <a:spcPct val="140000"/>
              </a:lnSpc>
            </a:pPr>
            <a:r>
              <a:rPr sz="1300" b="0">
                <a:solidFill>
                  <a:srgbClr val="8B8899"/>
                </a:solidFill>
                <a:latin typeface="Courier New"/>
              </a:rPr>
              <a:t># identical, every time. no randomness.</a:t>
            </a:r>
          </a:p>
        </p:txBody>
      </p:sp>
      <p:sp>
        <p:nvSpPr>
          <p:cNvPr id="10" name="TextBox 9"/>
          <p:cNvSpPr txBox="1"/>
          <p:nvPr/>
        </p:nvSpPr>
        <p:spPr>
          <a:xfrm>
            <a:off x="685800" y="5742432"/>
            <a:ext cx="10515600" cy="365760"/>
          </a:xfrm>
          <a:prstGeom prst="rect">
            <a:avLst/>
          </a:prstGeom>
          <a:noFill/>
        </p:spPr>
        <p:txBody>
          <a:bodyPr wrap="square" anchor="t" lIns="0" rIns="0" tIns="0" bIns="0">
            <a:spAutoFit/>
          </a:bodyPr>
          <a:lstStyle/>
          <a:p>
            <a:pPr algn="l">
              <a:lnSpc>
                <a:spcPct val="115000"/>
              </a:lnSpc>
            </a:pPr>
            <a:r>
              <a:rPr sz="1050" b="0" i="0">
                <a:solidFill>
                  <a:srgbClr val="8B8899"/>
                </a:solidFill>
                <a:latin typeface="Arial"/>
              </a:rPr>
              <a:t>Try it yourself: shasum -a 256 (macOS) or sha256sum (Linux).</a:t>
            </a:r>
          </a:p>
        </p:txBody>
      </p:sp>
      <p:sp>
        <p:nvSpPr>
          <p:cNvPr id="11" name="TextBox 10"/>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8B8899"/>
                </a:solidFill>
                <a:latin typeface="Courier New"/>
              </a:rPr>
              <a:t>11/18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8229600" cy="320040"/>
          </a:xfrm>
          <a:prstGeom prst="rect">
            <a:avLst/>
          </a:prstGeom>
          <a:noFill/>
        </p:spPr>
        <p:txBody>
          <a:bodyPr wrap="square" anchor="t" lIns="0" rIns="0" tIns="0" bIns="0">
            <a:spAutoFit/>
          </a:bodyPr>
          <a:lstStyle/>
          <a:p>
            <a:pPr algn="l">
              <a:lnSpc>
                <a:spcPct val="115000"/>
              </a:lnSpc>
            </a:pPr>
            <a:r>
              <a:rPr sz="1150" b="1" i="0">
                <a:solidFill>
                  <a:srgbClr val="F2734B"/>
                </a:solidFill>
                <a:latin typeface="Arial"/>
              </a:rPr>
              <a:t>WORKED EXAMPLE — PART 2</a:t>
            </a:r>
          </a:p>
        </p:txBody>
      </p:sp>
      <p:sp>
        <p:nvSpPr>
          <p:cNvPr id="4" name="TextBox 3"/>
          <p:cNvSpPr txBox="1"/>
          <p:nvPr/>
        </p:nvSpPr>
        <p:spPr>
          <a:xfrm>
            <a:off x="685800" y="914400"/>
            <a:ext cx="10332720" cy="822960"/>
          </a:xfrm>
          <a:prstGeom prst="rect">
            <a:avLst/>
          </a:prstGeom>
          <a:noFill/>
        </p:spPr>
        <p:txBody>
          <a:bodyPr wrap="square" anchor="t" lIns="0" rIns="0" tIns="0" bIns="0">
            <a:spAutoFit/>
          </a:bodyPr>
          <a:lstStyle/>
          <a:p>
            <a:pPr algn="l">
              <a:lnSpc>
                <a:spcPct val="115000"/>
              </a:lnSpc>
            </a:pPr>
            <a:r>
              <a:rPr sz="2400" b="1" i="0">
                <a:solidFill>
                  <a:srgbClr val="221F33"/>
                </a:solidFill>
                <a:latin typeface="Arial Rounded MT Bold"/>
              </a:rPr>
              <a:t>The Avalanche Effect, Proven With Real Data</a:t>
            </a:r>
          </a:p>
        </p:txBody>
      </p:sp>
      <p:sp>
        <p:nvSpPr>
          <p:cNvPr id="5" name="Rounded Rectangle 4"/>
          <p:cNvSpPr/>
          <p:nvPr/>
        </p:nvSpPr>
        <p:spPr>
          <a:xfrm>
            <a:off x="685800" y="1737360"/>
            <a:ext cx="10789920" cy="3840480"/>
          </a:xfrm>
          <a:prstGeom prst="roundRect">
            <a:avLst>
              <a:gd name="adj" fmla="val 4500"/>
            </a:avLst>
          </a:prstGeom>
          <a:solidFill>
            <a:srgbClr val="1E27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41832" y="1938528"/>
            <a:ext cx="118872" cy="118872"/>
          </a:xfrm>
          <a:prstGeom prst="ellipse">
            <a:avLst/>
          </a:prstGeom>
          <a:solidFill>
            <a:srgbClr val="F27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61288" y="1938528"/>
            <a:ext cx="118872" cy="118872"/>
          </a:xfrm>
          <a:prstGeom prst="ellipse">
            <a:avLst/>
          </a:prstGeom>
          <a:solidFill>
            <a:srgbClr val="FDC6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80744" y="1938528"/>
            <a:ext cx="118872" cy="118872"/>
          </a:xfrm>
          <a:prstGeom prst="ellipse">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286000"/>
            <a:ext cx="10149840" cy="3154680"/>
          </a:xfrm>
          <a:prstGeom prst="rect">
            <a:avLst/>
          </a:prstGeom>
          <a:noFill/>
        </p:spPr>
        <p:txBody>
          <a:bodyPr wrap="square" anchor="t" lIns="0" rIns="0" tIns="0" bIns="0">
            <a:spAutoFit/>
          </a:bodyPr>
          <a:lstStyle/>
          <a:p>
            <a:pPr algn="l">
              <a:lnSpc>
                <a:spcPct val="140000"/>
              </a:lnSpc>
            </a:pPr>
            <a:r>
              <a:rPr sz="1300" b="1">
                <a:solidFill>
                  <a:srgbClr val="E7E4F5"/>
                </a:solidFill>
                <a:latin typeface="Courier New"/>
              </a:rPr>
              <a:t>$ </a:t>
            </a:r>
            <a:r>
              <a:rPr sz="1300" b="0">
                <a:solidFill>
                  <a:srgbClr val="E7E4F5"/>
                </a:solidFill>
                <a:latin typeface="Courier New"/>
              </a:rPr>
              <a:t>echo -n "Send 1 ETH to Alice" | shasum -a 256</a:t>
            </a:r>
          </a:p>
          <a:p>
            <a:pPr algn="l">
              <a:lnSpc>
                <a:spcPct val="140000"/>
              </a:lnSpc>
            </a:pPr>
            <a:r>
              <a:rPr sz="1300" b="0">
                <a:solidFill>
                  <a:srgbClr val="7AE3B8"/>
                </a:solidFill>
                <a:latin typeface="Courier New"/>
              </a:rPr>
              <a:t>9bed087e0a716e203d57c1ba36493085f7a87628da1cb1fe18bf5b4631bd7e45</a:t>
            </a:r>
          </a:p>
          <a:p>
            <a:pPr algn="l">
              <a:lnSpc>
                <a:spcPct val="140000"/>
              </a:lnSpc>
            </a:pPr>
            <a:r>
              <a:rPr sz="1300" b="0">
                <a:solidFill>
                  <a:srgbClr val="E7E4F5"/>
                </a:solidFill>
                <a:latin typeface="Courier New"/>
              </a:rPr>
              <a:t/>
            </a:r>
          </a:p>
          <a:p>
            <a:pPr algn="l">
              <a:lnSpc>
                <a:spcPct val="140000"/>
              </a:lnSpc>
            </a:pPr>
            <a:r>
              <a:rPr sz="1300" b="1">
                <a:solidFill>
                  <a:srgbClr val="E7E4F5"/>
                </a:solidFill>
                <a:latin typeface="Courier New"/>
              </a:rPr>
              <a:t>$ </a:t>
            </a:r>
            <a:r>
              <a:rPr sz="1300" b="0">
                <a:solidFill>
                  <a:srgbClr val="E7E4F5"/>
                </a:solidFill>
                <a:latin typeface="Courier New"/>
              </a:rPr>
              <a:t>echo -n "Send 1 ETH to Alicf" | shasum -a 256</a:t>
            </a:r>
          </a:p>
          <a:p>
            <a:pPr algn="l">
              <a:lnSpc>
                <a:spcPct val="140000"/>
              </a:lnSpc>
            </a:pPr>
            <a:r>
              <a:rPr sz="1300" b="0">
                <a:solidFill>
                  <a:srgbClr val="FF8E7D"/>
                </a:solidFill>
                <a:latin typeface="Courier New"/>
              </a:rPr>
              <a:t>94f17d20a09db58f6a7fe2cf97f00b2ae2dc1a67802b6e74776b0b6785e4b1eb</a:t>
            </a:r>
          </a:p>
          <a:p>
            <a:pPr algn="l">
              <a:lnSpc>
                <a:spcPct val="140000"/>
              </a:lnSpc>
            </a:pPr>
            <a:r>
              <a:rPr sz="1300" b="0">
                <a:solidFill>
                  <a:srgbClr val="8B8899"/>
                </a:solidFill>
                <a:latin typeface="Courier New"/>
              </a:rPr>
              <a:t># one letter changed: e → f. total mismatch.</a:t>
            </a:r>
          </a:p>
        </p:txBody>
      </p:sp>
      <p:sp>
        <p:nvSpPr>
          <p:cNvPr id="10" name="TextBox 9"/>
          <p:cNvSpPr txBox="1"/>
          <p:nvPr/>
        </p:nvSpPr>
        <p:spPr>
          <a:xfrm>
            <a:off x="685800" y="5742432"/>
            <a:ext cx="10515600" cy="365760"/>
          </a:xfrm>
          <a:prstGeom prst="rect">
            <a:avLst/>
          </a:prstGeom>
          <a:noFill/>
        </p:spPr>
        <p:txBody>
          <a:bodyPr wrap="square" anchor="t" lIns="0" rIns="0" tIns="0" bIns="0">
            <a:spAutoFit/>
          </a:bodyPr>
          <a:lstStyle/>
          <a:p>
            <a:pPr algn="l">
              <a:lnSpc>
                <a:spcPct val="115000"/>
              </a:lnSpc>
            </a:pPr>
            <a:r>
              <a:rPr sz="1050" b="0" i="0">
                <a:solidFill>
                  <a:srgbClr val="8B8899"/>
                </a:solidFill>
                <a:latin typeface="Arial"/>
              </a:rPr>
              <a:t>This is why altering one digit of a real transaction is instantly detectable.</a:t>
            </a:r>
          </a:p>
        </p:txBody>
      </p:sp>
      <p:sp>
        <p:nvSpPr>
          <p:cNvPr id="11" name="TextBox 10"/>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8B8899"/>
                </a:solidFill>
                <a:latin typeface="Courier New"/>
              </a:rPr>
              <a:t>12/18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8229600" cy="320040"/>
          </a:xfrm>
          <a:prstGeom prst="rect">
            <a:avLst/>
          </a:prstGeom>
          <a:noFill/>
        </p:spPr>
        <p:txBody>
          <a:bodyPr wrap="square" anchor="t" lIns="0" rIns="0" tIns="0" bIns="0">
            <a:spAutoFit/>
          </a:bodyPr>
          <a:lstStyle/>
          <a:p>
            <a:pPr algn="l">
              <a:lnSpc>
                <a:spcPct val="115000"/>
              </a:lnSpc>
            </a:pPr>
            <a:r>
              <a:rPr sz="1150" b="1" i="0">
                <a:solidFill>
                  <a:srgbClr val="8B8899"/>
                </a:solidFill>
                <a:latin typeface="Arial"/>
              </a:rPr>
              <a:t>REAL-WORLD USES</a:t>
            </a:r>
          </a:p>
        </p:txBody>
      </p:sp>
      <p:sp>
        <p:nvSpPr>
          <p:cNvPr id="4" name="TextBox 3"/>
          <p:cNvSpPr txBox="1"/>
          <p:nvPr/>
        </p:nvSpPr>
        <p:spPr>
          <a:xfrm>
            <a:off x="685800" y="914400"/>
            <a:ext cx="4297680" cy="1463040"/>
          </a:xfrm>
          <a:prstGeom prst="rect">
            <a:avLst/>
          </a:prstGeom>
          <a:noFill/>
        </p:spPr>
        <p:txBody>
          <a:bodyPr wrap="square" anchor="t" lIns="0" rIns="0" tIns="0" bIns="0">
            <a:spAutoFit/>
          </a:bodyPr>
          <a:lstStyle/>
          <a:p>
            <a:pPr algn="l">
              <a:lnSpc>
                <a:spcPct val="105000"/>
              </a:lnSpc>
            </a:pPr>
            <a:r>
              <a:rPr sz="2700" b="1" i="0">
                <a:solidFill>
                  <a:srgbClr val="221F33"/>
                </a:solidFill>
                <a:latin typeface="Arial Rounded MT Bold"/>
              </a:rPr>
              <a:t>Not Just Blockchain</a:t>
            </a:r>
          </a:p>
        </p:txBody>
      </p:sp>
      <p:sp>
        <p:nvSpPr>
          <p:cNvPr id="5" name="TextBox 4"/>
          <p:cNvSpPr txBox="1"/>
          <p:nvPr/>
        </p:nvSpPr>
        <p:spPr>
          <a:xfrm>
            <a:off x="685800" y="2468880"/>
            <a:ext cx="4023360" cy="2286000"/>
          </a:xfrm>
          <a:prstGeom prst="rect">
            <a:avLst/>
          </a:prstGeom>
          <a:noFill/>
        </p:spPr>
        <p:txBody>
          <a:bodyPr wrap="square" anchor="t" lIns="0" rIns="0" tIns="0" bIns="0">
            <a:spAutoFit/>
          </a:bodyPr>
          <a:lstStyle/>
          <a:p>
            <a:pPr algn="l">
              <a:lnSpc>
                <a:spcPct val="140000"/>
              </a:lnSpc>
            </a:pPr>
            <a:r>
              <a:rPr sz="1200" b="0" i="0">
                <a:solidFill>
                  <a:srgbClr val="8B8899"/>
                </a:solidFill>
                <a:latin typeface="Arial"/>
              </a:rPr>
              <a:t>Hashing predates blockchain by decades and solves a much older problem.</a:t>
            </a:r>
          </a:p>
        </p:txBody>
      </p:sp>
      <p:sp>
        <p:nvSpPr>
          <p:cNvPr id="6" name="Oval 5"/>
          <p:cNvSpPr/>
          <p:nvPr/>
        </p:nvSpPr>
        <p:spPr>
          <a:xfrm>
            <a:off x="822960" y="5989320"/>
            <a:ext cx="146304" cy="146304"/>
          </a:xfrm>
          <a:prstGeom prst="ellipse">
            <a:avLst/>
          </a:prstGeom>
          <a:solidFill>
            <a:srgbClr val="FDC6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97280" y="5989320"/>
            <a:ext cx="146304" cy="146304"/>
          </a:xfrm>
          <a:prstGeom prst="ellipse">
            <a:avLst/>
          </a:prstGeom>
          <a:solidFill>
            <a:srgbClr val="FDC6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71600" y="5989320"/>
            <a:ext cx="146304" cy="146304"/>
          </a:xfrm>
          <a:prstGeom prst="ellipse">
            <a:avLst/>
          </a:prstGeom>
          <a:solidFill>
            <a:srgbClr val="FDC6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45920" y="5989320"/>
            <a:ext cx="146304" cy="146304"/>
          </a:xfrm>
          <a:prstGeom prst="ellipse">
            <a:avLst/>
          </a:prstGeom>
          <a:solidFill>
            <a:srgbClr val="FDC6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57800" y="960120"/>
            <a:ext cx="2331720" cy="1143000"/>
          </a:xfrm>
          <a:prstGeom prst="roundRect">
            <a:avLst>
              <a:gd name="adj" fmla="val 10000"/>
            </a:avLst>
          </a:prstGeom>
          <a:solidFill>
            <a:srgbClr val="6C5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404104" y="1106424"/>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6C5FE8"/>
                </a:solidFill>
              </a:rPr>
              <a:t>✓</a:t>
            </a:r>
          </a:p>
        </p:txBody>
      </p:sp>
      <p:sp>
        <p:nvSpPr>
          <p:cNvPr id="12" name="TextBox 11"/>
          <p:cNvSpPr txBox="1"/>
          <p:nvPr/>
        </p:nvSpPr>
        <p:spPr>
          <a:xfrm>
            <a:off x="5916168" y="1051560"/>
            <a:ext cx="1508760" cy="292608"/>
          </a:xfrm>
          <a:prstGeom prst="rect">
            <a:avLst/>
          </a:prstGeom>
          <a:noFill/>
        </p:spPr>
        <p:txBody>
          <a:bodyPr wrap="square" anchor="t" lIns="0" rIns="0" tIns="0" bIns="0">
            <a:spAutoFit/>
          </a:bodyPr>
          <a:lstStyle/>
          <a:p>
            <a:pPr algn="l">
              <a:lnSpc>
                <a:spcPct val="115000"/>
              </a:lnSpc>
            </a:pPr>
            <a:r>
              <a:rPr sz="1100" b="1" i="0">
                <a:solidFill>
                  <a:srgbClr val="FFFFFF"/>
                </a:solidFill>
                <a:latin typeface="Arial Rounded MT Bold"/>
              </a:rPr>
              <a:t>Software Checksums</a:t>
            </a:r>
          </a:p>
        </p:txBody>
      </p:sp>
      <p:sp>
        <p:nvSpPr>
          <p:cNvPr id="13" name="TextBox 12"/>
          <p:cNvSpPr txBox="1"/>
          <p:nvPr/>
        </p:nvSpPr>
        <p:spPr>
          <a:xfrm>
            <a:off x="5916168" y="1362456"/>
            <a:ext cx="1508760" cy="685800"/>
          </a:xfrm>
          <a:prstGeom prst="rect">
            <a:avLst/>
          </a:prstGeom>
          <a:noFill/>
        </p:spPr>
        <p:txBody>
          <a:bodyPr wrap="square" anchor="t" lIns="0" rIns="0" tIns="0" bIns="0">
            <a:spAutoFit/>
          </a:bodyPr>
          <a:lstStyle/>
          <a:p>
            <a:pPr algn="l">
              <a:lnSpc>
                <a:spcPct val="115000"/>
              </a:lnSpc>
            </a:pPr>
            <a:r>
              <a:rPr sz="850" b="0" i="0">
                <a:solidFill>
                  <a:srgbClr val="F3F1FC"/>
                </a:solidFill>
                <a:latin typeface="Arial"/>
              </a:rPr>
              <a:t>Verify a download wasn't tampered with.</a:t>
            </a:r>
          </a:p>
        </p:txBody>
      </p:sp>
      <p:sp>
        <p:nvSpPr>
          <p:cNvPr id="14" name="Rounded Rectangle 13"/>
          <p:cNvSpPr/>
          <p:nvPr/>
        </p:nvSpPr>
        <p:spPr>
          <a:xfrm>
            <a:off x="7790688" y="960120"/>
            <a:ext cx="2331720" cy="1143000"/>
          </a:xfrm>
          <a:prstGeom prst="roundRect">
            <a:avLst>
              <a:gd name="adj" fmla="val 10000"/>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936992" y="1106424"/>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35C078"/>
                </a:solidFill>
              </a:rPr>
              <a:t>⛓</a:t>
            </a:r>
          </a:p>
        </p:txBody>
      </p:sp>
      <p:sp>
        <p:nvSpPr>
          <p:cNvPr id="16" name="TextBox 15"/>
          <p:cNvSpPr txBox="1"/>
          <p:nvPr/>
        </p:nvSpPr>
        <p:spPr>
          <a:xfrm>
            <a:off x="8449056" y="1051560"/>
            <a:ext cx="1508760" cy="292608"/>
          </a:xfrm>
          <a:prstGeom prst="rect">
            <a:avLst/>
          </a:prstGeom>
          <a:noFill/>
        </p:spPr>
        <p:txBody>
          <a:bodyPr wrap="square" anchor="t" lIns="0" rIns="0" tIns="0" bIns="0">
            <a:spAutoFit/>
          </a:bodyPr>
          <a:lstStyle/>
          <a:p>
            <a:pPr algn="l">
              <a:lnSpc>
                <a:spcPct val="115000"/>
              </a:lnSpc>
            </a:pPr>
            <a:r>
              <a:rPr sz="1100" b="1" i="0">
                <a:solidFill>
                  <a:srgbClr val="FFFFFF"/>
                </a:solidFill>
                <a:latin typeface="Arial Rounded MT Bold"/>
              </a:rPr>
              <a:t>Git Version Control</a:t>
            </a:r>
          </a:p>
        </p:txBody>
      </p:sp>
      <p:sp>
        <p:nvSpPr>
          <p:cNvPr id="17" name="TextBox 16"/>
          <p:cNvSpPr txBox="1"/>
          <p:nvPr/>
        </p:nvSpPr>
        <p:spPr>
          <a:xfrm>
            <a:off x="8449056" y="1362456"/>
            <a:ext cx="1508760" cy="685800"/>
          </a:xfrm>
          <a:prstGeom prst="rect">
            <a:avLst/>
          </a:prstGeom>
          <a:noFill/>
        </p:spPr>
        <p:txBody>
          <a:bodyPr wrap="square" anchor="t" lIns="0" rIns="0" tIns="0" bIns="0">
            <a:spAutoFit/>
          </a:bodyPr>
          <a:lstStyle/>
          <a:p>
            <a:pPr algn="l">
              <a:lnSpc>
                <a:spcPct val="115000"/>
              </a:lnSpc>
            </a:pPr>
            <a:r>
              <a:rPr sz="850" b="0" i="0">
                <a:solidFill>
                  <a:srgbClr val="F3F1FC"/>
                </a:solidFill>
                <a:latin typeface="Arial"/>
              </a:rPr>
              <a:t>Every commit is identified by a hash.</a:t>
            </a:r>
          </a:p>
        </p:txBody>
      </p:sp>
      <p:sp>
        <p:nvSpPr>
          <p:cNvPr id="18" name="Rounded Rectangle 17"/>
          <p:cNvSpPr/>
          <p:nvPr/>
        </p:nvSpPr>
        <p:spPr>
          <a:xfrm>
            <a:off x="5257800" y="2304288"/>
            <a:ext cx="2331720" cy="1143000"/>
          </a:xfrm>
          <a:prstGeom prst="roundRect">
            <a:avLst>
              <a:gd name="adj" fmla="val 10000"/>
            </a:avLst>
          </a:prstGeom>
          <a:solidFill>
            <a:srgbClr val="F27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404104" y="2450592"/>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2734B"/>
                </a:solidFill>
              </a:rPr>
              <a:t>✖</a:t>
            </a:r>
          </a:p>
        </p:txBody>
      </p:sp>
      <p:sp>
        <p:nvSpPr>
          <p:cNvPr id="20" name="TextBox 19"/>
          <p:cNvSpPr txBox="1"/>
          <p:nvPr/>
        </p:nvSpPr>
        <p:spPr>
          <a:xfrm>
            <a:off x="5916168" y="2395728"/>
            <a:ext cx="1508760" cy="292608"/>
          </a:xfrm>
          <a:prstGeom prst="rect">
            <a:avLst/>
          </a:prstGeom>
          <a:noFill/>
        </p:spPr>
        <p:txBody>
          <a:bodyPr wrap="square" anchor="t" lIns="0" rIns="0" tIns="0" bIns="0">
            <a:spAutoFit/>
          </a:bodyPr>
          <a:lstStyle/>
          <a:p>
            <a:pPr algn="l">
              <a:lnSpc>
                <a:spcPct val="115000"/>
              </a:lnSpc>
            </a:pPr>
            <a:r>
              <a:rPr sz="1100" b="1" i="0">
                <a:solidFill>
                  <a:srgbClr val="FFFFFF"/>
                </a:solidFill>
                <a:latin typeface="Arial Rounded MT Bold"/>
              </a:rPr>
              <a:t>Password Storage</a:t>
            </a:r>
          </a:p>
        </p:txBody>
      </p:sp>
      <p:sp>
        <p:nvSpPr>
          <p:cNvPr id="21" name="TextBox 20"/>
          <p:cNvSpPr txBox="1"/>
          <p:nvPr/>
        </p:nvSpPr>
        <p:spPr>
          <a:xfrm>
            <a:off x="5916168" y="2706624"/>
            <a:ext cx="1508760" cy="685800"/>
          </a:xfrm>
          <a:prstGeom prst="rect">
            <a:avLst/>
          </a:prstGeom>
          <a:noFill/>
        </p:spPr>
        <p:txBody>
          <a:bodyPr wrap="square" anchor="t" lIns="0" rIns="0" tIns="0" bIns="0">
            <a:spAutoFit/>
          </a:bodyPr>
          <a:lstStyle/>
          <a:p>
            <a:pPr algn="l">
              <a:lnSpc>
                <a:spcPct val="115000"/>
              </a:lnSpc>
            </a:pPr>
            <a:r>
              <a:rPr sz="850" b="0" i="0">
                <a:solidFill>
                  <a:srgbClr val="F3F1FC"/>
                </a:solidFill>
                <a:latin typeface="Arial"/>
              </a:rPr>
              <a:t>Store a hash, never the password itself.</a:t>
            </a:r>
          </a:p>
        </p:txBody>
      </p:sp>
      <p:sp>
        <p:nvSpPr>
          <p:cNvPr id="22" name="Rounded Rectangle 21"/>
          <p:cNvSpPr/>
          <p:nvPr/>
        </p:nvSpPr>
        <p:spPr>
          <a:xfrm>
            <a:off x="7790688" y="2304288"/>
            <a:ext cx="2331720" cy="1143000"/>
          </a:xfrm>
          <a:prstGeom prst="roundRect">
            <a:avLst>
              <a:gd name="adj" fmla="val 10000"/>
            </a:avLst>
          </a:prstGeom>
          <a:solidFill>
            <a:srgbClr val="FDC6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936992" y="2450592"/>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DC646"/>
                </a:solidFill>
              </a:rPr>
              <a:t>☁</a:t>
            </a:r>
          </a:p>
        </p:txBody>
      </p:sp>
      <p:sp>
        <p:nvSpPr>
          <p:cNvPr id="24" name="TextBox 23"/>
          <p:cNvSpPr txBox="1"/>
          <p:nvPr/>
        </p:nvSpPr>
        <p:spPr>
          <a:xfrm>
            <a:off x="8449056" y="2395728"/>
            <a:ext cx="1508760" cy="292608"/>
          </a:xfrm>
          <a:prstGeom prst="rect">
            <a:avLst/>
          </a:prstGeom>
          <a:noFill/>
        </p:spPr>
        <p:txBody>
          <a:bodyPr wrap="square" anchor="t" lIns="0" rIns="0" tIns="0" bIns="0">
            <a:spAutoFit/>
          </a:bodyPr>
          <a:lstStyle/>
          <a:p>
            <a:pPr algn="l">
              <a:lnSpc>
                <a:spcPct val="115000"/>
              </a:lnSpc>
            </a:pPr>
            <a:r>
              <a:rPr sz="1100" b="1" i="0">
                <a:solidFill>
                  <a:srgbClr val="FFFFFF"/>
                </a:solidFill>
                <a:latin typeface="Arial Rounded MT Bold"/>
              </a:rPr>
              <a:t>Cloud Dedup</a:t>
            </a:r>
          </a:p>
        </p:txBody>
      </p:sp>
      <p:sp>
        <p:nvSpPr>
          <p:cNvPr id="25" name="TextBox 24"/>
          <p:cNvSpPr txBox="1"/>
          <p:nvPr/>
        </p:nvSpPr>
        <p:spPr>
          <a:xfrm>
            <a:off x="8449056" y="2706624"/>
            <a:ext cx="1508760" cy="685800"/>
          </a:xfrm>
          <a:prstGeom prst="rect">
            <a:avLst/>
          </a:prstGeom>
          <a:noFill/>
        </p:spPr>
        <p:txBody>
          <a:bodyPr wrap="square" anchor="t" lIns="0" rIns="0" tIns="0" bIns="0">
            <a:spAutoFit/>
          </a:bodyPr>
          <a:lstStyle/>
          <a:p>
            <a:pPr algn="l">
              <a:lnSpc>
                <a:spcPct val="115000"/>
              </a:lnSpc>
            </a:pPr>
            <a:r>
              <a:rPr sz="850" b="0" i="0">
                <a:solidFill>
                  <a:srgbClr val="F3F1FC"/>
                </a:solidFill>
                <a:latin typeface="Arial"/>
              </a:rPr>
              <a:t>Identical files recognized by matching hashes.</a:t>
            </a:r>
          </a:p>
        </p:txBody>
      </p:sp>
      <p:sp>
        <p:nvSpPr>
          <p:cNvPr id="26" name="Rounded Rectangle 25"/>
          <p:cNvSpPr/>
          <p:nvPr/>
        </p:nvSpPr>
        <p:spPr>
          <a:xfrm>
            <a:off x="5257800" y="3648456"/>
            <a:ext cx="2331720" cy="1143000"/>
          </a:xfrm>
          <a:prstGeom prst="roundRect">
            <a:avLst>
              <a:gd name="adj" fmla="val 10000"/>
            </a:avLst>
          </a:prstGeom>
          <a:solidFill>
            <a:srgbClr val="6C5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404104" y="3794760"/>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6C5FE8"/>
                </a:solidFill>
              </a:rPr>
              <a:t>⚖</a:t>
            </a:r>
          </a:p>
        </p:txBody>
      </p:sp>
      <p:sp>
        <p:nvSpPr>
          <p:cNvPr id="28" name="TextBox 27"/>
          <p:cNvSpPr txBox="1"/>
          <p:nvPr/>
        </p:nvSpPr>
        <p:spPr>
          <a:xfrm>
            <a:off x="5916168" y="3739896"/>
            <a:ext cx="1508760" cy="292608"/>
          </a:xfrm>
          <a:prstGeom prst="rect">
            <a:avLst/>
          </a:prstGeom>
          <a:noFill/>
        </p:spPr>
        <p:txBody>
          <a:bodyPr wrap="square" anchor="t" lIns="0" rIns="0" tIns="0" bIns="0">
            <a:spAutoFit/>
          </a:bodyPr>
          <a:lstStyle/>
          <a:p>
            <a:pPr algn="l">
              <a:lnSpc>
                <a:spcPct val="115000"/>
              </a:lnSpc>
            </a:pPr>
            <a:r>
              <a:rPr sz="1100" b="1" i="0">
                <a:solidFill>
                  <a:srgbClr val="FFFFFF"/>
                </a:solidFill>
                <a:latin typeface="Arial Rounded MT Bold"/>
              </a:rPr>
              <a:t>Digital Forensics</a:t>
            </a:r>
          </a:p>
        </p:txBody>
      </p:sp>
      <p:sp>
        <p:nvSpPr>
          <p:cNvPr id="29" name="TextBox 28"/>
          <p:cNvSpPr txBox="1"/>
          <p:nvPr/>
        </p:nvSpPr>
        <p:spPr>
          <a:xfrm>
            <a:off x="5916168" y="4050792"/>
            <a:ext cx="1508760" cy="685800"/>
          </a:xfrm>
          <a:prstGeom prst="rect">
            <a:avLst/>
          </a:prstGeom>
          <a:noFill/>
        </p:spPr>
        <p:txBody>
          <a:bodyPr wrap="square" anchor="t" lIns="0" rIns="0" tIns="0" bIns="0">
            <a:spAutoFit/>
          </a:bodyPr>
          <a:lstStyle/>
          <a:p>
            <a:pPr algn="l">
              <a:lnSpc>
                <a:spcPct val="115000"/>
              </a:lnSpc>
            </a:pPr>
            <a:r>
              <a:rPr sz="850" b="0" i="0">
                <a:solidFill>
                  <a:srgbClr val="F3F1FC"/>
                </a:solidFill>
                <a:latin typeface="Arial"/>
              </a:rPr>
              <a:t>Proves evidence wasn't altered after collection.</a:t>
            </a:r>
          </a:p>
        </p:txBody>
      </p:sp>
      <p:sp>
        <p:nvSpPr>
          <p:cNvPr id="30" name="Rounded Rectangle 29"/>
          <p:cNvSpPr/>
          <p:nvPr/>
        </p:nvSpPr>
        <p:spPr>
          <a:xfrm>
            <a:off x="7790688" y="3648456"/>
            <a:ext cx="2331720" cy="1143000"/>
          </a:xfrm>
          <a:prstGeom prst="roundRect">
            <a:avLst>
              <a:gd name="adj" fmla="val 10000"/>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936992" y="3794760"/>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35C078"/>
                </a:solidFill>
              </a:rPr>
              <a:t>⚑</a:t>
            </a:r>
          </a:p>
        </p:txBody>
      </p:sp>
      <p:sp>
        <p:nvSpPr>
          <p:cNvPr id="32" name="TextBox 31"/>
          <p:cNvSpPr txBox="1"/>
          <p:nvPr/>
        </p:nvSpPr>
        <p:spPr>
          <a:xfrm>
            <a:off x="8449056" y="3739896"/>
            <a:ext cx="1508760" cy="292608"/>
          </a:xfrm>
          <a:prstGeom prst="rect">
            <a:avLst/>
          </a:prstGeom>
          <a:noFill/>
        </p:spPr>
        <p:txBody>
          <a:bodyPr wrap="square" anchor="t" lIns="0" rIns="0" tIns="0" bIns="0">
            <a:spAutoFit/>
          </a:bodyPr>
          <a:lstStyle/>
          <a:p>
            <a:pPr algn="l">
              <a:lnSpc>
                <a:spcPct val="115000"/>
              </a:lnSpc>
            </a:pPr>
            <a:r>
              <a:rPr sz="1100" b="1" i="0">
                <a:solidFill>
                  <a:srgbClr val="FFFFFF"/>
                </a:solidFill>
                <a:latin typeface="Arial Rounded MT Bold"/>
              </a:rPr>
              <a:t>Cert Transparency</a:t>
            </a:r>
          </a:p>
        </p:txBody>
      </p:sp>
      <p:sp>
        <p:nvSpPr>
          <p:cNvPr id="33" name="TextBox 32"/>
          <p:cNvSpPr txBox="1"/>
          <p:nvPr/>
        </p:nvSpPr>
        <p:spPr>
          <a:xfrm>
            <a:off x="8449056" y="4050792"/>
            <a:ext cx="1508760" cy="685800"/>
          </a:xfrm>
          <a:prstGeom prst="rect">
            <a:avLst/>
          </a:prstGeom>
          <a:noFill/>
        </p:spPr>
        <p:txBody>
          <a:bodyPr wrap="square" anchor="t" lIns="0" rIns="0" tIns="0" bIns="0">
            <a:spAutoFit/>
          </a:bodyPr>
          <a:lstStyle/>
          <a:p>
            <a:pPr algn="l">
              <a:lnSpc>
                <a:spcPct val="115000"/>
              </a:lnSpc>
            </a:pPr>
            <a:r>
              <a:rPr sz="850" b="0" i="0">
                <a:solidFill>
                  <a:srgbClr val="F3F1FC"/>
                </a:solidFill>
                <a:latin typeface="Arial"/>
              </a:rPr>
              <a:t>Every SSL cert logged in a public, tamper-evident record.</a:t>
            </a:r>
          </a:p>
        </p:txBody>
      </p:sp>
      <p:sp>
        <p:nvSpPr>
          <p:cNvPr id="34" name="TextBox 33"/>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8B8899"/>
                </a:solidFill>
                <a:latin typeface="Courier New"/>
              </a:rPr>
              <a:t>13/18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c_sp6_core.jpg"/>
          <p:cNvPicPr>
            <a:picLocks noChangeAspect="1"/>
          </p:cNvPicPr>
          <p:nvPr/>
        </p:nvPicPr>
        <p:blipFill>
          <a:blip r:embed="rId2"/>
          <a:stretch>
            <a:fillRect/>
          </a:stretch>
        </p:blipFill>
        <p:spPr>
          <a:xfrm>
            <a:off x="6949440" y="1234440"/>
            <a:ext cx="4572000" cy="4297680"/>
          </a:xfrm>
          <a:prstGeom prst="rect">
            <a:avLst/>
          </a:prstGeom>
        </p:spPr>
      </p:pic>
      <p:sp>
        <p:nvSpPr>
          <p:cNvPr id="4" name="Oval 3"/>
          <p:cNvSpPr/>
          <p:nvPr/>
        </p:nvSpPr>
        <p:spPr>
          <a:xfrm>
            <a:off x="10789920" y="868680"/>
            <a:ext cx="502920" cy="502920"/>
          </a:xfrm>
          <a:prstGeom prst="ellipse">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40080"/>
            <a:ext cx="4846320" cy="320040"/>
          </a:xfrm>
          <a:prstGeom prst="rect">
            <a:avLst/>
          </a:prstGeom>
          <a:noFill/>
        </p:spPr>
        <p:txBody>
          <a:bodyPr wrap="square" anchor="t" lIns="0" rIns="0" tIns="0" bIns="0">
            <a:spAutoFit/>
          </a:bodyPr>
          <a:lstStyle/>
          <a:p>
            <a:pPr algn="l">
              <a:lnSpc>
                <a:spcPct val="115000"/>
              </a:lnSpc>
            </a:pPr>
            <a:r>
              <a:rPr sz="1150" b="1" i="0">
                <a:solidFill>
                  <a:srgbClr val="F2734B"/>
                </a:solidFill>
                <a:latin typeface="Arial"/>
              </a:rPr>
              <a:t>FLAGSHIP CASE STUDY</a:t>
            </a:r>
          </a:p>
        </p:txBody>
      </p:sp>
      <p:sp>
        <p:nvSpPr>
          <p:cNvPr id="6" name="TextBox 5"/>
          <p:cNvSpPr txBox="1"/>
          <p:nvPr/>
        </p:nvSpPr>
        <p:spPr>
          <a:xfrm>
            <a:off x="685800" y="1005840"/>
            <a:ext cx="4846320" cy="1280160"/>
          </a:xfrm>
          <a:prstGeom prst="rect">
            <a:avLst/>
          </a:prstGeom>
          <a:noFill/>
        </p:spPr>
        <p:txBody>
          <a:bodyPr wrap="square" anchor="t" lIns="0" rIns="0" tIns="0" bIns="0">
            <a:spAutoFit/>
          </a:bodyPr>
          <a:lstStyle/>
          <a:p>
            <a:pPr algn="l">
              <a:lnSpc>
                <a:spcPct val="105000"/>
              </a:lnSpc>
            </a:pPr>
            <a:r>
              <a:rPr sz="2500" b="1" i="0">
                <a:solidFill>
                  <a:srgbClr val="221F33"/>
                </a:solidFill>
                <a:latin typeface="Arial Rounded MT Bold"/>
              </a:rPr>
              <a:t>Why Plain SHA-256 Is Wrong For Passwords</a:t>
            </a:r>
          </a:p>
        </p:txBody>
      </p:sp>
      <p:sp>
        <p:nvSpPr>
          <p:cNvPr id="7" name="TextBox 6"/>
          <p:cNvSpPr txBox="1"/>
          <p:nvPr/>
        </p:nvSpPr>
        <p:spPr>
          <a:xfrm>
            <a:off x="685800" y="2148840"/>
            <a:ext cx="4846320" cy="2377440"/>
          </a:xfrm>
          <a:prstGeom prst="rect">
            <a:avLst/>
          </a:prstGeom>
          <a:noFill/>
        </p:spPr>
        <p:txBody>
          <a:bodyPr wrap="square" anchor="t" lIns="0" rIns="0" tIns="0" bIns="0">
            <a:spAutoFit/>
          </a:bodyPr>
          <a:lstStyle/>
          <a:p>
            <a:pPr algn="l">
              <a:lnSpc>
                <a:spcPct val="142000"/>
              </a:lnSpc>
            </a:pPr>
            <a:r>
              <a:rPr sz="1250" b="0" i="0">
                <a:solidFill>
                  <a:srgbClr val="8B8899"/>
                </a:solidFill>
                <a:latin typeface="Arial"/>
              </a:rPr>
              <a:t>SHA-256 is designed to be fast — an attacker with a leaked hash database can try billions of guesses per second. Purpose-built password-hashing algorithms like bcrypt and Argon2 are deliberately slow and add random “salt” per password, specifically to make brute-forcing impractical. Using the right hash function for the job is a real engineering judgment call.</a:t>
            </a:r>
          </a:p>
        </p:txBody>
      </p:sp>
      <p:sp>
        <p:nvSpPr>
          <p:cNvPr id="8" name="Freeform 7"/>
          <p:cNvSpPr/>
          <p:nvPr/>
        </p:nvSpPr>
        <p:spPr>
          <a:xfrm>
            <a:off x="10744591" y="502920"/>
            <a:ext cx="776751" cy="1051560"/>
          </a:xfrm>
          <a:custGeom>
            <a:avLst/>
            <a:gdLst/>
            <a:ahLst/>
            <a:cxnLst/>
            <a:rect l="l" t="t" r="r" b="b"/>
            <a:pathLst>
              <a:path w="776751" h="1051560">
                <a:moveTo>
                  <a:pt x="388229" y="0"/>
                </a:moveTo>
                <a:lnTo>
                  <a:pt x="499995" y="37555"/>
                </a:lnTo>
                <a:lnTo>
                  <a:pt x="602318" y="75111"/>
                </a:lnTo>
                <a:lnTo>
                  <a:pt x="686551" y="112667"/>
                </a:lnTo>
                <a:lnTo>
                  <a:pt x="745575" y="150222"/>
                </a:lnTo>
                <a:lnTo>
                  <a:pt x="774405" y="187778"/>
                </a:lnTo>
                <a:lnTo>
                  <a:pt x="770603" y="225334"/>
                </a:lnTo>
                <a:lnTo>
                  <a:pt x="734491" y="262890"/>
                </a:lnTo>
                <a:lnTo>
                  <a:pt x="669121" y="300445"/>
                </a:lnTo>
                <a:lnTo>
                  <a:pt x="580016" y="338001"/>
                </a:lnTo>
                <a:lnTo>
                  <a:pt x="474705" y="375557"/>
                </a:lnTo>
                <a:lnTo>
                  <a:pt x="362086" y="413112"/>
                </a:lnTo>
                <a:lnTo>
                  <a:pt x="251677" y="450668"/>
                </a:lnTo>
                <a:lnTo>
                  <a:pt x="152806" y="488224"/>
                </a:lnTo>
                <a:lnTo>
                  <a:pt x="73828" y="525780"/>
                </a:lnTo>
                <a:lnTo>
                  <a:pt x="21417" y="563335"/>
                </a:lnTo>
                <a:lnTo>
                  <a:pt x="0" y="600891"/>
                </a:lnTo>
                <a:lnTo>
                  <a:pt x="11388" y="638447"/>
                </a:lnTo>
                <a:lnTo>
                  <a:pt x="54618" y="676002"/>
                </a:lnTo>
                <a:lnTo>
                  <a:pt x="126038" y="713558"/>
                </a:lnTo>
                <a:lnTo>
                  <a:pt x="219613" y="751114"/>
                </a:lnTo>
                <a:lnTo>
                  <a:pt x="327435" y="788670"/>
                </a:lnTo>
                <a:lnTo>
                  <a:pt x="440394" y="826225"/>
                </a:lnTo>
                <a:lnTo>
                  <a:pt x="548946" y="863781"/>
                </a:lnTo>
                <a:lnTo>
                  <a:pt x="643917" y="901337"/>
                </a:lnTo>
                <a:lnTo>
                  <a:pt x="717282" y="938892"/>
                </a:lnTo>
                <a:lnTo>
                  <a:pt x="762844" y="976448"/>
                </a:lnTo>
                <a:lnTo>
                  <a:pt x="776751" y="1014004"/>
                </a:lnTo>
                <a:lnTo>
                  <a:pt x="757828" y="1051560"/>
                </a:lnTo>
              </a:path>
            </a:pathLst>
          </a:custGeom>
          <a:noFill/>
          <a:ln w="68580" cap="rnd">
            <a:solidFill>
              <a:srgbClr val="FDC6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8B8899"/>
                </a:solidFill>
                <a:latin typeface="Courier New"/>
              </a:rPr>
              <a:t>14/18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c_sp10_sub3.jpg"/>
          <p:cNvPicPr>
            <a:picLocks noChangeAspect="1"/>
          </p:cNvPicPr>
          <p:nvPr/>
        </p:nvPicPr>
        <p:blipFill>
          <a:blip r:embed="rId2"/>
          <a:stretch>
            <a:fillRect/>
          </a:stretch>
        </p:blipFill>
        <p:spPr>
          <a:xfrm>
            <a:off x="685800" y="1234440"/>
            <a:ext cx="4572000" cy="4297680"/>
          </a:xfrm>
          <a:prstGeom prst="rect">
            <a:avLst/>
          </a:prstGeom>
        </p:spPr>
      </p:pic>
      <p:sp>
        <p:nvSpPr>
          <p:cNvPr id="4" name="Oval 3"/>
          <p:cNvSpPr/>
          <p:nvPr/>
        </p:nvSpPr>
        <p:spPr>
          <a:xfrm>
            <a:off x="4526280" y="868680"/>
            <a:ext cx="502920" cy="502920"/>
          </a:xfrm>
          <a:prstGeom prst="ellipse">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0" y="640080"/>
            <a:ext cx="4846320" cy="320040"/>
          </a:xfrm>
          <a:prstGeom prst="rect">
            <a:avLst/>
          </a:prstGeom>
          <a:noFill/>
        </p:spPr>
        <p:txBody>
          <a:bodyPr wrap="square" anchor="t" lIns="0" rIns="0" tIns="0" bIns="0">
            <a:spAutoFit/>
          </a:bodyPr>
          <a:lstStyle/>
          <a:p>
            <a:pPr algn="l">
              <a:lnSpc>
                <a:spcPct val="115000"/>
              </a:lnSpc>
            </a:pPr>
            <a:r>
              <a:rPr sz="1150" b="1" i="0">
                <a:solidFill>
                  <a:srgbClr val="F2734B"/>
                </a:solidFill>
                <a:latin typeface="Arial"/>
              </a:rPr>
              <a:t>REAL-LIFE ANALOGY</a:t>
            </a:r>
          </a:p>
        </p:txBody>
      </p:sp>
      <p:sp>
        <p:nvSpPr>
          <p:cNvPr id="6" name="TextBox 5"/>
          <p:cNvSpPr txBox="1"/>
          <p:nvPr/>
        </p:nvSpPr>
        <p:spPr>
          <a:xfrm>
            <a:off x="6309360" y="1005840"/>
            <a:ext cx="4846320" cy="1280160"/>
          </a:xfrm>
          <a:prstGeom prst="rect">
            <a:avLst/>
          </a:prstGeom>
          <a:noFill/>
        </p:spPr>
        <p:txBody>
          <a:bodyPr wrap="square" anchor="t" lIns="0" rIns="0" tIns="0" bIns="0">
            <a:spAutoFit/>
          </a:bodyPr>
          <a:lstStyle/>
          <a:p>
            <a:pPr algn="l">
              <a:lnSpc>
                <a:spcPct val="105000"/>
              </a:lnSpc>
            </a:pPr>
            <a:r>
              <a:rPr sz="2500" b="1" i="0">
                <a:solidFill>
                  <a:srgbClr val="221F33"/>
                </a:solidFill>
                <a:latin typeface="Arial Rounded MT Bold"/>
              </a:rPr>
              <a:t>A Tamper-Evident Wax Seal</a:t>
            </a:r>
          </a:p>
        </p:txBody>
      </p:sp>
      <p:sp>
        <p:nvSpPr>
          <p:cNvPr id="7" name="TextBox 6"/>
          <p:cNvSpPr txBox="1"/>
          <p:nvPr/>
        </p:nvSpPr>
        <p:spPr>
          <a:xfrm>
            <a:off x="6309360" y="2148840"/>
            <a:ext cx="4846320" cy="2377440"/>
          </a:xfrm>
          <a:prstGeom prst="rect">
            <a:avLst/>
          </a:prstGeom>
          <a:noFill/>
        </p:spPr>
        <p:txBody>
          <a:bodyPr wrap="square" anchor="t" lIns="0" rIns="0" tIns="0" bIns="0">
            <a:spAutoFit/>
          </a:bodyPr>
          <a:lstStyle/>
          <a:p>
            <a:pPr algn="l">
              <a:lnSpc>
                <a:spcPct val="142000"/>
              </a:lnSpc>
            </a:pPr>
            <a:r>
              <a:rPr sz="1250" b="0" i="0">
                <a:solidFill>
                  <a:srgbClr val="8B8899"/>
                </a:solidFill>
                <a:latin typeface="Arial"/>
              </a:rPr>
              <a:t>A hash is like a wax seal on a letter. The seal doesn't tell you what's written inside — you can't reverse it back into words. But if someone changes one word and reseals it, the new seal looks completely different. Anyone who remembers the original can instantly tell it was tampered with, without reading a single word.</a:t>
            </a:r>
          </a:p>
        </p:txBody>
      </p:sp>
      <p:sp>
        <p:nvSpPr>
          <p:cNvPr id="8" name="Freeform 7"/>
          <p:cNvSpPr/>
          <p:nvPr/>
        </p:nvSpPr>
        <p:spPr>
          <a:xfrm>
            <a:off x="10744591" y="502920"/>
            <a:ext cx="776751" cy="1051560"/>
          </a:xfrm>
          <a:custGeom>
            <a:avLst/>
            <a:gdLst/>
            <a:ahLst/>
            <a:cxnLst/>
            <a:rect l="l" t="t" r="r" b="b"/>
            <a:pathLst>
              <a:path w="776751" h="1051560">
                <a:moveTo>
                  <a:pt x="388229" y="0"/>
                </a:moveTo>
                <a:lnTo>
                  <a:pt x="499995" y="37555"/>
                </a:lnTo>
                <a:lnTo>
                  <a:pt x="602318" y="75111"/>
                </a:lnTo>
                <a:lnTo>
                  <a:pt x="686551" y="112667"/>
                </a:lnTo>
                <a:lnTo>
                  <a:pt x="745575" y="150222"/>
                </a:lnTo>
                <a:lnTo>
                  <a:pt x="774405" y="187778"/>
                </a:lnTo>
                <a:lnTo>
                  <a:pt x="770603" y="225334"/>
                </a:lnTo>
                <a:lnTo>
                  <a:pt x="734491" y="262890"/>
                </a:lnTo>
                <a:lnTo>
                  <a:pt x="669121" y="300445"/>
                </a:lnTo>
                <a:lnTo>
                  <a:pt x="580016" y="338001"/>
                </a:lnTo>
                <a:lnTo>
                  <a:pt x="474705" y="375557"/>
                </a:lnTo>
                <a:lnTo>
                  <a:pt x="362086" y="413112"/>
                </a:lnTo>
                <a:lnTo>
                  <a:pt x="251677" y="450668"/>
                </a:lnTo>
                <a:lnTo>
                  <a:pt x="152806" y="488224"/>
                </a:lnTo>
                <a:lnTo>
                  <a:pt x="73828" y="525780"/>
                </a:lnTo>
                <a:lnTo>
                  <a:pt x="21417" y="563335"/>
                </a:lnTo>
                <a:lnTo>
                  <a:pt x="0" y="600891"/>
                </a:lnTo>
                <a:lnTo>
                  <a:pt x="11388" y="638447"/>
                </a:lnTo>
                <a:lnTo>
                  <a:pt x="54618" y="676002"/>
                </a:lnTo>
                <a:lnTo>
                  <a:pt x="126038" y="713558"/>
                </a:lnTo>
                <a:lnTo>
                  <a:pt x="219613" y="751114"/>
                </a:lnTo>
                <a:lnTo>
                  <a:pt x="327435" y="788670"/>
                </a:lnTo>
                <a:lnTo>
                  <a:pt x="440394" y="826225"/>
                </a:lnTo>
                <a:lnTo>
                  <a:pt x="548946" y="863781"/>
                </a:lnTo>
                <a:lnTo>
                  <a:pt x="643917" y="901337"/>
                </a:lnTo>
                <a:lnTo>
                  <a:pt x="717282" y="938892"/>
                </a:lnTo>
                <a:lnTo>
                  <a:pt x="762844" y="976448"/>
                </a:lnTo>
                <a:lnTo>
                  <a:pt x="776751" y="1014004"/>
                </a:lnTo>
                <a:lnTo>
                  <a:pt x="757828" y="1051560"/>
                </a:lnTo>
              </a:path>
            </a:pathLst>
          </a:custGeom>
          <a:noFill/>
          <a:ln w="68580" cap="rnd">
            <a:solidFill>
              <a:srgbClr val="FDC6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8B8899"/>
                </a:solidFill>
                <a:latin typeface="Courier New"/>
              </a:rPr>
              <a:t>15/18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8229600" cy="320040"/>
          </a:xfrm>
          <a:prstGeom prst="rect">
            <a:avLst/>
          </a:prstGeom>
          <a:noFill/>
        </p:spPr>
        <p:txBody>
          <a:bodyPr wrap="square" anchor="t" lIns="0" rIns="0" tIns="0" bIns="0">
            <a:spAutoFit/>
          </a:bodyPr>
          <a:lstStyle/>
          <a:p>
            <a:pPr algn="l">
              <a:lnSpc>
                <a:spcPct val="115000"/>
              </a:lnSpc>
            </a:pPr>
            <a:r>
              <a:rPr sz="1150" b="1" i="0">
                <a:solidFill>
                  <a:srgbClr val="8B8899"/>
                </a:solidFill>
                <a:latin typeface="Arial"/>
              </a:rPr>
              <a:t>COMMON MISCONCEPTIONS</a:t>
            </a:r>
          </a:p>
        </p:txBody>
      </p:sp>
      <p:sp>
        <p:nvSpPr>
          <p:cNvPr id="4" name="TextBox 3"/>
          <p:cNvSpPr txBox="1"/>
          <p:nvPr/>
        </p:nvSpPr>
        <p:spPr>
          <a:xfrm>
            <a:off x="685800" y="914400"/>
            <a:ext cx="10515600" cy="822960"/>
          </a:xfrm>
          <a:prstGeom prst="rect">
            <a:avLst/>
          </a:prstGeom>
          <a:noFill/>
        </p:spPr>
        <p:txBody>
          <a:bodyPr wrap="square" anchor="t" lIns="0" rIns="0" tIns="0" bIns="0">
            <a:spAutoFit/>
          </a:bodyPr>
          <a:lstStyle/>
          <a:p>
            <a:pPr algn="l">
              <a:lnSpc>
                <a:spcPct val="115000"/>
              </a:lnSpc>
            </a:pPr>
            <a:r>
              <a:rPr sz="3000" b="1" i="0">
                <a:solidFill>
                  <a:srgbClr val="221F33"/>
                </a:solidFill>
                <a:latin typeface="Arial Rounded MT Bold"/>
              </a:rPr>
              <a:t>Where People Get Tripped Up</a:t>
            </a:r>
          </a:p>
        </p:txBody>
      </p:sp>
      <p:sp>
        <p:nvSpPr>
          <p:cNvPr id="5" name="TextBox 4"/>
          <p:cNvSpPr txBox="1"/>
          <p:nvPr/>
        </p:nvSpPr>
        <p:spPr>
          <a:xfrm>
            <a:off x="685800" y="1691640"/>
            <a:ext cx="10515600" cy="548640"/>
          </a:xfrm>
          <a:prstGeom prst="rect">
            <a:avLst/>
          </a:prstGeom>
          <a:noFill/>
        </p:spPr>
        <p:txBody>
          <a:bodyPr wrap="square" anchor="t" lIns="0" rIns="0" tIns="0" bIns="0">
            <a:spAutoFit/>
          </a:bodyPr>
          <a:lstStyle/>
          <a:p>
            <a:pPr algn="l">
              <a:lnSpc>
                <a:spcPct val="140000"/>
              </a:lnSpc>
            </a:pPr>
            <a:r>
              <a:rPr sz="1300" b="0" i="0">
                <a:solidFill>
                  <a:srgbClr val="8B8899"/>
                </a:solidFill>
                <a:latin typeface="Arial"/>
              </a:rPr>
              <a:t>Two claims that sound reasonable, but aren't quite right.</a:t>
            </a:r>
          </a:p>
        </p:txBody>
      </p:sp>
      <p:sp>
        <p:nvSpPr>
          <p:cNvPr id="6" name="Rounded Rectangle 5"/>
          <p:cNvSpPr/>
          <p:nvPr/>
        </p:nvSpPr>
        <p:spPr>
          <a:xfrm>
            <a:off x="685800" y="2560320"/>
            <a:ext cx="5120640" cy="3520440"/>
          </a:xfrm>
          <a:prstGeom prst="roundRect">
            <a:avLst>
              <a:gd name="adj" fmla="val 6000"/>
            </a:avLst>
          </a:prstGeom>
          <a:solidFill>
            <a:srgbClr val="6C5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2926080"/>
            <a:ext cx="640080" cy="6400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6C5FE8"/>
                </a:solidFill>
                <a:latin typeface="Arial Rounded MT Bold"/>
              </a:rPr>
              <a:t>1</a:t>
            </a:r>
          </a:p>
        </p:txBody>
      </p:sp>
      <p:sp>
        <p:nvSpPr>
          <p:cNvPr id="8" name="TextBox 7"/>
          <p:cNvSpPr txBox="1"/>
          <p:nvPr/>
        </p:nvSpPr>
        <p:spPr>
          <a:xfrm>
            <a:off x="1051560" y="3794760"/>
            <a:ext cx="4389120" cy="548640"/>
          </a:xfrm>
          <a:prstGeom prst="rect">
            <a:avLst/>
          </a:prstGeom>
          <a:noFill/>
        </p:spPr>
        <p:txBody>
          <a:bodyPr wrap="square" anchor="t" lIns="0" rIns="0" tIns="0" bIns="0">
            <a:spAutoFit/>
          </a:bodyPr>
          <a:lstStyle/>
          <a:p>
            <a:pPr algn="l">
              <a:lnSpc>
                <a:spcPct val="115000"/>
              </a:lnSpc>
            </a:pPr>
            <a:r>
              <a:rPr sz="2000" b="1" i="0">
                <a:solidFill>
                  <a:srgbClr val="FFFFFF"/>
                </a:solidFill>
                <a:latin typeface="Arial Rounded MT Bold"/>
              </a:rPr>
              <a:t>“Hashing is encryption.”</a:t>
            </a:r>
          </a:p>
        </p:txBody>
      </p:sp>
      <p:sp>
        <p:nvSpPr>
          <p:cNvPr id="9" name="TextBox 8"/>
          <p:cNvSpPr txBox="1"/>
          <p:nvPr/>
        </p:nvSpPr>
        <p:spPr>
          <a:xfrm>
            <a:off x="1051560" y="4343400"/>
            <a:ext cx="4389120" cy="1554480"/>
          </a:xfrm>
          <a:prstGeom prst="rect">
            <a:avLst/>
          </a:prstGeom>
          <a:noFill/>
        </p:spPr>
        <p:txBody>
          <a:bodyPr wrap="square" anchor="t" lIns="0" rIns="0" tIns="0" bIns="0">
            <a:spAutoFit/>
          </a:bodyPr>
          <a:lstStyle/>
          <a:p>
            <a:pPr algn="l">
              <a:lnSpc>
                <a:spcPct val="140000"/>
              </a:lnSpc>
            </a:pPr>
            <a:r>
              <a:rPr sz="1300" b="0" i="0">
                <a:solidFill>
                  <a:srgbClr val="F3F1FC"/>
                </a:solidFill>
                <a:latin typeface="Arial"/>
              </a:rPr>
              <a:t>It isn't — hashing is deliberately one-way; there's no key that reverses it. “Decrypting a hash” is a contradiction in terms.</a:t>
            </a:r>
          </a:p>
        </p:txBody>
      </p:sp>
      <p:sp>
        <p:nvSpPr>
          <p:cNvPr id="10" name="Rounded Rectangle 9"/>
          <p:cNvSpPr/>
          <p:nvPr/>
        </p:nvSpPr>
        <p:spPr>
          <a:xfrm>
            <a:off x="6126480" y="2560320"/>
            <a:ext cx="5120640" cy="3520440"/>
          </a:xfrm>
          <a:prstGeom prst="roundRect">
            <a:avLst>
              <a:gd name="adj" fmla="val 6000"/>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92240" y="2926080"/>
            <a:ext cx="640080" cy="6400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35C078"/>
                </a:solidFill>
                <a:latin typeface="Arial Rounded MT Bold"/>
              </a:rPr>
              <a:t>2</a:t>
            </a:r>
          </a:p>
        </p:txBody>
      </p:sp>
      <p:sp>
        <p:nvSpPr>
          <p:cNvPr id="12" name="TextBox 11"/>
          <p:cNvSpPr txBox="1"/>
          <p:nvPr/>
        </p:nvSpPr>
        <p:spPr>
          <a:xfrm>
            <a:off x="6492240" y="3794760"/>
            <a:ext cx="4389120" cy="548640"/>
          </a:xfrm>
          <a:prstGeom prst="rect">
            <a:avLst/>
          </a:prstGeom>
          <a:noFill/>
        </p:spPr>
        <p:txBody>
          <a:bodyPr wrap="square" anchor="t" lIns="0" rIns="0" tIns="0" bIns="0">
            <a:spAutoFit/>
          </a:bodyPr>
          <a:lstStyle/>
          <a:p>
            <a:pPr algn="l">
              <a:lnSpc>
                <a:spcPct val="115000"/>
              </a:lnSpc>
            </a:pPr>
            <a:r>
              <a:rPr sz="2000" b="1" i="0">
                <a:solidFill>
                  <a:srgbClr val="FFFFFF"/>
                </a:solidFill>
                <a:latin typeface="Arial Rounded MT Bold"/>
              </a:rPr>
              <a:t>“A public hash is always safe.”</a:t>
            </a:r>
          </a:p>
        </p:txBody>
      </p:sp>
      <p:sp>
        <p:nvSpPr>
          <p:cNvPr id="13" name="TextBox 12"/>
          <p:cNvSpPr txBox="1"/>
          <p:nvPr/>
        </p:nvSpPr>
        <p:spPr>
          <a:xfrm>
            <a:off x="6492240" y="4343400"/>
            <a:ext cx="4389120" cy="1554480"/>
          </a:xfrm>
          <a:prstGeom prst="rect">
            <a:avLst/>
          </a:prstGeom>
          <a:noFill/>
        </p:spPr>
        <p:txBody>
          <a:bodyPr wrap="square" anchor="t" lIns="0" rIns="0" tIns="0" bIns="0">
            <a:spAutoFit/>
          </a:bodyPr>
          <a:lstStyle/>
          <a:p>
            <a:pPr algn="l">
              <a:lnSpc>
                <a:spcPct val="140000"/>
              </a:lnSpc>
            </a:pPr>
            <a:r>
              <a:rPr sz="1300" b="0" i="0">
                <a:solidFill>
                  <a:srgbClr val="F3F1FC"/>
                </a:solidFill>
                <a:latin typeface="Arial"/>
              </a:rPr>
              <a:t>Only for high-entropy inputs — a 4-digit PIN's hash can be cracked instantly by hashing all 10,000 possibilities.</a:t>
            </a:r>
          </a:p>
        </p:txBody>
      </p:sp>
      <p:sp>
        <p:nvSpPr>
          <p:cNvPr id="14" name="TextBox 13"/>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8B8899"/>
                </a:solidFill>
                <a:latin typeface="Courier New"/>
              </a:rPr>
              <a:t>16/18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8229600" cy="320040"/>
          </a:xfrm>
          <a:prstGeom prst="rect">
            <a:avLst/>
          </a:prstGeom>
          <a:noFill/>
        </p:spPr>
        <p:txBody>
          <a:bodyPr wrap="square" anchor="t" lIns="0" rIns="0" tIns="0" bIns="0">
            <a:spAutoFit/>
          </a:bodyPr>
          <a:lstStyle/>
          <a:p>
            <a:pPr algn="l">
              <a:lnSpc>
                <a:spcPct val="115000"/>
              </a:lnSpc>
            </a:pPr>
            <a:r>
              <a:rPr sz="1150" b="1" i="0">
                <a:solidFill>
                  <a:srgbClr val="6C5FE8"/>
                </a:solidFill>
                <a:latin typeface="Arial"/>
              </a:rPr>
              <a:t>HANDS-ON PRACTICE</a:t>
            </a:r>
          </a:p>
        </p:txBody>
      </p:sp>
      <p:sp>
        <p:nvSpPr>
          <p:cNvPr id="4" name="TextBox 3"/>
          <p:cNvSpPr txBox="1"/>
          <p:nvPr/>
        </p:nvSpPr>
        <p:spPr>
          <a:xfrm>
            <a:off x="685800" y="914400"/>
            <a:ext cx="4206240" cy="1280160"/>
          </a:xfrm>
          <a:prstGeom prst="rect">
            <a:avLst/>
          </a:prstGeom>
          <a:noFill/>
        </p:spPr>
        <p:txBody>
          <a:bodyPr wrap="square" anchor="t" lIns="0" rIns="0" tIns="0" bIns="0">
            <a:spAutoFit/>
          </a:bodyPr>
          <a:lstStyle/>
          <a:p>
            <a:pPr algn="l">
              <a:lnSpc>
                <a:spcPct val="105000"/>
              </a:lnSpc>
            </a:pPr>
            <a:r>
              <a:rPr sz="2500" b="1" i="0">
                <a:solidFill>
                  <a:srgbClr val="221F33"/>
                </a:solidFill>
                <a:latin typeface="Arial Rounded MT Bold"/>
              </a:rPr>
              <a:t>Do This Now</a:t>
            </a:r>
          </a:p>
        </p:txBody>
      </p:sp>
      <p:pic>
        <p:nvPicPr>
          <p:cNvPr id="5" name="Picture 4" descr="_c_tl17_practice.jpg"/>
          <p:cNvPicPr>
            <a:picLocks noChangeAspect="1"/>
          </p:cNvPicPr>
          <p:nvPr/>
        </p:nvPicPr>
        <p:blipFill>
          <a:blip r:embed="rId2"/>
          <a:stretch>
            <a:fillRect/>
          </a:stretch>
        </p:blipFill>
        <p:spPr>
          <a:xfrm>
            <a:off x="685800" y="2377440"/>
            <a:ext cx="4206240" cy="3291840"/>
          </a:xfrm>
          <a:prstGeom prst="rect">
            <a:avLst/>
          </a:prstGeom>
        </p:spPr>
      </p:pic>
      <p:sp>
        <p:nvSpPr>
          <p:cNvPr id="6" name="Rounded Rectangle 5"/>
          <p:cNvSpPr/>
          <p:nvPr/>
        </p:nvSpPr>
        <p:spPr>
          <a:xfrm>
            <a:off x="5486400" y="1005840"/>
            <a:ext cx="621792" cy="365760"/>
          </a:xfrm>
          <a:prstGeom prst="roundRect">
            <a:avLst>
              <a:gd name="adj" fmla="val 50000"/>
            </a:avLst>
          </a:prstGeom>
          <a:solidFill>
            <a:srgbClr val="6C5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228600" wrap="none"/>
          <a:lstStyle/>
          <a:p>
            <a:pPr algn="ctr"/>
            <a:r>
              <a:rPr sz="1200" b="1">
                <a:solidFill>
                  <a:srgbClr val="FFFFFF"/>
                </a:solidFill>
                <a:latin typeface="Arial"/>
              </a:rPr>
              <a:t>01</a:t>
            </a:r>
          </a:p>
        </p:txBody>
      </p:sp>
      <p:sp>
        <p:nvSpPr>
          <p:cNvPr id="7" name="TextBox 6"/>
          <p:cNvSpPr txBox="1"/>
          <p:nvPr/>
        </p:nvSpPr>
        <p:spPr>
          <a:xfrm>
            <a:off x="6172200" y="987552"/>
            <a:ext cx="5486400" cy="365760"/>
          </a:xfrm>
          <a:prstGeom prst="rect">
            <a:avLst/>
          </a:prstGeom>
          <a:noFill/>
        </p:spPr>
        <p:txBody>
          <a:bodyPr wrap="square" anchor="t" lIns="0" rIns="0" tIns="0" bIns="0">
            <a:spAutoFit/>
          </a:bodyPr>
          <a:lstStyle/>
          <a:p>
            <a:pPr algn="l">
              <a:lnSpc>
                <a:spcPct val="115000"/>
              </a:lnSpc>
            </a:pPr>
            <a:r>
              <a:rPr sz="1450" b="1" i="0">
                <a:solidFill>
                  <a:srgbClr val="221F33"/>
                </a:solidFill>
                <a:latin typeface="Arial Rounded MT Bold"/>
              </a:rPr>
              <a:t>Hash your own name twice</a:t>
            </a:r>
          </a:p>
        </p:txBody>
      </p:sp>
      <p:sp>
        <p:nvSpPr>
          <p:cNvPr id="8" name="TextBox 7"/>
          <p:cNvSpPr txBox="1"/>
          <p:nvPr/>
        </p:nvSpPr>
        <p:spPr>
          <a:xfrm>
            <a:off x="6172200" y="1389888"/>
            <a:ext cx="5486400" cy="548640"/>
          </a:xfrm>
          <a:prstGeom prst="rect">
            <a:avLst/>
          </a:prstGeom>
          <a:noFill/>
        </p:spPr>
        <p:txBody>
          <a:bodyPr wrap="square" anchor="t" lIns="0" rIns="0" tIns="0" bIns="0">
            <a:spAutoFit/>
          </a:bodyPr>
          <a:lstStyle/>
          <a:p>
            <a:pPr algn="l">
              <a:lnSpc>
                <a:spcPct val="130000"/>
              </a:lnSpc>
            </a:pPr>
            <a:r>
              <a:rPr sz="1050" b="0" i="0">
                <a:solidFill>
                  <a:srgbClr val="8B8899"/>
                </a:solidFill>
                <a:latin typeface="Arial"/>
              </a:rPr>
              <a:t>Confirm identical output — determinism, proven yourself.</a:t>
            </a:r>
          </a:p>
        </p:txBody>
      </p:sp>
      <p:cxnSp>
        <p:nvCxnSpPr>
          <p:cNvPr id="9" name="Connector 8"/>
          <p:cNvCxnSpPr/>
          <p:nvPr/>
        </p:nvCxnSpPr>
        <p:spPr>
          <a:xfrm>
            <a:off x="5742432" y="1417320"/>
            <a:ext cx="0" cy="640080"/>
          </a:xfrm>
          <a:prstGeom prst="line">
            <a:avLst/>
          </a:prstGeom>
          <a:ln w="19050">
            <a:solidFill>
              <a:srgbClr val="ECEAF3"/>
            </a:solidFill>
            <a:prstDash val="sys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486400" y="2057400"/>
            <a:ext cx="621792" cy="365760"/>
          </a:xfrm>
          <a:prstGeom prst="roundRect">
            <a:avLst>
              <a:gd name="adj" fmla="val 50000"/>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228600" wrap="none"/>
          <a:lstStyle/>
          <a:p>
            <a:pPr algn="ctr"/>
            <a:r>
              <a:rPr sz="1200" b="1">
                <a:solidFill>
                  <a:srgbClr val="FFFFFF"/>
                </a:solidFill>
                <a:latin typeface="Arial"/>
              </a:rPr>
              <a:t>02</a:t>
            </a:r>
          </a:p>
        </p:txBody>
      </p:sp>
      <p:sp>
        <p:nvSpPr>
          <p:cNvPr id="11" name="TextBox 10"/>
          <p:cNvSpPr txBox="1"/>
          <p:nvPr/>
        </p:nvSpPr>
        <p:spPr>
          <a:xfrm>
            <a:off x="6172200" y="2039112"/>
            <a:ext cx="5486400" cy="365760"/>
          </a:xfrm>
          <a:prstGeom prst="rect">
            <a:avLst/>
          </a:prstGeom>
          <a:noFill/>
        </p:spPr>
        <p:txBody>
          <a:bodyPr wrap="square" anchor="t" lIns="0" rIns="0" tIns="0" bIns="0">
            <a:spAutoFit/>
          </a:bodyPr>
          <a:lstStyle/>
          <a:p>
            <a:pPr algn="l">
              <a:lnSpc>
                <a:spcPct val="115000"/>
              </a:lnSpc>
            </a:pPr>
            <a:r>
              <a:rPr sz="1450" b="1" i="0">
                <a:solidFill>
                  <a:srgbClr val="221F33"/>
                </a:solidFill>
                <a:latin typeface="Arial Rounded MT Bold"/>
              </a:rPr>
              <a:t>Change one character, re-hash</a:t>
            </a:r>
          </a:p>
        </p:txBody>
      </p:sp>
      <p:sp>
        <p:nvSpPr>
          <p:cNvPr id="12" name="TextBox 11"/>
          <p:cNvSpPr txBox="1"/>
          <p:nvPr/>
        </p:nvSpPr>
        <p:spPr>
          <a:xfrm>
            <a:off x="6172200" y="2441448"/>
            <a:ext cx="5486400" cy="548640"/>
          </a:xfrm>
          <a:prstGeom prst="rect">
            <a:avLst/>
          </a:prstGeom>
          <a:noFill/>
        </p:spPr>
        <p:txBody>
          <a:bodyPr wrap="square" anchor="t" lIns="0" rIns="0" tIns="0" bIns="0">
            <a:spAutoFit/>
          </a:bodyPr>
          <a:lstStyle/>
          <a:p>
            <a:pPr algn="l">
              <a:lnSpc>
                <a:spcPct val="130000"/>
              </a:lnSpc>
            </a:pPr>
            <a:r>
              <a:rPr sz="1050" b="0" i="0">
                <a:solidFill>
                  <a:srgbClr val="8B8899"/>
                </a:solidFill>
                <a:latin typeface="Arial"/>
              </a:rPr>
              <a:t>Confirm total mismatch — the avalanche effect.</a:t>
            </a:r>
          </a:p>
        </p:txBody>
      </p:sp>
      <p:cxnSp>
        <p:nvCxnSpPr>
          <p:cNvPr id="13" name="Connector 12"/>
          <p:cNvCxnSpPr/>
          <p:nvPr/>
        </p:nvCxnSpPr>
        <p:spPr>
          <a:xfrm>
            <a:off x="5742432" y="2468880"/>
            <a:ext cx="0" cy="640080"/>
          </a:xfrm>
          <a:prstGeom prst="line">
            <a:avLst/>
          </a:prstGeom>
          <a:ln w="19050">
            <a:solidFill>
              <a:srgbClr val="ECEAF3"/>
            </a:solidFill>
            <a:prstDash val="sys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0" y="3108960"/>
            <a:ext cx="621792" cy="365760"/>
          </a:xfrm>
          <a:prstGeom prst="roundRect">
            <a:avLst>
              <a:gd name="adj" fmla="val 50000"/>
            </a:avLst>
          </a:prstGeom>
          <a:solidFill>
            <a:srgbClr val="F2734B"/>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228600" wrap="none"/>
          <a:lstStyle/>
          <a:p>
            <a:pPr algn="ctr"/>
            <a:r>
              <a:rPr sz="1200" b="1">
                <a:solidFill>
                  <a:srgbClr val="FFFFFF"/>
                </a:solidFill>
                <a:latin typeface="Arial"/>
              </a:rPr>
              <a:t>03</a:t>
            </a:r>
          </a:p>
        </p:txBody>
      </p:sp>
      <p:sp>
        <p:nvSpPr>
          <p:cNvPr id="15" name="TextBox 14"/>
          <p:cNvSpPr txBox="1"/>
          <p:nvPr/>
        </p:nvSpPr>
        <p:spPr>
          <a:xfrm>
            <a:off x="6172200" y="3090672"/>
            <a:ext cx="5486400" cy="365760"/>
          </a:xfrm>
          <a:prstGeom prst="rect">
            <a:avLst/>
          </a:prstGeom>
          <a:noFill/>
        </p:spPr>
        <p:txBody>
          <a:bodyPr wrap="square" anchor="t" lIns="0" rIns="0" tIns="0" bIns="0">
            <a:spAutoFit/>
          </a:bodyPr>
          <a:lstStyle/>
          <a:p>
            <a:pPr algn="l">
              <a:lnSpc>
                <a:spcPct val="115000"/>
              </a:lnSpc>
            </a:pPr>
            <a:r>
              <a:rPr sz="1450" b="1" i="0">
                <a:solidFill>
                  <a:srgbClr val="221F33"/>
                </a:solidFill>
                <a:latin typeface="Arial Rounded MT Bold"/>
              </a:rPr>
              <a:t>Try the live hash demo</a:t>
            </a:r>
          </a:p>
        </p:txBody>
      </p:sp>
      <p:sp>
        <p:nvSpPr>
          <p:cNvPr id="16" name="TextBox 15"/>
          <p:cNvSpPr txBox="1"/>
          <p:nvPr/>
        </p:nvSpPr>
        <p:spPr>
          <a:xfrm>
            <a:off x="6172200" y="3493008"/>
            <a:ext cx="5486400" cy="548640"/>
          </a:xfrm>
          <a:prstGeom prst="rect">
            <a:avLst/>
          </a:prstGeom>
          <a:noFill/>
        </p:spPr>
        <p:txBody>
          <a:bodyPr wrap="square" anchor="t" lIns="0" rIns="0" tIns="0" bIns="0">
            <a:spAutoFit/>
          </a:bodyPr>
          <a:lstStyle/>
          <a:p>
            <a:pPr algn="l">
              <a:lnSpc>
                <a:spcPct val="130000"/>
              </a:lnSpc>
            </a:pPr>
            <a:r>
              <a:rPr sz="1050" b="0" i="0">
                <a:solidFill>
                  <a:srgbClr val="8B8899"/>
                </a:solidFill>
                <a:latin typeface="Arial"/>
              </a:rPr>
              <a:t>andersbrownworth.com/blockchain/hash</a:t>
            </a:r>
          </a:p>
        </p:txBody>
      </p:sp>
      <p:cxnSp>
        <p:nvCxnSpPr>
          <p:cNvPr id="17" name="Connector 16"/>
          <p:cNvCxnSpPr/>
          <p:nvPr/>
        </p:nvCxnSpPr>
        <p:spPr>
          <a:xfrm>
            <a:off x="5742432" y="3520440"/>
            <a:ext cx="0" cy="640080"/>
          </a:xfrm>
          <a:prstGeom prst="line">
            <a:avLst/>
          </a:prstGeom>
          <a:ln w="19050">
            <a:solidFill>
              <a:srgbClr val="ECEAF3"/>
            </a:solidFill>
            <a:prstDash val="sys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486400" y="4160520"/>
            <a:ext cx="621792" cy="365760"/>
          </a:xfrm>
          <a:prstGeom prst="roundRect">
            <a:avLst>
              <a:gd name="adj" fmla="val 50000"/>
            </a:avLst>
          </a:prstGeom>
          <a:solidFill>
            <a:srgbClr val="FDC646"/>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228600" wrap="none"/>
          <a:lstStyle/>
          <a:p>
            <a:pPr algn="ctr"/>
            <a:r>
              <a:rPr sz="1200" b="1">
                <a:solidFill>
                  <a:srgbClr val="FFFFFF"/>
                </a:solidFill>
                <a:latin typeface="Arial"/>
              </a:rPr>
              <a:t>04</a:t>
            </a:r>
          </a:p>
        </p:txBody>
      </p:sp>
      <p:sp>
        <p:nvSpPr>
          <p:cNvPr id="19" name="TextBox 18"/>
          <p:cNvSpPr txBox="1"/>
          <p:nvPr/>
        </p:nvSpPr>
        <p:spPr>
          <a:xfrm>
            <a:off x="6172200" y="4142232"/>
            <a:ext cx="5486400" cy="365760"/>
          </a:xfrm>
          <a:prstGeom prst="rect">
            <a:avLst/>
          </a:prstGeom>
          <a:noFill/>
        </p:spPr>
        <p:txBody>
          <a:bodyPr wrap="square" anchor="t" lIns="0" rIns="0" tIns="0" bIns="0">
            <a:spAutoFit/>
          </a:bodyPr>
          <a:lstStyle/>
          <a:p>
            <a:pPr algn="l">
              <a:lnSpc>
                <a:spcPct val="115000"/>
              </a:lnSpc>
            </a:pPr>
            <a:r>
              <a:rPr sz="1450" b="1" i="0">
                <a:solidFill>
                  <a:srgbClr val="221F33"/>
                </a:solidFill>
                <a:latin typeface="Arial Rounded MT Bold"/>
              </a:rPr>
              <a:t>Compare in CyberChef</a:t>
            </a:r>
          </a:p>
        </p:txBody>
      </p:sp>
      <p:sp>
        <p:nvSpPr>
          <p:cNvPr id="20" name="TextBox 19"/>
          <p:cNvSpPr txBox="1"/>
          <p:nvPr/>
        </p:nvSpPr>
        <p:spPr>
          <a:xfrm>
            <a:off x="6172200" y="4544568"/>
            <a:ext cx="5486400" cy="548640"/>
          </a:xfrm>
          <a:prstGeom prst="rect">
            <a:avLst/>
          </a:prstGeom>
          <a:noFill/>
        </p:spPr>
        <p:txBody>
          <a:bodyPr wrap="square" anchor="t" lIns="0" rIns="0" tIns="0" bIns="0">
            <a:spAutoFit/>
          </a:bodyPr>
          <a:lstStyle/>
          <a:p>
            <a:pPr algn="l">
              <a:lnSpc>
                <a:spcPct val="130000"/>
              </a:lnSpc>
            </a:pPr>
            <a:r>
              <a:rPr sz="1050" b="0" i="0">
                <a:solidFill>
                  <a:srgbClr val="8B8899"/>
                </a:solidFill>
                <a:latin typeface="Arial"/>
              </a:rPr>
              <a:t>"Hello World" vs "hello World".</a:t>
            </a:r>
          </a:p>
        </p:txBody>
      </p:sp>
      <p:sp>
        <p:nvSpPr>
          <p:cNvPr id="21" name="TextBox 20"/>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8B8899"/>
                </a:solidFill>
                <a:latin typeface="Courier New"/>
              </a:rPr>
              <a:t>17/18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8229600" cy="320040"/>
          </a:xfrm>
          <a:prstGeom prst="rect">
            <a:avLst/>
          </a:prstGeom>
          <a:noFill/>
        </p:spPr>
        <p:txBody>
          <a:bodyPr wrap="square" anchor="t" lIns="0" rIns="0" tIns="0" bIns="0">
            <a:spAutoFit/>
          </a:bodyPr>
          <a:lstStyle/>
          <a:p>
            <a:pPr algn="l">
              <a:lnSpc>
                <a:spcPct val="115000"/>
              </a:lnSpc>
            </a:pPr>
            <a:r>
              <a:rPr sz="1150" b="1" i="0">
                <a:solidFill>
                  <a:srgbClr val="6C5FE8"/>
                </a:solidFill>
                <a:latin typeface="Arial"/>
              </a:rPr>
              <a:t>TAKE-HOME ASSIGNMENT</a:t>
            </a:r>
          </a:p>
        </p:txBody>
      </p:sp>
      <p:sp>
        <p:nvSpPr>
          <p:cNvPr id="4" name="TextBox 3"/>
          <p:cNvSpPr txBox="1"/>
          <p:nvPr/>
        </p:nvSpPr>
        <p:spPr>
          <a:xfrm>
            <a:off x="685800" y="914400"/>
            <a:ext cx="4297680" cy="1280160"/>
          </a:xfrm>
          <a:prstGeom prst="rect">
            <a:avLst/>
          </a:prstGeom>
          <a:noFill/>
        </p:spPr>
        <p:txBody>
          <a:bodyPr wrap="square" anchor="t" lIns="0" rIns="0" tIns="0" bIns="0">
            <a:spAutoFit/>
          </a:bodyPr>
          <a:lstStyle/>
          <a:p>
            <a:pPr algn="l">
              <a:lnSpc>
                <a:spcPct val="105000"/>
              </a:lnSpc>
            </a:pPr>
            <a:r>
              <a:rPr sz="2500" b="1" i="0">
                <a:solidFill>
                  <a:srgbClr val="221F33"/>
                </a:solidFill>
                <a:latin typeface="Arial Rounded MT Bold"/>
              </a:rPr>
              <a:t>Before You Move On</a:t>
            </a:r>
          </a:p>
        </p:txBody>
      </p:sp>
      <p:pic>
        <p:nvPicPr>
          <p:cNvPr id="5" name="Picture 4" descr="_c_fl18_takehome.jpg"/>
          <p:cNvPicPr>
            <a:picLocks noChangeAspect="1"/>
          </p:cNvPicPr>
          <p:nvPr/>
        </p:nvPicPr>
        <p:blipFill>
          <a:blip r:embed="rId2"/>
          <a:stretch>
            <a:fillRect/>
          </a:stretch>
        </p:blipFill>
        <p:spPr>
          <a:xfrm>
            <a:off x="685800" y="2377440"/>
            <a:ext cx="4297680" cy="3383280"/>
          </a:xfrm>
          <a:prstGeom prst="rect">
            <a:avLst/>
          </a:prstGeom>
        </p:spPr>
      </p:pic>
      <p:sp>
        <p:nvSpPr>
          <p:cNvPr id="6" name="Rounded Rectangle 5"/>
          <p:cNvSpPr/>
          <p:nvPr/>
        </p:nvSpPr>
        <p:spPr>
          <a:xfrm>
            <a:off x="5532120" y="1051560"/>
            <a:ext cx="502920" cy="502920"/>
          </a:xfrm>
          <a:prstGeom prst="roundRect">
            <a:avLst>
              <a:gd name="adj" fmla="val 25000"/>
            </a:avLst>
          </a:prstGeom>
          <a:solidFill>
            <a:srgbClr val="6C5FE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rPr>
              <a:t>✓</a:t>
            </a:r>
          </a:p>
        </p:txBody>
      </p:sp>
      <p:sp>
        <p:nvSpPr>
          <p:cNvPr id="7" name="TextBox 6"/>
          <p:cNvSpPr txBox="1"/>
          <p:nvPr/>
        </p:nvSpPr>
        <p:spPr>
          <a:xfrm>
            <a:off x="6217920" y="1033272"/>
            <a:ext cx="5760720" cy="365760"/>
          </a:xfrm>
          <a:prstGeom prst="rect">
            <a:avLst/>
          </a:prstGeom>
          <a:noFill/>
        </p:spPr>
        <p:txBody>
          <a:bodyPr wrap="square" anchor="t" lIns="0" rIns="0" tIns="0" bIns="0">
            <a:spAutoFit/>
          </a:bodyPr>
          <a:lstStyle/>
          <a:p>
            <a:pPr algn="l">
              <a:lnSpc>
                <a:spcPct val="115000"/>
              </a:lnSpc>
            </a:pPr>
            <a:r>
              <a:rPr sz="1450" b="1" i="0">
                <a:solidFill>
                  <a:srgbClr val="221F33"/>
                </a:solidFill>
                <a:latin typeface="Arial Rounded MT Bold"/>
              </a:rPr>
              <a:t>Explain immutability</a:t>
            </a:r>
          </a:p>
        </p:txBody>
      </p:sp>
      <p:sp>
        <p:nvSpPr>
          <p:cNvPr id="8" name="TextBox 7"/>
          <p:cNvSpPr txBox="1"/>
          <p:nvPr/>
        </p:nvSpPr>
        <p:spPr>
          <a:xfrm>
            <a:off x="6217920" y="1435608"/>
            <a:ext cx="5760720" cy="822960"/>
          </a:xfrm>
          <a:prstGeom prst="rect">
            <a:avLst/>
          </a:prstGeom>
          <a:noFill/>
        </p:spPr>
        <p:txBody>
          <a:bodyPr wrap="square" anchor="t" lIns="0" rIns="0" tIns="0" bIns="0">
            <a:spAutoFit/>
          </a:bodyPr>
          <a:lstStyle/>
          <a:p>
            <a:pPr algn="l">
              <a:lnSpc>
                <a:spcPct val="130000"/>
              </a:lnSpc>
            </a:pPr>
            <a:r>
              <a:rPr sz="1050" b="0" i="0">
                <a:solidFill>
                  <a:srgbClr val="8B8899"/>
                </a:solidFill>
                <a:latin typeface="Arial"/>
              </a:rPr>
              <a:t>Why does blockchain immutability depend entirely on hashing?</a:t>
            </a:r>
          </a:p>
        </p:txBody>
      </p:sp>
      <p:sp>
        <p:nvSpPr>
          <p:cNvPr id="9" name="Rounded Rectangle 8"/>
          <p:cNvSpPr/>
          <p:nvPr/>
        </p:nvSpPr>
        <p:spPr>
          <a:xfrm>
            <a:off x="5532120" y="2468880"/>
            <a:ext cx="502920" cy="502920"/>
          </a:xfrm>
          <a:prstGeom prst="roundRect">
            <a:avLst>
              <a:gd name="adj" fmla="val 25000"/>
            </a:avLst>
          </a:prstGeom>
          <a:solidFill>
            <a:srgbClr val="35C07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rPr>
              <a:t>✓</a:t>
            </a:r>
          </a:p>
        </p:txBody>
      </p:sp>
      <p:sp>
        <p:nvSpPr>
          <p:cNvPr id="10" name="TextBox 9"/>
          <p:cNvSpPr txBox="1"/>
          <p:nvPr/>
        </p:nvSpPr>
        <p:spPr>
          <a:xfrm>
            <a:off x="6217920" y="2450592"/>
            <a:ext cx="5760720" cy="365760"/>
          </a:xfrm>
          <a:prstGeom prst="rect">
            <a:avLst/>
          </a:prstGeom>
          <a:noFill/>
        </p:spPr>
        <p:txBody>
          <a:bodyPr wrap="square" anchor="t" lIns="0" rIns="0" tIns="0" bIns="0">
            <a:spAutoFit/>
          </a:bodyPr>
          <a:lstStyle/>
          <a:p>
            <a:pPr algn="l">
              <a:lnSpc>
                <a:spcPct val="115000"/>
              </a:lnSpc>
            </a:pPr>
            <a:r>
              <a:rPr sz="1450" b="1" i="0">
                <a:solidFill>
                  <a:srgbClr val="221F33"/>
                </a:solidFill>
                <a:latin typeface="Arial Rounded MT Bold"/>
              </a:rPr>
              <a:t>Pick one real-world use</a:t>
            </a:r>
          </a:p>
        </p:txBody>
      </p:sp>
      <p:sp>
        <p:nvSpPr>
          <p:cNvPr id="11" name="TextBox 10"/>
          <p:cNvSpPr txBox="1"/>
          <p:nvPr/>
        </p:nvSpPr>
        <p:spPr>
          <a:xfrm>
            <a:off x="6217920" y="2852928"/>
            <a:ext cx="5760720" cy="822960"/>
          </a:xfrm>
          <a:prstGeom prst="rect">
            <a:avLst/>
          </a:prstGeom>
          <a:noFill/>
        </p:spPr>
        <p:txBody>
          <a:bodyPr wrap="square" anchor="t" lIns="0" rIns="0" tIns="0" bIns="0">
            <a:spAutoFit/>
          </a:bodyPr>
          <a:lstStyle/>
          <a:p>
            <a:pPr algn="l">
              <a:lnSpc>
                <a:spcPct val="130000"/>
              </a:lnSpc>
            </a:pPr>
            <a:r>
              <a:rPr sz="1050" b="0" i="0">
                <a:solidFill>
                  <a:srgbClr val="8B8899"/>
                </a:solidFill>
                <a:latin typeface="Arial"/>
              </a:rPr>
              <a:t>Which property of hashing makes it work for that case?</a:t>
            </a:r>
          </a:p>
        </p:txBody>
      </p:sp>
      <p:sp>
        <p:nvSpPr>
          <p:cNvPr id="12" name="Rounded Rectangle 11"/>
          <p:cNvSpPr/>
          <p:nvPr/>
        </p:nvSpPr>
        <p:spPr>
          <a:xfrm>
            <a:off x="5532120" y="3886200"/>
            <a:ext cx="502920" cy="502920"/>
          </a:xfrm>
          <a:prstGeom prst="roundRect">
            <a:avLst>
              <a:gd name="adj" fmla="val 25000"/>
            </a:avLst>
          </a:prstGeom>
          <a:solidFill>
            <a:srgbClr val="F2734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rPr>
              <a:t>✓</a:t>
            </a:r>
          </a:p>
        </p:txBody>
      </p:sp>
      <p:sp>
        <p:nvSpPr>
          <p:cNvPr id="13" name="TextBox 12"/>
          <p:cNvSpPr txBox="1"/>
          <p:nvPr/>
        </p:nvSpPr>
        <p:spPr>
          <a:xfrm>
            <a:off x="6217920" y="3867912"/>
            <a:ext cx="5760720" cy="365760"/>
          </a:xfrm>
          <a:prstGeom prst="rect">
            <a:avLst/>
          </a:prstGeom>
          <a:noFill/>
        </p:spPr>
        <p:txBody>
          <a:bodyPr wrap="square" anchor="t" lIns="0" rIns="0" tIns="0" bIns="0">
            <a:spAutoFit/>
          </a:bodyPr>
          <a:lstStyle/>
          <a:p>
            <a:pPr algn="l">
              <a:lnSpc>
                <a:spcPct val="115000"/>
              </a:lnSpc>
            </a:pPr>
            <a:r>
              <a:rPr sz="1450" b="1" i="0">
                <a:solidFill>
                  <a:srgbClr val="221F33"/>
                </a:solidFill>
                <a:latin typeface="Arial Rounded MT Bold"/>
              </a:rPr>
              <a:t>Write a 2-block script</a:t>
            </a:r>
          </a:p>
        </p:txBody>
      </p:sp>
      <p:sp>
        <p:nvSpPr>
          <p:cNvPr id="14" name="TextBox 13"/>
          <p:cNvSpPr txBox="1"/>
          <p:nvPr/>
        </p:nvSpPr>
        <p:spPr>
          <a:xfrm>
            <a:off x="6217920" y="4270248"/>
            <a:ext cx="5760720" cy="822960"/>
          </a:xfrm>
          <a:prstGeom prst="rect">
            <a:avLst/>
          </a:prstGeom>
          <a:noFill/>
        </p:spPr>
        <p:txBody>
          <a:bodyPr wrap="square" anchor="t" lIns="0" rIns="0" tIns="0" bIns="0">
            <a:spAutoFit/>
          </a:bodyPr>
          <a:lstStyle/>
          <a:p>
            <a:pPr algn="l">
              <a:lnSpc>
                <a:spcPct val="130000"/>
              </a:lnSpc>
            </a:pPr>
            <a:r>
              <a:rPr sz="1050" b="0" i="0">
                <a:solidFill>
                  <a:srgbClr val="8B8899"/>
                </a:solidFill>
                <a:latin typeface="Arial"/>
              </a:rPr>
              <a:t>Hash a string, then chain a second block onto it.</a:t>
            </a:r>
          </a:p>
        </p:txBody>
      </p:sp>
      <p:sp>
        <p:nvSpPr>
          <p:cNvPr id="15" name="TextBox 14"/>
          <p:cNvSpPr txBox="1"/>
          <p:nvPr/>
        </p:nvSpPr>
        <p:spPr>
          <a:xfrm>
            <a:off x="11018520" y="6492240"/>
            <a:ext cx="960120" cy="274320"/>
          </a:xfrm>
          <a:prstGeom prst="rect">
            <a:avLst/>
          </a:prstGeom>
          <a:noFill/>
        </p:spPr>
        <p:txBody>
          <a:bodyPr wrap="square" anchor="t" lIns="0" rIns="0" tIns="0" bIns="0">
            <a:spAutoFit/>
          </a:bodyPr>
          <a:lstStyle/>
          <a:p>
            <a:pPr algn="r">
              <a:lnSpc>
                <a:spcPct val="115000"/>
              </a:lnSpc>
            </a:pPr>
            <a:r>
              <a:rPr sz="1000" b="1" i="0">
                <a:solidFill>
                  <a:srgbClr val="8B8899"/>
                </a:solidFill>
                <a:latin typeface="Courier New"/>
              </a:rPr>
              <a:t>18/18</a:t>
            </a:r>
          </a:p>
        </p:txBody>
      </p:sp>
      <p:sp>
        <p:nvSpPr>
          <p:cNvPr id="16" name="TextBox 15"/>
          <p:cNvSpPr txBox="1"/>
          <p:nvPr/>
        </p:nvSpPr>
        <p:spPr>
          <a:xfrm>
            <a:off x="5532120" y="5623560"/>
            <a:ext cx="5760720" cy="822960"/>
          </a:xfrm>
          <a:prstGeom prst="rect">
            <a:avLst/>
          </a:prstGeom>
          <a:noFill/>
        </p:spPr>
        <p:txBody>
          <a:bodyPr wrap="square" anchor="t" lIns="0" rIns="0" tIns="0" bIns="0">
            <a:spAutoFit/>
          </a:bodyPr>
          <a:lstStyle/>
          <a:p>
            <a:pPr algn="l">
              <a:lnSpc>
                <a:spcPct val="130000"/>
              </a:lnSpc>
            </a:pPr>
            <a:r>
              <a:rPr sz="1000" b="1">
                <a:solidFill>
                  <a:srgbClr val="6C5FE8"/>
                </a:solidFill>
                <a:latin typeface="Arial"/>
              </a:rPr>
              <a:t>Videos: </a:t>
            </a:r>
            <a:r>
              <a:rPr sz="1000" b="0">
                <a:solidFill>
                  <a:srgbClr val="8B8899"/>
                </a:solidFill>
                <a:latin typeface="Arial"/>
              </a:rPr>
              <a:t>How does SHA-256 work? (full explanation)</a:t>
            </a:r>
          </a:p>
          <a:p>
            <a:pPr algn="l">
              <a:lnSpc>
                <a:spcPct val="130000"/>
              </a:lnSpc>
            </a:pPr>
            <a:r>
              <a:rPr sz="1000" b="1">
                <a:solidFill>
                  <a:srgbClr val="6C5FE8"/>
                </a:solidFill>
                <a:latin typeface="Arial"/>
              </a:rPr>
              <a:t>Practice: </a:t>
            </a:r>
            <a:r>
              <a:rPr sz="1000" b="0">
                <a:solidFill>
                  <a:srgbClr val="8B8899"/>
                </a:solidFill>
                <a:latin typeface="Arial"/>
              </a:rPr>
              <a:t>andersbrownworth.com/blockchain/hash · CyberChef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