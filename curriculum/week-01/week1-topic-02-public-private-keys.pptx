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cover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73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67A1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C53D"/>
                </a:solidFill>
                <a:latin typeface="Calibri"/>
              </a:rPr>
              <a:t>BlockchainCourse · Curriculum · Week 01 · Topic 02 of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0" b="1" i="0">
                <a:solidFill>
                  <a:srgbClr val="FFFFFF"/>
                </a:solidFill>
                <a:latin typeface="Century Gothi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8961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Century Gothic"/>
              </a:rPr>
              <a:t>Public / Private Keys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6858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FFFFFF"/>
                </a:solidFill>
                <a:latin typeface="Calibri"/>
              </a:rPr>
              <a:t>Prove ownership without ever revealing the secret that proves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669280"/>
            <a:ext cx="1100937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100" b="0">
                <a:solidFill>
                  <a:srgbClr val="DDD9E8"/>
                </a:solidFill>
                <a:latin typeface="Calibri"/>
              </a:rPr>
              <a:t>01 · Hashing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0201" y="5669280"/>
            <a:ext cx="2022652" cy="402336"/>
          </a:xfrm>
          <a:prstGeom prst="roundRect">
            <a:avLst>
              <a:gd name="adj" fmla="val 50000"/>
            </a:avLst>
          </a:prstGeom>
          <a:solidFill>
            <a:srgbClr val="C6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 · Public / Private Keys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9157" y="5669280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100" b="0">
                <a:solidFill>
                  <a:srgbClr val="DDD9E8"/>
                </a:solidFill>
                <a:latin typeface="Calibri"/>
              </a:rPr>
              <a:t>03 · Blocks &amp; Chains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3093" y="5669280"/>
            <a:ext cx="1232611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100" b="0">
                <a:solidFill>
                  <a:srgbClr val="DDD9E8"/>
                </a:solidFill>
                <a:latin typeface="Calibri"/>
              </a:rPr>
              <a:t>04 · Consensus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9E6F2"/>
                </a:solidFill>
                <a:latin typeface="Calibri"/>
              </a:rPr>
              <a:t>Photo: Shillings1005 / Wikimedia Commons, CC BY-SA 4.0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67A1E"/>
                </a:solidFill>
                <a:latin typeface="Calibri"/>
              </a:rPr>
              <a:t>TOPIC 02 — PUBLIC / PRIVATE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C1730"/>
                </a:solidFill>
                <a:latin typeface="Century Gothic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5C576E"/>
                </a:solidFill>
                <a:latin typeface="Calibri"/>
              </a:rPr>
              <a:t>Hashing gave you tamper-evidence. Keys give you authorization — proving who's allowed to move funds, with no login system, no password reset, and no bank sitting in the middle. This is the entire foundation of blockchain authorization.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67A1E"/>
                </a:solidFill>
                <a:latin typeface="Calibri"/>
              </a:rPr>
              <a:t>WHAT THIS SECTION COVERS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97096"/>
            <a:ext cx="82296" cy="82296"/>
          </a:xfrm>
          <a:prstGeom prst="rect">
            <a:avLst/>
          </a:prstGeom>
          <a:solidFill>
            <a:srgbClr val="C6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1148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730"/>
                </a:solidFill>
                <a:latin typeface="Calibri"/>
              </a:rPr>
              <a:t>Core concept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4197096"/>
            <a:ext cx="82296" cy="82296"/>
          </a:xfrm>
          <a:prstGeom prst="rect">
            <a:avLst/>
          </a:prstGeom>
          <a:solidFill>
            <a:srgbClr val="C6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41148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730"/>
                </a:solidFill>
                <a:latin typeface="Calibri"/>
              </a:rPr>
              <a:t>Four key ideas, one at a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654296"/>
            <a:ext cx="82296" cy="82296"/>
          </a:xfrm>
          <a:prstGeom prst="rect">
            <a:avLst/>
          </a:prstGeom>
          <a:solidFill>
            <a:srgbClr val="C6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5720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730"/>
                </a:solidFill>
                <a:latin typeface="Calibri"/>
              </a:rPr>
              <a:t>A real, reproducible worked example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4654296"/>
            <a:ext cx="82296" cy="82296"/>
          </a:xfrm>
          <a:prstGeom prst="rect">
            <a:avLst/>
          </a:prstGeom>
          <a:solidFill>
            <a:srgbClr val="C6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5720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730"/>
                </a:solidFill>
                <a:latin typeface="Calibri"/>
              </a:rPr>
              <a:t>Real-world uses beyond blockchain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111496"/>
            <a:ext cx="82296" cy="82296"/>
          </a:xfrm>
          <a:prstGeom prst="rect">
            <a:avLst/>
          </a:prstGeom>
          <a:solidFill>
            <a:srgbClr val="C6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0292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730"/>
                </a:solidFill>
                <a:latin typeface="Calibri"/>
              </a:rPr>
              <a:t>A flagship case study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5111496"/>
            <a:ext cx="82296" cy="82296"/>
          </a:xfrm>
          <a:prstGeom prst="rect">
            <a:avLst/>
          </a:prstGeom>
          <a:solidFill>
            <a:srgbClr val="C6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50292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730"/>
                </a:solidFill>
                <a:latin typeface="Calibri"/>
              </a:rPr>
              <a:t>A real-life analogy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568696"/>
            <a:ext cx="82296" cy="82296"/>
          </a:xfrm>
          <a:prstGeom prst="rect">
            <a:avLst/>
          </a:prstGeom>
          <a:solidFill>
            <a:srgbClr val="C6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4864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730"/>
                </a:solidFill>
                <a:latin typeface="Calibri"/>
              </a:rPr>
              <a:t>Common misconceptions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5568696"/>
            <a:ext cx="82296" cy="82296"/>
          </a:xfrm>
          <a:prstGeom prst="rect">
            <a:avLst/>
          </a:prstGeom>
          <a:solidFill>
            <a:srgbClr val="C6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54864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730"/>
                </a:solidFill>
                <a:latin typeface="Calibri"/>
              </a:rPr>
              <a:t>Hands-on practice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025896"/>
            <a:ext cx="82296" cy="82296"/>
          </a:xfrm>
          <a:prstGeom prst="rect">
            <a:avLst/>
          </a:prstGeom>
          <a:solidFill>
            <a:srgbClr val="C6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9436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730"/>
                </a:solidFill>
                <a:latin typeface="Calibri"/>
              </a:rPr>
              <a:t>Take-home assignment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67A1E"/>
                </a:solidFill>
                <a:latin typeface="Calibri"/>
              </a:rPr>
              <a:t>TOPIC 02 — PUBLIC / PRIVATE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C1730"/>
                </a:solidFill>
                <a:latin typeface="Century Gothic"/>
              </a:rPr>
              <a:t>The Core Concept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1051560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91440" cy="3291840"/>
          </a:xfrm>
          <a:prstGeom prst="rect">
            <a:avLst/>
          </a:prstGeom>
          <a:solidFill>
            <a:srgbClr val="C6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69748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000" b="0" i="0">
                <a:solidFill>
                  <a:srgbClr val="1C1730"/>
                </a:solidFill>
                <a:latin typeface="Calibri"/>
              </a:rPr>
              <a:t>Asymmetric cryptography gives you two mathematically related keys: a private key (secret, signs things) and a public key (shareable, verifies things). Ethereum and Bitcoin use ECDSA on a specific curve named secp256k1. One direction is easy; the other is computationally infeasible.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67A1E"/>
                </a:solidFill>
                <a:latin typeface="Calibri"/>
              </a:rPr>
              <a:t>TOPIC 02 — PUBLIC / PRIVATE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C576E"/>
                </a:solidFill>
                <a:latin typeface="Calibri"/>
              </a:rPr>
              <a:t>KEY IDEA 1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C1730"/>
                </a:solidFill>
                <a:latin typeface="Century Gothic"/>
              </a:rPr>
              <a:t>Private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9875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0" i="0">
                <a:solidFill>
                  <a:srgbClr val="1C1730"/>
                </a:solidFill>
                <a:latin typeface="Calibri"/>
              </a:rPr>
              <a:t>A very large random number, generated when you create a wallet. Whoever holds it has complete control of the wallet. It must never be shared with anyone, ever, for any reason.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43484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F9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61772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67A1E"/>
                </a:solidFill>
                <a:latin typeface="Calibri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956048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730"/>
                </a:solidFill>
                <a:latin typeface="Consolas"/>
              </a:rPr>
              <a:t>A 256-bit random number — never leaves your device.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67A1E"/>
                </a:solidFill>
                <a:latin typeface="Calibri"/>
              </a:rPr>
              <a:t>TOPIC 02 — PUBLIC / PRIVATE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C576E"/>
                </a:solidFill>
                <a:latin typeface="Calibri"/>
              </a:rPr>
              <a:t>KEY IDEA 2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C1730"/>
                </a:solidFill>
                <a:latin typeface="Century Gothic"/>
              </a:rPr>
              <a:t>Public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9875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0" i="0">
                <a:solidFill>
                  <a:srgbClr val="1C1730"/>
                </a:solidFill>
                <a:latin typeface="Calibri"/>
              </a:rPr>
              <a:t>Derived one-way from the private key, using a process similar in spirit to hashing. Safe to share — you cannot work backwards from a public key to the private key that produced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43484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F9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61772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67A1E"/>
                </a:solidFill>
                <a:latin typeface="Calibri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956048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730"/>
                </a:solidFill>
                <a:latin typeface="Consolas"/>
              </a:rPr>
              <a:t>Private key → (one-way math) → Public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67A1E"/>
                </a:solidFill>
                <a:latin typeface="Calibri"/>
              </a:rPr>
              <a:t>TOPIC 02 — PUBLIC / PRIVATE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C576E"/>
                </a:solidFill>
                <a:latin typeface="Calibri"/>
              </a:rPr>
              <a:t>KEY IDEA 3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C1730"/>
                </a:solidFill>
                <a:latin typeface="Century Gothic"/>
              </a:rPr>
              <a:t>Signature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9875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0" i="0">
                <a:solidFill>
                  <a:srgbClr val="1C1730"/>
                </a:solidFill>
                <a:latin typeface="Calibri"/>
              </a:rPr>
              <a:t>Produced using the private key, a signature proves you authorized a specific message — without ever revealing the key itself. Anyone can verify it using only your public key.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43484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F9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61772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67A1E"/>
                </a:solidFill>
                <a:latin typeface="Calibri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956048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730"/>
                </a:solidFill>
                <a:latin typeface="Consolas"/>
              </a:rPr>
              <a:t>sign(message, private key) → signature; verify(message, signature, public key) → true/false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67A1E"/>
                </a:solidFill>
                <a:latin typeface="Calibri"/>
              </a:rPr>
              <a:t>TOPIC 02 — PUBLIC / PRIVATE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008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C576E"/>
                </a:solidFill>
                <a:latin typeface="Calibri"/>
              </a:rPr>
              <a:t>KEY IDEA 4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C1730"/>
                </a:solidFill>
                <a:latin typeface="Century Gothic"/>
              </a:rPr>
              <a:t>Address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9875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0" i="0">
                <a:solidFill>
                  <a:srgbClr val="1C1730"/>
                </a:solidFill>
                <a:latin typeface="Calibri"/>
              </a:rPr>
              <a:t>Your wallet address is a hash of your public key — one more one-way step, layered on top, for extra safety margin. This directly connects back to Topic 01: your address is literally a hash.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43484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F9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61772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67A1E"/>
                </a:solidFill>
                <a:latin typeface="Calibri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956048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730"/>
                </a:solidFill>
                <a:latin typeface="Consolas"/>
              </a:rPr>
              <a:t>Private key → Public key → hash() → Address (0x...)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67A1E"/>
                </a:solidFill>
                <a:latin typeface="Calibri"/>
              </a:rPr>
              <a:t>WORKED EXAMPLE —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C1730"/>
                </a:solidFill>
                <a:latin typeface="Century Gothic"/>
              </a:rPr>
              <a:t>A Real secp256k1 Keypair, Generated With openssl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38404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2130552"/>
            <a:ext cx="109728" cy="109728"/>
          </a:xfrm>
          <a:prstGeom prst="ellipse">
            <a:avLst/>
          </a:prstGeom>
          <a:solidFill>
            <a:srgbClr val="FF6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25296" y="2130552"/>
            <a:ext cx="109728" cy="109728"/>
          </a:xfrm>
          <a:prstGeom prst="ellipse">
            <a:avLst/>
          </a:prstGeom>
          <a:solidFill>
            <a:srgbClr val="FFC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6464" y="2130552"/>
            <a:ext cx="109728" cy="109728"/>
          </a:xfrm>
          <a:prstGeom prst="ellipse">
            <a:avLst/>
          </a:prstGeom>
          <a:solidFill>
            <a:srgbClr val="28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350008"/>
            <a:ext cx="10003536" cy="327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9C93C9"/>
                </a:solidFill>
                <a:latin typeface="Consolas"/>
              </a:rPr>
              <a:t>$ </a:t>
            </a:r>
            <a:r>
              <a:rPr sz="1350" b="0">
                <a:solidFill>
                  <a:srgbClr val="EDE9F7"/>
                </a:solidFill>
                <a:latin typeface="Consolas"/>
              </a:rPr>
              <a:t>openssl ecparam -name secp256k1 -genkey -noout -out priv.pem</a:t>
            </a:r>
          </a:p>
          <a:p>
            <a:pPr algn="l">
              <a:lnSpc>
                <a:spcPct val="135000"/>
              </a:lnSpc>
            </a:pPr>
            <a:r>
              <a:rPr sz="1350" b="1">
                <a:solidFill>
                  <a:srgbClr val="9C93C9"/>
                </a:solidFill>
                <a:latin typeface="Consolas"/>
              </a:rPr>
              <a:t>$ </a:t>
            </a:r>
            <a:r>
              <a:rPr sz="1350" b="0">
                <a:solidFill>
                  <a:srgbClr val="EDE9F7"/>
                </a:solidFill>
                <a:latin typeface="Consolas"/>
              </a:rPr>
              <a:t>openssl ec -in priv.pem -pubout -out pub.pem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8B84AD"/>
                </a:solidFill>
                <a:latin typeface="Consolas"/>
              </a:rPr>
              <a:t># private key (excerpt):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7FE0C4"/>
                </a:solidFill>
                <a:latin typeface="Consolas"/>
              </a:rPr>
              <a:t>MHQCAQEEIHoNT3gUJYe9tBv7ZZoRYRGGIGkvCFmX60mY...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8B84AD"/>
                </a:solidFill>
                <a:latin typeface="Consolas"/>
              </a:rPr>
              <a:t># public key, derived one-way (excerpt):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7FE0C4"/>
                </a:solidFill>
                <a:latin typeface="Consolas"/>
              </a:rPr>
              <a:t>MFYwEAYHKoZIzj0CAQYFK4EEAAoDQgAEjO0NYj4xwIE6...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465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76E"/>
                </a:solidFill>
                <a:latin typeface="Calibri"/>
              </a:rPr>
              <a:t>secp256k1 is the exact curve Ethereum and Bitcoin wallets actually use — not a simplified stand-in.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67A1E"/>
                </a:solidFill>
                <a:latin typeface="Calibri"/>
              </a:rPr>
              <a:t>WORKED EXAMPLE —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C1730"/>
                </a:solidFill>
                <a:latin typeface="Century Gothic"/>
              </a:rPr>
              <a:t>Sign A Message, Verify It, Then Tamper With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38404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2130552"/>
            <a:ext cx="109728" cy="109728"/>
          </a:xfrm>
          <a:prstGeom prst="ellipse">
            <a:avLst/>
          </a:prstGeom>
          <a:solidFill>
            <a:srgbClr val="FF6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25296" y="2130552"/>
            <a:ext cx="109728" cy="109728"/>
          </a:xfrm>
          <a:prstGeom prst="ellipse">
            <a:avLst/>
          </a:prstGeom>
          <a:solidFill>
            <a:srgbClr val="FFC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6464" y="2130552"/>
            <a:ext cx="109728" cy="109728"/>
          </a:xfrm>
          <a:prstGeom prst="ellipse">
            <a:avLst/>
          </a:prstGeom>
          <a:solidFill>
            <a:srgbClr val="28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350008"/>
            <a:ext cx="10003536" cy="327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9C93C9"/>
                </a:solidFill>
                <a:latin typeface="Consolas"/>
              </a:rPr>
              <a:t>$ </a:t>
            </a:r>
            <a:r>
              <a:rPr sz="1350" b="0">
                <a:solidFill>
                  <a:srgbClr val="EDE9F7"/>
                </a:solidFill>
                <a:latin typeface="Consolas"/>
              </a:rPr>
              <a:t>openssl dgst -sha256 -verify pub.pem \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>    -signature sig.bin message.txt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7FE0C4"/>
                </a:solidFill>
                <a:latin typeface="Consolas"/>
              </a:rPr>
              <a:t>Verified OK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8B84AD"/>
                </a:solidFill>
                <a:latin typeface="Consolas"/>
              </a:rPr>
              <a:t># same signature, but the message text was changed:</a:t>
            </a:r>
          </a:p>
          <a:p>
            <a:pPr algn="l">
              <a:lnSpc>
                <a:spcPct val="135000"/>
              </a:lnSpc>
            </a:pPr>
            <a:r>
              <a:rPr sz="1350" b="1">
                <a:solidFill>
                  <a:srgbClr val="9C93C9"/>
                </a:solidFill>
                <a:latin typeface="Consolas"/>
              </a:rPr>
              <a:t>$ </a:t>
            </a:r>
            <a:r>
              <a:rPr sz="1350" b="0">
                <a:solidFill>
                  <a:srgbClr val="EDE9F7"/>
                </a:solidFill>
                <a:latin typeface="Consolas"/>
              </a:rPr>
              <a:t>openssl dgst -sha256 -verify pub.pem \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>    -signature sig.bin tampered.txt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FF8E7D"/>
                </a:solidFill>
                <a:latin typeface="Consolas"/>
              </a:rPr>
              <a:t>Verification 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465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76E"/>
                </a:solidFill>
                <a:latin typeface="Calibri"/>
              </a:rPr>
              <a:t>An attacker can't change "1 ETH" to "100 ETH" without invalidating the signature — and can't forge a new 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67A1E"/>
                </a:solidFill>
                <a:latin typeface="Calibri"/>
              </a:rPr>
              <a:t>REAL-WORLD 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C1730"/>
                </a:solidFill>
                <a:latin typeface="Century Gothic"/>
              </a:rPr>
              <a:t>Not Just Blockchain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322320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267712"/>
            <a:ext cx="2810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C67A1E"/>
                </a:solidFill>
                <a:latin typeface="Century Gothic"/>
              </a:rPr>
              <a:t>HTTPS / TLS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724912"/>
            <a:ext cx="281025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1C1730"/>
                </a:solidFill>
                <a:latin typeface="Calibri"/>
              </a:rPr>
              <a:t>The padlock in your browser — a server proving it owns its certificate's private key.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600" y="2011680"/>
            <a:ext cx="3322320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5632" y="2267712"/>
            <a:ext cx="2810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C67A1E"/>
                </a:solidFill>
                <a:latin typeface="Century Gothic"/>
              </a:rPr>
              <a:t>SSH Keys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5632" y="2724912"/>
            <a:ext cx="281025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1C1730"/>
                </a:solidFill>
                <a:latin typeface="Calibri"/>
              </a:rPr>
              <a:t>Logging into GitHub or a server without a password, using this exact mechanism.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6240" y="2011680"/>
            <a:ext cx="3322320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2272" y="2267712"/>
            <a:ext cx="2810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C67A1E"/>
                </a:solidFill>
                <a:latin typeface="Century Gothic"/>
              </a:rPr>
              <a:t>Code Signing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2272" y="2724912"/>
            <a:ext cx="281025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1C1730"/>
                </a:solidFill>
                <a:latin typeface="Calibri"/>
              </a:rPr>
              <a:t>Your OS verifies an update genuinely came from Apple or Google, not an attacker.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49040"/>
            <a:ext cx="3322320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005072"/>
            <a:ext cx="2810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C67A1E"/>
                </a:solidFill>
                <a:latin typeface="Century Gothic"/>
              </a:rPr>
              <a:t>Signed Git Commits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462272"/>
            <a:ext cx="281025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1C1730"/>
                </a:solidFill>
                <a:latin typeface="Calibri"/>
              </a:rPr>
              <a:t>git commit -S — proving a commit really came from you.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9600" y="3749040"/>
            <a:ext cx="3322320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5632" y="4005072"/>
            <a:ext cx="2810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C67A1E"/>
                </a:solidFill>
                <a:latin typeface="Century Gothic"/>
              </a:rPr>
              <a:t>PGP 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5632" y="4462272"/>
            <a:ext cx="281025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1C1730"/>
                </a:solidFill>
                <a:latin typeface="Calibri"/>
              </a:rPr>
              <a:t>Encrypting a message so only the intended recipient's private key can read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67A1E"/>
                </a:solidFill>
                <a:latin typeface="Calibri"/>
              </a:rPr>
              <a:t>FLAGSHIP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1730"/>
                </a:solidFill>
                <a:latin typeface="Century Gothic"/>
              </a:rPr>
              <a:t>Encryption vs. Signing — A Distinction Worth Getting Right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23160"/>
            <a:ext cx="10515600" cy="3749039"/>
          </a:xfrm>
          <a:prstGeom prst="roundRect">
            <a:avLst>
              <a:gd name="adj" fmla="val 4000"/>
            </a:avLst>
          </a:prstGeom>
          <a:solidFill>
            <a:srgbClr val="C6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43200"/>
            <a:ext cx="96012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Two different jobs: encryption (public key locks, private key unlocks — for confidentiality) vs. signing (private key signs, public key verifies — for authenticity). Blockchain wallets use almost entirely signing. Your transaction is never secret — “send 0.1 ETH to X” is fully readable on a block explorer. What's proven is WHO authorized it, not WHAT it says.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67A1E"/>
                </a:solidFill>
                <a:latin typeface="Calibri"/>
              </a:rPr>
              <a:t>REAL-LIFE ANALOGY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1730"/>
                </a:solidFill>
                <a:latin typeface="Century Gothic"/>
              </a:rPr>
              <a:t>A Signet Ring And A Reference 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91440" cy="3657600"/>
          </a:xfrm>
          <a:prstGeom prst="rect">
            <a:avLst/>
          </a:prstGeom>
          <a:solidFill>
            <a:srgbClr val="C6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7840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 i="0">
                <a:solidFill>
                  <a:srgbClr val="1C1730"/>
                </a:solidFill>
                <a:latin typeface="Calibri"/>
              </a:rPr>
              <a:t>Your private key is a unique, impossible-to-forge signature stamp — a wax-seal signet ring only you own. Your public key is a reference card everyone holds, showing exactly what your genuine seal impression looks like. Anyone can compare a seal against the card; nobody can forge the ring's impression from the card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67A1E"/>
                </a:solidFill>
                <a:latin typeface="Calibri"/>
              </a:rPr>
              <a:t>COMMON MISCONCEPTIONS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1730"/>
                </a:solidFill>
                <a:latin typeface="Century Gothic"/>
              </a:rPr>
              <a:t>Where People Get Tripped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1051560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57400"/>
            <a:ext cx="82296" cy="1874519"/>
          </a:xfrm>
          <a:prstGeom prst="rect">
            <a:avLst/>
          </a:prstGeom>
          <a:solidFill>
            <a:srgbClr val="C6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58568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C67A1E"/>
                </a:solidFill>
                <a:latin typeface="Century Gothic"/>
              </a:rPr>
              <a:t>“My wallet address IS my public key.”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9784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C576E"/>
                </a:solidFill>
                <a:latin typeface="Calibri"/>
              </a:rPr>
              <a:t>Not quite — your address is a hash of your public key. The full chain is public key → hash → address, one more one-way step layered on top.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60520"/>
            <a:ext cx="1051560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160520"/>
            <a:ext cx="82296" cy="1874519"/>
          </a:xfrm>
          <a:prstGeom prst="rect">
            <a:avLst/>
          </a:prstGeom>
          <a:solidFill>
            <a:srgbClr val="C6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361688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C67A1E"/>
                </a:solidFill>
                <a:latin typeface="Century Gothic"/>
              </a:rPr>
              <a:t>“If I lose my private key, I can reset it like a password.”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846320"/>
            <a:ext cx="9784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C576E"/>
                </a:solidFill>
                <a:latin typeface="Calibri"/>
              </a:rPr>
              <a:t>There is no reset. No recovery mechanism is built into the protocol — only a backup phrase, if you saved one in advance.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67A1E"/>
                </a:solidFill>
                <a:latin typeface="Calibri"/>
              </a:rPr>
              <a:t>HANDS-ON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C1730"/>
                </a:solidFill>
                <a:latin typeface="Century Gothic"/>
              </a:rPr>
              <a:t>Do This Now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C6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203704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C1730"/>
                </a:solidFill>
                <a:latin typeface="Calibri"/>
              </a:rPr>
              <a:t>Generate a real keypair with openssl and sign a message of your own choosing.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108960"/>
            <a:ext cx="502920" cy="502920"/>
          </a:xfrm>
          <a:prstGeom prst="ellipse">
            <a:avLst/>
          </a:prstGeom>
          <a:solidFill>
            <a:srgbClr val="C6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163824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C1730"/>
                </a:solidFill>
                <a:latin typeface="Calibri"/>
              </a:rPr>
              <a:t>Verify the signature succeeds — then tamper with the message and confirm verification fails.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C6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4123944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C1730"/>
                </a:solidFill>
                <a:latin typeface="Calibri"/>
              </a:rPr>
              <a:t>Repeat the same experiment on the Anders Brownworth public/private key demo.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5029200"/>
            <a:ext cx="502920" cy="502920"/>
          </a:xfrm>
          <a:prstGeom prst="ellipse">
            <a:avLst/>
          </a:prstGeom>
          <a:solidFill>
            <a:srgbClr val="C6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084064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C1730"/>
                </a:solidFill>
                <a:latin typeface="Calibri"/>
              </a:rPr>
              <a:t>Open MetaMask and notice: every "Confirm" click is your private key signing, invisibly, behind the scenes.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C53D"/>
                </a:solidFill>
                <a:latin typeface="Calibri"/>
              </a:rPr>
              <a:t>TAKE-HOME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Century Gothic"/>
              </a:rPr>
              <a:t>Before You Move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84832"/>
            <a:ext cx="82296" cy="82296"/>
          </a:xfrm>
          <a:prstGeom prst="rect">
            <a:avLst/>
          </a:prstGeom>
          <a:solidFill>
            <a:srgbClr val="FF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E9E6F2"/>
                </a:solidFill>
                <a:latin typeface="Calibri"/>
              </a:rPr>
              <a:t>Reproduce the openssl worked example yourself and record your own output.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06624"/>
            <a:ext cx="82296" cy="82296"/>
          </a:xfrm>
          <a:prstGeom prst="rect">
            <a:avLst/>
          </a:prstGeom>
          <a:solidFill>
            <a:srgbClr val="FF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3347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E9E6F2"/>
                </a:solidFill>
                <a:latin typeface="Calibri"/>
              </a:rPr>
              <a:t>Write your own real-world analogy for signing — not the ones given in this section.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328416"/>
            <a:ext cx="82296" cy="82296"/>
          </a:xfrm>
          <a:prstGeom prst="rect">
            <a:avLst/>
          </a:prstGeom>
          <a:solidFill>
            <a:srgbClr val="FF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5526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E9E6F2"/>
                </a:solidFill>
                <a:latin typeface="Calibri"/>
              </a:rPr>
              <a:t>Explain what an attacker could and couldn't do with your private key vs. your public key.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1421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C53D"/>
                </a:solidFill>
                <a:latin typeface="Calibri"/>
              </a:rPr>
              <a:t>RECOMMENDED VIDEOS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7997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C9C3DC"/>
                </a:solidFill>
                <a:latin typeface="Calibri"/>
              </a:rPr>
              <a:t>• Public Key Cryptography - Computerphile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4573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C9C3DC"/>
                </a:solidFill>
                <a:latin typeface="Calibri"/>
              </a:rPr>
              <a:t>• Public Key &amp; Private Key Explained | Asymmetric Encryption for Beginners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486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C53D"/>
                </a:solidFill>
                <a:latin typeface="Calibri"/>
              </a:rPr>
              <a:t>PRACTICE 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1441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C9C3DC"/>
                </a:solidFill>
                <a:latin typeface="Consolas"/>
              </a:rPr>
              <a:t>andersbrownworth.com/blockchain/public-private-keys  ·  your terminal, with openssl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5029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5C576E"/>
                </a:solidFill>
                <a:latin typeface="Consolas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