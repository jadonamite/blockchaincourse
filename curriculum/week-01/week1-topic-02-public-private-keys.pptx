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C17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_cover_0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C1730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C67A1E">
              <a:alpha val="3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188720"/>
            <a:ext cx="54864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0" b="1" i="0">
                <a:solidFill>
                  <a:srgbClr val="FFFFFF"/>
                </a:solidFill>
                <a:latin typeface="Century Gothic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423160"/>
            <a:ext cx="896112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600" b="1" i="0">
                <a:solidFill>
                  <a:srgbClr val="FFFFFF"/>
                </a:solidFill>
                <a:latin typeface="Century Gothic"/>
              </a:rPr>
              <a:t>Public / Private Keys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160520"/>
            <a:ext cx="6858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0" i="0">
                <a:solidFill>
                  <a:srgbClr val="FFFFFF"/>
                </a:solidFill>
                <a:latin typeface="Calibri"/>
              </a:rPr>
              <a:t>Prove ownership without ever revealing the secret that proves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44652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E9E6F2"/>
                </a:solidFill>
                <a:latin typeface="Calibri"/>
              </a:rPr>
              <a:t>Photo: Shillings1005 / Wikimedia Commons, CC BY-SA 4.0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502920"/>
            <a:ext cx="1371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5C576E"/>
                </a:solidFill>
                <a:latin typeface="Consolas"/>
              </a:rPr>
              <a:t>01 / 15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C67A1E"/>
                </a:solidFill>
                <a:latin typeface="Calibri"/>
              </a:rPr>
              <a:t>TOPIC 02 — PUBLIC / PRIVATE KEYS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9601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 i="0">
                <a:solidFill>
                  <a:srgbClr val="1C1730"/>
                </a:solidFill>
                <a:latin typeface="Century Gothic"/>
              </a:rPr>
              <a:t>Why This Matters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965960"/>
            <a:ext cx="98755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5C576E"/>
                </a:solidFill>
                <a:latin typeface="Calibri"/>
              </a:rPr>
              <a:t>Hashing gave you tamper-evidence. Keys give you authorization — proving who's allowed to move funds, with no login system, no password reset, and no bank sitting in the middle. This is the entire foundation of blockchain authorization.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657600"/>
            <a:ext cx="9875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C67A1E"/>
                </a:solidFill>
                <a:latin typeface="Calibri"/>
              </a:rPr>
              <a:t>WHAT THIS SECTION COVERS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4197096"/>
            <a:ext cx="82296" cy="82296"/>
          </a:xfrm>
          <a:prstGeom prst="rect">
            <a:avLst/>
          </a:prstGeom>
          <a:solidFill>
            <a:srgbClr val="C6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4114800"/>
            <a:ext cx="4709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1C1730"/>
                </a:solidFill>
                <a:latin typeface="Calibri"/>
              </a:rPr>
              <a:t>Core concept</a:t>
            </a:r>
          </a:p>
        </p:txBody>
      </p:sp>
      <p:sp>
        <p:nvSpPr>
          <p:cNvPr id="9" name="Rectangle 8"/>
          <p:cNvSpPr/>
          <p:nvPr/>
        </p:nvSpPr>
        <p:spPr>
          <a:xfrm>
            <a:off x="6035040" y="4197096"/>
            <a:ext cx="82296" cy="82296"/>
          </a:xfrm>
          <a:prstGeom prst="rect">
            <a:avLst/>
          </a:prstGeom>
          <a:solidFill>
            <a:srgbClr val="C6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63640" y="4114800"/>
            <a:ext cx="4709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1C1730"/>
                </a:solidFill>
                <a:latin typeface="Calibri"/>
              </a:rPr>
              <a:t>Four key ideas, one at a time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4654296"/>
            <a:ext cx="82296" cy="82296"/>
          </a:xfrm>
          <a:prstGeom prst="rect">
            <a:avLst/>
          </a:prstGeom>
          <a:solidFill>
            <a:srgbClr val="C6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4572000"/>
            <a:ext cx="4709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1C1730"/>
                </a:solidFill>
                <a:latin typeface="Calibri"/>
              </a:rPr>
              <a:t>A real, reproducible worked example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35040" y="4654296"/>
            <a:ext cx="82296" cy="82296"/>
          </a:xfrm>
          <a:prstGeom prst="rect">
            <a:avLst/>
          </a:prstGeom>
          <a:solidFill>
            <a:srgbClr val="C6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63640" y="4572000"/>
            <a:ext cx="4709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1C1730"/>
                </a:solidFill>
                <a:latin typeface="Calibri"/>
              </a:rPr>
              <a:t>Real-world uses beyond blockchain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5111496"/>
            <a:ext cx="82296" cy="82296"/>
          </a:xfrm>
          <a:prstGeom prst="rect">
            <a:avLst/>
          </a:prstGeom>
          <a:solidFill>
            <a:srgbClr val="C6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5029200"/>
            <a:ext cx="4709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1C1730"/>
                </a:solidFill>
                <a:latin typeface="Calibri"/>
              </a:rPr>
              <a:t>A flagship case study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35040" y="5111496"/>
            <a:ext cx="82296" cy="82296"/>
          </a:xfrm>
          <a:prstGeom prst="rect">
            <a:avLst/>
          </a:prstGeom>
          <a:solidFill>
            <a:srgbClr val="C6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63640" y="5029200"/>
            <a:ext cx="4709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1C1730"/>
                </a:solidFill>
                <a:latin typeface="Calibri"/>
              </a:rPr>
              <a:t>A real-life analogy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5568696"/>
            <a:ext cx="82296" cy="82296"/>
          </a:xfrm>
          <a:prstGeom prst="rect">
            <a:avLst/>
          </a:prstGeom>
          <a:solidFill>
            <a:srgbClr val="C6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1560" y="5486400"/>
            <a:ext cx="4709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1C1730"/>
                </a:solidFill>
                <a:latin typeface="Calibri"/>
              </a:rPr>
              <a:t>Common misconceptions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035040" y="5568696"/>
            <a:ext cx="82296" cy="82296"/>
          </a:xfrm>
          <a:prstGeom prst="rect">
            <a:avLst/>
          </a:prstGeom>
          <a:solidFill>
            <a:srgbClr val="C6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63640" y="5486400"/>
            <a:ext cx="4709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1C1730"/>
                </a:solidFill>
                <a:latin typeface="Calibri"/>
              </a:rPr>
              <a:t>Hands-on practice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025896"/>
            <a:ext cx="82296" cy="82296"/>
          </a:xfrm>
          <a:prstGeom prst="rect">
            <a:avLst/>
          </a:prstGeom>
          <a:solidFill>
            <a:srgbClr val="C6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51560" y="5943600"/>
            <a:ext cx="4709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1C1730"/>
                </a:solidFill>
                <a:latin typeface="Calibri"/>
              </a:rPr>
              <a:t>Take-home assignment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966960" y="502920"/>
            <a:ext cx="1371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5C576E"/>
                </a:solidFill>
                <a:latin typeface="Consolas"/>
              </a:rPr>
              <a:t>02 / 15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C67A1E"/>
                </a:solidFill>
                <a:latin typeface="Calibri"/>
              </a:rPr>
              <a:t>TOPIC 02 — PUBLIC / PRIVATE KEYS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97280"/>
            <a:ext cx="9601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1C1730"/>
                </a:solidFill>
                <a:latin typeface="Century Gothic"/>
              </a:rPr>
              <a:t>The Core Concept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286000"/>
            <a:ext cx="10515600" cy="3291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286000"/>
            <a:ext cx="91440" cy="3291840"/>
          </a:xfrm>
          <a:prstGeom prst="rect">
            <a:avLst/>
          </a:prstGeom>
          <a:solidFill>
            <a:srgbClr val="C6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2697480"/>
            <a:ext cx="9601200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2000" b="0" i="0">
                <a:solidFill>
                  <a:srgbClr val="1C1730"/>
                </a:solidFill>
                <a:latin typeface="Calibri"/>
              </a:rPr>
              <a:t>Asymmetric cryptography gives you two mathematically related keys: a private key (secret, signs things) and a public key (shareable, verifies things). Ethereum and Bitcoin use ECDSA on a specific curve named secp256k1. One direction is easy; the other is computationally infeasible.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66960" y="502920"/>
            <a:ext cx="1371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5C576E"/>
                </a:solidFill>
                <a:latin typeface="Consolas"/>
              </a:rPr>
              <a:t>03 / 15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C67A1E"/>
                </a:solidFill>
                <a:latin typeface="Calibri"/>
              </a:rPr>
              <a:t>TOPIC 02 — PUBLIC / PRIVATE KEYS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64008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1" i="0">
                <a:solidFill>
                  <a:srgbClr val="5C576E"/>
                </a:solidFill>
                <a:latin typeface="Calibri"/>
              </a:rPr>
              <a:t>KEY IDEA 1 /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097280"/>
            <a:ext cx="9601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 i="0">
                <a:solidFill>
                  <a:srgbClr val="1C1730"/>
                </a:solidFill>
                <a:latin typeface="Century Gothic"/>
              </a:rPr>
              <a:t>Private Key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987552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50" b="0" i="0">
                <a:solidFill>
                  <a:srgbClr val="1C1730"/>
                </a:solidFill>
                <a:latin typeface="Calibri"/>
              </a:rPr>
              <a:t>A very large random number, generated when you create a wallet. Whoever holds it has complete control of the wallet. It must never be shared with anyone, ever, for any reason.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4434840"/>
            <a:ext cx="10515600" cy="1280160"/>
          </a:xfrm>
          <a:prstGeom prst="roundRect">
            <a:avLst>
              <a:gd name="adj" fmla="val 6000"/>
            </a:avLst>
          </a:prstGeom>
          <a:solidFill>
            <a:srgbClr val="F9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4617720"/>
            <a:ext cx="9875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C67A1E"/>
                </a:solidFill>
                <a:latin typeface="Calibri"/>
              </a:rPr>
              <a:t>EXAMPLE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956048"/>
            <a:ext cx="98755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1C1730"/>
                </a:solidFill>
                <a:latin typeface="Consolas"/>
              </a:rPr>
              <a:t>A 256-bit random number — never leaves your device.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502920"/>
            <a:ext cx="1371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5C576E"/>
                </a:solidFill>
                <a:latin typeface="Consolas"/>
              </a:rPr>
              <a:t>04 / 15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C67A1E"/>
                </a:solidFill>
                <a:latin typeface="Calibri"/>
              </a:rPr>
              <a:t>TOPIC 02 — PUBLIC / PRIVATE KEYS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64008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1" i="0">
                <a:solidFill>
                  <a:srgbClr val="5C576E"/>
                </a:solidFill>
                <a:latin typeface="Calibri"/>
              </a:rPr>
              <a:t>KEY IDEA 2 /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097280"/>
            <a:ext cx="9601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 i="0">
                <a:solidFill>
                  <a:srgbClr val="1C1730"/>
                </a:solidFill>
                <a:latin typeface="Century Gothic"/>
              </a:rPr>
              <a:t>Public Key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987552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50" b="0" i="0">
                <a:solidFill>
                  <a:srgbClr val="1C1730"/>
                </a:solidFill>
                <a:latin typeface="Calibri"/>
              </a:rPr>
              <a:t>Derived one-way from the private key, using a process similar in spirit to hashing. Safe to share — you cannot work backwards from a public key to the private key that produced it.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4434840"/>
            <a:ext cx="10515600" cy="1280160"/>
          </a:xfrm>
          <a:prstGeom prst="roundRect">
            <a:avLst>
              <a:gd name="adj" fmla="val 6000"/>
            </a:avLst>
          </a:prstGeom>
          <a:solidFill>
            <a:srgbClr val="F9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4617720"/>
            <a:ext cx="9875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C67A1E"/>
                </a:solidFill>
                <a:latin typeface="Calibri"/>
              </a:rPr>
              <a:t>EXAMPLE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956048"/>
            <a:ext cx="98755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1C1730"/>
                </a:solidFill>
                <a:latin typeface="Consolas"/>
              </a:rPr>
              <a:t>Private key → (one-way math) → Public key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502920"/>
            <a:ext cx="1371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5C576E"/>
                </a:solidFill>
                <a:latin typeface="Consolas"/>
              </a:rPr>
              <a:t>05 / 15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C67A1E"/>
                </a:solidFill>
                <a:latin typeface="Calibri"/>
              </a:rPr>
              <a:t>TOPIC 02 — PUBLIC / PRIVATE KEYS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64008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1" i="0">
                <a:solidFill>
                  <a:srgbClr val="5C576E"/>
                </a:solidFill>
                <a:latin typeface="Calibri"/>
              </a:rPr>
              <a:t>KEY IDEA 3 /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097280"/>
            <a:ext cx="9601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 i="0">
                <a:solidFill>
                  <a:srgbClr val="1C1730"/>
                </a:solidFill>
                <a:latin typeface="Century Gothic"/>
              </a:rPr>
              <a:t>Signature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987552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50" b="0" i="0">
                <a:solidFill>
                  <a:srgbClr val="1C1730"/>
                </a:solidFill>
                <a:latin typeface="Calibri"/>
              </a:rPr>
              <a:t>Produced using the private key, a signature proves you authorized a specific message — without ever revealing the key itself. Anyone can verify it using only your public key.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4434840"/>
            <a:ext cx="10515600" cy="1280160"/>
          </a:xfrm>
          <a:prstGeom prst="roundRect">
            <a:avLst>
              <a:gd name="adj" fmla="val 6000"/>
            </a:avLst>
          </a:prstGeom>
          <a:solidFill>
            <a:srgbClr val="F9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4617720"/>
            <a:ext cx="9875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C67A1E"/>
                </a:solidFill>
                <a:latin typeface="Calibri"/>
              </a:rPr>
              <a:t>EXAMPLE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956048"/>
            <a:ext cx="98755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1C1730"/>
                </a:solidFill>
                <a:latin typeface="Consolas"/>
              </a:rPr>
              <a:t>sign(message, private key) → signature; verify(message, signature, public key) → true/false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502920"/>
            <a:ext cx="1371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5C576E"/>
                </a:solidFill>
                <a:latin typeface="Consolas"/>
              </a:rPr>
              <a:t>06 / 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C67A1E"/>
                </a:solidFill>
                <a:latin typeface="Calibri"/>
              </a:rPr>
              <a:t>TOPIC 02 — PUBLIC / PRIVATE KEYS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64008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1" i="0">
                <a:solidFill>
                  <a:srgbClr val="5C576E"/>
                </a:solidFill>
                <a:latin typeface="Calibri"/>
              </a:rPr>
              <a:t>KEY IDEA 4 /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097280"/>
            <a:ext cx="9601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 i="0">
                <a:solidFill>
                  <a:srgbClr val="1C1730"/>
                </a:solidFill>
                <a:latin typeface="Century Gothic"/>
              </a:rPr>
              <a:t>Address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987552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50" b="0" i="0">
                <a:solidFill>
                  <a:srgbClr val="1C1730"/>
                </a:solidFill>
                <a:latin typeface="Calibri"/>
              </a:rPr>
              <a:t>Your wallet address is a hash of your public key — one more one-way step, layered on top, for extra safety margin. This directly connects back to Topic 01: your address is literally a hash.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4434840"/>
            <a:ext cx="10515600" cy="1280160"/>
          </a:xfrm>
          <a:prstGeom prst="roundRect">
            <a:avLst>
              <a:gd name="adj" fmla="val 6000"/>
            </a:avLst>
          </a:prstGeom>
          <a:solidFill>
            <a:srgbClr val="F9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4617720"/>
            <a:ext cx="9875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C67A1E"/>
                </a:solidFill>
                <a:latin typeface="Calibri"/>
              </a:rPr>
              <a:t>EXAMPLE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956048"/>
            <a:ext cx="98755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1C1730"/>
                </a:solidFill>
                <a:latin typeface="Consolas"/>
              </a:rPr>
              <a:t>Private key → Public key → hash() → Address (0x...)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502920"/>
            <a:ext cx="1371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5C576E"/>
                </a:solidFill>
                <a:latin typeface="Consolas"/>
              </a:rPr>
              <a:t>07 / 15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C67A1E"/>
                </a:solidFill>
                <a:latin typeface="Calibri"/>
              </a:rPr>
              <a:t>WORKED EXAMPLE — PART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3327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C1730"/>
                </a:solidFill>
                <a:latin typeface="Century Gothic"/>
              </a:rPr>
              <a:t>A Real secp256k1 Keypair, Generated With openssl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965960"/>
            <a:ext cx="10515600" cy="3840480"/>
          </a:xfrm>
          <a:prstGeom prst="roundRect">
            <a:avLst>
              <a:gd name="adj" fmla="val 4500"/>
            </a:avLst>
          </a:prstGeom>
          <a:solidFill>
            <a:srgbClr val="1410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" y="2130552"/>
            <a:ext cx="109728" cy="109728"/>
          </a:xfrm>
          <a:prstGeom prst="ellipse">
            <a:avLst/>
          </a:prstGeom>
          <a:solidFill>
            <a:srgbClr val="FF64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225296" y="2130552"/>
            <a:ext cx="109728" cy="109728"/>
          </a:xfrm>
          <a:prstGeom prst="ellipse">
            <a:avLst/>
          </a:prstGeom>
          <a:solidFill>
            <a:srgbClr val="FFC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426464" y="2130552"/>
            <a:ext cx="109728" cy="109728"/>
          </a:xfrm>
          <a:prstGeom prst="ellipse">
            <a:avLst/>
          </a:prstGeom>
          <a:solidFill>
            <a:srgbClr val="28C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992" y="2350008"/>
            <a:ext cx="10003536" cy="32735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9C93C9"/>
                </a:solidFill>
                <a:latin typeface="Consolas"/>
              </a:rPr>
              <a:t>$ </a:t>
            </a:r>
            <a:r>
              <a:rPr sz="1350" b="0">
                <a:solidFill>
                  <a:srgbClr val="EDE9F7"/>
                </a:solidFill>
                <a:latin typeface="Consolas"/>
              </a:rPr>
              <a:t>openssl ecparam -name secp256k1 -genkey -noout -out priv.pem</a:t>
            </a:r>
          </a:p>
          <a:p>
            <a:pPr algn="l">
              <a:lnSpc>
                <a:spcPct val="135000"/>
              </a:lnSpc>
            </a:pPr>
            <a:r>
              <a:rPr sz="1350" b="1">
                <a:solidFill>
                  <a:srgbClr val="9C93C9"/>
                </a:solidFill>
                <a:latin typeface="Consolas"/>
              </a:rPr>
              <a:t>$ </a:t>
            </a:r>
            <a:r>
              <a:rPr sz="1350" b="0">
                <a:solidFill>
                  <a:srgbClr val="EDE9F7"/>
                </a:solidFill>
                <a:latin typeface="Consolas"/>
              </a:rPr>
              <a:t>openssl ec -in priv.pem -pubout -out pub.pem</a:t>
            </a:r>
          </a:p>
          <a:p>
            <a:pPr algn="l">
              <a:lnSpc>
                <a:spcPct val="135000"/>
              </a:lnSpc>
            </a:pPr>
            <a:r>
              <a:rPr sz="1350" b="0">
                <a:solidFill>
                  <a:srgbClr val="EDE9F7"/>
                </a:solidFill>
                <a:latin typeface="Consolas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350" b="0">
                <a:solidFill>
                  <a:srgbClr val="8B84AD"/>
                </a:solidFill>
                <a:latin typeface="Consolas"/>
              </a:rPr>
              <a:t># private key (excerpt):</a:t>
            </a:r>
          </a:p>
          <a:p>
            <a:pPr algn="l">
              <a:lnSpc>
                <a:spcPct val="135000"/>
              </a:lnSpc>
            </a:pPr>
            <a:r>
              <a:rPr sz="1350" b="0">
                <a:solidFill>
                  <a:srgbClr val="7FE0C4"/>
                </a:solidFill>
                <a:latin typeface="Consolas"/>
              </a:rPr>
              <a:t>MHQCAQEEIHoNT3gUJYe9tBv7ZZoRYRGGIGkvCFmX60mY...</a:t>
            </a:r>
          </a:p>
          <a:p>
            <a:pPr algn="l">
              <a:lnSpc>
                <a:spcPct val="135000"/>
              </a:lnSpc>
            </a:pPr>
            <a:r>
              <a:rPr sz="1350" b="0">
                <a:solidFill>
                  <a:srgbClr val="EDE9F7"/>
                </a:solidFill>
                <a:latin typeface="Consolas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350" b="0">
                <a:solidFill>
                  <a:srgbClr val="8B84AD"/>
                </a:solidFill>
                <a:latin typeface="Consolas"/>
              </a:rPr>
              <a:t># public key, derived one-way (excerpt):</a:t>
            </a:r>
          </a:p>
          <a:p>
            <a:pPr algn="l">
              <a:lnSpc>
                <a:spcPct val="135000"/>
              </a:lnSpc>
            </a:pPr>
            <a:r>
              <a:rPr sz="1350" b="0">
                <a:solidFill>
                  <a:srgbClr val="7FE0C4"/>
                </a:solidFill>
                <a:latin typeface="Consolas"/>
              </a:rPr>
              <a:t>MFYwEAYHKoZIzj0CAQYFK4EEAAoDQgAEjO0NYj4xwIE6...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44652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C576E"/>
                </a:solidFill>
                <a:latin typeface="Calibri"/>
              </a:rPr>
              <a:t>secp256k1 is the exact curve Ethereum and Bitcoin wallets actually use — not a simplified stand-in.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66960" y="502920"/>
            <a:ext cx="1371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5C576E"/>
                </a:solidFill>
                <a:latin typeface="Consolas"/>
              </a:rPr>
              <a:t>08 / 15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C67A1E"/>
                </a:solidFill>
                <a:latin typeface="Calibri"/>
              </a:rPr>
              <a:t>WORKED EXAMPLE — PART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3327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C1730"/>
                </a:solidFill>
                <a:latin typeface="Century Gothic"/>
              </a:rPr>
              <a:t>Sign A Message, Verify It, Then Tamper With It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965960"/>
            <a:ext cx="10515600" cy="3840480"/>
          </a:xfrm>
          <a:prstGeom prst="roundRect">
            <a:avLst>
              <a:gd name="adj" fmla="val 4500"/>
            </a:avLst>
          </a:prstGeom>
          <a:solidFill>
            <a:srgbClr val="1410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" y="2130552"/>
            <a:ext cx="109728" cy="109728"/>
          </a:xfrm>
          <a:prstGeom prst="ellipse">
            <a:avLst/>
          </a:prstGeom>
          <a:solidFill>
            <a:srgbClr val="FF64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225296" y="2130552"/>
            <a:ext cx="109728" cy="109728"/>
          </a:xfrm>
          <a:prstGeom prst="ellipse">
            <a:avLst/>
          </a:prstGeom>
          <a:solidFill>
            <a:srgbClr val="FFC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426464" y="2130552"/>
            <a:ext cx="109728" cy="109728"/>
          </a:xfrm>
          <a:prstGeom prst="ellipse">
            <a:avLst/>
          </a:prstGeom>
          <a:solidFill>
            <a:srgbClr val="28C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992" y="2350008"/>
            <a:ext cx="10003536" cy="32735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9C93C9"/>
                </a:solidFill>
                <a:latin typeface="Consolas"/>
              </a:rPr>
              <a:t>$ </a:t>
            </a:r>
            <a:r>
              <a:rPr sz="1350" b="0">
                <a:solidFill>
                  <a:srgbClr val="EDE9F7"/>
                </a:solidFill>
                <a:latin typeface="Consolas"/>
              </a:rPr>
              <a:t>openssl dgst -sha256 -verify pub.pem \</a:t>
            </a:r>
          </a:p>
          <a:p>
            <a:pPr algn="l">
              <a:lnSpc>
                <a:spcPct val="135000"/>
              </a:lnSpc>
            </a:pPr>
            <a:r>
              <a:rPr sz="1350" b="0">
                <a:solidFill>
                  <a:srgbClr val="EDE9F7"/>
                </a:solidFill>
                <a:latin typeface="Consolas"/>
              </a:rPr>
              <a:t>    -signature sig.bin message.txt</a:t>
            </a:r>
          </a:p>
          <a:p>
            <a:pPr algn="l">
              <a:lnSpc>
                <a:spcPct val="135000"/>
              </a:lnSpc>
            </a:pPr>
            <a:r>
              <a:rPr sz="1350" b="0">
                <a:solidFill>
                  <a:srgbClr val="7FE0C4"/>
                </a:solidFill>
                <a:latin typeface="Consolas"/>
              </a:rPr>
              <a:t>Verified OK</a:t>
            </a:r>
          </a:p>
          <a:p>
            <a:pPr algn="l">
              <a:lnSpc>
                <a:spcPct val="135000"/>
              </a:lnSpc>
            </a:pPr>
            <a:r>
              <a:rPr sz="1350" b="0">
                <a:solidFill>
                  <a:srgbClr val="EDE9F7"/>
                </a:solidFill>
                <a:latin typeface="Consolas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350" b="0">
                <a:solidFill>
                  <a:srgbClr val="8B84AD"/>
                </a:solidFill>
                <a:latin typeface="Consolas"/>
              </a:rPr>
              <a:t># same signature, but the message text was changed:</a:t>
            </a:r>
          </a:p>
          <a:p>
            <a:pPr algn="l">
              <a:lnSpc>
                <a:spcPct val="135000"/>
              </a:lnSpc>
            </a:pPr>
            <a:r>
              <a:rPr sz="1350" b="1">
                <a:solidFill>
                  <a:srgbClr val="9C93C9"/>
                </a:solidFill>
                <a:latin typeface="Consolas"/>
              </a:rPr>
              <a:t>$ </a:t>
            </a:r>
            <a:r>
              <a:rPr sz="1350" b="0">
                <a:solidFill>
                  <a:srgbClr val="EDE9F7"/>
                </a:solidFill>
                <a:latin typeface="Consolas"/>
              </a:rPr>
              <a:t>openssl dgst -sha256 -verify pub.pem \</a:t>
            </a:r>
          </a:p>
          <a:p>
            <a:pPr algn="l">
              <a:lnSpc>
                <a:spcPct val="135000"/>
              </a:lnSpc>
            </a:pPr>
            <a:r>
              <a:rPr sz="1350" b="0">
                <a:solidFill>
                  <a:srgbClr val="EDE9F7"/>
                </a:solidFill>
                <a:latin typeface="Consolas"/>
              </a:rPr>
              <a:t>    -signature sig.bin tampered.txt</a:t>
            </a:r>
          </a:p>
          <a:p>
            <a:pPr algn="l">
              <a:lnSpc>
                <a:spcPct val="135000"/>
              </a:lnSpc>
            </a:pPr>
            <a:r>
              <a:rPr sz="1350" b="0">
                <a:solidFill>
                  <a:srgbClr val="FF8E7D"/>
                </a:solidFill>
                <a:latin typeface="Consolas"/>
              </a:rPr>
              <a:t>Verification failure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44652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C576E"/>
                </a:solidFill>
                <a:latin typeface="Calibri"/>
              </a:rPr>
              <a:t>An attacker can't change "1 ETH" to "100 ETH" without invalidating the signature — and can't forge a new one.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66960" y="502920"/>
            <a:ext cx="1371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5C576E"/>
                </a:solidFill>
                <a:latin typeface="Consolas"/>
              </a:rPr>
              <a:t>09 / 15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C67A1E"/>
                </a:solidFill>
                <a:latin typeface="Calibri"/>
              </a:rPr>
              <a:t>REAL-WORLD USES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9601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 i="0">
                <a:solidFill>
                  <a:srgbClr val="1C1730"/>
                </a:solidFill>
                <a:latin typeface="Century Gothic"/>
              </a:rPr>
              <a:t>Not Just Blockchain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011680"/>
            <a:ext cx="3322320" cy="150876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ED9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78992" y="2267712"/>
            <a:ext cx="281025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C67A1E"/>
                </a:solidFill>
                <a:latin typeface="Century Gothic"/>
              </a:rPr>
              <a:t>HTTPS / TLS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" y="2724912"/>
            <a:ext cx="2810256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50" b="0" i="0">
                <a:solidFill>
                  <a:srgbClr val="1C1730"/>
                </a:solidFill>
                <a:latin typeface="Calibri"/>
              </a:rPr>
              <a:t>The padlock in your browser — a server proving it owns its certificate's private key.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19600" y="2011680"/>
            <a:ext cx="3322320" cy="150876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ED9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75632" y="2267712"/>
            <a:ext cx="281025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C67A1E"/>
                </a:solidFill>
                <a:latin typeface="Century Gothic"/>
              </a:rPr>
              <a:t>SSH Keys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75632" y="2724912"/>
            <a:ext cx="2810256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50" b="0" i="0">
                <a:solidFill>
                  <a:srgbClr val="1C1730"/>
                </a:solidFill>
                <a:latin typeface="Calibri"/>
              </a:rPr>
              <a:t>Logging into GitHub or a server without a password, using this exact mechanism.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16240" y="2011680"/>
            <a:ext cx="3322320" cy="150876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ED9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2272" y="2267712"/>
            <a:ext cx="281025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C67A1E"/>
                </a:solidFill>
                <a:latin typeface="Century Gothic"/>
              </a:rPr>
              <a:t>Code Signing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2272" y="2724912"/>
            <a:ext cx="2810256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50" b="0" i="0">
                <a:solidFill>
                  <a:srgbClr val="1C1730"/>
                </a:solidFill>
                <a:latin typeface="Calibri"/>
              </a:rPr>
              <a:t>Your OS verifies an update genuinely came from Apple or Google, not an attacker.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749040"/>
            <a:ext cx="3322320" cy="150876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ED9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78992" y="4005072"/>
            <a:ext cx="281025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C67A1E"/>
                </a:solidFill>
                <a:latin typeface="Century Gothic"/>
              </a:rPr>
              <a:t>Signed Git Commits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992" y="4462272"/>
            <a:ext cx="2810256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50" b="0" i="0">
                <a:solidFill>
                  <a:srgbClr val="1C1730"/>
                </a:solidFill>
                <a:latin typeface="Calibri"/>
              </a:rPr>
              <a:t>git commit -S — proving a commit really came from you.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419600" y="3749040"/>
            <a:ext cx="3322320" cy="150876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ED9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75632" y="4005072"/>
            <a:ext cx="281025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C67A1E"/>
                </a:solidFill>
                <a:latin typeface="Century Gothic"/>
              </a:rPr>
              <a:t>PGP Email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75632" y="4462272"/>
            <a:ext cx="2810256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50" b="0" i="0">
                <a:solidFill>
                  <a:srgbClr val="1C1730"/>
                </a:solidFill>
                <a:latin typeface="Calibri"/>
              </a:rPr>
              <a:t>Encrypting a message so only the intended recipient's private key can read it.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66960" y="502920"/>
            <a:ext cx="1371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5C576E"/>
                </a:solidFill>
                <a:latin typeface="Consolas"/>
              </a:rPr>
              <a:t>10 / 15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C67A1E"/>
                </a:solidFill>
                <a:latin typeface="Calibri"/>
              </a:rPr>
              <a:t>FLAGSHIP CASE STUDY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97280"/>
            <a:ext cx="103327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C1730"/>
                </a:solidFill>
                <a:latin typeface="Century Gothic"/>
              </a:rPr>
              <a:t>Encryption vs. Signing — A Distinction Worth Getting Right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423160"/>
            <a:ext cx="10515600" cy="3749039"/>
          </a:xfrm>
          <a:prstGeom prst="roundRect">
            <a:avLst>
              <a:gd name="adj" fmla="val 4000"/>
            </a:avLst>
          </a:prstGeom>
          <a:solidFill>
            <a:srgbClr val="C6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2743200"/>
            <a:ext cx="9601200" cy="320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600" b="0" i="0">
                <a:solidFill>
                  <a:srgbClr val="FFFFFF"/>
                </a:solidFill>
                <a:latin typeface="Calibri"/>
              </a:rPr>
              <a:t>Two different jobs: encryption (public key locks, private key unlocks — for confidentiality) vs. signing (private key signs, public key verifies — for authenticity). Blockchain wallets use almost entirely signing. Your transaction is never secret — “send 0.1 ETH to X” is fully readable on a block explorer. What's proven is WHO authorized it, not WHAT it says.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6960" y="502920"/>
            <a:ext cx="1371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5C576E"/>
                </a:solidFill>
                <a:latin typeface="Consolas"/>
              </a:rPr>
              <a:t>11 / 15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C67A1E"/>
                </a:solidFill>
                <a:latin typeface="Calibri"/>
              </a:rPr>
              <a:t>REAL-LIFE ANALOGY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97280"/>
            <a:ext cx="103327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C1730"/>
                </a:solidFill>
                <a:latin typeface="Century Gothic"/>
              </a:rPr>
              <a:t>A Signet Ring And A Reference Card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2286000"/>
            <a:ext cx="91440" cy="3657600"/>
          </a:xfrm>
          <a:prstGeom prst="rect">
            <a:avLst/>
          </a:prstGeom>
          <a:solidFill>
            <a:srgbClr val="C6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2377440"/>
            <a:ext cx="978408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800" b="0" i="0">
                <a:solidFill>
                  <a:srgbClr val="1C1730"/>
                </a:solidFill>
                <a:latin typeface="Calibri"/>
              </a:rPr>
              <a:t>Your private key is a unique, impossible-to-forge signature stamp — a wax-seal signet ring only you own. Your public key is a reference card everyone holds, showing exactly what your genuine seal impression looks like. Anyone can compare a seal against the card; nobody can forge the ring's impression from the card alone.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6960" y="502920"/>
            <a:ext cx="1371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5C576E"/>
                </a:solidFill>
                <a:latin typeface="Consolas"/>
              </a:rPr>
              <a:t>12 / 15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C67A1E"/>
                </a:solidFill>
                <a:latin typeface="Calibri"/>
              </a:rPr>
              <a:t>COMMON MISCONCEPTIONS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9601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C1730"/>
                </a:solidFill>
                <a:latin typeface="Century Gothic"/>
              </a:rPr>
              <a:t>Where People Get Tripped Up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057400"/>
            <a:ext cx="10515600" cy="187451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057400"/>
            <a:ext cx="82296" cy="1874519"/>
          </a:xfrm>
          <a:prstGeom prst="rect">
            <a:avLst/>
          </a:prstGeom>
          <a:solidFill>
            <a:srgbClr val="C6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2258568"/>
            <a:ext cx="9784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C67A1E"/>
                </a:solidFill>
                <a:latin typeface="Century Gothic"/>
              </a:rPr>
              <a:t>“My wallet address IS my public key.”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743200"/>
            <a:ext cx="97840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5C576E"/>
                </a:solidFill>
                <a:latin typeface="Calibri"/>
              </a:rPr>
              <a:t>Not quite — your address is a hash of your public key. The full chain is public key → hash → address, one more one-way step layered on top.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160520"/>
            <a:ext cx="10515600" cy="187451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2960" y="4160520"/>
            <a:ext cx="82296" cy="1874519"/>
          </a:xfrm>
          <a:prstGeom prst="rect">
            <a:avLst/>
          </a:prstGeom>
          <a:solidFill>
            <a:srgbClr val="C6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4361688"/>
            <a:ext cx="9784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C67A1E"/>
                </a:solidFill>
                <a:latin typeface="Century Gothic"/>
              </a:rPr>
              <a:t>“If I lose my private key, I can reset it like a password.”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4846320"/>
            <a:ext cx="97840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5C576E"/>
                </a:solidFill>
                <a:latin typeface="Calibri"/>
              </a:rPr>
              <a:t>There is no reset. No recovery mechanism is built into the protocol — only a backup phrase, if you saved one in advance.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66960" y="502920"/>
            <a:ext cx="1371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5C576E"/>
                </a:solidFill>
                <a:latin typeface="Consolas"/>
              </a:rPr>
              <a:t>13 / 15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C67A1E"/>
                </a:solidFill>
                <a:latin typeface="Calibri"/>
              </a:rPr>
              <a:t>HANDS-ON PRACTICE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9601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 i="0">
                <a:solidFill>
                  <a:srgbClr val="1C1730"/>
                </a:solidFill>
                <a:latin typeface="Century Gothic"/>
              </a:rPr>
              <a:t>Do This Now</a:t>
            </a:r>
          </a:p>
        </p:txBody>
      </p:sp>
      <p:sp>
        <p:nvSpPr>
          <p:cNvPr id="5" name="Oval 4"/>
          <p:cNvSpPr/>
          <p:nvPr/>
        </p:nvSpPr>
        <p:spPr>
          <a:xfrm>
            <a:off x="822960" y="2148840"/>
            <a:ext cx="502920" cy="502920"/>
          </a:xfrm>
          <a:prstGeom prst="ellipse">
            <a:avLst/>
          </a:prstGeom>
          <a:solidFill>
            <a:srgbClr val="C6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500" b="1">
                <a:solidFill>
                  <a:srgbClr val="FFFFFF"/>
                </a:solidFill>
                <a:latin typeface="Century Gothic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00200" y="2203704"/>
            <a:ext cx="95097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1C1730"/>
                </a:solidFill>
                <a:latin typeface="Calibri"/>
              </a:rPr>
              <a:t>Generate a real keypair with openssl and sign a message of your own choosing.</a:t>
            </a:r>
          </a:p>
        </p:txBody>
      </p:sp>
      <p:sp>
        <p:nvSpPr>
          <p:cNvPr id="7" name="Oval 6"/>
          <p:cNvSpPr/>
          <p:nvPr/>
        </p:nvSpPr>
        <p:spPr>
          <a:xfrm>
            <a:off x="822960" y="3108960"/>
            <a:ext cx="502920" cy="502920"/>
          </a:xfrm>
          <a:prstGeom prst="ellipse">
            <a:avLst/>
          </a:prstGeom>
          <a:solidFill>
            <a:srgbClr val="C6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500" b="1">
                <a:solidFill>
                  <a:srgbClr val="FFFFFF"/>
                </a:solidFill>
                <a:latin typeface="Century Gothic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3163824"/>
            <a:ext cx="95097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1C1730"/>
                </a:solidFill>
                <a:latin typeface="Calibri"/>
              </a:rPr>
              <a:t>Verify the signature succeeds — then tamper with the message and confirm verification fails.</a:t>
            </a:r>
          </a:p>
        </p:txBody>
      </p:sp>
      <p:sp>
        <p:nvSpPr>
          <p:cNvPr id="9" name="Oval 8"/>
          <p:cNvSpPr/>
          <p:nvPr/>
        </p:nvSpPr>
        <p:spPr>
          <a:xfrm>
            <a:off x="822960" y="4069080"/>
            <a:ext cx="502920" cy="502920"/>
          </a:xfrm>
          <a:prstGeom prst="ellipse">
            <a:avLst/>
          </a:prstGeom>
          <a:solidFill>
            <a:srgbClr val="C6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500" b="1">
                <a:solidFill>
                  <a:srgbClr val="FFFFFF"/>
                </a:solidFill>
                <a:latin typeface="Century Gothic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00200" y="4123944"/>
            <a:ext cx="95097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1C1730"/>
                </a:solidFill>
                <a:latin typeface="Calibri"/>
              </a:rPr>
              <a:t>Repeat the same experiment on the Anders Brownworth public/private key demo.</a:t>
            </a:r>
          </a:p>
        </p:txBody>
      </p:sp>
      <p:sp>
        <p:nvSpPr>
          <p:cNvPr id="11" name="Oval 10"/>
          <p:cNvSpPr/>
          <p:nvPr/>
        </p:nvSpPr>
        <p:spPr>
          <a:xfrm>
            <a:off x="822960" y="5029200"/>
            <a:ext cx="502920" cy="502920"/>
          </a:xfrm>
          <a:prstGeom prst="ellipse">
            <a:avLst/>
          </a:prstGeom>
          <a:solidFill>
            <a:srgbClr val="C6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500" b="1">
                <a:solidFill>
                  <a:srgbClr val="FFFFFF"/>
                </a:solidFill>
                <a:latin typeface="Century Gothic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00200" y="5084064"/>
            <a:ext cx="95097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1C1730"/>
                </a:solidFill>
                <a:latin typeface="Calibri"/>
              </a:rPr>
              <a:t>Open MetaMask and notice: every "Confirm" click is your private key signing, invisibly, behind the scenes.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66960" y="502920"/>
            <a:ext cx="1371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5C576E"/>
                </a:solidFill>
                <a:latin typeface="Consolas"/>
              </a:rPr>
              <a:t>14 / 15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C17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FC53D"/>
                </a:solidFill>
                <a:latin typeface="Calibri"/>
              </a:rPr>
              <a:t>TAKE-HOME ASSIGNMENT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9601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 i="0">
                <a:solidFill>
                  <a:srgbClr val="FFFFFF"/>
                </a:solidFill>
                <a:latin typeface="Century Gothic"/>
              </a:rPr>
              <a:t>Before You Move On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2084832"/>
            <a:ext cx="82296" cy="82296"/>
          </a:xfrm>
          <a:prstGeom prst="rect">
            <a:avLst/>
          </a:prstGeom>
          <a:solidFill>
            <a:srgbClr val="FFC5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01168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E9E6F2"/>
                </a:solidFill>
                <a:latin typeface="Calibri"/>
              </a:rPr>
              <a:t>Reproduce the openssl worked example yourself and record your own output.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706624"/>
            <a:ext cx="82296" cy="82296"/>
          </a:xfrm>
          <a:prstGeom prst="rect">
            <a:avLst/>
          </a:prstGeom>
          <a:solidFill>
            <a:srgbClr val="FFC5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633472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E9E6F2"/>
                </a:solidFill>
                <a:latin typeface="Calibri"/>
              </a:rPr>
              <a:t>Write your own real-world analogy for signing — not the ones given in this section.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328416"/>
            <a:ext cx="82296" cy="82296"/>
          </a:xfrm>
          <a:prstGeom prst="rect">
            <a:avLst/>
          </a:prstGeom>
          <a:solidFill>
            <a:srgbClr val="FFC5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3255264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E9E6F2"/>
                </a:solidFill>
                <a:latin typeface="Calibri"/>
              </a:rPr>
              <a:t>Explain what an attacker could and couldn't do with your private key vs. your public key.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014216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FC53D"/>
                </a:solidFill>
                <a:latin typeface="Calibri"/>
              </a:rPr>
              <a:t>RECOMMENDED VIDEOS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379976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C9C3DC"/>
                </a:solidFill>
                <a:latin typeface="Calibri"/>
              </a:rPr>
              <a:t>• Public Key Cryptography - Computerphile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745736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C9C3DC"/>
                </a:solidFill>
                <a:latin typeface="Calibri"/>
              </a:rPr>
              <a:t>• Public Key &amp; Private Key Explained | Asymmetric Encryption for Beginners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5248656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FC53D"/>
                </a:solidFill>
                <a:latin typeface="Calibri"/>
              </a:rPr>
              <a:t>PRACTICE SITE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5614416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C9C3DC"/>
                </a:solidFill>
                <a:latin typeface="Consolas"/>
              </a:rPr>
              <a:t>andersbrownworth.com/blockchain/public-private-keys  ·  your terminal, with openssl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66960" y="502920"/>
            <a:ext cx="1371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5C576E"/>
                </a:solidFill>
                <a:latin typeface="Consolas"/>
              </a:rPr>
              <a:t>15 / 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