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BLOCKCHAINCOURSE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9144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entury Gothic"/>
              </a:rPr>
              <a:t>Practical Engineering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entury Gothic"/>
              </a:rPr>
              <a:t>Over Hype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8961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50" b="0" i="0">
                <a:solidFill>
                  <a:srgbClr val="D8D3E8"/>
                </a:solidFill>
                <a:latin typeface="Calibri"/>
              </a:rPr>
              <a:t>Most newcomers memorize buzzwords or copy-paste Solidity templates they can't explain. This course is built differently: understand EVM execution, state transitions, and security trade-offs — before you ever touch a framework.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FFF9EB"/>
          </a:solidFill>
          <a:ln w="12700">
            <a:solidFill>
              <a:srgbClr val="FFC5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200" b="1">
                <a:solidFill>
                  <a:srgbClr val="FFC53D"/>
                </a:solidFill>
                <a:latin typeface="Calibri"/>
              </a:rPr>
              <a:t>2 Halves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4892040"/>
            <a:ext cx="745236" cy="384048"/>
          </a:xfrm>
          <a:prstGeom prst="roundRect">
            <a:avLst>
              <a:gd name="adj" fmla="val 50000"/>
            </a:avLst>
          </a:prstGeom>
          <a:solidFill>
            <a:srgbClr val="FFF9EB"/>
          </a:solidFill>
          <a:ln w="12700">
            <a:solidFill>
              <a:srgbClr val="FFC5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200" b="1">
                <a:solidFill>
                  <a:srgbClr val="FFC53D"/>
                </a:solidFill>
                <a:latin typeface="Calibri"/>
              </a:rPr>
              <a:t>8 Weeks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65476" y="4892040"/>
            <a:ext cx="2144268" cy="384048"/>
          </a:xfrm>
          <a:prstGeom prst="roundRect">
            <a:avLst>
              <a:gd name="adj" fmla="val 50000"/>
            </a:avLst>
          </a:prstGeom>
          <a:solidFill>
            <a:srgbClr val="FFF9EB"/>
          </a:solidFill>
          <a:ln w="12700">
            <a:solidFill>
              <a:srgbClr val="FFC5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200" b="1">
                <a:solidFill>
                  <a:srgbClr val="FFC53D"/>
                </a:solidFill>
                <a:latin typeface="Calibri"/>
              </a:rPr>
              <a:t>Hackathon-Ready by Week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46904" y="4892040"/>
            <a:ext cx="1988820" cy="384048"/>
          </a:xfrm>
          <a:prstGeom prst="roundRect">
            <a:avLst>
              <a:gd name="adj" fmla="val 50000"/>
            </a:avLst>
          </a:prstGeom>
          <a:solidFill>
            <a:srgbClr val="FFF9EB"/>
          </a:solidFill>
          <a:ln w="12700">
            <a:solidFill>
              <a:srgbClr val="FFC5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200" b="1">
                <a:solidFill>
                  <a:srgbClr val="FFC53D"/>
                </a:solidFill>
                <a:latin typeface="Calibri"/>
              </a:rPr>
              <a:t>Understand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C576E"/>
                </a:solidFill>
                <a:latin typeface="Calibri"/>
              </a:rPr>
              <a:t>HOW THIS COURSE IS STRUCTURED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Two Halves, Four Weeks 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12064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59152"/>
            <a:ext cx="4608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C1730"/>
                </a:solidFill>
                <a:latin typeface="Century Gothic"/>
              </a:rPr>
              <a:t>Half 1 · Weeks 1–4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816352"/>
            <a:ext cx="4608576" cy="1892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Basics &amp; Core Concepts. Everything you need to walk into a hackathon and build something real — wallets, contracts, tokens, a working dApp.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12064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9152"/>
            <a:ext cx="4608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C576E"/>
                </a:solidFill>
                <a:latin typeface="Century Gothic"/>
              </a:rPr>
              <a:t>Half 2 · Weeks 5–8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816352"/>
            <a:ext cx="4608576" cy="1892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5C576E"/>
                </a:solidFill>
                <a:latin typeface="Calibri"/>
              </a:rPr>
              <a:t>Advanced Topics. Security, upgradeable contracts, Layer 2s, and the wider ecosystem — what separates a prototype from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7492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19379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◉  YOU ARE HERE — WEEK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GROUND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entury Gothic"/>
              </a:rPr>
              <a:t>Before You Begin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53D"/>
                </a:solidFill>
                <a:latin typeface="Century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13432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E9E6F2"/>
                </a:solidFill>
                <a:latin typeface="Calibri"/>
              </a:rPr>
              <a:t>Understand before you copy — if you can't explain a line of code, don't ship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53D"/>
                </a:solidFill>
                <a:latin typeface="Century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02666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E9E6F2"/>
                </a:solidFill>
                <a:latin typeface="Calibri"/>
              </a:rPr>
              <a:t>Testnet first, always — never deploy something you haven't tested locally and on a testnet.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1246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53D"/>
                </a:solidFill>
                <a:latin typeface="Century Gothic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739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E9E6F2"/>
                </a:solidFill>
                <a:latin typeface="Calibri"/>
              </a:rPr>
              <a:t>No frontend before your contract works from the command 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25696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53D"/>
                </a:solidFill>
                <a:latin typeface="Century Gothic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453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E9E6F2"/>
                </a:solidFill>
                <a:latin typeface="Calibri"/>
              </a:rPr>
              <a:t>Every contract gets at least a basic test — an untested contract is unfinished.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3892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C53D"/>
                </a:solidFill>
                <a:latin typeface="Century Gothic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6636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E9E6F2"/>
                </a:solidFill>
                <a:latin typeface="Calibri"/>
              </a:rPr>
              <a:t>Treat every external call as a potential attack.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cover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67A1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BlockchainCourse · Curriculum · Week 01 · Topic 02 of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0" b="1" i="0">
                <a:solidFill>
                  <a:srgbClr val="FFFFFF"/>
                </a:solidFill>
                <a:latin typeface="Century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23160"/>
            <a:ext cx="8961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entury Gothic"/>
              </a:rPr>
              <a:t>Public / Private Keys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FFFFFF"/>
                </a:solidFill>
                <a:latin typeface="Calibri"/>
              </a:rPr>
              <a:t>Prove ownership without ever revealing the secret that proves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669280"/>
            <a:ext cx="1100937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0">
                <a:solidFill>
                  <a:srgbClr val="DDD9E8"/>
                </a:solidFill>
                <a:latin typeface="Calibri"/>
              </a:rPr>
              <a:t>01 · Hashing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0201" y="5669280"/>
            <a:ext cx="2022652" cy="402336"/>
          </a:xfrm>
          <a:prstGeom prst="roundRect">
            <a:avLst>
              <a:gd name="adj" fmla="val 50000"/>
            </a:avLst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 · Public / Private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9157" y="5669280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0">
                <a:solidFill>
                  <a:srgbClr val="DDD9E8"/>
                </a:solidFill>
                <a:latin typeface="Calibri"/>
              </a:rPr>
              <a:t>03 · Blocks &amp; Chains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3093" y="5669280"/>
            <a:ext cx="1232611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none"/>
          <a:lstStyle/>
          <a:p>
            <a:pPr algn="ctr"/>
            <a:r>
              <a:rPr sz="1100" b="0">
                <a:solidFill>
                  <a:srgbClr val="DDD9E8"/>
                </a:solidFill>
                <a:latin typeface="Calibri"/>
              </a:rPr>
              <a:t>04 · Consensus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9E6F2"/>
                </a:solidFill>
                <a:latin typeface="Calibri"/>
              </a:rPr>
              <a:t>Photo: Shillings1005 / Wikimedia Commons, CC BY-SA 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5C576E"/>
                </a:solidFill>
                <a:latin typeface="Calibri"/>
              </a:rPr>
              <a:t>Hashing gave you tamper-evidence. Keys give you authorization — proving who's allowed to move funds, with no login system, no password reset, and no bank sitting in the middle. This is the entire foundation of blockchain authorization.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67A1E"/>
                </a:solidFill>
                <a:latin typeface="Calibri"/>
              </a:rPr>
              <a:t>WHAT THIS SECTION COVERS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Core concept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41970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Four key ideas, one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real, reproducible worked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6542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Real-world uses beyond blockchain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114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flagship case study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51114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real-life analogy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5686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Common misconceptions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55686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Hands-on practice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0258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Take-home assignment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1730"/>
                </a:solidFill>
                <a:latin typeface="Century Gothic"/>
              </a:rPr>
              <a:t>The Core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91440" cy="3291840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6974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0" i="0">
                <a:solidFill>
                  <a:srgbClr val="1C1730"/>
                </a:solidFill>
                <a:latin typeface="Calibri"/>
              </a:rPr>
              <a:t>Asymmetric cryptography gives you two mathematically related keys: a private key (secret, signs things) and a public key (shareable, verifies things). Ethereum and Bitcoin use ECDSA on a specific curve named secp256k1. One direction is easy; the other is computationally infeasible.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1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Private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A very large random number, generated when you create a wallet. Whoever holds it has complete control of the wallet. It must never be shared with anyone, ever, for any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A 256-bit random number — never leaves your device.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2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Public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Derived one-way from the private key, using a process similar in spirit to hashing. Safe to share — you cannot work backwards from a public key to the private key that produced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Private key → (one-way math) → Public 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3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Signature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Produced using the private key, a signature proves you authorized a specific message — without ever revealing the key itself. Anyone can verify it using only your public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sign(message, private key) → signature; verify(message, signature, public key) → true/false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4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Your wallet address is a hash of your public key — one more one-way step, layered on top, for extra safety margin. This directly connects back to Topic 01: your address is literally a hash.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Private key → Public key → hash() → Address (0x...)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WORKED EXAMPLE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A Real secp256k1 Keypair, Generated With openssl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ecparam -name secp256k1 -genkey -noout -out priv.pem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ec -in priv.pem -pubout -out pub.pem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private key (excerpt):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MHQCAQEEIHoNT3gUJYe9tBv7ZZoRYRGGIGkvCFmX60mY...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public key, derived one-way (excerpt):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MFYwEAYHKoZIzj0CAQYFK4EEAAoDQgAEjO0NYj4xwIE6...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secp256k1 is the exact curve Ethereum and Bitcoin wallets actually use — not a simplified stand-in.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WORKED EXAMPLE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Sign A Message, Verify It, Then Tamper With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dgst -sha256 -verify pub.pem \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    -signature sig.bin message.txt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Verified OK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same signature, but the message text was changed: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dgst -sha256 -verify pub.pem \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    -signature sig.bin tampered.txt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8E7D"/>
                </a:solidFill>
                <a:latin typeface="Consolas"/>
              </a:rPr>
              <a:t>Verification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An attacker can't change "1 ETH" to "100 ETH" without invalidating the signature — and can't forge a new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REAL-WORLD 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Not Just Blockchain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HTTPS / TLS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2491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The padlock in your browser — a server proving it owns its certificate's private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01168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563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SSH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5632" y="272491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Logging into GitHub or a server without a password, using this exact mechanism.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6240" y="201168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227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Code Signing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2272" y="272491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Your OS verifies an update genuinely came from Apple or Google, not an attacker.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4904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00507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Signed Git Commits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46227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git commit -S — proving a commit really came from you.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9600" y="374904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5632" y="400507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PGP 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5632" y="446227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Encrypting a message so only the intended recipient's private key can read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FLAGSHIP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Encryption vs. Signing — A Distinction Worth Getting Right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10515600" cy="3749039"/>
          </a:xfrm>
          <a:prstGeom prst="roundRect">
            <a:avLst>
              <a:gd name="adj" fmla="val 4000"/>
            </a:avLst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43200"/>
            <a:ext cx="9601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Two different jobs: encryption (public key locks, private key unlocks — for confidentiality) vs. signing (private key signs, public key verifies — for authenticity). Blockchain wallets use almost entirely signing. Your transaction is never secret — “send 0.1 ETH to X” is fully readable on a block explorer. What's proven is WHO authorized it, not WHAT it says.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REAL-LIFE ANALOGY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A Signet Ring And A Reference 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91440" cy="3657600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784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 i="0">
                <a:solidFill>
                  <a:srgbClr val="1C1730"/>
                </a:solidFill>
                <a:latin typeface="Calibri"/>
              </a:rPr>
              <a:t>Your private key is a unique, impossible-to-forge signature stamp — a wax-seal signet ring only you own. Your public key is a reference card everyone holds, showing exactly what your genuine seal impression looks like. Anyone can compare a seal against the card; nobody can forge the ring's impression from the card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Where People Get Tripped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57400"/>
            <a:ext cx="82296" cy="1874519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5856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67A1E"/>
                </a:solidFill>
                <a:latin typeface="Century Gothic"/>
              </a:rPr>
              <a:t>“My wallet address IS my public key.”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Not quite — your address is a hash of your public key. The full chain is public key → hash → address, one more one-way step layered on 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160520"/>
            <a:ext cx="82296" cy="1874519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36168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67A1E"/>
                </a:solidFill>
                <a:latin typeface="Century Gothic"/>
              </a:rPr>
              <a:t>“If I lose my private key, I can reset it like a password.”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84632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There is no reset. No recovery mechanism is built into the protocol — only a backup phrase, if you saved one in advance.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Do This Now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0370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Generate a real keypair with openssl and sign a message of your own choosing.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10896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Verify the signature succeeds — then tamper with the message and confirm verification fails.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412394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Repeat the same experiment on the Anders Brownworth public/private key demo.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502920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08406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Open MetaMask and notice: every "Confirm" click is your private key signing, invisibly, behind the scenes.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TAKE-HOME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entury Gothic"/>
              </a:rPr>
              <a:t>Before You Move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84832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Reproduce the openssl worked example yourself and record your own output.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06624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33472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Write your own real-world analogy for signing — not the ones given in this section.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28416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5526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Explain what an attacker could and couldn't do with your private key vs. your public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1421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RECOMMENDED VIDEOS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79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Public Key Cryptography - Computerphile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Public Key &amp; Private Key Explained | Asymmetric Encryption for Beginners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PRACTICE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1441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onsolas"/>
              </a:rPr>
              <a:t>andersbrownworth.com/blockchain/public-private-keys  ·  your terminal, with openssl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