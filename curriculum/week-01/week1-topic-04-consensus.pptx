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C53D"/>
                </a:solidFill>
                <a:latin typeface="Calibri"/>
              </a:rPr>
              <a:t>BLOCKCHAINCOURSE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1440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entury Gothic"/>
              </a:rPr>
              <a:t>Practical Engineering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entury Gothic"/>
              </a:rPr>
              <a:t>Over Hype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8961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 b="0" i="0">
                <a:solidFill>
                  <a:srgbClr val="D8D3E8"/>
                </a:solidFill>
                <a:latin typeface="Calibri"/>
              </a:rPr>
              <a:t>Most newcomers memorize buzzwords or copy-paste Solidity templates they can't explain. This course is built differently: understand EVM execution, state transitions, and security trade-offs — before you ever touch a framework.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FFF9EB"/>
          </a:solidFill>
          <a:ln w="12700">
            <a:solidFill>
              <a:srgbClr val="FFC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FFC53D"/>
                </a:solidFill>
                <a:latin typeface="Calibri"/>
              </a:rPr>
              <a:t>2 Halves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4892040"/>
            <a:ext cx="745236" cy="384048"/>
          </a:xfrm>
          <a:prstGeom prst="roundRect">
            <a:avLst>
              <a:gd name="adj" fmla="val 50000"/>
            </a:avLst>
          </a:prstGeom>
          <a:solidFill>
            <a:srgbClr val="FFF9EB"/>
          </a:solidFill>
          <a:ln w="12700">
            <a:solidFill>
              <a:srgbClr val="FFC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FFC53D"/>
                </a:solidFill>
                <a:latin typeface="Calibri"/>
              </a:rPr>
              <a:t>8 Weeks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5476" y="4892040"/>
            <a:ext cx="2144268" cy="384048"/>
          </a:xfrm>
          <a:prstGeom prst="roundRect">
            <a:avLst>
              <a:gd name="adj" fmla="val 50000"/>
            </a:avLst>
          </a:prstGeom>
          <a:solidFill>
            <a:srgbClr val="FFF9EB"/>
          </a:solidFill>
          <a:ln w="12700">
            <a:solidFill>
              <a:srgbClr val="FFC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FFC53D"/>
                </a:solidFill>
                <a:latin typeface="Calibri"/>
              </a:rPr>
              <a:t>Hackathon-Ready by Week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46904" y="4892040"/>
            <a:ext cx="1988820" cy="384048"/>
          </a:xfrm>
          <a:prstGeom prst="roundRect">
            <a:avLst>
              <a:gd name="adj" fmla="val 50000"/>
            </a:avLst>
          </a:prstGeom>
          <a:solidFill>
            <a:srgbClr val="FFF9EB"/>
          </a:solidFill>
          <a:ln w="12700">
            <a:solidFill>
              <a:srgbClr val="FFC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FFC53D"/>
                </a:solidFill>
                <a:latin typeface="Calibri"/>
              </a:rPr>
              <a:t>Understand 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C576E"/>
                </a:solidFill>
                <a:latin typeface="Calibri"/>
              </a:rPr>
              <a:t>HOW THIS COURSE IS STRUCTURED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Two Halves, Four Weeks 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12064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359152"/>
            <a:ext cx="4608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1730"/>
                </a:solidFill>
                <a:latin typeface="Century Gothic"/>
              </a:rPr>
              <a:t>Half 1 · Weeks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816352"/>
            <a:ext cx="4608576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Basics &amp; Core Concepts. Everything you need to walk into a hackathon and build something real — wallets, contracts, tokens, a working dApp.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12064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359152"/>
            <a:ext cx="4608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C576E"/>
                </a:solidFill>
                <a:latin typeface="Century Gothic"/>
              </a:rPr>
              <a:t>Half 2 · Weeks 5–8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816352"/>
            <a:ext cx="4608576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5C576E"/>
                </a:solidFill>
                <a:latin typeface="Calibri"/>
              </a:rPr>
              <a:t>Advanced Topics. Security, upgradeable contracts, Layer 2s, and the wider ecosystem — what separates a prototype from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7492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19379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◉  YOU ARE HERE — WEEK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C53D"/>
                </a:solidFill>
                <a:latin typeface="Calibri"/>
              </a:rPr>
              <a:t>GROUND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entury Gothic"/>
              </a:rPr>
              <a:t>Before You Begin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C53D"/>
                </a:solidFill>
                <a:latin typeface="Century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13432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E9E6F2"/>
                </a:solidFill>
                <a:latin typeface="Calibri"/>
              </a:rPr>
              <a:t>Understand before you copy — if you can't explain a line of code, don't ship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9923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C53D"/>
                </a:solidFill>
                <a:latin typeface="Century 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0266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E9E6F2"/>
                </a:solidFill>
                <a:latin typeface="Calibri"/>
              </a:rPr>
              <a:t>Testnet first, always — never deploy something you haven't tested locally and on a testnet.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1246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C53D"/>
                </a:solidFill>
                <a:latin typeface="Century Gothic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73989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E9E6F2"/>
                </a:solidFill>
                <a:latin typeface="Calibri"/>
              </a:rPr>
              <a:t>No frontend before your contract works from the command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25696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C53D"/>
                </a:solidFill>
                <a:latin typeface="Century Gothic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453128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E9E6F2"/>
                </a:solidFill>
                <a:latin typeface="Calibri"/>
              </a:rPr>
              <a:t>Every contract gets at least a basic test — an untested contract is unfinished.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3892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C53D"/>
                </a:solidFill>
                <a:latin typeface="Century Gothic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166360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E9E6F2"/>
                </a:solidFill>
                <a:latin typeface="Calibri"/>
              </a:rPr>
              <a:t>Treat every external call as a potential attack.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over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746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C53D"/>
                </a:solidFill>
                <a:latin typeface="Calibri"/>
              </a:rPr>
              <a:t>BlockchainCourse · Curriculum · Week 01 · Topic 04 of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0" b="1" i="0">
                <a:solidFill>
                  <a:srgbClr val="FFFFFF"/>
                </a:solidFill>
                <a:latin typeface="Century Gothic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8961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Century Gothic"/>
              </a:rPr>
              <a:t>Consensus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FFFFFF"/>
                </a:solidFill>
                <a:latin typeface="Calibri"/>
              </a:rPr>
              <a:t>How thousands of strangers agree on one shared truth, with no referee.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669280"/>
            <a:ext cx="1100937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 b="0">
                <a:solidFill>
                  <a:srgbClr val="DDD9E8"/>
                </a:solidFill>
                <a:latin typeface="Calibri"/>
              </a:rPr>
              <a:t>01 · Hashing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0201" y="5669280"/>
            <a:ext cx="2022652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 b="0">
                <a:solidFill>
                  <a:srgbClr val="DDD9E8"/>
                </a:solidFill>
                <a:latin typeface="Calibri"/>
              </a:rPr>
              <a:t>02 · Public / Private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9157" y="5669280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 b="0">
                <a:solidFill>
                  <a:srgbClr val="DDD9E8"/>
                </a:solidFill>
                <a:latin typeface="Calibri"/>
              </a:rPr>
              <a:t>03 · Blocks &amp; Chains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3093" y="5669280"/>
            <a:ext cx="1232611" cy="402336"/>
          </a:xfrm>
          <a:prstGeom prst="roundRect">
            <a:avLst>
              <a:gd name="adj" fmla="val 50000"/>
            </a:avLst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 · Consensus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9E6F2"/>
                </a:solidFill>
                <a:latin typeface="Calibri"/>
              </a:rPr>
              <a:t>Photo: Carl Lender / Wikimedia Commons, CC BY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TOPIC 04 — CONSENSUS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5C576E"/>
                </a:solidFill>
                <a:latin typeface="Calibri"/>
              </a:rPr>
              <a:t>The final piece: with no bank or admin, how do thousands of independent, possibly-dishonest computers agree on a single shared history, in the right order? This is the consensus problem, and it's the piece that makes everything from Topics 01–03 actually trustworthy at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746A"/>
                </a:solidFill>
                <a:latin typeface="Calibri"/>
              </a:rPr>
              <a:t>WHAT THIS SECTION COVERS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97096"/>
            <a:ext cx="82296" cy="82296"/>
          </a:xfrm>
          <a:prstGeom prst="rect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1148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Core concept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4197096"/>
            <a:ext cx="82296" cy="82296"/>
          </a:xfrm>
          <a:prstGeom prst="rect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1148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Four key ideas, one at a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654296"/>
            <a:ext cx="82296" cy="82296"/>
          </a:xfrm>
          <a:prstGeom prst="rect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5720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A real, reproducible worked 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654296"/>
            <a:ext cx="82296" cy="82296"/>
          </a:xfrm>
          <a:prstGeom prst="rect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5720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Real-world uses beyond blockchain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111496"/>
            <a:ext cx="82296" cy="82296"/>
          </a:xfrm>
          <a:prstGeom prst="rect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0292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A flagship case study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5111496"/>
            <a:ext cx="82296" cy="82296"/>
          </a:xfrm>
          <a:prstGeom prst="rect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50292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A real-life analogy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568696"/>
            <a:ext cx="82296" cy="82296"/>
          </a:xfrm>
          <a:prstGeom prst="rect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4864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Common misconceptions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5568696"/>
            <a:ext cx="82296" cy="82296"/>
          </a:xfrm>
          <a:prstGeom prst="rect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54864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Hands-on practice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025896"/>
            <a:ext cx="82296" cy="82296"/>
          </a:xfrm>
          <a:prstGeom prst="rect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9436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Take-home assignment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TOPIC 04 — CONSENSUS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C1730"/>
                </a:solidFill>
                <a:latin typeface="Century Gothic"/>
              </a:rPr>
              <a:t>The Core Concept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05156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91440" cy="3291840"/>
          </a:xfrm>
          <a:prstGeom prst="rect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69748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000" b="0" i="0">
                <a:solidFill>
                  <a:srgbClr val="1C1730"/>
                </a:solidFill>
                <a:latin typeface="Calibri"/>
              </a:rPr>
              <a:t>A consensus mechanism is the rule set a blockchain uses to decide which block gets added next, and get the entire network to agree on it. The two you'll hear most about: Proof of Work (Bitcoin) and Proof of Stake (Ethereum, since September 2022).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TOPIC 04 — CONSENSUS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C576E"/>
                </a:solidFill>
                <a:latin typeface="Calibri"/>
              </a:rPr>
              <a:t>KEY IDEA 1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Proof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 i="0">
                <a:solidFill>
                  <a:srgbClr val="1C1730"/>
                </a:solidFill>
                <a:latin typeface="Calibri"/>
              </a:rPr>
              <a:t>Miners burn real electricity solving a computational puzzle. Hard to solve, but instant for anyone else to verify. Cheating simply wastes the cheater's own money.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61772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2746A"/>
                </a:solidFill>
                <a:latin typeface="Calibri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956048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730"/>
                </a:solidFill>
                <a:latin typeface="Consolas"/>
              </a:rPr>
              <a:t>Bitcoin targets a new block roughly every 10 minutes, difficulty adjusted every ~2 weeks.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TOPIC 04 — CONSENSUS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C576E"/>
                </a:solidFill>
                <a:latin typeface="Calibri"/>
              </a:rPr>
              <a:t>KEY IDEA 2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Proof of Stake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 i="0">
                <a:solidFill>
                  <a:srgbClr val="1C1730"/>
                </a:solidFill>
                <a:latin typeface="Calibri"/>
              </a:rPr>
              <a:t>Validators lock up currency as collateral — exactly 32 ETH per validator, on Ethereum. Dishonesty gets that collateral destroyed ("slashed") by the protocol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61772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2746A"/>
                </a:solidFill>
                <a:latin typeface="Calibri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956048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730"/>
                </a:solidFill>
                <a:latin typeface="Consolas"/>
              </a:rPr>
              <a:t>Ethereum switched from PoW to PoS in September 2022.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TOPIC 04 — CONSENSUS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C576E"/>
                </a:solidFill>
                <a:latin typeface="Calibri"/>
              </a:rPr>
              <a:t>KEY IDEA 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The Byzantine Generals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 i="0">
                <a:solidFill>
                  <a:srgbClr val="1C1730"/>
                </a:solidFill>
                <a:latin typeface="Calibri"/>
              </a:rPr>
              <a:t>Independent generals, unreliable messengers, and possible traitors among them — how do the loyal generals still reach reliable agreement? The classic 1982 thought experiment for exactly this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61772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2746A"/>
                </a:solidFill>
                <a:latin typeface="Calibri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956048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730"/>
                </a:solidFill>
                <a:latin typeface="Consolas"/>
              </a:rPr>
              <a:t>No central coordinator + some malicious participants = the consensus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TOPIC 04 — CONSENSUS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C576E"/>
                </a:solidFill>
                <a:latin typeface="Calibri"/>
              </a:rPr>
              <a:t>KEY IDEA 4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The n ≥ 3f + 1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 i="0">
                <a:solidFill>
                  <a:srgbClr val="1C1730"/>
                </a:solidFill>
                <a:latin typeface="Calibri"/>
              </a:rPr>
              <a:t>A network of n nodes can tolerate up to f dishonest ones only if honest nodes outnumber dishonest ones by more than 2-to-1 — not just a simple majority.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61772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2746A"/>
                </a:solidFill>
                <a:latin typeface="Calibri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956048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730"/>
                </a:solidFill>
                <a:latin typeface="Consolas"/>
              </a:rPr>
              <a:t>100 nodes → tolerates at most 33 dishonest ones (100 ≥ 3×33 + 1).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WORKED EXAMPLE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C1730"/>
                </a:solidFill>
                <a:latin typeface="Century Gothic"/>
              </a:rPr>
              <a:t>The Fault-Tolerance Math, Worked With Real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8404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2130552"/>
            <a:ext cx="109728" cy="109728"/>
          </a:xfrm>
          <a:prstGeom prst="ellipse">
            <a:avLst/>
          </a:prstGeom>
          <a:solidFill>
            <a:srgbClr val="FF6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6" y="2130552"/>
            <a:ext cx="109728" cy="109728"/>
          </a:xfrm>
          <a:prstGeom prst="ellipse">
            <a:avLst/>
          </a:prstGeom>
          <a:solidFill>
            <a:srgbClr val="FFC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2130552"/>
            <a:ext cx="109728" cy="109728"/>
          </a:xfrm>
          <a:prstGeom prst="ellipse">
            <a:avLst/>
          </a:prstGeom>
          <a:solidFill>
            <a:srgbClr val="28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50008"/>
            <a:ext cx="10003536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84AD"/>
                </a:solidFill>
                <a:latin typeface="Consolas"/>
              </a:rPr>
              <a:t>Total nodes (n)   Max dishonest (f)   Check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7FE0C4"/>
                </a:solidFill>
                <a:latin typeface="Consolas"/>
              </a:rPr>
              <a:t>4                 1                    4 ≥ 3(1)+1 = 4  ✓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7FE0C4"/>
                </a:solidFill>
                <a:latin typeface="Consolas"/>
              </a:rPr>
              <a:t>10                3                    10 ≥ 3(3)+1 = 10  ✓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7FE0C4"/>
                </a:solidFill>
                <a:latin typeface="Consolas"/>
              </a:rPr>
              <a:t>100               33                   100 ≥ 3(33)+1 = 100  ✓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84AD"/>
                </a:solidFill>
                <a:latin typeface="Consolas"/>
              </a:rPr>
              <a:t># honest nodes must outnumber dishonest ones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84AD"/>
                </a:solidFill>
                <a:latin typeface="Consolas"/>
              </a:rPr>
              <a:t># by MORE than 2-to-1 — not just a simple majority.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76E"/>
                </a:solidFill>
                <a:latin typeface="Calibri"/>
              </a:rPr>
              <a:t>This is a general distributed-systems result — not specific to blockchain.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WORKED EXAMPLE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C1730"/>
                </a:solidFill>
                <a:latin typeface="Century Gothic"/>
              </a:rPr>
              <a:t>A Real, Documented 51%-Attack — Ethereum Classic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8404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2130552"/>
            <a:ext cx="109728" cy="109728"/>
          </a:xfrm>
          <a:prstGeom prst="ellipse">
            <a:avLst/>
          </a:prstGeom>
          <a:solidFill>
            <a:srgbClr val="FF6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6" y="2130552"/>
            <a:ext cx="109728" cy="109728"/>
          </a:xfrm>
          <a:prstGeom prst="ellipse">
            <a:avLst/>
          </a:prstGeom>
          <a:solidFill>
            <a:srgbClr val="FFC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2130552"/>
            <a:ext cx="109728" cy="109728"/>
          </a:xfrm>
          <a:prstGeom prst="ellipse">
            <a:avLst/>
          </a:prstGeom>
          <a:solidFill>
            <a:srgbClr val="28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50008"/>
            <a:ext cx="10003536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Jan 2019   </a:t>
            </a:r>
            <a:r>
              <a:rPr sz="1350" b="1">
                <a:solidFill>
                  <a:srgbClr val="FF8E7D"/>
                </a:solidFill>
                <a:latin typeface="Consolas"/>
              </a:rPr>
              <a:t>$1.1M</a:t>
            </a:r>
            <a:r>
              <a:rPr sz="1350" b="0">
                <a:solidFill>
                  <a:srgbClr val="EDE9F7"/>
                </a:solidFill>
                <a:latin typeface="Consolas"/>
              </a:rPr>
              <a:t>  double-spent (2 attacks)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Jul 2020   </a:t>
            </a:r>
            <a:r>
              <a:rPr sz="1350" b="1">
                <a:solidFill>
                  <a:srgbClr val="FF8E7D"/>
                </a:solidFill>
                <a:latin typeface="Consolas"/>
              </a:rPr>
              <a:t>$5.8M</a:t>
            </a:r>
            <a:r>
              <a:rPr sz="1350" b="0">
                <a:solidFill>
                  <a:srgbClr val="EDE9F7"/>
                </a:solidFill>
                <a:latin typeface="Consolas"/>
              </a:rPr>
              <a:t>  double-spent (1 attack)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Aug 2020   </a:t>
            </a:r>
            <a:r>
              <a:rPr sz="1350" b="1">
                <a:solidFill>
                  <a:srgbClr val="FF8E7D"/>
                </a:solidFill>
                <a:latin typeface="Consolas"/>
              </a:rPr>
              <a:t>$3.2M</a:t>
            </a:r>
            <a:r>
              <a:rPr sz="1350" b="0">
                <a:solidFill>
                  <a:srgbClr val="EDE9F7"/>
                </a:solidFill>
                <a:latin typeface="Consolas"/>
              </a:rPr>
              <a:t>  double-spent (1 attack)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           </a:t>
            </a:r>
            <a:r>
              <a:rPr sz="1350" b="1">
                <a:solidFill>
                  <a:srgbClr val="FF8E7D"/>
                </a:solidFill>
                <a:latin typeface="Consolas"/>
              </a:rPr>
              <a:t>$10.1M</a:t>
            </a:r>
            <a:r>
              <a:rPr sz="1350" b="0">
                <a:solidFill>
                  <a:srgbClr val="EDE9F7"/>
                </a:solidFill>
                <a:latin typeface="Consolas"/>
              </a:rPr>
              <a:t> total — three CONFIRMED attacks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84AD"/>
                </a:solidFill>
                <a:latin typeface="Consolas"/>
              </a:rPr>
              <a:t># mechanism: majority mining power secretly built an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84AD"/>
                </a:solidFill>
                <a:latin typeface="Consolas"/>
              </a:rPr>
              <a:t># alternate chain, released once longer than the honest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76E"/>
                </a:solidFill>
                <a:latin typeface="Calibri"/>
              </a:rPr>
              <a:t>A real, cited case — not a hypothetical. Source: Coinbase &amp; CryptoPotato incident reports.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REAL-WORLD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Not Just Blockchain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22320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267712"/>
            <a:ext cx="2810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2746A"/>
                </a:solidFill>
                <a:latin typeface="Century Gothic"/>
              </a:rPr>
              <a:t>Kubernetes' etcd (Raft)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724912"/>
            <a:ext cx="2810256" cy="2258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C1730"/>
                </a:solidFill>
                <a:latin typeface="Calibri"/>
              </a:rPr>
              <a:t>Keeps cluster configuration consistent across servers, even through crashes.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600" y="2011680"/>
            <a:ext cx="3322320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5632" y="2267712"/>
            <a:ext cx="2810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2746A"/>
                </a:solidFill>
                <a:latin typeface="Century Gothic"/>
              </a:rPr>
              <a:t>CockroachDB / Spanner (Paxos)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5632" y="2724912"/>
            <a:ext cx="2810256" cy="2258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C1730"/>
                </a:solidFill>
                <a:latin typeface="Calibri"/>
              </a:rPr>
              <a:t>Keeps globally distributed databases consistent across continents.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6240" y="2011680"/>
            <a:ext cx="3322320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2272" y="2267712"/>
            <a:ext cx="2810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2746A"/>
                </a:solidFill>
                <a:latin typeface="Century Gothic"/>
              </a:rPr>
              <a:t>Flight-Control Redundancy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2272" y="2724912"/>
            <a:ext cx="2810256" cy="2258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C1730"/>
                </a:solidFill>
                <a:latin typeface="Calibri"/>
              </a:rPr>
              <a:t>The 1982 Byzantine Generals paper was partly motivated by aircraft sensors needing to agree despite a faulty unit.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FLAGSHIP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1730"/>
                </a:solidFill>
                <a:latin typeface="Century Gothic"/>
              </a:rPr>
              <a:t>What A 51% Attacker Can — And Can't —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23160"/>
            <a:ext cx="10515600" cy="3749039"/>
          </a:xfrm>
          <a:prstGeom prst="roundRect">
            <a:avLst>
              <a:gd name="adj" fmla="val 4000"/>
            </a:avLst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96012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In 2019 and 2020, Ethereum Classic suffered three confirmed 51%-attacks totaling $10.1M in double-spends. The attacker rewrote recent block ordering to reverse their OWN sent transactions. They could NOT forge a signature for funds they never controlled, and could NOT touch other users' wallets — the Topic 02 cryptography held perfectly throughout. A 51% attack breaks “who got here first,” not the underlying math.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REAL-LIFE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1730"/>
                </a:solidFill>
                <a:latin typeface="Century Gothic"/>
              </a:rPr>
              <a:t>Generals Surrounding A 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91440" cy="3657600"/>
          </a:xfrm>
          <a:prstGeom prst="rect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7840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 i="0">
                <a:solidFill>
                  <a:srgbClr val="1C1730"/>
                </a:solidFill>
                <a:latin typeface="Calibri"/>
              </a:rPr>
              <a:t>Several generals must all attack together, or all retreat together — communicating only via messengers who might be delayed, lost, or secretly traitorous. This is exactly the situation a blockchain network is in: independent nodes, unreliable networks, some possibly malicious — and PoW / PoS are two different, practical answers to how the honest majority still reaches agreement anyway.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COMMON MISCONCEPTIONS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1730"/>
                </a:solidFill>
                <a:latin typeface="Century Gothic"/>
              </a:rPr>
              <a:t>Where People Get Tripped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05156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57400"/>
            <a:ext cx="82296" cy="1874519"/>
          </a:xfrm>
          <a:prstGeom prst="rect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58568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746A"/>
                </a:solidFill>
                <a:latin typeface="Century Gothic"/>
              </a:rPr>
              <a:t>“Proof of Stake is just Proof of Work without the hardware.”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9784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C576E"/>
                </a:solidFill>
                <a:latin typeface="Calibri"/>
              </a:rPr>
              <a:t>The security models are genuinely different, not a simple swap: PoW's security is external sunk cost (electricity you can't get back). PoS's security is internal at-risk collateral (money the protocol itself destroys).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105156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82296" cy="1874519"/>
          </a:xfrm>
          <a:prstGeom prst="rect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361688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746A"/>
                </a:solidFill>
                <a:latin typeface="Century Gothic"/>
              </a:rPr>
              <a:t>“A 51% attack lets you steal anyone's funds.”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846320"/>
            <a:ext cx="9784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C576E"/>
                </a:solidFill>
                <a:latin typeface="Calibri"/>
              </a:rPr>
              <a:t>It lets you rewrite the recent ordering of YOUR OWN transactions — not forge signatures for wallets you don't control. See the case study above.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HANDS-ON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Do This Now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03704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C1730"/>
                </a:solidFill>
                <a:latin typeface="Calibri"/>
              </a:rPr>
              <a:t>Work out by hand: for a network of 31 nodes, what's the max tolerable count of dishonest nodes?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108960"/>
            <a:ext cx="502920" cy="502920"/>
          </a:xfrm>
          <a:prstGeom prst="ellipse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163824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C1730"/>
                </a:solidFill>
                <a:latin typeface="Calibri"/>
              </a:rPr>
              <a:t>On the Anders Brownworth distributed demo, mine a block on one peer and watch it propagate.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123944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C1730"/>
                </a:solidFill>
                <a:latin typeface="Calibri"/>
              </a:rPr>
              <a:t>Introduce a rogue block on one peer and watch the rest of the network reject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C53D"/>
                </a:solidFill>
                <a:latin typeface="Calibri"/>
              </a:rPr>
              <a:t>TAKE-HOME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entury Gothic"/>
              </a:rPr>
              <a:t>Before You Move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84832"/>
            <a:ext cx="82296" cy="82296"/>
          </a:xfrm>
          <a:prstGeom prst="rect">
            <a:avLst/>
          </a:prstGeom>
          <a:solidFill>
            <a:srgbClr val="FF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E9E6F2"/>
                </a:solidFill>
                <a:latin typeface="Calibri"/>
              </a:rPr>
              <a:t>Explain the Byzantine Generals Problem and how PoW or PoS addresses it, in your own words.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06624"/>
            <a:ext cx="82296" cy="82296"/>
          </a:xfrm>
          <a:prstGeom prst="rect">
            <a:avLst/>
          </a:prstGeom>
          <a:solidFill>
            <a:srgbClr val="FF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3347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E9E6F2"/>
                </a:solidFill>
                <a:latin typeface="Calibri"/>
              </a:rPr>
              <a:t>Using the Ethereum Classic case, explain what the attacker could and couldn't 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328416"/>
            <a:ext cx="82296" cy="82296"/>
          </a:xfrm>
          <a:prstGeom prst="rect">
            <a:avLst/>
          </a:prstGeom>
          <a:solidFill>
            <a:srgbClr val="FF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552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E9E6F2"/>
                </a:solidFill>
                <a:latin typeface="Calibri"/>
              </a:rPr>
              <a:t>List 3 concrete differences between PoW and PoS, in your own words.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1421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C53D"/>
                </a:solidFill>
                <a:latin typeface="Calibri"/>
              </a:rPr>
              <a:t>RECOMMENDED VIDEOS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79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9C3DC"/>
                </a:solidFill>
                <a:latin typeface="Calibri"/>
              </a:rPr>
              <a:t>• Crypto Whiteboard: Proof of Work vs Proof of Stake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4573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9C3DC"/>
                </a:solidFill>
                <a:latin typeface="Calibri"/>
              </a:rPr>
              <a:t>• What is Proof of Stake - Explained in 3 Minutes (Animation)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486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C53D"/>
                </a:solidFill>
                <a:latin typeface="Calibri"/>
              </a:rPr>
              <a:t>PRACTICE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1441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9C3DC"/>
                </a:solidFill>
                <a:latin typeface="Consolas"/>
              </a:rPr>
              <a:t>andersbrownworth.com/blockchain/distributed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