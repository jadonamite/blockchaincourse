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1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_cover_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173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746A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50292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C53D"/>
                </a:solidFill>
                <a:latin typeface="Calibri"/>
              </a:rPr>
              <a:t>BlockchainCourse · Curriculum · Week 01 · Topic 04 of 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188720"/>
            <a:ext cx="5486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0" b="1" i="0">
                <a:solidFill>
                  <a:srgbClr val="FFFFFF"/>
                </a:solidFill>
                <a:latin typeface="Century Gothic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423160"/>
            <a:ext cx="89611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600" b="1" i="0">
                <a:solidFill>
                  <a:srgbClr val="FFFFFF"/>
                </a:solidFill>
                <a:latin typeface="Century Gothic"/>
              </a:rPr>
              <a:t>Consensus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160520"/>
            <a:ext cx="6858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 i="0">
                <a:solidFill>
                  <a:srgbClr val="FFFFFF"/>
                </a:solidFill>
                <a:latin typeface="Calibri"/>
              </a:rPr>
              <a:t>How thousands of strangers agree on one shared truth, with no referee.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669280"/>
            <a:ext cx="1100937" cy="402336"/>
          </a:xfrm>
          <a:prstGeom prst="roundRect">
            <a:avLst>
              <a:gd name="adj" fmla="val 50000"/>
            </a:avLst>
          </a:prstGeom>
          <a:solidFill>
            <a:srgbClr val="FFFFFF">
              <a:alpha val="14000"/>
            </a:srgb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18288" bIns="18288" wrap="none"/>
          <a:lstStyle/>
          <a:p>
            <a:pPr algn="ctr"/>
            <a:r>
              <a:rPr sz="1100" b="0">
                <a:solidFill>
                  <a:srgbClr val="DDD9E8"/>
                </a:solidFill>
                <a:latin typeface="Calibri"/>
              </a:rPr>
              <a:t>01 · Hashing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70201" y="5669280"/>
            <a:ext cx="2022652" cy="402336"/>
          </a:xfrm>
          <a:prstGeom prst="roundRect">
            <a:avLst>
              <a:gd name="adj" fmla="val 50000"/>
            </a:avLst>
          </a:prstGeom>
          <a:solidFill>
            <a:srgbClr val="FFFFFF">
              <a:alpha val="14000"/>
            </a:srgb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18288" bIns="18288" wrap="none"/>
          <a:lstStyle/>
          <a:p>
            <a:pPr algn="ctr"/>
            <a:r>
              <a:rPr sz="1100" b="0">
                <a:solidFill>
                  <a:srgbClr val="DDD9E8"/>
                </a:solidFill>
                <a:latin typeface="Calibri"/>
              </a:rPr>
              <a:t>02 · Public / Private Keys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39157" y="5669280"/>
            <a:ext cx="1627632" cy="402336"/>
          </a:xfrm>
          <a:prstGeom prst="roundRect">
            <a:avLst>
              <a:gd name="adj" fmla="val 50000"/>
            </a:avLst>
          </a:prstGeom>
          <a:solidFill>
            <a:srgbClr val="FFFFFF">
              <a:alpha val="14000"/>
            </a:srgb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18288" bIns="18288" wrap="none"/>
          <a:lstStyle/>
          <a:p>
            <a:pPr algn="ctr"/>
            <a:r>
              <a:rPr sz="1100" b="0">
                <a:solidFill>
                  <a:srgbClr val="DDD9E8"/>
                </a:solidFill>
                <a:latin typeface="Calibri"/>
              </a:rPr>
              <a:t>03 · Blocks &amp; Chains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13093" y="5669280"/>
            <a:ext cx="1232611" cy="402336"/>
          </a:xfrm>
          <a:prstGeom prst="roundRect">
            <a:avLst>
              <a:gd name="adj" fmla="val 50000"/>
            </a:avLst>
          </a:prstGeom>
          <a:solidFill>
            <a:srgbClr val="127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04 · Consensus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44652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E9E6F2"/>
                </a:solidFill>
                <a:latin typeface="Calibri"/>
              </a:rPr>
              <a:t>Photo: Carl Lender / Wikimedia Commons, CC BY 2.0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0" y="502920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5C576E"/>
                </a:solidFill>
                <a:latin typeface="Consolas"/>
              </a:rPr>
              <a:t>01 / 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2746A"/>
                </a:solidFill>
                <a:latin typeface="Calibri"/>
              </a:rPr>
              <a:t>TOPIC 04 — CONSENSUS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1C1730"/>
                </a:solidFill>
                <a:latin typeface="Century Gothic"/>
              </a:rPr>
              <a:t>Why This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98755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5C576E"/>
                </a:solidFill>
                <a:latin typeface="Calibri"/>
              </a:rPr>
              <a:t>The final piece: with no bank or admin, how do thousands of independent, possibly-dishonest computers agree on a single shared history, in the right order? This is the consensus problem, and it's the piece that makes everything from Topics 01–03 actually trustworthy at scale.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657600"/>
            <a:ext cx="9875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2746A"/>
                </a:solidFill>
                <a:latin typeface="Calibri"/>
              </a:rPr>
              <a:t>WHAT THIS SECTION COVERS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4197096"/>
            <a:ext cx="82296" cy="82296"/>
          </a:xfrm>
          <a:prstGeom prst="rect">
            <a:avLst/>
          </a:prstGeom>
          <a:solidFill>
            <a:srgbClr val="127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114800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C1730"/>
                </a:solidFill>
                <a:latin typeface="Calibri"/>
              </a:rPr>
              <a:t>Core concept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0" y="4197096"/>
            <a:ext cx="82296" cy="82296"/>
          </a:xfrm>
          <a:prstGeom prst="rect">
            <a:avLst/>
          </a:prstGeom>
          <a:solidFill>
            <a:srgbClr val="127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4114800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C1730"/>
                </a:solidFill>
                <a:latin typeface="Calibri"/>
              </a:rPr>
              <a:t>Four key ideas, one at a time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654296"/>
            <a:ext cx="82296" cy="82296"/>
          </a:xfrm>
          <a:prstGeom prst="rect">
            <a:avLst/>
          </a:prstGeom>
          <a:solidFill>
            <a:srgbClr val="127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572000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C1730"/>
                </a:solidFill>
                <a:latin typeface="Calibri"/>
              </a:rPr>
              <a:t>A real, reproducible worked example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0" y="4654296"/>
            <a:ext cx="82296" cy="82296"/>
          </a:xfrm>
          <a:prstGeom prst="rect">
            <a:avLst/>
          </a:prstGeom>
          <a:solidFill>
            <a:srgbClr val="127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3640" y="4572000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C1730"/>
                </a:solidFill>
                <a:latin typeface="Calibri"/>
              </a:rPr>
              <a:t>Real-world uses beyond blockchain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111496"/>
            <a:ext cx="82296" cy="82296"/>
          </a:xfrm>
          <a:prstGeom prst="rect">
            <a:avLst/>
          </a:prstGeom>
          <a:solidFill>
            <a:srgbClr val="127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5029200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C1730"/>
                </a:solidFill>
                <a:latin typeface="Calibri"/>
              </a:rPr>
              <a:t>A flagship case study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35040" y="5111496"/>
            <a:ext cx="82296" cy="82296"/>
          </a:xfrm>
          <a:prstGeom prst="rect">
            <a:avLst/>
          </a:prstGeom>
          <a:solidFill>
            <a:srgbClr val="127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63640" y="5029200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C1730"/>
                </a:solidFill>
                <a:latin typeface="Calibri"/>
              </a:rPr>
              <a:t>A real-life analogy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5568696"/>
            <a:ext cx="82296" cy="82296"/>
          </a:xfrm>
          <a:prstGeom prst="rect">
            <a:avLst/>
          </a:prstGeom>
          <a:solidFill>
            <a:srgbClr val="127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5486400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C1730"/>
                </a:solidFill>
                <a:latin typeface="Calibri"/>
              </a:rPr>
              <a:t>Common misconceptions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35040" y="5568696"/>
            <a:ext cx="82296" cy="82296"/>
          </a:xfrm>
          <a:prstGeom prst="rect">
            <a:avLst/>
          </a:prstGeom>
          <a:solidFill>
            <a:srgbClr val="127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640" y="5486400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C1730"/>
                </a:solidFill>
                <a:latin typeface="Calibri"/>
              </a:rPr>
              <a:t>Hands-on practice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025896"/>
            <a:ext cx="82296" cy="82296"/>
          </a:xfrm>
          <a:prstGeom prst="rect">
            <a:avLst/>
          </a:prstGeom>
          <a:solidFill>
            <a:srgbClr val="127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1560" y="5943600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C1730"/>
                </a:solidFill>
                <a:latin typeface="Calibri"/>
              </a:rPr>
              <a:t>Take-home assignment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66960" y="502920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5C576E"/>
                </a:solidFill>
                <a:latin typeface="Consolas"/>
              </a:rPr>
              <a:t>02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2746A"/>
                </a:solidFill>
                <a:latin typeface="Calibri"/>
              </a:rPr>
              <a:t>TOPIC 04 — CONSENSUS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C1730"/>
                </a:solidFill>
                <a:latin typeface="Century Gothic"/>
              </a:rPr>
              <a:t>The Core Concept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286000"/>
            <a:ext cx="10515600" cy="3291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286000"/>
            <a:ext cx="91440" cy="3291840"/>
          </a:xfrm>
          <a:prstGeom prst="rect">
            <a:avLst/>
          </a:prstGeom>
          <a:solidFill>
            <a:srgbClr val="127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2697480"/>
            <a:ext cx="960120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2000" b="0" i="0">
                <a:solidFill>
                  <a:srgbClr val="1C1730"/>
                </a:solidFill>
                <a:latin typeface="Calibri"/>
              </a:rPr>
              <a:t>A consensus mechanism is the rule set a blockchain uses to decide which block gets added next, and get the entire network to agree on it. The two you'll hear most about: Proof of Work (Bitcoin) and Proof of Stake (Ethereum, since September 2022).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502920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5C576E"/>
                </a:solidFill>
                <a:latin typeface="Consolas"/>
              </a:rPr>
              <a:t>03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2746A"/>
                </a:solidFill>
                <a:latin typeface="Calibri"/>
              </a:rPr>
              <a:t>TOPIC 04 — CONSENSUS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64008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1" i="0">
                <a:solidFill>
                  <a:srgbClr val="5C576E"/>
                </a:solidFill>
                <a:latin typeface="Calibri"/>
              </a:rPr>
              <a:t>KEY IDEA 1 /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9728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1C1730"/>
                </a:solidFill>
                <a:latin typeface="Century Gothic"/>
              </a:rPr>
              <a:t>Proof of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98755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50" b="0" i="0">
                <a:solidFill>
                  <a:srgbClr val="1C1730"/>
                </a:solidFill>
                <a:latin typeface="Calibri"/>
              </a:rPr>
              <a:t>Miners burn real electricity solving a computational puzzle. Hard to solve, but instant for anyone else to verify. Cheating simply wastes the cheater's own money.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434840"/>
            <a:ext cx="10515600" cy="1280160"/>
          </a:xfrm>
          <a:prstGeom prst="roundRect">
            <a:avLst>
              <a:gd name="adj" fmla="val 6000"/>
            </a:avLst>
          </a:prstGeom>
          <a:solidFill>
            <a:srgbClr val="E7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4617720"/>
            <a:ext cx="9875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2746A"/>
                </a:solidFill>
                <a:latin typeface="Calibri"/>
              </a:rPr>
              <a:t>EXAMPLE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956048"/>
            <a:ext cx="9875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C1730"/>
                </a:solidFill>
                <a:latin typeface="Consolas"/>
              </a:rPr>
              <a:t>Bitcoin targets a new block roughly every 10 minutes, difficulty adjusted every ~2 weeks.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502920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5C576E"/>
                </a:solidFill>
                <a:latin typeface="Consolas"/>
              </a:rPr>
              <a:t>04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2746A"/>
                </a:solidFill>
                <a:latin typeface="Calibri"/>
              </a:rPr>
              <a:t>TOPIC 04 — CONSENSUS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64008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1" i="0">
                <a:solidFill>
                  <a:srgbClr val="5C576E"/>
                </a:solidFill>
                <a:latin typeface="Calibri"/>
              </a:rPr>
              <a:t>KEY IDEA 2 /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9728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1C1730"/>
                </a:solidFill>
                <a:latin typeface="Century Gothic"/>
              </a:rPr>
              <a:t>Proof of Stake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98755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50" b="0" i="0">
                <a:solidFill>
                  <a:srgbClr val="1C1730"/>
                </a:solidFill>
                <a:latin typeface="Calibri"/>
              </a:rPr>
              <a:t>Validators lock up currency as collateral — exactly 32 ETH per validator, on Ethereum. Dishonesty gets that collateral destroyed ("slashed") by the protocol itself.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434840"/>
            <a:ext cx="10515600" cy="1280160"/>
          </a:xfrm>
          <a:prstGeom prst="roundRect">
            <a:avLst>
              <a:gd name="adj" fmla="val 6000"/>
            </a:avLst>
          </a:prstGeom>
          <a:solidFill>
            <a:srgbClr val="E7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4617720"/>
            <a:ext cx="9875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2746A"/>
                </a:solidFill>
                <a:latin typeface="Calibri"/>
              </a:rPr>
              <a:t>EXAMPLE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956048"/>
            <a:ext cx="9875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C1730"/>
                </a:solidFill>
                <a:latin typeface="Consolas"/>
              </a:rPr>
              <a:t>Ethereum switched from PoW to PoS in September 2022.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502920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5C576E"/>
                </a:solidFill>
                <a:latin typeface="Consolas"/>
              </a:rPr>
              <a:t>05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2746A"/>
                </a:solidFill>
                <a:latin typeface="Calibri"/>
              </a:rPr>
              <a:t>TOPIC 04 — CONSENSUS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64008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1" i="0">
                <a:solidFill>
                  <a:srgbClr val="5C576E"/>
                </a:solidFill>
                <a:latin typeface="Calibri"/>
              </a:rPr>
              <a:t>KEY IDEA 3 /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9728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1C1730"/>
                </a:solidFill>
                <a:latin typeface="Century Gothic"/>
              </a:rPr>
              <a:t>The Byzantine Generals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98755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50" b="0" i="0">
                <a:solidFill>
                  <a:srgbClr val="1C1730"/>
                </a:solidFill>
                <a:latin typeface="Calibri"/>
              </a:rPr>
              <a:t>Independent generals, unreliable messengers, and possible traitors among them — how do the loyal generals still reach reliable agreement? The classic 1982 thought experiment for exactly this problem.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434840"/>
            <a:ext cx="10515600" cy="1280160"/>
          </a:xfrm>
          <a:prstGeom prst="roundRect">
            <a:avLst>
              <a:gd name="adj" fmla="val 6000"/>
            </a:avLst>
          </a:prstGeom>
          <a:solidFill>
            <a:srgbClr val="E7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4617720"/>
            <a:ext cx="9875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2746A"/>
                </a:solidFill>
                <a:latin typeface="Calibri"/>
              </a:rPr>
              <a:t>EXAMPLE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956048"/>
            <a:ext cx="9875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C1730"/>
                </a:solidFill>
                <a:latin typeface="Consolas"/>
              </a:rPr>
              <a:t>No central coordinator + some malicious participants = the consensus problem.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502920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5C576E"/>
                </a:solidFill>
                <a:latin typeface="Consolas"/>
              </a:rPr>
              <a:t>06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2746A"/>
                </a:solidFill>
                <a:latin typeface="Calibri"/>
              </a:rPr>
              <a:t>TOPIC 04 — CONSENSUS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64008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1" i="0">
                <a:solidFill>
                  <a:srgbClr val="5C576E"/>
                </a:solidFill>
                <a:latin typeface="Calibri"/>
              </a:rPr>
              <a:t>KEY IDEA 4 /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9728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1C1730"/>
                </a:solidFill>
                <a:latin typeface="Century Gothic"/>
              </a:rPr>
              <a:t>The n ≥ 3f + 1 Rule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98755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50" b="0" i="0">
                <a:solidFill>
                  <a:srgbClr val="1C1730"/>
                </a:solidFill>
                <a:latin typeface="Calibri"/>
              </a:rPr>
              <a:t>A network of n nodes can tolerate up to f dishonest ones only if honest nodes outnumber dishonest ones by more than 2-to-1 — not just a simple majority.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434840"/>
            <a:ext cx="10515600" cy="1280160"/>
          </a:xfrm>
          <a:prstGeom prst="roundRect">
            <a:avLst>
              <a:gd name="adj" fmla="val 6000"/>
            </a:avLst>
          </a:prstGeom>
          <a:solidFill>
            <a:srgbClr val="E7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4617720"/>
            <a:ext cx="9875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2746A"/>
                </a:solidFill>
                <a:latin typeface="Calibri"/>
              </a:rPr>
              <a:t>EXAMPLE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956048"/>
            <a:ext cx="9875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C1730"/>
                </a:solidFill>
                <a:latin typeface="Consolas"/>
              </a:rPr>
              <a:t>100 nodes → tolerates at most 33 dishonest ones (100 ≥ 3×33 + 1).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502920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5C576E"/>
                </a:solidFill>
                <a:latin typeface="Consolas"/>
              </a:rPr>
              <a:t>07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2746A"/>
                </a:solidFill>
                <a:latin typeface="Calibri"/>
              </a:rPr>
              <a:t>WORKED EXAMPLE — 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3327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C1730"/>
                </a:solidFill>
                <a:latin typeface="Century Gothic"/>
              </a:rPr>
              <a:t>The Fault-Tolerance Math, Worked With Real Numbers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10515600" cy="3840480"/>
          </a:xfrm>
          <a:prstGeom prst="roundRect">
            <a:avLst>
              <a:gd name="adj" fmla="val 4500"/>
            </a:avLst>
          </a:prstGeom>
          <a:solidFill>
            <a:srgbClr val="14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" y="2130552"/>
            <a:ext cx="109728" cy="109728"/>
          </a:xfrm>
          <a:prstGeom prst="ellipse">
            <a:avLst/>
          </a:prstGeom>
          <a:solidFill>
            <a:srgbClr val="FF64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225296" y="2130552"/>
            <a:ext cx="109728" cy="109728"/>
          </a:xfrm>
          <a:prstGeom prst="ellipse">
            <a:avLst/>
          </a:prstGeom>
          <a:solidFill>
            <a:srgbClr val="FFC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426464" y="2130552"/>
            <a:ext cx="109728" cy="109728"/>
          </a:xfrm>
          <a:prstGeom prst="ellipse">
            <a:avLst/>
          </a:prstGeom>
          <a:solidFill>
            <a:srgbClr val="28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0003536" cy="3273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>
                <a:solidFill>
                  <a:srgbClr val="8B84AD"/>
                </a:solidFill>
                <a:latin typeface="Consolas"/>
              </a:rPr>
              <a:t>Total nodes (n)   Max dishonest (f)   Check</a:t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7FE0C4"/>
                </a:solidFill>
                <a:latin typeface="Consolas"/>
              </a:rPr>
              <a:t>4                 1                    4 ≥ 3(1)+1 = 4  ✓</a:t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7FE0C4"/>
                </a:solidFill>
                <a:latin typeface="Consolas"/>
              </a:rPr>
              <a:t>10                3                    10 ≥ 3(3)+1 = 10  ✓</a:t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7FE0C4"/>
                </a:solidFill>
                <a:latin typeface="Consolas"/>
              </a:rPr>
              <a:t>100               33                   100 ≥ 3(33)+1 = 100  ✓</a:t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EDE9F7"/>
                </a:solidFill>
                <a:latin typeface="Consolas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8B84AD"/>
                </a:solidFill>
                <a:latin typeface="Consolas"/>
              </a:rPr>
              <a:t># honest nodes must outnumber dishonest ones</a:t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8B84AD"/>
                </a:solidFill>
                <a:latin typeface="Consolas"/>
              </a:rPr>
              <a:t># by MORE than 2-to-1 — not just a simple majority.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44652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C576E"/>
                </a:solidFill>
                <a:latin typeface="Calibri"/>
              </a:rPr>
              <a:t>This is a general distributed-systems result — not specific to blockchain.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502920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5C576E"/>
                </a:solidFill>
                <a:latin typeface="Consolas"/>
              </a:rPr>
              <a:t>08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2746A"/>
                </a:solidFill>
                <a:latin typeface="Calibri"/>
              </a:rPr>
              <a:t>WORKED EXAMPLE — 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3327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C1730"/>
                </a:solidFill>
                <a:latin typeface="Century Gothic"/>
              </a:rPr>
              <a:t>A Real, Documented 51%-Attack — Ethereum Classic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10515600" cy="3840480"/>
          </a:xfrm>
          <a:prstGeom prst="roundRect">
            <a:avLst>
              <a:gd name="adj" fmla="val 4500"/>
            </a:avLst>
          </a:prstGeom>
          <a:solidFill>
            <a:srgbClr val="14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" y="2130552"/>
            <a:ext cx="109728" cy="109728"/>
          </a:xfrm>
          <a:prstGeom prst="ellipse">
            <a:avLst/>
          </a:prstGeom>
          <a:solidFill>
            <a:srgbClr val="FF64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225296" y="2130552"/>
            <a:ext cx="109728" cy="109728"/>
          </a:xfrm>
          <a:prstGeom prst="ellipse">
            <a:avLst/>
          </a:prstGeom>
          <a:solidFill>
            <a:srgbClr val="FFC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426464" y="2130552"/>
            <a:ext cx="109728" cy="109728"/>
          </a:xfrm>
          <a:prstGeom prst="ellipse">
            <a:avLst/>
          </a:prstGeom>
          <a:solidFill>
            <a:srgbClr val="28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0003536" cy="3273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>
                <a:solidFill>
                  <a:srgbClr val="EDE9F7"/>
                </a:solidFill>
                <a:latin typeface="Consolas"/>
              </a:rPr>
              <a:t>Jan 2019   </a:t>
            </a:r>
            <a:r>
              <a:rPr sz="1350" b="1">
                <a:solidFill>
                  <a:srgbClr val="FF8E7D"/>
                </a:solidFill>
                <a:latin typeface="Consolas"/>
              </a:rPr>
              <a:t>$1.1M</a:t>
            </a:r>
            <a:r>
              <a:rPr sz="1350" b="0">
                <a:solidFill>
                  <a:srgbClr val="EDE9F7"/>
                </a:solidFill>
                <a:latin typeface="Consolas"/>
              </a:rPr>
              <a:t>  double-spent (2 attacks)</a:t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EDE9F7"/>
                </a:solidFill>
                <a:latin typeface="Consolas"/>
              </a:rPr>
              <a:t>Jul 2020   </a:t>
            </a:r>
            <a:r>
              <a:rPr sz="1350" b="1">
                <a:solidFill>
                  <a:srgbClr val="FF8E7D"/>
                </a:solidFill>
                <a:latin typeface="Consolas"/>
              </a:rPr>
              <a:t>$5.8M</a:t>
            </a:r>
            <a:r>
              <a:rPr sz="1350" b="0">
                <a:solidFill>
                  <a:srgbClr val="EDE9F7"/>
                </a:solidFill>
                <a:latin typeface="Consolas"/>
              </a:rPr>
              <a:t>  double-spent (1 attack)</a:t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EDE9F7"/>
                </a:solidFill>
                <a:latin typeface="Consolas"/>
              </a:rPr>
              <a:t>Aug 2020   </a:t>
            </a:r>
            <a:r>
              <a:rPr sz="1350" b="1">
                <a:solidFill>
                  <a:srgbClr val="FF8E7D"/>
                </a:solidFill>
                <a:latin typeface="Consolas"/>
              </a:rPr>
              <a:t>$3.2M</a:t>
            </a:r>
            <a:r>
              <a:rPr sz="1350" b="0">
                <a:solidFill>
                  <a:srgbClr val="EDE9F7"/>
                </a:solidFill>
                <a:latin typeface="Consolas"/>
              </a:rPr>
              <a:t>  double-spent (1 attack)</a:t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EDE9F7"/>
                </a:solidFill>
                <a:latin typeface="Consolas"/>
              </a:rPr>
              <a:t>           </a:t>
            </a:r>
            <a:r>
              <a:rPr sz="1350" b="1">
                <a:solidFill>
                  <a:srgbClr val="FF8E7D"/>
                </a:solidFill>
                <a:latin typeface="Consolas"/>
              </a:rPr>
              <a:t>$10.1M</a:t>
            </a:r>
            <a:r>
              <a:rPr sz="1350" b="0">
                <a:solidFill>
                  <a:srgbClr val="EDE9F7"/>
                </a:solidFill>
                <a:latin typeface="Consolas"/>
              </a:rPr>
              <a:t> total — three CONFIRMED attacks</a:t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EDE9F7"/>
                </a:solidFill>
                <a:latin typeface="Consolas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8B84AD"/>
                </a:solidFill>
                <a:latin typeface="Consolas"/>
              </a:rPr>
              <a:t># mechanism: majority mining power secretly built an</a:t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8B84AD"/>
                </a:solidFill>
                <a:latin typeface="Consolas"/>
              </a:rPr>
              <a:t># alternate chain, released once longer than the honest one.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44652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C576E"/>
                </a:solidFill>
                <a:latin typeface="Calibri"/>
              </a:rPr>
              <a:t>A real, cited case — not a hypothetical. Source: Coinbase &amp; CryptoPotato incident reports.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502920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5C576E"/>
                </a:solidFill>
                <a:latin typeface="Consolas"/>
              </a:rPr>
              <a:t>09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2746A"/>
                </a:solidFill>
                <a:latin typeface="Calibri"/>
              </a:rPr>
              <a:t>REAL-WORLD USES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1C1730"/>
                </a:solidFill>
                <a:latin typeface="Century Gothic"/>
              </a:rPr>
              <a:t>Not Just Blockchain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011680"/>
            <a:ext cx="3322320" cy="31089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ED9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" y="2267712"/>
            <a:ext cx="28102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2746A"/>
                </a:solidFill>
                <a:latin typeface="Century Gothic"/>
              </a:rPr>
              <a:t>Kubernetes' etcd (Raft)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2724912"/>
            <a:ext cx="2810256" cy="22585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1C1730"/>
                </a:solidFill>
                <a:latin typeface="Calibri"/>
              </a:rPr>
              <a:t>Keeps cluster configuration consistent across servers, even through crashes.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19600" y="2011680"/>
            <a:ext cx="3322320" cy="31089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ED9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75632" y="2267712"/>
            <a:ext cx="28102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2746A"/>
                </a:solidFill>
                <a:latin typeface="Century Gothic"/>
              </a:rPr>
              <a:t>CockroachDB / Spanner (Paxos)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75632" y="2724912"/>
            <a:ext cx="2810256" cy="22585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1C1730"/>
                </a:solidFill>
                <a:latin typeface="Calibri"/>
              </a:rPr>
              <a:t>Keeps globally distributed databases consistent across continents.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16240" y="2011680"/>
            <a:ext cx="3322320" cy="31089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ED9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2272" y="2267712"/>
            <a:ext cx="28102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2746A"/>
                </a:solidFill>
                <a:latin typeface="Century Gothic"/>
              </a:rPr>
              <a:t>Flight-Control Redundancy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2272" y="2724912"/>
            <a:ext cx="2810256" cy="22585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1C1730"/>
                </a:solidFill>
                <a:latin typeface="Calibri"/>
              </a:rPr>
              <a:t>The 1982 Byzantine Generals paper was partly motivated by aircraft sensors needing to agree despite a faulty unit.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0" y="502920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5C576E"/>
                </a:solidFill>
                <a:latin typeface="Consolas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2746A"/>
                </a:solidFill>
                <a:latin typeface="Calibri"/>
              </a:rPr>
              <a:t>FLAGSHIP CASE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103327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C1730"/>
                </a:solidFill>
                <a:latin typeface="Century Gothic"/>
              </a:rPr>
              <a:t>What A 51% Attacker Can — And Can't — 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423160"/>
            <a:ext cx="10515600" cy="3749039"/>
          </a:xfrm>
          <a:prstGeom prst="roundRect">
            <a:avLst>
              <a:gd name="adj" fmla="val 4000"/>
            </a:avLst>
          </a:prstGeom>
          <a:solidFill>
            <a:srgbClr val="127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743200"/>
            <a:ext cx="960120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600" b="0" i="0">
                <a:solidFill>
                  <a:srgbClr val="FFFFFF"/>
                </a:solidFill>
                <a:latin typeface="Calibri"/>
              </a:rPr>
              <a:t>In 2019 and 2020, Ethereum Classic suffered three confirmed 51%-attacks totaling $10.1M in double-spends. The attacker rewrote recent block ordering to reverse their OWN sent transactions. They could NOT forge a signature for funds they never controlled, and could NOT touch other users' wallets — the Topic 02 cryptography held perfectly throughout. A 51% attack breaks “who got here first,” not the underlying math.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502920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5C576E"/>
                </a:solidFill>
                <a:latin typeface="Consolas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2746A"/>
                </a:solidFill>
                <a:latin typeface="Calibri"/>
              </a:rPr>
              <a:t>REAL-LIFE ANALOGY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103327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C1730"/>
                </a:solidFill>
                <a:latin typeface="Century Gothic"/>
              </a:rPr>
              <a:t>Generals Surrounding A City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286000"/>
            <a:ext cx="91440" cy="3657600"/>
          </a:xfrm>
          <a:prstGeom prst="rect">
            <a:avLst/>
          </a:prstGeom>
          <a:solidFill>
            <a:srgbClr val="127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377440"/>
            <a:ext cx="978408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800" b="0" i="0">
                <a:solidFill>
                  <a:srgbClr val="1C1730"/>
                </a:solidFill>
                <a:latin typeface="Calibri"/>
              </a:rPr>
              <a:t>Several generals must all attack together, or all retreat together — communicating only via messengers who might be delayed, lost, or secretly traitorous. This is exactly the situation a blockchain network is in: independent nodes, unreliable networks, some possibly malicious — and PoW / PoS are two different, practical answers to how the honest majority still reaches agreement anyway.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502920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5C576E"/>
                </a:solidFill>
                <a:latin typeface="Consolas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2746A"/>
                </a:solidFill>
                <a:latin typeface="Calibri"/>
              </a:rPr>
              <a:t>COMMON MISCONCEPTIONS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C1730"/>
                </a:solidFill>
                <a:latin typeface="Century Gothic"/>
              </a:rPr>
              <a:t>Where People Get Tripped Up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057400"/>
            <a:ext cx="10515600" cy="18745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057400"/>
            <a:ext cx="82296" cy="1874519"/>
          </a:xfrm>
          <a:prstGeom prst="rect">
            <a:avLst/>
          </a:prstGeom>
          <a:solidFill>
            <a:srgbClr val="127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258568"/>
            <a:ext cx="9784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2746A"/>
                </a:solidFill>
                <a:latin typeface="Century Gothic"/>
              </a:rPr>
              <a:t>“Proof of Stake is just Proof of Work without the hardware.”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743200"/>
            <a:ext cx="9784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5C576E"/>
                </a:solidFill>
                <a:latin typeface="Calibri"/>
              </a:rPr>
              <a:t>The security models are genuinely different, not a simple swap: PoW's security is external sunk cost (electricity you can't get back). PoS's security is internal at-risk collateral (money the protocol itself destroys).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160520"/>
            <a:ext cx="10515600" cy="18745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4160520"/>
            <a:ext cx="82296" cy="1874519"/>
          </a:xfrm>
          <a:prstGeom prst="rect">
            <a:avLst/>
          </a:prstGeom>
          <a:solidFill>
            <a:srgbClr val="127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4361688"/>
            <a:ext cx="9784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2746A"/>
                </a:solidFill>
                <a:latin typeface="Century Gothic"/>
              </a:rPr>
              <a:t>“A 51% attack lets you steal anyone's funds.”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846320"/>
            <a:ext cx="9784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5C576E"/>
                </a:solidFill>
                <a:latin typeface="Calibri"/>
              </a:rPr>
              <a:t>It lets you rewrite the recent ordering of YOUR OWN transactions — not forge signatures for wallets you don't control. See the case study above.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502920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5C576E"/>
                </a:solidFill>
                <a:latin typeface="Consolas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2746A"/>
                </a:solidFill>
                <a:latin typeface="Calibri"/>
              </a:rPr>
              <a:t>HANDS-ON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1C1730"/>
                </a:solidFill>
                <a:latin typeface="Century Gothic"/>
              </a:rPr>
              <a:t>Do This Now</a:t>
            </a:r>
          </a:p>
        </p:txBody>
      </p:sp>
      <p:sp>
        <p:nvSpPr>
          <p:cNvPr id="5" name="Oval 4"/>
          <p:cNvSpPr/>
          <p:nvPr/>
        </p:nvSpPr>
        <p:spPr>
          <a:xfrm>
            <a:off x="822960" y="2148840"/>
            <a:ext cx="502920" cy="502920"/>
          </a:xfrm>
          <a:prstGeom prst="ellipse">
            <a:avLst/>
          </a:prstGeom>
          <a:solidFill>
            <a:srgbClr val="127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Century Gothic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00200" y="2203704"/>
            <a:ext cx="9509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C1730"/>
                </a:solidFill>
                <a:latin typeface="Calibri"/>
              </a:rPr>
              <a:t>Work out by hand: for a network of 31 nodes, what's the max tolerable count of dishonest nodes?</a:t>
            </a:r>
          </a:p>
        </p:txBody>
      </p:sp>
      <p:sp>
        <p:nvSpPr>
          <p:cNvPr id="7" name="Oval 6"/>
          <p:cNvSpPr/>
          <p:nvPr/>
        </p:nvSpPr>
        <p:spPr>
          <a:xfrm>
            <a:off x="822960" y="3108960"/>
            <a:ext cx="502920" cy="502920"/>
          </a:xfrm>
          <a:prstGeom prst="ellipse">
            <a:avLst/>
          </a:prstGeom>
          <a:solidFill>
            <a:srgbClr val="127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Century Gothic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163824"/>
            <a:ext cx="9509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C1730"/>
                </a:solidFill>
                <a:latin typeface="Calibri"/>
              </a:rPr>
              <a:t>On the Anders Brownworth distributed demo, mine a block on one peer and watch it propagate.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4069080"/>
            <a:ext cx="502920" cy="502920"/>
          </a:xfrm>
          <a:prstGeom prst="ellipse">
            <a:avLst/>
          </a:prstGeom>
          <a:solidFill>
            <a:srgbClr val="127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Century Gothic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4123944"/>
            <a:ext cx="9509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C1730"/>
                </a:solidFill>
                <a:latin typeface="Calibri"/>
              </a:rPr>
              <a:t>Introduce a rogue block on one peer and watch the rest of the network reject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502920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5C576E"/>
                </a:solidFill>
                <a:latin typeface="Consolas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1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C53D"/>
                </a:solidFill>
                <a:latin typeface="Calibri"/>
              </a:rPr>
              <a:t>TAKE-HOME ASSIGNMENT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FFFFFF"/>
                </a:solidFill>
                <a:latin typeface="Century Gothic"/>
              </a:rPr>
              <a:t>Before You Move 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084832"/>
            <a:ext cx="82296" cy="82296"/>
          </a:xfrm>
          <a:prstGeom prst="rect">
            <a:avLst/>
          </a:prstGeom>
          <a:solidFill>
            <a:srgbClr val="FFC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0116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E9E6F2"/>
                </a:solidFill>
                <a:latin typeface="Calibri"/>
              </a:rPr>
              <a:t>Explain the Byzantine Generals Problem and how PoW or PoS addresses it, in your own words.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706624"/>
            <a:ext cx="82296" cy="82296"/>
          </a:xfrm>
          <a:prstGeom prst="rect">
            <a:avLst/>
          </a:prstGeom>
          <a:solidFill>
            <a:srgbClr val="FFC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33472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E9E6F2"/>
                </a:solidFill>
                <a:latin typeface="Calibri"/>
              </a:rPr>
              <a:t>Using the Ethereum Classic case, explain what the attacker could and couldn't do.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328416"/>
            <a:ext cx="82296" cy="82296"/>
          </a:xfrm>
          <a:prstGeom prst="rect">
            <a:avLst/>
          </a:prstGeom>
          <a:solidFill>
            <a:srgbClr val="FFC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255264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E9E6F2"/>
                </a:solidFill>
                <a:latin typeface="Calibri"/>
              </a:rPr>
              <a:t>List 3 concrete differences between PoW and PoS, in your own words.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014216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C53D"/>
                </a:solidFill>
                <a:latin typeface="Calibri"/>
              </a:rPr>
              <a:t>RECOMMENDED VIDEOS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379976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C9C3DC"/>
                </a:solidFill>
                <a:latin typeface="Calibri"/>
              </a:rPr>
              <a:t>• Crypto Whiteboard: Proof of Work vs Proof of Stake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745736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C9C3DC"/>
                </a:solidFill>
                <a:latin typeface="Calibri"/>
              </a:rPr>
              <a:t>• What is Proof of Stake - Explained in 3 Minutes (Animation)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248656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C53D"/>
                </a:solidFill>
                <a:latin typeface="Calibri"/>
              </a:rPr>
              <a:t>PRACTICE SITE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614416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C9C3DC"/>
                </a:solidFill>
                <a:latin typeface="Consolas"/>
              </a:rPr>
              <a:t>andersbrownworth.com/blockchain/distributed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66960" y="502920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5C576E"/>
                </a:solidFill>
                <a:latin typeface="Consolas"/>
              </a:rPr>
              <a:t>15 /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