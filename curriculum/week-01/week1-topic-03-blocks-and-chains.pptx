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7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over_03.jp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6858000"/>
          </a:xfrm>
          <a:prstGeom prst="rect">
            <a:avLst/>
          </a:prstGeom>
          <a:solidFill>
            <a:srgbClr val="1C1730">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858000"/>
          </a:xfrm>
          <a:prstGeom prst="rect">
            <a:avLst/>
          </a:prstGeom>
          <a:solidFill>
            <a:srgbClr val="33506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188720"/>
            <a:ext cx="5486400" cy="1188720"/>
          </a:xfrm>
          <a:prstGeom prst="rect">
            <a:avLst/>
          </a:prstGeom>
          <a:noFill/>
        </p:spPr>
        <p:txBody>
          <a:bodyPr wrap="square" anchor="t" lIns="0" rIns="0" tIns="0" bIns="0">
            <a:spAutoFit/>
          </a:bodyPr>
          <a:lstStyle/>
          <a:p>
            <a:pPr algn="l">
              <a:lnSpc>
                <a:spcPct val="115000"/>
              </a:lnSpc>
            </a:pPr>
            <a:r>
              <a:rPr sz="10000" b="1" i="0">
                <a:solidFill>
                  <a:srgbClr val="FFFFFF"/>
                </a:solidFill>
                <a:latin typeface="Century Gothic"/>
              </a:rPr>
              <a:t>03</a:t>
            </a:r>
          </a:p>
        </p:txBody>
      </p:sp>
      <p:sp>
        <p:nvSpPr>
          <p:cNvPr id="7" name="TextBox 6"/>
          <p:cNvSpPr txBox="1"/>
          <p:nvPr/>
        </p:nvSpPr>
        <p:spPr>
          <a:xfrm>
            <a:off x="822960" y="2423160"/>
            <a:ext cx="8961120" cy="1554480"/>
          </a:xfrm>
          <a:prstGeom prst="rect">
            <a:avLst/>
          </a:prstGeom>
          <a:noFill/>
        </p:spPr>
        <p:txBody>
          <a:bodyPr wrap="square" anchor="t" lIns="0" rIns="0" tIns="0" bIns="0">
            <a:spAutoFit/>
          </a:bodyPr>
          <a:lstStyle/>
          <a:p>
            <a:pPr algn="l">
              <a:lnSpc>
                <a:spcPct val="105000"/>
              </a:lnSpc>
            </a:pPr>
            <a:r>
              <a:rPr sz="4600" b="1" i="0">
                <a:solidFill>
                  <a:srgbClr val="FFFFFF"/>
                </a:solidFill>
                <a:latin typeface="Century Gothic"/>
              </a:rPr>
              <a:t>Blocks &amp; Chains</a:t>
            </a:r>
          </a:p>
        </p:txBody>
      </p:sp>
      <p:sp>
        <p:nvSpPr>
          <p:cNvPr id="8" name="TextBox 7"/>
          <p:cNvSpPr txBox="1"/>
          <p:nvPr/>
        </p:nvSpPr>
        <p:spPr>
          <a:xfrm>
            <a:off x="822960" y="4160520"/>
            <a:ext cx="6858000" cy="1097280"/>
          </a:xfrm>
          <a:prstGeom prst="rect">
            <a:avLst/>
          </a:prstGeom>
          <a:noFill/>
        </p:spPr>
        <p:txBody>
          <a:bodyPr wrap="square" anchor="t" lIns="0" rIns="0" tIns="0" bIns="0">
            <a:spAutoFit/>
          </a:bodyPr>
          <a:lstStyle/>
          <a:p>
            <a:pPr algn="l">
              <a:lnSpc>
                <a:spcPct val="125000"/>
              </a:lnSpc>
            </a:pPr>
            <a:r>
              <a:rPr sz="1900" b="0" i="0">
                <a:solidFill>
                  <a:srgbClr val="FFFFFF"/>
                </a:solidFill>
                <a:latin typeface="Calibri"/>
              </a:rPr>
              <a:t>Link history together so a single altered link breaks everything after it.</a:t>
            </a:r>
          </a:p>
        </p:txBody>
      </p:sp>
      <p:sp>
        <p:nvSpPr>
          <p:cNvPr id="9" name="TextBox 8"/>
          <p:cNvSpPr txBox="1"/>
          <p:nvPr/>
        </p:nvSpPr>
        <p:spPr>
          <a:xfrm>
            <a:off x="822960" y="6446520"/>
            <a:ext cx="8229600" cy="320040"/>
          </a:xfrm>
          <a:prstGeom prst="rect">
            <a:avLst/>
          </a:prstGeom>
          <a:noFill/>
        </p:spPr>
        <p:txBody>
          <a:bodyPr wrap="square" anchor="t" lIns="0" rIns="0" tIns="0" bIns="0">
            <a:spAutoFit/>
          </a:bodyPr>
          <a:lstStyle/>
          <a:p>
            <a:pPr algn="l">
              <a:lnSpc>
                <a:spcPct val="115000"/>
              </a:lnSpc>
            </a:pPr>
            <a:r>
              <a:rPr sz="1000" b="0" i="0">
                <a:solidFill>
                  <a:srgbClr val="E9E6F2"/>
                </a:solidFill>
                <a:latin typeface="Calibri"/>
              </a:rPr>
              <a:t>Photo: Petritap / Wikimedia Commons, CC BY-SA 3.0</a:t>
            </a:r>
          </a:p>
        </p:txBody>
      </p:sp>
      <p:sp>
        <p:nvSpPr>
          <p:cNvPr id="10" name="TextBox 9"/>
          <p:cNvSpPr txBox="1"/>
          <p:nvPr/>
        </p:nvSpPr>
        <p:spPr>
          <a:xfrm>
            <a:off x="9966960" y="502920"/>
            <a:ext cx="1371600" cy="320040"/>
          </a:xfrm>
          <a:prstGeom prst="rect">
            <a:avLst/>
          </a:prstGeom>
          <a:noFill/>
        </p:spPr>
        <p:txBody>
          <a:bodyPr wrap="square" anchor="t" lIns="0" rIns="0" tIns="0" bIns="0">
            <a:spAutoFit/>
          </a:bodyPr>
          <a:lstStyle/>
          <a:p>
            <a:pPr algn="r">
              <a:lnSpc>
                <a:spcPct val="115000"/>
              </a:lnSpc>
            </a:pPr>
            <a:r>
              <a:rPr sz="1100" b="1" i="0">
                <a:solidFill>
                  <a:srgbClr val="5C576E"/>
                </a:solidFill>
                <a:latin typeface="Consolas"/>
              </a:rPr>
              <a:t>01 /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058400" cy="365760"/>
          </a:xfrm>
          <a:prstGeom prst="rect">
            <a:avLst/>
          </a:prstGeom>
          <a:noFill/>
        </p:spPr>
        <p:txBody>
          <a:bodyPr wrap="square" anchor="t" lIns="0" rIns="0" tIns="0" bIns="0">
            <a:spAutoFit/>
          </a:bodyPr>
          <a:lstStyle/>
          <a:p>
            <a:pPr algn="l">
              <a:lnSpc>
                <a:spcPct val="115000"/>
              </a:lnSpc>
            </a:pPr>
            <a:r>
              <a:rPr sz="1300" b="1" i="0">
                <a:solidFill>
                  <a:srgbClr val="33506A"/>
                </a:solidFill>
                <a:latin typeface="Calibri"/>
              </a:rPr>
              <a:t>TOPIC 03 — BLOCKS &amp; CHAINS</a:t>
            </a:r>
          </a:p>
        </p:txBody>
      </p:sp>
      <p:sp>
        <p:nvSpPr>
          <p:cNvPr id="4" name="TextBox 3"/>
          <p:cNvSpPr txBox="1"/>
          <p:nvPr/>
        </p:nvSpPr>
        <p:spPr>
          <a:xfrm>
            <a:off x="822960" y="1051560"/>
            <a:ext cx="9601200" cy="1005840"/>
          </a:xfrm>
          <a:prstGeom prst="rect">
            <a:avLst/>
          </a:prstGeom>
          <a:noFill/>
        </p:spPr>
        <p:txBody>
          <a:bodyPr wrap="square" anchor="t" lIns="0" rIns="0" tIns="0" bIns="0">
            <a:spAutoFit/>
          </a:bodyPr>
          <a:lstStyle/>
          <a:p>
            <a:pPr algn="l">
              <a:lnSpc>
                <a:spcPct val="105000"/>
              </a:lnSpc>
            </a:pPr>
            <a:r>
              <a:rPr sz="3200" b="1" i="0">
                <a:solidFill>
                  <a:srgbClr val="1C1730"/>
                </a:solidFill>
                <a:latin typeface="Century Gothic"/>
              </a:rPr>
              <a:t>Why This Matters</a:t>
            </a:r>
          </a:p>
        </p:txBody>
      </p:sp>
      <p:sp>
        <p:nvSpPr>
          <p:cNvPr id="5" name="TextBox 4"/>
          <p:cNvSpPr txBox="1"/>
          <p:nvPr/>
        </p:nvSpPr>
        <p:spPr>
          <a:xfrm>
            <a:off x="822960" y="1965960"/>
            <a:ext cx="9875520" cy="1463040"/>
          </a:xfrm>
          <a:prstGeom prst="rect">
            <a:avLst/>
          </a:prstGeom>
          <a:noFill/>
        </p:spPr>
        <p:txBody>
          <a:bodyPr wrap="square" anchor="t" lIns="0" rIns="0" tIns="0" bIns="0">
            <a:spAutoFit/>
          </a:bodyPr>
          <a:lstStyle/>
          <a:p>
            <a:pPr algn="l">
              <a:lnSpc>
                <a:spcPct val="140000"/>
              </a:lnSpc>
            </a:pPr>
            <a:r>
              <a:rPr sz="1600" b="0" i="0">
                <a:solidFill>
                  <a:srgbClr val="5C576E"/>
                </a:solidFill>
                <a:latin typeface="Calibri"/>
              </a:rPr>
              <a:t>You now have tamper-evidence (hashing) and authorization (signing). This section shows how thousands of signed, hashed transactions get organized into the actual structure that gives "blockchain" its name.</a:t>
            </a:r>
          </a:p>
        </p:txBody>
      </p:sp>
      <p:sp>
        <p:nvSpPr>
          <p:cNvPr id="6" name="TextBox 5"/>
          <p:cNvSpPr txBox="1"/>
          <p:nvPr/>
        </p:nvSpPr>
        <p:spPr>
          <a:xfrm>
            <a:off x="822960" y="3657600"/>
            <a:ext cx="9875520" cy="365760"/>
          </a:xfrm>
          <a:prstGeom prst="rect">
            <a:avLst/>
          </a:prstGeom>
          <a:noFill/>
        </p:spPr>
        <p:txBody>
          <a:bodyPr wrap="square" anchor="t" lIns="0" rIns="0" tIns="0" bIns="0">
            <a:spAutoFit/>
          </a:bodyPr>
          <a:lstStyle/>
          <a:p>
            <a:pPr algn="l">
              <a:lnSpc>
                <a:spcPct val="115000"/>
              </a:lnSpc>
            </a:pPr>
            <a:r>
              <a:rPr sz="1200" b="1" i="0">
                <a:solidFill>
                  <a:srgbClr val="33506A"/>
                </a:solidFill>
                <a:latin typeface="Calibri"/>
              </a:rPr>
              <a:t>WHAT THIS SECTION COVERS</a:t>
            </a:r>
          </a:p>
        </p:txBody>
      </p:sp>
      <p:sp>
        <p:nvSpPr>
          <p:cNvPr id="7" name="Rectangle 6"/>
          <p:cNvSpPr/>
          <p:nvPr/>
        </p:nvSpPr>
        <p:spPr>
          <a:xfrm>
            <a:off x="822960" y="4197096"/>
            <a:ext cx="82296" cy="82296"/>
          </a:xfrm>
          <a:prstGeom prst="rect">
            <a:avLst/>
          </a:prstGeom>
          <a:solidFill>
            <a:srgbClr val="33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4114800"/>
            <a:ext cx="4709160" cy="365760"/>
          </a:xfrm>
          <a:prstGeom prst="rect">
            <a:avLst/>
          </a:prstGeom>
          <a:noFill/>
        </p:spPr>
        <p:txBody>
          <a:bodyPr wrap="square" anchor="t" lIns="0" rIns="0" tIns="0" bIns="0">
            <a:spAutoFit/>
          </a:bodyPr>
          <a:lstStyle/>
          <a:p>
            <a:pPr algn="l">
              <a:lnSpc>
                <a:spcPct val="115000"/>
              </a:lnSpc>
            </a:pPr>
            <a:r>
              <a:rPr sz="1350" b="0" i="0">
                <a:solidFill>
                  <a:srgbClr val="1C1730"/>
                </a:solidFill>
                <a:latin typeface="Calibri"/>
              </a:rPr>
              <a:t>Core concept</a:t>
            </a:r>
          </a:p>
        </p:txBody>
      </p:sp>
      <p:sp>
        <p:nvSpPr>
          <p:cNvPr id="9" name="Rectangle 8"/>
          <p:cNvSpPr/>
          <p:nvPr/>
        </p:nvSpPr>
        <p:spPr>
          <a:xfrm>
            <a:off x="6035040" y="4197096"/>
            <a:ext cx="82296" cy="82296"/>
          </a:xfrm>
          <a:prstGeom prst="rect">
            <a:avLst/>
          </a:prstGeom>
          <a:solidFill>
            <a:srgbClr val="33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4114800"/>
            <a:ext cx="4709160" cy="365760"/>
          </a:xfrm>
          <a:prstGeom prst="rect">
            <a:avLst/>
          </a:prstGeom>
          <a:noFill/>
        </p:spPr>
        <p:txBody>
          <a:bodyPr wrap="square" anchor="t" lIns="0" rIns="0" tIns="0" bIns="0">
            <a:spAutoFit/>
          </a:bodyPr>
          <a:lstStyle/>
          <a:p>
            <a:pPr algn="l">
              <a:lnSpc>
                <a:spcPct val="115000"/>
              </a:lnSpc>
            </a:pPr>
            <a:r>
              <a:rPr sz="1350" b="0" i="0">
                <a:solidFill>
                  <a:srgbClr val="1C1730"/>
                </a:solidFill>
                <a:latin typeface="Calibri"/>
              </a:rPr>
              <a:t>Four key ideas, one at a time</a:t>
            </a:r>
          </a:p>
        </p:txBody>
      </p:sp>
      <p:sp>
        <p:nvSpPr>
          <p:cNvPr id="11" name="Rectangle 10"/>
          <p:cNvSpPr/>
          <p:nvPr/>
        </p:nvSpPr>
        <p:spPr>
          <a:xfrm>
            <a:off x="822960" y="4654296"/>
            <a:ext cx="82296" cy="82296"/>
          </a:xfrm>
          <a:prstGeom prst="rect">
            <a:avLst/>
          </a:prstGeom>
          <a:solidFill>
            <a:srgbClr val="33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572000"/>
            <a:ext cx="4709160" cy="365760"/>
          </a:xfrm>
          <a:prstGeom prst="rect">
            <a:avLst/>
          </a:prstGeom>
          <a:noFill/>
        </p:spPr>
        <p:txBody>
          <a:bodyPr wrap="square" anchor="t" lIns="0" rIns="0" tIns="0" bIns="0">
            <a:spAutoFit/>
          </a:bodyPr>
          <a:lstStyle/>
          <a:p>
            <a:pPr algn="l">
              <a:lnSpc>
                <a:spcPct val="115000"/>
              </a:lnSpc>
            </a:pPr>
            <a:r>
              <a:rPr sz="1350" b="0" i="0">
                <a:solidFill>
                  <a:srgbClr val="1C1730"/>
                </a:solidFill>
                <a:latin typeface="Calibri"/>
              </a:rPr>
              <a:t>A real, reproducible worked example</a:t>
            </a:r>
          </a:p>
        </p:txBody>
      </p:sp>
      <p:sp>
        <p:nvSpPr>
          <p:cNvPr id="13" name="Rectangle 12"/>
          <p:cNvSpPr/>
          <p:nvPr/>
        </p:nvSpPr>
        <p:spPr>
          <a:xfrm>
            <a:off x="6035040" y="4654296"/>
            <a:ext cx="82296" cy="82296"/>
          </a:xfrm>
          <a:prstGeom prst="rect">
            <a:avLst/>
          </a:prstGeom>
          <a:solidFill>
            <a:srgbClr val="33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3640" y="4572000"/>
            <a:ext cx="4709160" cy="365760"/>
          </a:xfrm>
          <a:prstGeom prst="rect">
            <a:avLst/>
          </a:prstGeom>
          <a:noFill/>
        </p:spPr>
        <p:txBody>
          <a:bodyPr wrap="square" anchor="t" lIns="0" rIns="0" tIns="0" bIns="0">
            <a:spAutoFit/>
          </a:bodyPr>
          <a:lstStyle/>
          <a:p>
            <a:pPr algn="l">
              <a:lnSpc>
                <a:spcPct val="115000"/>
              </a:lnSpc>
            </a:pPr>
            <a:r>
              <a:rPr sz="1350" b="0" i="0">
                <a:solidFill>
                  <a:srgbClr val="1C1730"/>
                </a:solidFill>
                <a:latin typeface="Calibri"/>
              </a:rPr>
              <a:t>Real-world uses beyond blockchain</a:t>
            </a:r>
          </a:p>
        </p:txBody>
      </p:sp>
      <p:sp>
        <p:nvSpPr>
          <p:cNvPr id="15" name="Rectangle 14"/>
          <p:cNvSpPr/>
          <p:nvPr/>
        </p:nvSpPr>
        <p:spPr>
          <a:xfrm>
            <a:off x="822960" y="5111496"/>
            <a:ext cx="82296" cy="82296"/>
          </a:xfrm>
          <a:prstGeom prst="rect">
            <a:avLst/>
          </a:prstGeom>
          <a:solidFill>
            <a:srgbClr val="33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029200"/>
            <a:ext cx="4709160" cy="365760"/>
          </a:xfrm>
          <a:prstGeom prst="rect">
            <a:avLst/>
          </a:prstGeom>
          <a:noFill/>
        </p:spPr>
        <p:txBody>
          <a:bodyPr wrap="square" anchor="t" lIns="0" rIns="0" tIns="0" bIns="0">
            <a:spAutoFit/>
          </a:bodyPr>
          <a:lstStyle/>
          <a:p>
            <a:pPr algn="l">
              <a:lnSpc>
                <a:spcPct val="115000"/>
              </a:lnSpc>
            </a:pPr>
            <a:r>
              <a:rPr sz="1350" b="0" i="0">
                <a:solidFill>
                  <a:srgbClr val="1C1730"/>
                </a:solidFill>
                <a:latin typeface="Calibri"/>
              </a:rPr>
              <a:t>A flagship case study</a:t>
            </a:r>
          </a:p>
        </p:txBody>
      </p:sp>
      <p:sp>
        <p:nvSpPr>
          <p:cNvPr id="17" name="Rectangle 16"/>
          <p:cNvSpPr/>
          <p:nvPr/>
        </p:nvSpPr>
        <p:spPr>
          <a:xfrm>
            <a:off x="6035040" y="5111496"/>
            <a:ext cx="82296" cy="82296"/>
          </a:xfrm>
          <a:prstGeom prst="rect">
            <a:avLst/>
          </a:prstGeom>
          <a:solidFill>
            <a:srgbClr val="33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3640" y="5029200"/>
            <a:ext cx="4709160" cy="365760"/>
          </a:xfrm>
          <a:prstGeom prst="rect">
            <a:avLst/>
          </a:prstGeom>
          <a:noFill/>
        </p:spPr>
        <p:txBody>
          <a:bodyPr wrap="square" anchor="t" lIns="0" rIns="0" tIns="0" bIns="0">
            <a:spAutoFit/>
          </a:bodyPr>
          <a:lstStyle/>
          <a:p>
            <a:pPr algn="l">
              <a:lnSpc>
                <a:spcPct val="115000"/>
              </a:lnSpc>
            </a:pPr>
            <a:r>
              <a:rPr sz="1350" b="0" i="0">
                <a:solidFill>
                  <a:srgbClr val="1C1730"/>
                </a:solidFill>
                <a:latin typeface="Calibri"/>
              </a:rPr>
              <a:t>A real-life analogy</a:t>
            </a:r>
          </a:p>
        </p:txBody>
      </p:sp>
      <p:sp>
        <p:nvSpPr>
          <p:cNvPr id="19" name="Rectangle 18"/>
          <p:cNvSpPr/>
          <p:nvPr/>
        </p:nvSpPr>
        <p:spPr>
          <a:xfrm>
            <a:off x="822960" y="5568696"/>
            <a:ext cx="82296" cy="82296"/>
          </a:xfrm>
          <a:prstGeom prst="rect">
            <a:avLst/>
          </a:prstGeom>
          <a:solidFill>
            <a:srgbClr val="33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5486400"/>
            <a:ext cx="4709160" cy="365760"/>
          </a:xfrm>
          <a:prstGeom prst="rect">
            <a:avLst/>
          </a:prstGeom>
          <a:noFill/>
        </p:spPr>
        <p:txBody>
          <a:bodyPr wrap="square" anchor="t" lIns="0" rIns="0" tIns="0" bIns="0">
            <a:spAutoFit/>
          </a:bodyPr>
          <a:lstStyle/>
          <a:p>
            <a:pPr algn="l">
              <a:lnSpc>
                <a:spcPct val="115000"/>
              </a:lnSpc>
            </a:pPr>
            <a:r>
              <a:rPr sz="1350" b="0" i="0">
                <a:solidFill>
                  <a:srgbClr val="1C1730"/>
                </a:solidFill>
                <a:latin typeface="Calibri"/>
              </a:rPr>
              <a:t>Common misconceptions</a:t>
            </a:r>
          </a:p>
        </p:txBody>
      </p:sp>
      <p:sp>
        <p:nvSpPr>
          <p:cNvPr id="21" name="Rectangle 20"/>
          <p:cNvSpPr/>
          <p:nvPr/>
        </p:nvSpPr>
        <p:spPr>
          <a:xfrm>
            <a:off x="6035040" y="5568696"/>
            <a:ext cx="82296" cy="82296"/>
          </a:xfrm>
          <a:prstGeom prst="rect">
            <a:avLst/>
          </a:prstGeom>
          <a:solidFill>
            <a:srgbClr val="33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5486400"/>
            <a:ext cx="4709160" cy="365760"/>
          </a:xfrm>
          <a:prstGeom prst="rect">
            <a:avLst/>
          </a:prstGeom>
          <a:noFill/>
        </p:spPr>
        <p:txBody>
          <a:bodyPr wrap="square" anchor="t" lIns="0" rIns="0" tIns="0" bIns="0">
            <a:spAutoFit/>
          </a:bodyPr>
          <a:lstStyle/>
          <a:p>
            <a:pPr algn="l">
              <a:lnSpc>
                <a:spcPct val="115000"/>
              </a:lnSpc>
            </a:pPr>
            <a:r>
              <a:rPr sz="1350" b="0" i="0">
                <a:solidFill>
                  <a:srgbClr val="1C1730"/>
                </a:solidFill>
                <a:latin typeface="Calibri"/>
              </a:rPr>
              <a:t>Hands-on practice</a:t>
            </a:r>
          </a:p>
        </p:txBody>
      </p:sp>
      <p:sp>
        <p:nvSpPr>
          <p:cNvPr id="23" name="Rectangle 22"/>
          <p:cNvSpPr/>
          <p:nvPr/>
        </p:nvSpPr>
        <p:spPr>
          <a:xfrm>
            <a:off x="822960" y="6025896"/>
            <a:ext cx="82296" cy="82296"/>
          </a:xfrm>
          <a:prstGeom prst="rect">
            <a:avLst/>
          </a:prstGeom>
          <a:solidFill>
            <a:srgbClr val="33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5943600"/>
            <a:ext cx="4709160" cy="365760"/>
          </a:xfrm>
          <a:prstGeom prst="rect">
            <a:avLst/>
          </a:prstGeom>
          <a:noFill/>
        </p:spPr>
        <p:txBody>
          <a:bodyPr wrap="square" anchor="t" lIns="0" rIns="0" tIns="0" bIns="0">
            <a:spAutoFit/>
          </a:bodyPr>
          <a:lstStyle/>
          <a:p>
            <a:pPr algn="l">
              <a:lnSpc>
                <a:spcPct val="115000"/>
              </a:lnSpc>
            </a:pPr>
            <a:r>
              <a:rPr sz="1350" b="0" i="0">
                <a:solidFill>
                  <a:srgbClr val="1C1730"/>
                </a:solidFill>
                <a:latin typeface="Calibri"/>
              </a:rPr>
              <a:t>Take-home assignment</a:t>
            </a:r>
          </a:p>
        </p:txBody>
      </p:sp>
      <p:sp>
        <p:nvSpPr>
          <p:cNvPr id="25" name="TextBox 24"/>
          <p:cNvSpPr txBox="1"/>
          <p:nvPr/>
        </p:nvSpPr>
        <p:spPr>
          <a:xfrm>
            <a:off x="9966960" y="502920"/>
            <a:ext cx="1371600" cy="320040"/>
          </a:xfrm>
          <a:prstGeom prst="rect">
            <a:avLst/>
          </a:prstGeom>
          <a:noFill/>
        </p:spPr>
        <p:txBody>
          <a:bodyPr wrap="square" anchor="t" lIns="0" rIns="0" tIns="0" bIns="0">
            <a:spAutoFit/>
          </a:bodyPr>
          <a:lstStyle/>
          <a:p>
            <a:pPr algn="r">
              <a:lnSpc>
                <a:spcPct val="115000"/>
              </a:lnSpc>
            </a:pPr>
            <a:r>
              <a:rPr sz="1100" b="1" i="0">
                <a:solidFill>
                  <a:srgbClr val="5C576E"/>
                </a:solidFill>
                <a:latin typeface="Consolas"/>
              </a:rPr>
              <a:t>02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058400" cy="365760"/>
          </a:xfrm>
          <a:prstGeom prst="rect">
            <a:avLst/>
          </a:prstGeom>
          <a:noFill/>
        </p:spPr>
        <p:txBody>
          <a:bodyPr wrap="square" anchor="t" lIns="0" rIns="0" tIns="0" bIns="0">
            <a:spAutoFit/>
          </a:bodyPr>
          <a:lstStyle/>
          <a:p>
            <a:pPr algn="l">
              <a:lnSpc>
                <a:spcPct val="115000"/>
              </a:lnSpc>
            </a:pPr>
            <a:r>
              <a:rPr sz="1300" b="1" i="0">
                <a:solidFill>
                  <a:srgbClr val="33506A"/>
                </a:solidFill>
                <a:latin typeface="Calibri"/>
              </a:rPr>
              <a:t>TOPIC 03 — BLOCKS &amp; CHAINS</a:t>
            </a:r>
          </a:p>
        </p:txBody>
      </p:sp>
      <p:sp>
        <p:nvSpPr>
          <p:cNvPr id="4" name="TextBox 3"/>
          <p:cNvSpPr txBox="1"/>
          <p:nvPr/>
        </p:nvSpPr>
        <p:spPr>
          <a:xfrm>
            <a:off x="822960" y="1097280"/>
            <a:ext cx="9601200" cy="1005840"/>
          </a:xfrm>
          <a:prstGeom prst="rect">
            <a:avLst/>
          </a:prstGeom>
          <a:noFill/>
        </p:spPr>
        <p:txBody>
          <a:bodyPr wrap="square" anchor="t" lIns="0" rIns="0" tIns="0" bIns="0">
            <a:spAutoFit/>
          </a:bodyPr>
          <a:lstStyle/>
          <a:p>
            <a:pPr algn="l">
              <a:lnSpc>
                <a:spcPct val="105000"/>
              </a:lnSpc>
            </a:pPr>
            <a:r>
              <a:rPr sz="3400" b="1" i="0">
                <a:solidFill>
                  <a:srgbClr val="1C1730"/>
                </a:solidFill>
                <a:latin typeface="Century Gothic"/>
              </a:rPr>
              <a:t>The Core Concept</a:t>
            </a:r>
          </a:p>
        </p:txBody>
      </p:sp>
      <p:sp>
        <p:nvSpPr>
          <p:cNvPr id="5" name="Rounded Rectangle 4"/>
          <p:cNvSpPr/>
          <p:nvPr/>
        </p:nvSpPr>
        <p:spPr>
          <a:xfrm>
            <a:off x="822960" y="2286000"/>
            <a:ext cx="10515600" cy="32918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2286000"/>
            <a:ext cx="91440" cy="3291840"/>
          </a:xfrm>
          <a:prstGeom prst="rect">
            <a:avLst/>
          </a:prstGeom>
          <a:solidFill>
            <a:srgbClr val="33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2697480"/>
            <a:ext cx="9601200" cy="2560320"/>
          </a:xfrm>
          <a:prstGeom prst="rect">
            <a:avLst/>
          </a:prstGeom>
          <a:noFill/>
        </p:spPr>
        <p:txBody>
          <a:bodyPr wrap="square" anchor="t" lIns="0" rIns="0" tIns="0" bIns="0">
            <a:spAutoFit/>
          </a:bodyPr>
          <a:lstStyle/>
          <a:p>
            <a:pPr algn="l">
              <a:lnSpc>
                <a:spcPct val="155000"/>
              </a:lnSpc>
            </a:pPr>
            <a:r>
              <a:rPr sz="2000" b="0" i="0">
                <a:solidFill>
                  <a:srgbClr val="1C1730"/>
                </a:solidFill>
                <a:latin typeface="Calibri"/>
              </a:rPr>
              <a:t>A block is a batch of transactions plus metadata — critically, the hash of the block before it. Because of the avalanche effect from Topic 01, editing an old block changes its hash, which breaks every block chained after it. That domino effect is the entire trick.</a:t>
            </a:r>
          </a:p>
        </p:txBody>
      </p:sp>
      <p:sp>
        <p:nvSpPr>
          <p:cNvPr id="8" name="TextBox 7"/>
          <p:cNvSpPr txBox="1"/>
          <p:nvPr/>
        </p:nvSpPr>
        <p:spPr>
          <a:xfrm>
            <a:off x="9966960" y="502920"/>
            <a:ext cx="1371600" cy="320040"/>
          </a:xfrm>
          <a:prstGeom prst="rect">
            <a:avLst/>
          </a:prstGeom>
          <a:noFill/>
        </p:spPr>
        <p:txBody>
          <a:bodyPr wrap="square" anchor="t" lIns="0" rIns="0" tIns="0" bIns="0">
            <a:spAutoFit/>
          </a:bodyPr>
          <a:lstStyle/>
          <a:p>
            <a:pPr algn="r">
              <a:lnSpc>
                <a:spcPct val="115000"/>
              </a:lnSpc>
            </a:pPr>
            <a:r>
              <a:rPr sz="1100" b="1" i="0">
                <a:solidFill>
                  <a:srgbClr val="5C576E"/>
                </a:solidFill>
                <a:latin typeface="Consolas"/>
              </a:rPr>
              <a:t>03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058400" cy="365760"/>
          </a:xfrm>
          <a:prstGeom prst="rect">
            <a:avLst/>
          </a:prstGeom>
          <a:noFill/>
        </p:spPr>
        <p:txBody>
          <a:bodyPr wrap="square" anchor="t" lIns="0" rIns="0" tIns="0" bIns="0">
            <a:spAutoFit/>
          </a:bodyPr>
          <a:lstStyle/>
          <a:p>
            <a:pPr algn="l">
              <a:lnSpc>
                <a:spcPct val="115000"/>
              </a:lnSpc>
            </a:pPr>
            <a:r>
              <a:rPr sz="1300" b="1" i="0">
                <a:solidFill>
                  <a:srgbClr val="33506A"/>
                </a:solidFill>
                <a:latin typeface="Calibri"/>
              </a:rPr>
              <a:t>TOPIC 03 — BLOCKS &amp; CHAINS</a:t>
            </a:r>
          </a:p>
        </p:txBody>
      </p:sp>
      <p:sp>
        <p:nvSpPr>
          <p:cNvPr id="4" name="TextBox 3"/>
          <p:cNvSpPr txBox="1"/>
          <p:nvPr/>
        </p:nvSpPr>
        <p:spPr>
          <a:xfrm>
            <a:off x="8503920" y="640080"/>
            <a:ext cx="2834640" cy="365760"/>
          </a:xfrm>
          <a:prstGeom prst="rect">
            <a:avLst/>
          </a:prstGeom>
          <a:noFill/>
        </p:spPr>
        <p:txBody>
          <a:bodyPr wrap="square" anchor="t" lIns="0" rIns="0" tIns="0" bIns="0">
            <a:spAutoFit/>
          </a:bodyPr>
          <a:lstStyle/>
          <a:p>
            <a:pPr algn="r">
              <a:lnSpc>
                <a:spcPct val="115000"/>
              </a:lnSpc>
            </a:pPr>
            <a:r>
              <a:rPr sz="1200" b="1" i="0">
                <a:solidFill>
                  <a:srgbClr val="5C576E"/>
                </a:solidFill>
                <a:latin typeface="Calibri"/>
              </a:rPr>
              <a:t>KEY IDEA 1 / 4</a:t>
            </a:r>
          </a:p>
        </p:txBody>
      </p:sp>
      <p:sp>
        <p:nvSpPr>
          <p:cNvPr id="5" name="TextBox 4"/>
          <p:cNvSpPr txBox="1"/>
          <p:nvPr/>
        </p:nvSpPr>
        <p:spPr>
          <a:xfrm>
            <a:off x="822960" y="1097280"/>
            <a:ext cx="9601200" cy="1005840"/>
          </a:xfrm>
          <a:prstGeom prst="rect">
            <a:avLst/>
          </a:prstGeom>
          <a:noFill/>
        </p:spPr>
        <p:txBody>
          <a:bodyPr wrap="square" anchor="t" lIns="0" rIns="0" tIns="0" bIns="0">
            <a:spAutoFit/>
          </a:bodyPr>
          <a:lstStyle/>
          <a:p>
            <a:pPr algn="l">
              <a:lnSpc>
                <a:spcPct val="105000"/>
              </a:lnSpc>
            </a:pPr>
            <a:r>
              <a:rPr sz="3200" b="1" i="0">
                <a:solidFill>
                  <a:srgbClr val="1C1730"/>
                </a:solidFill>
                <a:latin typeface="Century Gothic"/>
              </a:rPr>
              <a:t>Timestamp &amp; Transactions</a:t>
            </a:r>
          </a:p>
        </p:txBody>
      </p:sp>
      <p:sp>
        <p:nvSpPr>
          <p:cNvPr id="6" name="TextBox 5"/>
          <p:cNvSpPr txBox="1"/>
          <p:nvPr/>
        </p:nvSpPr>
        <p:spPr>
          <a:xfrm>
            <a:off x="822960" y="2148840"/>
            <a:ext cx="9875520" cy="2011680"/>
          </a:xfrm>
          <a:prstGeom prst="rect">
            <a:avLst/>
          </a:prstGeom>
          <a:noFill/>
        </p:spPr>
        <p:txBody>
          <a:bodyPr wrap="square" anchor="t" lIns="0" rIns="0" tIns="0" bIns="0">
            <a:spAutoFit/>
          </a:bodyPr>
          <a:lstStyle/>
          <a:p>
            <a:pPr algn="l">
              <a:lnSpc>
                <a:spcPct val="150000"/>
              </a:lnSpc>
            </a:pPr>
            <a:r>
              <a:rPr sz="1650" b="0" i="0">
                <a:solidFill>
                  <a:srgbClr val="1C1730"/>
                </a:solidFill>
                <a:latin typeface="Calibri"/>
              </a:rPr>
              <a:t>Every block records when it was created, plus the batch of transaction data it holds — Ethereum groups a new batch roughly every 12 seconds.</a:t>
            </a:r>
          </a:p>
        </p:txBody>
      </p:sp>
      <p:sp>
        <p:nvSpPr>
          <p:cNvPr id="7" name="Rounded Rectangle 6"/>
          <p:cNvSpPr/>
          <p:nvPr/>
        </p:nvSpPr>
        <p:spPr>
          <a:xfrm>
            <a:off x="822960" y="4434840"/>
            <a:ext cx="10515600" cy="1280160"/>
          </a:xfrm>
          <a:prstGeom prst="roundRect">
            <a:avLst>
              <a:gd name="adj" fmla="val 6000"/>
            </a:avLst>
          </a:prstGeom>
          <a:solidFill>
            <a:srgbClr val="EAE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4617720"/>
            <a:ext cx="9875520" cy="320040"/>
          </a:xfrm>
          <a:prstGeom prst="rect">
            <a:avLst/>
          </a:prstGeom>
          <a:noFill/>
        </p:spPr>
        <p:txBody>
          <a:bodyPr wrap="square" anchor="t" lIns="0" rIns="0" tIns="0" bIns="0">
            <a:spAutoFit/>
          </a:bodyPr>
          <a:lstStyle/>
          <a:p>
            <a:pPr algn="l">
              <a:lnSpc>
                <a:spcPct val="115000"/>
              </a:lnSpc>
            </a:pPr>
            <a:r>
              <a:rPr sz="1100" b="1" i="0">
                <a:solidFill>
                  <a:srgbClr val="33506A"/>
                </a:solidFill>
                <a:latin typeface="Calibri"/>
              </a:rPr>
              <a:t>EXAMPLE</a:t>
            </a:r>
          </a:p>
        </p:txBody>
      </p:sp>
      <p:sp>
        <p:nvSpPr>
          <p:cNvPr id="9" name="TextBox 8"/>
          <p:cNvSpPr txBox="1"/>
          <p:nvPr/>
        </p:nvSpPr>
        <p:spPr>
          <a:xfrm>
            <a:off x="1143000" y="4956048"/>
            <a:ext cx="9875520" cy="640080"/>
          </a:xfrm>
          <a:prstGeom prst="rect">
            <a:avLst/>
          </a:prstGeom>
          <a:noFill/>
        </p:spPr>
        <p:txBody>
          <a:bodyPr wrap="square" anchor="t" lIns="0" rIns="0" tIns="0" bIns="0">
            <a:spAutoFit/>
          </a:bodyPr>
          <a:lstStyle/>
          <a:p>
            <a:pPr algn="l">
              <a:lnSpc>
                <a:spcPct val="130000"/>
              </a:lnSpc>
            </a:pPr>
            <a:r>
              <a:rPr sz="1400" b="0" i="0">
                <a:solidFill>
                  <a:srgbClr val="1C1730"/>
                </a:solidFill>
                <a:latin typeface="Consolas"/>
              </a:rPr>
              <a:t>One block ≈ hundreds of transactions, bundled together.</a:t>
            </a:r>
          </a:p>
        </p:txBody>
      </p:sp>
      <p:sp>
        <p:nvSpPr>
          <p:cNvPr id="10" name="TextBox 9"/>
          <p:cNvSpPr txBox="1"/>
          <p:nvPr/>
        </p:nvSpPr>
        <p:spPr>
          <a:xfrm>
            <a:off x="9966960" y="502920"/>
            <a:ext cx="1371600" cy="320040"/>
          </a:xfrm>
          <a:prstGeom prst="rect">
            <a:avLst/>
          </a:prstGeom>
          <a:noFill/>
        </p:spPr>
        <p:txBody>
          <a:bodyPr wrap="square" anchor="t" lIns="0" rIns="0" tIns="0" bIns="0">
            <a:spAutoFit/>
          </a:bodyPr>
          <a:lstStyle/>
          <a:p>
            <a:pPr algn="r">
              <a:lnSpc>
                <a:spcPct val="115000"/>
              </a:lnSpc>
            </a:pPr>
            <a:r>
              <a:rPr sz="1100" b="1" i="0">
                <a:solidFill>
                  <a:srgbClr val="5C576E"/>
                </a:solidFill>
                <a:latin typeface="Consolas"/>
              </a:rPr>
              <a:t>04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058400" cy="365760"/>
          </a:xfrm>
          <a:prstGeom prst="rect">
            <a:avLst/>
          </a:prstGeom>
          <a:noFill/>
        </p:spPr>
        <p:txBody>
          <a:bodyPr wrap="square" anchor="t" lIns="0" rIns="0" tIns="0" bIns="0">
            <a:spAutoFit/>
          </a:bodyPr>
          <a:lstStyle/>
          <a:p>
            <a:pPr algn="l">
              <a:lnSpc>
                <a:spcPct val="115000"/>
              </a:lnSpc>
            </a:pPr>
            <a:r>
              <a:rPr sz="1300" b="1" i="0">
                <a:solidFill>
                  <a:srgbClr val="33506A"/>
                </a:solidFill>
                <a:latin typeface="Calibri"/>
              </a:rPr>
              <a:t>TOPIC 03 — BLOCKS &amp; CHAINS</a:t>
            </a:r>
          </a:p>
        </p:txBody>
      </p:sp>
      <p:sp>
        <p:nvSpPr>
          <p:cNvPr id="4" name="TextBox 3"/>
          <p:cNvSpPr txBox="1"/>
          <p:nvPr/>
        </p:nvSpPr>
        <p:spPr>
          <a:xfrm>
            <a:off x="8503920" y="640080"/>
            <a:ext cx="2834640" cy="365760"/>
          </a:xfrm>
          <a:prstGeom prst="rect">
            <a:avLst/>
          </a:prstGeom>
          <a:noFill/>
        </p:spPr>
        <p:txBody>
          <a:bodyPr wrap="square" anchor="t" lIns="0" rIns="0" tIns="0" bIns="0">
            <a:spAutoFit/>
          </a:bodyPr>
          <a:lstStyle/>
          <a:p>
            <a:pPr algn="r">
              <a:lnSpc>
                <a:spcPct val="115000"/>
              </a:lnSpc>
            </a:pPr>
            <a:r>
              <a:rPr sz="1200" b="1" i="0">
                <a:solidFill>
                  <a:srgbClr val="5C576E"/>
                </a:solidFill>
                <a:latin typeface="Calibri"/>
              </a:rPr>
              <a:t>KEY IDEA 2 / 4</a:t>
            </a:r>
          </a:p>
        </p:txBody>
      </p:sp>
      <p:sp>
        <p:nvSpPr>
          <p:cNvPr id="5" name="TextBox 4"/>
          <p:cNvSpPr txBox="1"/>
          <p:nvPr/>
        </p:nvSpPr>
        <p:spPr>
          <a:xfrm>
            <a:off x="822960" y="1097280"/>
            <a:ext cx="9601200" cy="1005840"/>
          </a:xfrm>
          <a:prstGeom prst="rect">
            <a:avLst/>
          </a:prstGeom>
          <a:noFill/>
        </p:spPr>
        <p:txBody>
          <a:bodyPr wrap="square" anchor="t" lIns="0" rIns="0" tIns="0" bIns="0">
            <a:spAutoFit/>
          </a:bodyPr>
          <a:lstStyle/>
          <a:p>
            <a:pPr algn="l">
              <a:lnSpc>
                <a:spcPct val="105000"/>
              </a:lnSpc>
            </a:pPr>
            <a:r>
              <a:rPr sz="3200" b="1" i="0">
                <a:solidFill>
                  <a:srgbClr val="1C1730"/>
                </a:solidFill>
                <a:latin typeface="Century Gothic"/>
              </a:rPr>
              <a:t>Previous Hash</a:t>
            </a:r>
          </a:p>
        </p:txBody>
      </p:sp>
      <p:sp>
        <p:nvSpPr>
          <p:cNvPr id="6" name="TextBox 5"/>
          <p:cNvSpPr txBox="1"/>
          <p:nvPr/>
        </p:nvSpPr>
        <p:spPr>
          <a:xfrm>
            <a:off x="822960" y="2148840"/>
            <a:ext cx="9875520" cy="2011680"/>
          </a:xfrm>
          <a:prstGeom prst="rect">
            <a:avLst/>
          </a:prstGeom>
          <a:noFill/>
        </p:spPr>
        <p:txBody>
          <a:bodyPr wrap="square" anchor="t" lIns="0" rIns="0" tIns="0" bIns="0">
            <a:spAutoFit/>
          </a:bodyPr>
          <a:lstStyle/>
          <a:p>
            <a:pPr algn="l">
              <a:lnSpc>
                <a:spcPct val="150000"/>
              </a:lnSpc>
            </a:pPr>
            <a:r>
              <a:rPr sz="1650" b="0" i="0">
                <a:solidFill>
                  <a:srgbClr val="1C1730"/>
                </a:solidFill>
                <a:latin typeface="Calibri"/>
              </a:rPr>
              <a:t>The literal link to the block directly before it. This single field is what makes it a "chain" at all, rather than just a list of unconnected blocks.</a:t>
            </a:r>
          </a:p>
        </p:txBody>
      </p:sp>
      <p:sp>
        <p:nvSpPr>
          <p:cNvPr id="7" name="Rounded Rectangle 6"/>
          <p:cNvSpPr/>
          <p:nvPr/>
        </p:nvSpPr>
        <p:spPr>
          <a:xfrm>
            <a:off x="822960" y="4434840"/>
            <a:ext cx="10515600" cy="1280160"/>
          </a:xfrm>
          <a:prstGeom prst="roundRect">
            <a:avLst>
              <a:gd name="adj" fmla="val 6000"/>
            </a:avLst>
          </a:prstGeom>
          <a:solidFill>
            <a:srgbClr val="EAE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4617720"/>
            <a:ext cx="9875520" cy="320040"/>
          </a:xfrm>
          <a:prstGeom prst="rect">
            <a:avLst/>
          </a:prstGeom>
          <a:noFill/>
        </p:spPr>
        <p:txBody>
          <a:bodyPr wrap="square" anchor="t" lIns="0" rIns="0" tIns="0" bIns="0">
            <a:spAutoFit/>
          </a:bodyPr>
          <a:lstStyle/>
          <a:p>
            <a:pPr algn="l">
              <a:lnSpc>
                <a:spcPct val="115000"/>
              </a:lnSpc>
            </a:pPr>
            <a:r>
              <a:rPr sz="1100" b="1" i="0">
                <a:solidFill>
                  <a:srgbClr val="33506A"/>
                </a:solidFill>
                <a:latin typeface="Calibri"/>
              </a:rPr>
              <a:t>EXAMPLE</a:t>
            </a:r>
          </a:p>
        </p:txBody>
      </p:sp>
      <p:sp>
        <p:nvSpPr>
          <p:cNvPr id="9" name="TextBox 8"/>
          <p:cNvSpPr txBox="1"/>
          <p:nvPr/>
        </p:nvSpPr>
        <p:spPr>
          <a:xfrm>
            <a:off x="1143000" y="4956048"/>
            <a:ext cx="9875520" cy="640080"/>
          </a:xfrm>
          <a:prstGeom prst="rect">
            <a:avLst/>
          </a:prstGeom>
          <a:noFill/>
        </p:spPr>
        <p:txBody>
          <a:bodyPr wrap="square" anchor="t" lIns="0" rIns="0" tIns="0" bIns="0">
            <a:spAutoFit/>
          </a:bodyPr>
          <a:lstStyle/>
          <a:p>
            <a:pPr algn="l">
              <a:lnSpc>
                <a:spcPct val="130000"/>
              </a:lnSpc>
            </a:pPr>
            <a:r>
              <a:rPr sz="1400" b="0" i="0">
                <a:solidFill>
                  <a:srgbClr val="1C1730"/>
                </a:solidFill>
                <a:latin typeface="Consolas"/>
              </a:rPr>
              <a:t>Block #101's data includes: prevHash = hash(Block #100)</a:t>
            </a:r>
          </a:p>
        </p:txBody>
      </p:sp>
      <p:sp>
        <p:nvSpPr>
          <p:cNvPr id="10" name="TextBox 9"/>
          <p:cNvSpPr txBox="1"/>
          <p:nvPr/>
        </p:nvSpPr>
        <p:spPr>
          <a:xfrm>
            <a:off x="9966960" y="502920"/>
            <a:ext cx="1371600" cy="320040"/>
          </a:xfrm>
          <a:prstGeom prst="rect">
            <a:avLst/>
          </a:prstGeom>
          <a:noFill/>
        </p:spPr>
        <p:txBody>
          <a:bodyPr wrap="square" anchor="t" lIns="0" rIns="0" tIns="0" bIns="0">
            <a:spAutoFit/>
          </a:bodyPr>
          <a:lstStyle/>
          <a:p>
            <a:pPr algn="r">
              <a:lnSpc>
                <a:spcPct val="115000"/>
              </a:lnSpc>
            </a:pPr>
            <a:r>
              <a:rPr sz="1100" b="1" i="0">
                <a:solidFill>
                  <a:srgbClr val="5C576E"/>
                </a:solidFill>
                <a:latin typeface="Consolas"/>
              </a:rPr>
              <a:t>05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058400" cy="365760"/>
          </a:xfrm>
          <a:prstGeom prst="rect">
            <a:avLst/>
          </a:prstGeom>
          <a:noFill/>
        </p:spPr>
        <p:txBody>
          <a:bodyPr wrap="square" anchor="t" lIns="0" rIns="0" tIns="0" bIns="0">
            <a:spAutoFit/>
          </a:bodyPr>
          <a:lstStyle/>
          <a:p>
            <a:pPr algn="l">
              <a:lnSpc>
                <a:spcPct val="115000"/>
              </a:lnSpc>
            </a:pPr>
            <a:r>
              <a:rPr sz="1300" b="1" i="0">
                <a:solidFill>
                  <a:srgbClr val="33506A"/>
                </a:solidFill>
                <a:latin typeface="Calibri"/>
              </a:rPr>
              <a:t>TOPIC 03 — BLOCKS &amp; CHAINS</a:t>
            </a:r>
          </a:p>
        </p:txBody>
      </p:sp>
      <p:sp>
        <p:nvSpPr>
          <p:cNvPr id="4" name="TextBox 3"/>
          <p:cNvSpPr txBox="1"/>
          <p:nvPr/>
        </p:nvSpPr>
        <p:spPr>
          <a:xfrm>
            <a:off x="8503920" y="640080"/>
            <a:ext cx="2834640" cy="365760"/>
          </a:xfrm>
          <a:prstGeom prst="rect">
            <a:avLst/>
          </a:prstGeom>
          <a:noFill/>
        </p:spPr>
        <p:txBody>
          <a:bodyPr wrap="square" anchor="t" lIns="0" rIns="0" tIns="0" bIns="0">
            <a:spAutoFit/>
          </a:bodyPr>
          <a:lstStyle/>
          <a:p>
            <a:pPr algn="r">
              <a:lnSpc>
                <a:spcPct val="115000"/>
              </a:lnSpc>
            </a:pPr>
            <a:r>
              <a:rPr sz="1200" b="1" i="0">
                <a:solidFill>
                  <a:srgbClr val="5C576E"/>
                </a:solidFill>
                <a:latin typeface="Calibri"/>
              </a:rPr>
              <a:t>KEY IDEA 3 / 4</a:t>
            </a:r>
          </a:p>
        </p:txBody>
      </p:sp>
      <p:sp>
        <p:nvSpPr>
          <p:cNvPr id="5" name="TextBox 4"/>
          <p:cNvSpPr txBox="1"/>
          <p:nvPr/>
        </p:nvSpPr>
        <p:spPr>
          <a:xfrm>
            <a:off x="822960" y="1097280"/>
            <a:ext cx="9601200" cy="1005840"/>
          </a:xfrm>
          <a:prstGeom prst="rect">
            <a:avLst/>
          </a:prstGeom>
          <a:noFill/>
        </p:spPr>
        <p:txBody>
          <a:bodyPr wrap="square" anchor="t" lIns="0" rIns="0" tIns="0" bIns="0">
            <a:spAutoFit/>
          </a:bodyPr>
          <a:lstStyle/>
          <a:p>
            <a:pPr algn="l">
              <a:lnSpc>
                <a:spcPct val="105000"/>
              </a:lnSpc>
            </a:pPr>
            <a:r>
              <a:rPr sz="3200" b="1" i="0">
                <a:solidFill>
                  <a:srgbClr val="1C1730"/>
                </a:solidFill>
                <a:latin typeface="Century Gothic"/>
              </a:rPr>
              <a:t>Own Hash</a:t>
            </a:r>
          </a:p>
        </p:txBody>
      </p:sp>
      <p:sp>
        <p:nvSpPr>
          <p:cNvPr id="6" name="TextBox 5"/>
          <p:cNvSpPr txBox="1"/>
          <p:nvPr/>
        </p:nvSpPr>
        <p:spPr>
          <a:xfrm>
            <a:off x="822960" y="2148840"/>
            <a:ext cx="9875520" cy="2011680"/>
          </a:xfrm>
          <a:prstGeom prst="rect">
            <a:avLst/>
          </a:prstGeom>
          <a:noFill/>
        </p:spPr>
        <p:txBody>
          <a:bodyPr wrap="square" anchor="t" lIns="0" rIns="0" tIns="0" bIns="0">
            <a:spAutoFit/>
          </a:bodyPr>
          <a:lstStyle/>
          <a:p>
            <a:pPr algn="l">
              <a:lnSpc>
                <a:spcPct val="150000"/>
              </a:lnSpc>
            </a:pPr>
            <a:r>
              <a:rPr sz="1650" b="0" i="0">
                <a:solidFill>
                  <a:srgbClr val="1C1730"/>
                </a:solidFill>
                <a:latin typeface="Calibri"/>
              </a:rPr>
              <a:t>Computed from everything inside the block — including the previous hash. This is where the avalanche effect from Topic 01 creates the domino effect that makes tampering detectable.</a:t>
            </a:r>
          </a:p>
        </p:txBody>
      </p:sp>
      <p:sp>
        <p:nvSpPr>
          <p:cNvPr id="7" name="Rounded Rectangle 6"/>
          <p:cNvSpPr/>
          <p:nvPr/>
        </p:nvSpPr>
        <p:spPr>
          <a:xfrm>
            <a:off x="822960" y="4434840"/>
            <a:ext cx="10515600" cy="1280160"/>
          </a:xfrm>
          <a:prstGeom prst="roundRect">
            <a:avLst>
              <a:gd name="adj" fmla="val 6000"/>
            </a:avLst>
          </a:prstGeom>
          <a:solidFill>
            <a:srgbClr val="EAE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4617720"/>
            <a:ext cx="9875520" cy="320040"/>
          </a:xfrm>
          <a:prstGeom prst="rect">
            <a:avLst/>
          </a:prstGeom>
          <a:noFill/>
        </p:spPr>
        <p:txBody>
          <a:bodyPr wrap="square" anchor="t" lIns="0" rIns="0" tIns="0" bIns="0">
            <a:spAutoFit/>
          </a:bodyPr>
          <a:lstStyle/>
          <a:p>
            <a:pPr algn="l">
              <a:lnSpc>
                <a:spcPct val="115000"/>
              </a:lnSpc>
            </a:pPr>
            <a:r>
              <a:rPr sz="1100" b="1" i="0">
                <a:solidFill>
                  <a:srgbClr val="33506A"/>
                </a:solidFill>
                <a:latin typeface="Calibri"/>
              </a:rPr>
              <a:t>EXAMPLE</a:t>
            </a:r>
          </a:p>
        </p:txBody>
      </p:sp>
      <p:sp>
        <p:nvSpPr>
          <p:cNvPr id="9" name="TextBox 8"/>
          <p:cNvSpPr txBox="1"/>
          <p:nvPr/>
        </p:nvSpPr>
        <p:spPr>
          <a:xfrm>
            <a:off x="1143000" y="4956048"/>
            <a:ext cx="9875520" cy="640080"/>
          </a:xfrm>
          <a:prstGeom prst="rect">
            <a:avLst/>
          </a:prstGeom>
          <a:noFill/>
        </p:spPr>
        <p:txBody>
          <a:bodyPr wrap="square" anchor="t" lIns="0" rIns="0" tIns="0" bIns="0">
            <a:spAutoFit/>
          </a:bodyPr>
          <a:lstStyle/>
          <a:p>
            <a:pPr algn="l">
              <a:lnSpc>
                <a:spcPct val="130000"/>
              </a:lnSpc>
            </a:pPr>
            <a:r>
              <a:rPr sz="1400" b="0" i="0">
                <a:solidFill>
                  <a:srgbClr val="1C1730"/>
                </a:solidFill>
                <a:latin typeface="Consolas"/>
              </a:rPr>
              <a:t>hash(Block #100) = hash(transactions + prevHash + timestamp)</a:t>
            </a:r>
          </a:p>
        </p:txBody>
      </p:sp>
      <p:sp>
        <p:nvSpPr>
          <p:cNvPr id="10" name="TextBox 9"/>
          <p:cNvSpPr txBox="1"/>
          <p:nvPr/>
        </p:nvSpPr>
        <p:spPr>
          <a:xfrm>
            <a:off x="9966960" y="502920"/>
            <a:ext cx="1371600" cy="320040"/>
          </a:xfrm>
          <a:prstGeom prst="rect">
            <a:avLst/>
          </a:prstGeom>
          <a:noFill/>
        </p:spPr>
        <p:txBody>
          <a:bodyPr wrap="square" anchor="t" lIns="0" rIns="0" tIns="0" bIns="0">
            <a:spAutoFit/>
          </a:bodyPr>
          <a:lstStyle/>
          <a:p>
            <a:pPr algn="r">
              <a:lnSpc>
                <a:spcPct val="115000"/>
              </a:lnSpc>
            </a:pPr>
            <a:r>
              <a:rPr sz="1100" b="1" i="0">
                <a:solidFill>
                  <a:srgbClr val="5C576E"/>
                </a:solidFill>
                <a:latin typeface="Consolas"/>
              </a:rPr>
              <a:t>06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058400" cy="365760"/>
          </a:xfrm>
          <a:prstGeom prst="rect">
            <a:avLst/>
          </a:prstGeom>
          <a:noFill/>
        </p:spPr>
        <p:txBody>
          <a:bodyPr wrap="square" anchor="t" lIns="0" rIns="0" tIns="0" bIns="0">
            <a:spAutoFit/>
          </a:bodyPr>
          <a:lstStyle/>
          <a:p>
            <a:pPr algn="l">
              <a:lnSpc>
                <a:spcPct val="115000"/>
              </a:lnSpc>
            </a:pPr>
            <a:r>
              <a:rPr sz="1300" b="1" i="0">
                <a:solidFill>
                  <a:srgbClr val="33506A"/>
                </a:solidFill>
                <a:latin typeface="Calibri"/>
              </a:rPr>
              <a:t>TOPIC 03 — BLOCKS &amp; CHAINS</a:t>
            </a:r>
          </a:p>
        </p:txBody>
      </p:sp>
      <p:sp>
        <p:nvSpPr>
          <p:cNvPr id="4" name="TextBox 3"/>
          <p:cNvSpPr txBox="1"/>
          <p:nvPr/>
        </p:nvSpPr>
        <p:spPr>
          <a:xfrm>
            <a:off x="8503920" y="640080"/>
            <a:ext cx="2834640" cy="365760"/>
          </a:xfrm>
          <a:prstGeom prst="rect">
            <a:avLst/>
          </a:prstGeom>
          <a:noFill/>
        </p:spPr>
        <p:txBody>
          <a:bodyPr wrap="square" anchor="t" lIns="0" rIns="0" tIns="0" bIns="0">
            <a:spAutoFit/>
          </a:bodyPr>
          <a:lstStyle/>
          <a:p>
            <a:pPr algn="r">
              <a:lnSpc>
                <a:spcPct val="115000"/>
              </a:lnSpc>
            </a:pPr>
            <a:r>
              <a:rPr sz="1200" b="1" i="0">
                <a:solidFill>
                  <a:srgbClr val="5C576E"/>
                </a:solidFill>
                <a:latin typeface="Calibri"/>
              </a:rPr>
              <a:t>KEY IDEA 4 / 4</a:t>
            </a:r>
          </a:p>
        </p:txBody>
      </p:sp>
      <p:sp>
        <p:nvSpPr>
          <p:cNvPr id="5" name="TextBox 4"/>
          <p:cNvSpPr txBox="1"/>
          <p:nvPr/>
        </p:nvSpPr>
        <p:spPr>
          <a:xfrm>
            <a:off x="822960" y="1097280"/>
            <a:ext cx="9601200" cy="1005840"/>
          </a:xfrm>
          <a:prstGeom prst="rect">
            <a:avLst/>
          </a:prstGeom>
          <a:noFill/>
        </p:spPr>
        <p:txBody>
          <a:bodyPr wrap="square" anchor="t" lIns="0" rIns="0" tIns="0" bIns="0">
            <a:spAutoFit/>
          </a:bodyPr>
          <a:lstStyle/>
          <a:p>
            <a:pPr algn="l">
              <a:lnSpc>
                <a:spcPct val="105000"/>
              </a:lnSpc>
            </a:pPr>
            <a:r>
              <a:rPr sz="3200" b="1" i="0">
                <a:solidFill>
                  <a:srgbClr val="1C1730"/>
                </a:solidFill>
                <a:latin typeface="Century Gothic"/>
              </a:rPr>
              <a:t>Confirmations</a:t>
            </a:r>
          </a:p>
        </p:txBody>
      </p:sp>
      <p:sp>
        <p:nvSpPr>
          <p:cNvPr id="6" name="TextBox 5"/>
          <p:cNvSpPr txBox="1"/>
          <p:nvPr/>
        </p:nvSpPr>
        <p:spPr>
          <a:xfrm>
            <a:off x="822960" y="2148840"/>
            <a:ext cx="9875520" cy="2011680"/>
          </a:xfrm>
          <a:prstGeom prst="rect">
            <a:avLst/>
          </a:prstGeom>
          <a:noFill/>
        </p:spPr>
        <p:txBody>
          <a:bodyPr wrap="square" anchor="t" lIns="0" rIns="0" tIns="0" bIns="0">
            <a:spAutoFit/>
          </a:bodyPr>
          <a:lstStyle/>
          <a:p>
            <a:pPr algn="l">
              <a:lnSpc>
                <a:spcPct val="150000"/>
              </a:lnSpc>
            </a:pPr>
            <a:r>
              <a:rPr sz="1650" b="0" i="0">
                <a:solidFill>
                  <a:srgbClr val="1C1730"/>
                </a:solidFill>
                <a:latin typeface="Calibri"/>
              </a:rPr>
              <a:t>The more blocks get built on top of a given block, the more expensive and difficult it becomes to rewrite it — this is exactly what "number of confirmations" means in practice on a block explorer.</a:t>
            </a:r>
          </a:p>
        </p:txBody>
      </p:sp>
      <p:sp>
        <p:nvSpPr>
          <p:cNvPr id="7" name="Rounded Rectangle 6"/>
          <p:cNvSpPr/>
          <p:nvPr/>
        </p:nvSpPr>
        <p:spPr>
          <a:xfrm>
            <a:off x="822960" y="4434840"/>
            <a:ext cx="10515600" cy="1280160"/>
          </a:xfrm>
          <a:prstGeom prst="roundRect">
            <a:avLst>
              <a:gd name="adj" fmla="val 6000"/>
            </a:avLst>
          </a:prstGeom>
          <a:solidFill>
            <a:srgbClr val="EAE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4617720"/>
            <a:ext cx="9875520" cy="320040"/>
          </a:xfrm>
          <a:prstGeom prst="rect">
            <a:avLst/>
          </a:prstGeom>
          <a:noFill/>
        </p:spPr>
        <p:txBody>
          <a:bodyPr wrap="square" anchor="t" lIns="0" rIns="0" tIns="0" bIns="0">
            <a:spAutoFit/>
          </a:bodyPr>
          <a:lstStyle/>
          <a:p>
            <a:pPr algn="l">
              <a:lnSpc>
                <a:spcPct val="115000"/>
              </a:lnSpc>
            </a:pPr>
            <a:r>
              <a:rPr sz="1100" b="1" i="0">
                <a:solidFill>
                  <a:srgbClr val="33506A"/>
                </a:solidFill>
                <a:latin typeface="Calibri"/>
              </a:rPr>
              <a:t>EXAMPLE</a:t>
            </a:r>
          </a:p>
        </p:txBody>
      </p:sp>
      <p:sp>
        <p:nvSpPr>
          <p:cNvPr id="9" name="TextBox 8"/>
          <p:cNvSpPr txBox="1"/>
          <p:nvPr/>
        </p:nvSpPr>
        <p:spPr>
          <a:xfrm>
            <a:off x="1143000" y="4956048"/>
            <a:ext cx="9875520" cy="640080"/>
          </a:xfrm>
          <a:prstGeom prst="rect">
            <a:avLst/>
          </a:prstGeom>
          <a:noFill/>
        </p:spPr>
        <p:txBody>
          <a:bodyPr wrap="square" anchor="t" lIns="0" rIns="0" tIns="0" bIns="0">
            <a:spAutoFit/>
          </a:bodyPr>
          <a:lstStyle/>
          <a:p>
            <a:pPr algn="l">
              <a:lnSpc>
                <a:spcPct val="130000"/>
              </a:lnSpc>
            </a:pPr>
            <a:r>
              <a:rPr sz="1400" b="0" i="0">
                <a:solidFill>
                  <a:srgbClr val="1C1730"/>
                </a:solidFill>
                <a:latin typeface="Consolas"/>
              </a:rPr>
              <a:t>6 confirmations = 6 blocks now depend on this one being correct.</a:t>
            </a:r>
          </a:p>
        </p:txBody>
      </p:sp>
      <p:sp>
        <p:nvSpPr>
          <p:cNvPr id="10" name="TextBox 9"/>
          <p:cNvSpPr txBox="1"/>
          <p:nvPr/>
        </p:nvSpPr>
        <p:spPr>
          <a:xfrm>
            <a:off x="9966960" y="502920"/>
            <a:ext cx="1371600" cy="320040"/>
          </a:xfrm>
          <a:prstGeom prst="rect">
            <a:avLst/>
          </a:prstGeom>
          <a:noFill/>
        </p:spPr>
        <p:txBody>
          <a:bodyPr wrap="square" anchor="t" lIns="0" rIns="0" tIns="0" bIns="0">
            <a:spAutoFit/>
          </a:bodyPr>
          <a:lstStyle/>
          <a:p>
            <a:pPr algn="r">
              <a:lnSpc>
                <a:spcPct val="115000"/>
              </a:lnSpc>
            </a:pPr>
            <a:r>
              <a:rPr sz="1100" b="1" i="0">
                <a:solidFill>
                  <a:srgbClr val="5C576E"/>
                </a:solidFill>
                <a:latin typeface="Consolas"/>
              </a:rPr>
              <a:t>07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058400" cy="365760"/>
          </a:xfrm>
          <a:prstGeom prst="rect">
            <a:avLst/>
          </a:prstGeom>
          <a:noFill/>
        </p:spPr>
        <p:txBody>
          <a:bodyPr wrap="square" anchor="t" lIns="0" rIns="0" tIns="0" bIns="0">
            <a:spAutoFit/>
          </a:bodyPr>
          <a:lstStyle/>
          <a:p>
            <a:pPr algn="l">
              <a:lnSpc>
                <a:spcPct val="115000"/>
              </a:lnSpc>
            </a:pPr>
            <a:r>
              <a:rPr sz="1300" b="1" i="0">
                <a:solidFill>
                  <a:srgbClr val="33506A"/>
                </a:solidFill>
                <a:latin typeface="Calibri"/>
              </a:rPr>
              <a:t>WORKED EXAMPLE — PART 1</a:t>
            </a:r>
          </a:p>
        </p:txBody>
      </p:sp>
      <p:sp>
        <p:nvSpPr>
          <p:cNvPr id="4" name="TextBox 3"/>
          <p:cNvSpPr txBox="1"/>
          <p:nvPr/>
        </p:nvSpPr>
        <p:spPr>
          <a:xfrm>
            <a:off x="822960" y="1051560"/>
            <a:ext cx="10332720" cy="1005840"/>
          </a:xfrm>
          <a:prstGeom prst="rect">
            <a:avLst/>
          </a:prstGeom>
          <a:noFill/>
        </p:spPr>
        <p:txBody>
          <a:bodyPr wrap="square" anchor="t" lIns="0" rIns="0" tIns="0" bIns="0">
            <a:spAutoFit/>
          </a:bodyPr>
          <a:lstStyle/>
          <a:p>
            <a:pPr algn="l">
              <a:lnSpc>
                <a:spcPct val="105000"/>
              </a:lnSpc>
            </a:pPr>
            <a:r>
              <a:rPr sz="2700" b="1" i="0">
                <a:solidFill>
                  <a:srgbClr val="1C1730"/>
                </a:solidFill>
                <a:latin typeface="Century Gothic"/>
              </a:rPr>
              <a:t>A Real, Runnable 3-Block Chain — And A Real Tampering Attempt</a:t>
            </a:r>
          </a:p>
        </p:txBody>
      </p:sp>
      <p:sp>
        <p:nvSpPr>
          <p:cNvPr id="5" name="Rounded Rectangle 4"/>
          <p:cNvSpPr/>
          <p:nvPr/>
        </p:nvSpPr>
        <p:spPr>
          <a:xfrm>
            <a:off x="822960" y="1965960"/>
            <a:ext cx="10515600" cy="3840480"/>
          </a:xfrm>
          <a:prstGeom prst="roundRect">
            <a:avLst>
              <a:gd name="adj" fmla="val 4500"/>
            </a:avLst>
          </a:prstGeom>
          <a:solidFill>
            <a:srgbClr val="1410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24128" y="2130552"/>
            <a:ext cx="109728" cy="109728"/>
          </a:xfrm>
          <a:prstGeom prst="ellipse">
            <a:avLst/>
          </a:prstGeom>
          <a:solidFill>
            <a:srgbClr val="FF64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130552"/>
            <a:ext cx="109728" cy="109728"/>
          </a:xfrm>
          <a:prstGeom prst="ellipse">
            <a:avLst/>
          </a:prstGeom>
          <a:solidFill>
            <a:srgbClr val="FFC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26464" y="2130552"/>
            <a:ext cx="109728" cy="109728"/>
          </a:xfrm>
          <a:prstGeom prst="ellipse">
            <a:avLst/>
          </a:prstGeom>
          <a:solidFill>
            <a:srgbClr val="28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78992" y="2350008"/>
            <a:ext cx="10003536" cy="3273552"/>
          </a:xfrm>
          <a:prstGeom prst="rect">
            <a:avLst/>
          </a:prstGeom>
          <a:noFill/>
        </p:spPr>
        <p:txBody>
          <a:bodyPr wrap="square" anchor="t" lIns="0" rIns="0" tIns="0" bIns="0">
            <a:spAutoFit/>
          </a:bodyPr>
          <a:lstStyle/>
          <a:p>
            <a:pPr algn="l">
              <a:lnSpc>
                <a:spcPct val="135000"/>
              </a:lnSpc>
            </a:pPr>
            <a:r>
              <a:rPr sz="1350" b="0">
                <a:solidFill>
                  <a:srgbClr val="8B84AD"/>
                </a:solidFill>
                <a:latin typeface="Consolas"/>
              </a:rPr>
              <a:t># attacker edits Block 2's data after the fact:</a:t>
            </a:r>
          </a:p>
          <a:p>
            <a:pPr algn="l">
              <a:lnSpc>
                <a:spcPct val="135000"/>
              </a:lnSpc>
            </a:pPr>
            <a:r>
              <a:rPr sz="1350" b="0">
                <a:solidFill>
                  <a:srgbClr val="EDE9F7"/>
                </a:solidFill>
                <a:latin typeface="Consolas"/>
              </a:rPr>
              <a:t>Block 2 ORIGINAL hash:</a:t>
            </a:r>
          </a:p>
          <a:p>
            <a:pPr algn="l">
              <a:lnSpc>
                <a:spcPct val="135000"/>
              </a:lnSpc>
            </a:pPr>
            <a:r>
              <a:rPr sz="1350" b="0">
                <a:solidFill>
                  <a:srgbClr val="7FE0C4"/>
                </a:solidFill>
                <a:latin typeface="Consolas"/>
              </a:rPr>
              <a:t>7dd7f6149021fd741a6b1cf5ef626f386a2d8c0cfa68de41c75f29f3b824623f</a:t>
            </a:r>
          </a:p>
          <a:p>
            <a:pPr algn="l">
              <a:lnSpc>
                <a:spcPct val="135000"/>
              </a:lnSpc>
            </a:pPr>
            <a:r>
              <a:rPr sz="1350" b="0">
                <a:solidFill>
                  <a:srgbClr val="EDE9F7"/>
                </a:solidFill>
                <a:latin typeface="Consolas"/>
              </a:rPr>
              <a:t>Block 3 still expects prev =</a:t>
            </a:r>
          </a:p>
          <a:p>
            <a:pPr algn="l">
              <a:lnSpc>
                <a:spcPct val="135000"/>
              </a:lnSpc>
            </a:pPr>
            <a:r>
              <a:rPr sz="1350" b="0">
                <a:solidFill>
                  <a:srgbClr val="7FE0C4"/>
                </a:solidFill>
                <a:latin typeface="Consolas"/>
              </a:rPr>
              <a:t>7dd7f6149021fd741a6b1cf5ef626f386a2d8c0cfa68de41c75f29f3b824623f</a:t>
            </a:r>
          </a:p>
          <a:p>
            <a:pPr algn="l">
              <a:lnSpc>
                <a:spcPct val="135000"/>
              </a:lnSpc>
            </a:pPr>
            <a:r>
              <a:rPr sz="1350" b="0">
                <a:solidFill>
                  <a:srgbClr val="EDE9F7"/>
                </a:solidFill>
                <a:latin typeface="Consolas"/>
              </a:rPr>
              <a:t/>
            </a:r>
          </a:p>
          <a:p>
            <a:pPr algn="l">
              <a:lnSpc>
                <a:spcPct val="135000"/>
              </a:lnSpc>
            </a:pPr>
            <a:r>
              <a:rPr sz="1350" b="0">
                <a:solidFill>
                  <a:srgbClr val="EDE9F7"/>
                </a:solidFill>
                <a:latin typeface="Consolas"/>
              </a:rPr>
              <a:t>Block 2 hash AFTER the edit:</a:t>
            </a:r>
          </a:p>
          <a:p>
            <a:pPr algn="l">
              <a:lnSpc>
                <a:spcPct val="135000"/>
              </a:lnSpc>
            </a:pPr>
            <a:r>
              <a:rPr sz="1350" b="0">
                <a:solidFill>
                  <a:srgbClr val="FF8E7D"/>
                </a:solidFill>
                <a:latin typeface="Consolas"/>
              </a:rPr>
              <a:t>6c7db182ce1b8061543e98d0549c337486a15d1bb8ff7a675ccc681b59e5a216</a:t>
            </a:r>
          </a:p>
          <a:p>
            <a:pPr algn="l">
              <a:lnSpc>
                <a:spcPct val="135000"/>
              </a:lnSpc>
            </a:pPr>
            <a:r>
              <a:rPr sz="1350" b="0">
                <a:solidFill>
                  <a:srgbClr val="EDE9F7"/>
                </a:solidFill>
                <a:latin typeface="Consolas"/>
              </a:rPr>
              <a:t>Match? </a:t>
            </a:r>
            <a:r>
              <a:rPr sz="1350" b="1">
                <a:solidFill>
                  <a:srgbClr val="FF8E7D"/>
                </a:solidFill>
                <a:latin typeface="Consolas"/>
              </a:rPr>
              <a:t>False</a:t>
            </a:r>
          </a:p>
        </p:txBody>
      </p:sp>
      <p:sp>
        <p:nvSpPr>
          <p:cNvPr id="10" name="TextBox 9"/>
          <p:cNvSpPr txBox="1"/>
          <p:nvPr/>
        </p:nvSpPr>
        <p:spPr>
          <a:xfrm>
            <a:off x="822960" y="6446520"/>
            <a:ext cx="10058400" cy="320040"/>
          </a:xfrm>
          <a:prstGeom prst="rect">
            <a:avLst/>
          </a:prstGeom>
          <a:noFill/>
        </p:spPr>
        <p:txBody>
          <a:bodyPr wrap="square" anchor="t" lIns="0" rIns="0" tIns="0" bIns="0">
            <a:spAutoFit/>
          </a:bodyPr>
          <a:lstStyle/>
          <a:p>
            <a:pPr algn="l">
              <a:lnSpc>
                <a:spcPct val="115000"/>
              </a:lnSpc>
            </a:pPr>
            <a:r>
              <a:rPr sz="1050" b="0" i="0">
                <a:solidFill>
                  <a:srgbClr val="5C576E"/>
                </a:solidFill>
                <a:latin typeface="Calibri"/>
              </a:rPr>
              <a:t>Built with Python's hashlib — the same primitive from Topic 01, applied exactly as described.</a:t>
            </a:r>
          </a:p>
        </p:txBody>
      </p:sp>
      <p:sp>
        <p:nvSpPr>
          <p:cNvPr id="11" name="TextBox 10"/>
          <p:cNvSpPr txBox="1"/>
          <p:nvPr/>
        </p:nvSpPr>
        <p:spPr>
          <a:xfrm>
            <a:off x="9966960" y="502920"/>
            <a:ext cx="1371600" cy="320040"/>
          </a:xfrm>
          <a:prstGeom prst="rect">
            <a:avLst/>
          </a:prstGeom>
          <a:noFill/>
        </p:spPr>
        <p:txBody>
          <a:bodyPr wrap="square" anchor="t" lIns="0" rIns="0" tIns="0" bIns="0">
            <a:spAutoFit/>
          </a:bodyPr>
          <a:lstStyle/>
          <a:p>
            <a:pPr algn="r">
              <a:lnSpc>
                <a:spcPct val="115000"/>
              </a:lnSpc>
            </a:pPr>
            <a:r>
              <a:rPr sz="1100" b="1" i="0">
                <a:solidFill>
                  <a:srgbClr val="5C576E"/>
                </a:solidFill>
                <a:latin typeface="Consolas"/>
              </a:rPr>
              <a:t>08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058400" cy="365760"/>
          </a:xfrm>
          <a:prstGeom prst="rect">
            <a:avLst/>
          </a:prstGeom>
          <a:noFill/>
        </p:spPr>
        <p:txBody>
          <a:bodyPr wrap="square" anchor="t" lIns="0" rIns="0" tIns="0" bIns="0">
            <a:spAutoFit/>
          </a:bodyPr>
          <a:lstStyle/>
          <a:p>
            <a:pPr algn="l">
              <a:lnSpc>
                <a:spcPct val="115000"/>
              </a:lnSpc>
            </a:pPr>
            <a:r>
              <a:rPr sz="1300" b="1" i="0">
                <a:solidFill>
                  <a:srgbClr val="33506A"/>
                </a:solidFill>
                <a:latin typeface="Calibri"/>
              </a:rPr>
              <a:t>WORKED EXAMPLE — PART 2</a:t>
            </a:r>
          </a:p>
        </p:txBody>
      </p:sp>
      <p:sp>
        <p:nvSpPr>
          <p:cNvPr id="4" name="TextBox 3"/>
          <p:cNvSpPr txBox="1"/>
          <p:nvPr/>
        </p:nvSpPr>
        <p:spPr>
          <a:xfrm>
            <a:off x="822960" y="1051560"/>
            <a:ext cx="10332720" cy="1005840"/>
          </a:xfrm>
          <a:prstGeom prst="rect">
            <a:avLst/>
          </a:prstGeom>
          <a:noFill/>
        </p:spPr>
        <p:txBody>
          <a:bodyPr wrap="square" anchor="t" lIns="0" rIns="0" tIns="0" bIns="0">
            <a:spAutoFit/>
          </a:bodyPr>
          <a:lstStyle/>
          <a:p>
            <a:pPr algn="l">
              <a:lnSpc>
                <a:spcPct val="105000"/>
              </a:lnSpc>
            </a:pPr>
            <a:r>
              <a:rPr sz="2700" b="1" i="0">
                <a:solidFill>
                  <a:srgbClr val="1C1730"/>
                </a:solidFill>
                <a:latin typeface="Century Gothic"/>
              </a:rPr>
              <a:t>You Already Use This Structure — It's Called Git</a:t>
            </a:r>
          </a:p>
        </p:txBody>
      </p:sp>
      <p:sp>
        <p:nvSpPr>
          <p:cNvPr id="5" name="Rounded Rectangle 4"/>
          <p:cNvSpPr/>
          <p:nvPr/>
        </p:nvSpPr>
        <p:spPr>
          <a:xfrm>
            <a:off x="822960" y="1965960"/>
            <a:ext cx="10515600" cy="3840480"/>
          </a:xfrm>
          <a:prstGeom prst="roundRect">
            <a:avLst>
              <a:gd name="adj" fmla="val 4500"/>
            </a:avLst>
          </a:prstGeom>
          <a:solidFill>
            <a:srgbClr val="1410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24128" y="2130552"/>
            <a:ext cx="109728" cy="109728"/>
          </a:xfrm>
          <a:prstGeom prst="ellipse">
            <a:avLst/>
          </a:prstGeom>
          <a:solidFill>
            <a:srgbClr val="FF64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130552"/>
            <a:ext cx="109728" cy="109728"/>
          </a:xfrm>
          <a:prstGeom prst="ellipse">
            <a:avLst/>
          </a:prstGeom>
          <a:solidFill>
            <a:srgbClr val="FFC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26464" y="2130552"/>
            <a:ext cx="109728" cy="109728"/>
          </a:xfrm>
          <a:prstGeom prst="ellipse">
            <a:avLst/>
          </a:prstGeom>
          <a:solidFill>
            <a:srgbClr val="28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78992" y="2350008"/>
            <a:ext cx="10003536" cy="3273552"/>
          </a:xfrm>
          <a:prstGeom prst="rect">
            <a:avLst/>
          </a:prstGeom>
          <a:noFill/>
        </p:spPr>
        <p:txBody>
          <a:bodyPr wrap="square" anchor="t" lIns="0" rIns="0" tIns="0" bIns="0">
            <a:spAutoFit/>
          </a:bodyPr>
          <a:lstStyle/>
          <a:p>
            <a:pPr algn="l">
              <a:lnSpc>
                <a:spcPct val="135000"/>
              </a:lnSpc>
            </a:pPr>
            <a:r>
              <a:rPr sz="1350" b="1">
                <a:solidFill>
                  <a:srgbClr val="9C93C9"/>
                </a:solidFill>
                <a:latin typeface="Consolas"/>
              </a:rPr>
              <a:t>$ </a:t>
            </a:r>
            <a:r>
              <a:rPr sz="1350" b="0">
                <a:solidFill>
                  <a:srgbClr val="EDE9F7"/>
                </a:solidFill>
                <a:latin typeface="Consolas"/>
              </a:rPr>
              <a:t>git log --format="commit %H%nparent %P"</a:t>
            </a:r>
          </a:p>
          <a:p>
            <a:pPr algn="l">
              <a:lnSpc>
                <a:spcPct val="135000"/>
              </a:lnSpc>
            </a:pPr>
            <a:r>
              <a:rPr sz="1350" b="0">
                <a:solidFill>
                  <a:srgbClr val="EDE9F7"/>
                </a:solidFill>
                <a:latin typeface="Consolas"/>
              </a:rPr>
              <a:t/>
            </a:r>
          </a:p>
          <a:p>
            <a:pPr algn="l">
              <a:lnSpc>
                <a:spcPct val="135000"/>
              </a:lnSpc>
            </a:pPr>
            <a:r>
              <a:rPr sz="1350" b="0">
                <a:solidFill>
                  <a:srgbClr val="EDE9F7"/>
                </a:solidFill>
                <a:latin typeface="Consolas"/>
              </a:rPr>
              <a:t>commit </a:t>
            </a:r>
            <a:r>
              <a:rPr sz="1350" b="0">
                <a:solidFill>
                  <a:srgbClr val="7FE0C4"/>
                </a:solidFill>
                <a:latin typeface="Consolas"/>
              </a:rPr>
              <a:t>14170b8693832cd89ca256741e1af856ede4361</a:t>
            </a:r>
          </a:p>
          <a:p>
            <a:pPr algn="l">
              <a:lnSpc>
                <a:spcPct val="135000"/>
              </a:lnSpc>
            </a:pPr>
            <a:r>
              <a:rPr sz="1350" b="0">
                <a:solidFill>
                  <a:srgbClr val="EDE9F7"/>
                </a:solidFill>
                <a:latin typeface="Consolas"/>
              </a:rPr>
              <a:t>parent </a:t>
            </a:r>
            <a:r>
              <a:rPr sz="1350" b="0">
                <a:solidFill>
                  <a:srgbClr val="7FE0C4"/>
                </a:solidFill>
                <a:latin typeface="Consolas"/>
              </a:rPr>
              <a:t>5c0144c7a07feca64a44f84b71b369c6b9d1304</a:t>
            </a:r>
          </a:p>
          <a:p>
            <a:pPr algn="l">
              <a:lnSpc>
                <a:spcPct val="135000"/>
              </a:lnSpc>
            </a:pPr>
            <a:r>
              <a:rPr sz="1350" b="0">
                <a:solidFill>
                  <a:srgbClr val="EDE9F7"/>
                </a:solidFill>
                <a:latin typeface="Consolas"/>
              </a:rPr>
              <a:t/>
            </a:r>
          </a:p>
          <a:p>
            <a:pPr algn="l">
              <a:lnSpc>
                <a:spcPct val="135000"/>
              </a:lnSpc>
            </a:pPr>
            <a:r>
              <a:rPr sz="1350" b="0">
                <a:solidFill>
                  <a:srgbClr val="EDE9F7"/>
                </a:solidFill>
                <a:latin typeface="Consolas"/>
              </a:rPr>
              <a:t>commit </a:t>
            </a:r>
            <a:r>
              <a:rPr sz="1350" b="0">
                <a:solidFill>
                  <a:srgbClr val="7FE0C4"/>
                </a:solidFill>
                <a:latin typeface="Consolas"/>
              </a:rPr>
              <a:t>5c0144c7a07feca64a44f84b71b369c6b9d1304</a:t>
            </a:r>
          </a:p>
          <a:p>
            <a:pPr algn="l">
              <a:lnSpc>
                <a:spcPct val="135000"/>
              </a:lnSpc>
            </a:pPr>
            <a:r>
              <a:rPr sz="1350" b="0">
                <a:solidFill>
                  <a:srgbClr val="EDE9F7"/>
                </a:solidFill>
                <a:latin typeface="Consolas"/>
              </a:rPr>
              <a:t>parent </a:t>
            </a:r>
            <a:r>
              <a:rPr sz="1350" b="0">
                <a:solidFill>
                  <a:srgbClr val="8B84AD"/>
                </a:solidFill>
                <a:latin typeface="Consolas"/>
              </a:rPr>
              <a:t>(none — first commit)</a:t>
            </a:r>
          </a:p>
        </p:txBody>
      </p:sp>
      <p:sp>
        <p:nvSpPr>
          <p:cNvPr id="10" name="TextBox 9"/>
          <p:cNvSpPr txBox="1"/>
          <p:nvPr/>
        </p:nvSpPr>
        <p:spPr>
          <a:xfrm>
            <a:off x="822960" y="6446520"/>
            <a:ext cx="10058400" cy="320040"/>
          </a:xfrm>
          <a:prstGeom prst="rect">
            <a:avLst/>
          </a:prstGeom>
          <a:noFill/>
        </p:spPr>
        <p:txBody>
          <a:bodyPr wrap="square" anchor="t" lIns="0" rIns="0" tIns="0" bIns="0">
            <a:spAutoFit/>
          </a:bodyPr>
          <a:lstStyle/>
          <a:p>
            <a:pPr algn="l">
              <a:lnSpc>
                <a:spcPct val="115000"/>
              </a:lnSpc>
            </a:pPr>
            <a:r>
              <a:rPr sz="1050" b="0" i="0">
                <a:solidFill>
                  <a:srgbClr val="5C576E"/>
                </a:solidFill>
                <a:latin typeface="Calibri"/>
              </a:rPr>
              <a:t>Real output from a real git repo. Every commit you've made stores its parent's hash — same structure.</a:t>
            </a:r>
          </a:p>
        </p:txBody>
      </p:sp>
      <p:sp>
        <p:nvSpPr>
          <p:cNvPr id="11" name="TextBox 10"/>
          <p:cNvSpPr txBox="1"/>
          <p:nvPr/>
        </p:nvSpPr>
        <p:spPr>
          <a:xfrm>
            <a:off x="9966960" y="502920"/>
            <a:ext cx="1371600" cy="320040"/>
          </a:xfrm>
          <a:prstGeom prst="rect">
            <a:avLst/>
          </a:prstGeom>
          <a:noFill/>
        </p:spPr>
        <p:txBody>
          <a:bodyPr wrap="square" anchor="t" lIns="0" rIns="0" tIns="0" bIns="0">
            <a:spAutoFit/>
          </a:bodyPr>
          <a:lstStyle/>
          <a:p>
            <a:pPr algn="r">
              <a:lnSpc>
                <a:spcPct val="115000"/>
              </a:lnSpc>
            </a:pPr>
            <a:r>
              <a:rPr sz="1100" b="1" i="0">
                <a:solidFill>
                  <a:srgbClr val="5C576E"/>
                </a:solidFill>
                <a:latin typeface="Consolas"/>
              </a:rPr>
              <a:t>09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058400" cy="365760"/>
          </a:xfrm>
          <a:prstGeom prst="rect">
            <a:avLst/>
          </a:prstGeom>
          <a:noFill/>
        </p:spPr>
        <p:txBody>
          <a:bodyPr wrap="square" anchor="t" lIns="0" rIns="0" tIns="0" bIns="0">
            <a:spAutoFit/>
          </a:bodyPr>
          <a:lstStyle/>
          <a:p>
            <a:pPr algn="l">
              <a:lnSpc>
                <a:spcPct val="115000"/>
              </a:lnSpc>
            </a:pPr>
            <a:r>
              <a:rPr sz="1300" b="1" i="0">
                <a:solidFill>
                  <a:srgbClr val="33506A"/>
                </a:solidFill>
                <a:latin typeface="Calibri"/>
              </a:rPr>
              <a:t>REAL-WORLD USES</a:t>
            </a:r>
          </a:p>
        </p:txBody>
      </p:sp>
      <p:sp>
        <p:nvSpPr>
          <p:cNvPr id="4" name="TextBox 3"/>
          <p:cNvSpPr txBox="1"/>
          <p:nvPr/>
        </p:nvSpPr>
        <p:spPr>
          <a:xfrm>
            <a:off x="822960" y="1051560"/>
            <a:ext cx="9601200" cy="1005840"/>
          </a:xfrm>
          <a:prstGeom prst="rect">
            <a:avLst/>
          </a:prstGeom>
          <a:noFill/>
        </p:spPr>
        <p:txBody>
          <a:bodyPr wrap="square" anchor="t" lIns="0" rIns="0" tIns="0" bIns="0">
            <a:spAutoFit/>
          </a:bodyPr>
          <a:lstStyle/>
          <a:p>
            <a:pPr algn="l">
              <a:lnSpc>
                <a:spcPct val="105000"/>
              </a:lnSpc>
            </a:pPr>
            <a:r>
              <a:rPr sz="3200" b="1" i="0">
                <a:solidFill>
                  <a:srgbClr val="1C1730"/>
                </a:solidFill>
                <a:latin typeface="Century Gothic"/>
              </a:rPr>
              <a:t>Not Just Blockchain</a:t>
            </a:r>
          </a:p>
        </p:txBody>
      </p:sp>
      <p:sp>
        <p:nvSpPr>
          <p:cNvPr id="5" name="Rounded Rectangle 4"/>
          <p:cNvSpPr/>
          <p:nvPr/>
        </p:nvSpPr>
        <p:spPr>
          <a:xfrm>
            <a:off x="822960" y="2011680"/>
            <a:ext cx="3322320" cy="3108960"/>
          </a:xfrm>
          <a:prstGeom prst="roundRect">
            <a:avLst>
              <a:gd name="adj" fmla="val 9000"/>
            </a:avLst>
          </a:prstGeom>
          <a:solidFill>
            <a:srgbClr val="FFFFFF"/>
          </a:solidFill>
          <a:ln w="12700">
            <a:solidFill>
              <a:srgbClr val="DED9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 y="2267712"/>
            <a:ext cx="2810256" cy="457200"/>
          </a:xfrm>
          <a:prstGeom prst="rect">
            <a:avLst/>
          </a:prstGeom>
          <a:noFill/>
        </p:spPr>
        <p:txBody>
          <a:bodyPr wrap="square" anchor="t" lIns="0" rIns="0" tIns="0" bIns="0">
            <a:spAutoFit/>
          </a:bodyPr>
          <a:lstStyle/>
          <a:p>
            <a:pPr algn="l">
              <a:lnSpc>
                <a:spcPct val="115000"/>
              </a:lnSpc>
            </a:pPr>
            <a:r>
              <a:rPr sz="1450" b="1" i="0">
                <a:solidFill>
                  <a:srgbClr val="33506A"/>
                </a:solidFill>
                <a:latin typeface="Century Gothic"/>
              </a:rPr>
              <a:t>Audit Logs</a:t>
            </a:r>
          </a:p>
        </p:txBody>
      </p:sp>
      <p:sp>
        <p:nvSpPr>
          <p:cNvPr id="7" name="TextBox 6"/>
          <p:cNvSpPr txBox="1"/>
          <p:nvPr/>
        </p:nvSpPr>
        <p:spPr>
          <a:xfrm>
            <a:off x="1078992" y="2724912"/>
            <a:ext cx="2810256" cy="2258568"/>
          </a:xfrm>
          <a:prstGeom prst="rect">
            <a:avLst/>
          </a:prstGeom>
          <a:noFill/>
        </p:spPr>
        <p:txBody>
          <a:bodyPr wrap="square" anchor="t" lIns="0" rIns="0" tIns="0" bIns="0">
            <a:spAutoFit/>
          </a:bodyPr>
          <a:lstStyle/>
          <a:p>
            <a:pPr algn="l">
              <a:lnSpc>
                <a:spcPct val="128000"/>
              </a:lnSpc>
            </a:pPr>
            <a:r>
              <a:rPr sz="1150" b="0" i="0">
                <a:solidFill>
                  <a:srgbClr val="1C1730"/>
                </a:solidFill>
                <a:latin typeface="Calibri"/>
              </a:rPr>
              <a:t>Financial and healthcare systems hash-chain compliance logs so auditors can prove records weren't altered after the fact.</a:t>
            </a:r>
          </a:p>
        </p:txBody>
      </p:sp>
      <p:sp>
        <p:nvSpPr>
          <p:cNvPr id="8" name="Rounded Rectangle 7"/>
          <p:cNvSpPr/>
          <p:nvPr/>
        </p:nvSpPr>
        <p:spPr>
          <a:xfrm>
            <a:off x="4419600" y="2011680"/>
            <a:ext cx="3322320" cy="3108960"/>
          </a:xfrm>
          <a:prstGeom prst="roundRect">
            <a:avLst>
              <a:gd name="adj" fmla="val 9000"/>
            </a:avLst>
          </a:prstGeom>
          <a:solidFill>
            <a:srgbClr val="FFFFFF"/>
          </a:solidFill>
          <a:ln w="12700">
            <a:solidFill>
              <a:srgbClr val="DED9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75632" y="2267712"/>
            <a:ext cx="2810256" cy="457200"/>
          </a:xfrm>
          <a:prstGeom prst="rect">
            <a:avLst/>
          </a:prstGeom>
          <a:noFill/>
        </p:spPr>
        <p:txBody>
          <a:bodyPr wrap="square" anchor="t" lIns="0" rIns="0" tIns="0" bIns="0">
            <a:spAutoFit/>
          </a:bodyPr>
          <a:lstStyle/>
          <a:p>
            <a:pPr algn="l">
              <a:lnSpc>
                <a:spcPct val="115000"/>
              </a:lnSpc>
            </a:pPr>
            <a:r>
              <a:rPr sz="1450" b="1" i="0">
                <a:solidFill>
                  <a:srgbClr val="33506A"/>
                </a:solidFill>
                <a:latin typeface="Century Gothic"/>
              </a:rPr>
              <a:t>Certificate Transparency</a:t>
            </a:r>
          </a:p>
        </p:txBody>
      </p:sp>
      <p:sp>
        <p:nvSpPr>
          <p:cNvPr id="10" name="TextBox 9"/>
          <p:cNvSpPr txBox="1"/>
          <p:nvPr/>
        </p:nvSpPr>
        <p:spPr>
          <a:xfrm>
            <a:off x="4675632" y="2724912"/>
            <a:ext cx="2810256" cy="2258568"/>
          </a:xfrm>
          <a:prstGeom prst="rect">
            <a:avLst/>
          </a:prstGeom>
          <a:noFill/>
        </p:spPr>
        <p:txBody>
          <a:bodyPr wrap="square" anchor="t" lIns="0" rIns="0" tIns="0" bIns="0">
            <a:spAutoFit/>
          </a:bodyPr>
          <a:lstStyle/>
          <a:p>
            <a:pPr algn="l">
              <a:lnSpc>
                <a:spcPct val="128000"/>
              </a:lnSpc>
            </a:pPr>
            <a:r>
              <a:rPr sz="1150" b="0" i="0">
                <a:solidFill>
                  <a:srgbClr val="1C1730"/>
                </a:solidFill>
                <a:latin typeface="Calibri"/>
              </a:rPr>
              <a:t>Every SSL certificate issued is logged into a public, hash-chained, tamper-evident record.</a:t>
            </a:r>
          </a:p>
        </p:txBody>
      </p:sp>
      <p:sp>
        <p:nvSpPr>
          <p:cNvPr id="11" name="Rounded Rectangle 10"/>
          <p:cNvSpPr/>
          <p:nvPr/>
        </p:nvSpPr>
        <p:spPr>
          <a:xfrm>
            <a:off x="8016240" y="2011680"/>
            <a:ext cx="3322320" cy="3108960"/>
          </a:xfrm>
          <a:prstGeom prst="roundRect">
            <a:avLst>
              <a:gd name="adj" fmla="val 9000"/>
            </a:avLst>
          </a:prstGeom>
          <a:solidFill>
            <a:srgbClr val="FFFFFF"/>
          </a:solidFill>
          <a:ln w="12700">
            <a:solidFill>
              <a:srgbClr val="DED9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2272" y="2267712"/>
            <a:ext cx="2810256" cy="457200"/>
          </a:xfrm>
          <a:prstGeom prst="rect">
            <a:avLst/>
          </a:prstGeom>
          <a:noFill/>
        </p:spPr>
        <p:txBody>
          <a:bodyPr wrap="square" anchor="t" lIns="0" rIns="0" tIns="0" bIns="0">
            <a:spAutoFit/>
          </a:bodyPr>
          <a:lstStyle/>
          <a:p>
            <a:pPr algn="l">
              <a:lnSpc>
                <a:spcPct val="115000"/>
              </a:lnSpc>
            </a:pPr>
            <a:r>
              <a:rPr sz="1450" b="1" i="0">
                <a:solidFill>
                  <a:srgbClr val="33506A"/>
                </a:solidFill>
                <a:latin typeface="Century Gothic"/>
              </a:rPr>
              <a:t>Merkle Trees / SPV</a:t>
            </a:r>
          </a:p>
        </p:txBody>
      </p:sp>
      <p:sp>
        <p:nvSpPr>
          <p:cNvPr id="13" name="TextBox 12"/>
          <p:cNvSpPr txBox="1"/>
          <p:nvPr/>
        </p:nvSpPr>
        <p:spPr>
          <a:xfrm>
            <a:off x="8272272" y="2724912"/>
            <a:ext cx="2810256" cy="2258568"/>
          </a:xfrm>
          <a:prstGeom prst="rect">
            <a:avLst/>
          </a:prstGeom>
          <a:noFill/>
        </p:spPr>
        <p:txBody>
          <a:bodyPr wrap="square" anchor="t" lIns="0" rIns="0" tIns="0" bIns="0">
            <a:spAutoFit/>
          </a:bodyPr>
          <a:lstStyle/>
          <a:p>
            <a:pPr algn="l">
              <a:lnSpc>
                <a:spcPct val="128000"/>
              </a:lnSpc>
            </a:pPr>
            <a:r>
              <a:rPr sz="1150" b="0" i="0">
                <a:solidFill>
                  <a:srgbClr val="1C1730"/>
                </a:solidFill>
                <a:latin typeface="Calibri"/>
              </a:rPr>
              <a:t>Lightweight wallets verify a single transaction is in a block via a short proof — without downloading the whole block.</a:t>
            </a:r>
          </a:p>
        </p:txBody>
      </p:sp>
      <p:sp>
        <p:nvSpPr>
          <p:cNvPr id="14" name="TextBox 13"/>
          <p:cNvSpPr txBox="1"/>
          <p:nvPr/>
        </p:nvSpPr>
        <p:spPr>
          <a:xfrm>
            <a:off x="9966960" y="502920"/>
            <a:ext cx="1371600" cy="320040"/>
          </a:xfrm>
          <a:prstGeom prst="rect">
            <a:avLst/>
          </a:prstGeom>
          <a:noFill/>
        </p:spPr>
        <p:txBody>
          <a:bodyPr wrap="square" anchor="t" lIns="0" rIns="0" tIns="0" bIns="0">
            <a:spAutoFit/>
          </a:bodyPr>
          <a:lstStyle/>
          <a:p>
            <a:pPr algn="r">
              <a:lnSpc>
                <a:spcPct val="115000"/>
              </a:lnSpc>
            </a:pPr>
            <a:r>
              <a:rPr sz="1100" b="1" i="0">
                <a:solidFill>
                  <a:srgbClr val="5C576E"/>
                </a:solidFill>
                <a:latin typeface="Consolas"/>
              </a:rP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058400" cy="365760"/>
          </a:xfrm>
          <a:prstGeom prst="rect">
            <a:avLst/>
          </a:prstGeom>
          <a:noFill/>
        </p:spPr>
        <p:txBody>
          <a:bodyPr wrap="square" anchor="t" lIns="0" rIns="0" tIns="0" bIns="0">
            <a:spAutoFit/>
          </a:bodyPr>
          <a:lstStyle/>
          <a:p>
            <a:pPr algn="l">
              <a:lnSpc>
                <a:spcPct val="115000"/>
              </a:lnSpc>
            </a:pPr>
            <a:r>
              <a:rPr sz="1300" b="1" i="0">
                <a:solidFill>
                  <a:srgbClr val="33506A"/>
                </a:solidFill>
                <a:latin typeface="Calibri"/>
              </a:rPr>
              <a:t>FLAGSHIP CASE STUDY</a:t>
            </a:r>
          </a:p>
        </p:txBody>
      </p:sp>
      <p:sp>
        <p:nvSpPr>
          <p:cNvPr id="4" name="TextBox 3"/>
          <p:cNvSpPr txBox="1"/>
          <p:nvPr/>
        </p:nvSpPr>
        <p:spPr>
          <a:xfrm>
            <a:off x="822960" y="1097280"/>
            <a:ext cx="10332720" cy="1005840"/>
          </a:xfrm>
          <a:prstGeom prst="rect">
            <a:avLst/>
          </a:prstGeom>
          <a:noFill/>
        </p:spPr>
        <p:txBody>
          <a:bodyPr wrap="square" anchor="t" lIns="0" rIns="0" tIns="0" bIns="0">
            <a:spAutoFit/>
          </a:bodyPr>
          <a:lstStyle/>
          <a:p>
            <a:pPr algn="l">
              <a:lnSpc>
                <a:spcPct val="105000"/>
              </a:lnSpc>
            </a:pPr>
            <a:r>
              <a:rPr sz="3000" b="1" i="0">
                <a:solidFill>
                  <a:srgbClr val="1C1730"/>
                </a:solidFill>
                <a:latin typeface="Century Gothic"/>
              </a:rPr>
              <a:t>You Already Use This — It's Called Git</a:t>
            </a:r>
          </a:p>
        </p:txBody>
      </p:sp>
      <p:sp>
        <p:nvSpPr>
          <p:cNvPr id="5" name="Rounded Rectangle 4"/>
          <p:cNvSpPr/>
          <p:nvPr/>
        </p:nvSpPr>
        <p:spPr>
          <a:xfrm>
            <a:off x="822960" y="2423160"/>
            <a:ext cx="10515600" cy="3749039"/>
          </a:xfrm>
          <a:prstGeom prst="roundRect">
            <a:avLst>
              <a:gd name="adj" fmla="val 4000"/>
            </a:avLst>
          </a:prstGeom>
          <a:solidFill>
            <a:srgbClr val="33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743200"/>
            <a:ext cx="9601200" cy="3200400"/>
          </a:xfrm>
          <a:prstGeom prst="rect">
            <a:avLst/>
          </a:prstGeom>
          <a:noFill/>
        </p:spPr>
        <p:txBody>
          <a:bodyPr wrap="square" anchor="t" lIns="0" rIns="0" tIns="0" bIns="0">
            <a:spAutoFit/>
          </a:bodyPr>
          <a:lstStyle/>
          <a:p>
            <a:pPr algn="l">
              <a:lnSpc>
                <a:spcPct val="155000"/>
              </a:lnSpc>
            </a:pPr>
            <a:r>
              <a:rPr sz="1600" b="0" i="0">
                <a:solidFill>
                  <a:srgbClr val="FFFFFF"/>
                </a:solidFill>
                <a:latin typeface="Calibri"/>
              </a:rPr>
              <a:t>Every commit you've ever made is identified by a hash, and stores the hash of its parent commit. If you rewrite old git history, every commit's hash after it changes too — which is exactly why force-pushing over shared history is so disruptive. You've been working with a hash-linked chain of tamper-evident snapshots your entire career as a developer, whether or not you ever thought of it that way.</a:t>
            </a:r>
          </a:p>
        </p:txBody>
      </p:sp>
      <p:sp>
        <p:nvSpPr>
          <p:cNvPr id="7" name="TextBox 6"/>
          <p:cNvSpPr txBox="1"/>
          <p:nvPr/>
        </p:nvSpPr>
        <p:spPr>
          <a:xfrm>
            <a:off x="9966960" y="502920"/>
            <a:ext cx="1371600" cy="320040"/>
          </a:xfrm>
          <a:prstGeom prst="rect">
            <a:avLst/>
          </a:prstGeom>
          <a:noFill/>
        </p:spPr>
        <p:txBody>
          <a:bodyPr wrap="square" anchor="t" lIns="0" rIns="0" tIns="0" bIns="0">
            <a:spAutoFit/>
          </a:bodyPr>
          <a:lstStyle/>
          <a:p>
            <a:pPr algn="r">
              <a:lnSpc>
                <a:spcPct val="115000"/>
              </a:lnSpc>
            </a:pPr>
            <a:r>
              <a:rPr sz="1100" b="1" i="0">
                <a:solidFill>
                  <a:srgbClr val="5C576E"/>
                </a:solidFill>
                <a:latin typeface="Consolas"/>
              </a:rP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058400" cy="365760"/>
          </a:xfrm>
          <a:prstGeom prst="rect">
            <a:avLst/>
          </a:prstGeom>
          <a:noFill/>
        </p:spPr>
        <p:txBody>
          <a:bodyPr wrap="square" anchor="t" lIns="0" rIns="0" tIns="0" bIns="0">
            <a:spAutoFit/>
          </a:bodyPr>
          <a:lstStyle/>
          <a:p>
            <a:pPr algn="l">
              <a:lnSpc>
                <a:spcPct val="115000"/>
              </a:lnSpc>
            </a:pPr>
            <a:r>
              <a:rPr sz="1300" b="1" i="0">
                <a:solidFill>
                  <a:srgbClr val="33506A"/>
                </a:solidFill>
                <a:latin typeface="Calibri"/>
              </a:rPr>
              <a:t>REAL-LIFE ANALOGY</a:t>
            </a:r>
          </a:p>
        </p:txBody>
      </p:sp>
      <p:sp>
        <p:nvSpPr>
          <p:cNvPr id="4" name="TextBox 3"/>
          <p:cNvSpPr txBox="1"/>
          <p:nvPr/>
        </p:nvSpPr>
        <p:spPr>
          <a:xfrm>
            <a:off x="822960" y="1097280"/>
            <a:ext cx="10332720" cy="1005840"/>
          </a:xfrm>
          <a:prstGeom prst="rect">
            <a:avLst/>
          </a:prstGeom>
          <a:noFill/>
        </p:spPr>
        <p:txBody>
          <a:bodyPr wrap="square" anchor="t" lIns="0" rIns="0" tIns="0" bIns="0">
            <a:spAutoFit/>
          </a:bodyPr>
          <a:lstStyle/>
          <a:p>
            <a:pPr algn="l">
              <a:lnSpc>
                <a:spcPct val="105000"/>
              </a:lnSpc>
            </a:pPr>
            <a:r>
              <a:rPr sz="3000" b="1" i="0">
                <a:solidFill>
                  <a:srgbClr val="1C1730"/>
                </a:solidFill>
                <a:latin typeface="Century Gothic"/>
              </a:rPr>
              <a:t>A Stack Of Stapled Receipts</a:t>
            </a:r>
          </a:p>
        </p:txBody>
      </p:sp>
      <p:sp>
        <p:nvSpPr>
          <p:cNvPr id="5" name="Rectangle 4"/>
          <p:cNvSpPr/>
          <p:nvPr/>
        </p:nvSpPr>
        <p:spPr>
          <a:xfrm>
            <a:off x="822960" y="2286000"/>
            <a:ext cx="91440" cy="3657600"/>
          </a:xfrm>
          <a:prstGeom prst="rect">
            <a:avLst/>
          </a:prstGeom>
          <a:solidFill>
            <a:srgbClr val="33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377440"/>
            <a:ext cx="9784080" cy="3566160"/>
          </a:xfrm>
          <a:prstGeom prst="rect">
            <a:avLst/>
          </a:prstGeom>
          <a:noFill/>
        </p:spPr>
        <p:txBody>
          <a:bodyPr wrap="square" anchor="t" lIns="0" rIns="0" tIns="0" bIns="0">
            <a:spAutoFit/>
          </a:bodyPr>
          <a:lstStyle/>
          <a:p>
            <a:pPr algn="l">
              <a:lnSpc>
                <a:spcPct val="160000"/>
              </a:lnSpc>
            </a:pPr>
            <a:r>
              <a:rPr sz="1800" b="0" i="0">
                <a:solidFill>
                  <a:srgbClr val="1C1730"/>
                </a:solidFill>
                <a:latin typeface="Calibri"/>
              </a:rPr>
              <a:t>Each new receipt has to write down a summary of the total on the receipt before it. If you sneak into the middle of the stack and change an old total, every receipt stapled after it now has the wrong "previous total" written on it — the mismatch is obvious to anyone flipping through the stack, even without knowing exactly what you changed.</a:t>
            </a:r>
          </a:p>
        </p:txBody>
      </p:sp>
      <p:sp>
        <p:nvSpPr>
          <p:cNvPr id="7" name="TextBox 6"/>
          <p:cNvSpPr txBox="1"/>
          <p:nvPr/>
        </p:nvSpPr>
        <p:spPr>
          <a:xfrm>
            <a:off x="9966960" y="502920"/>
            <a:ext cx="1371600" cy="320040"/>
          </a:xfrm>
          <a:prstGeom prst="rect">
            <a:avLst/>
          </a:prstGeom>
          <a:noFill/>
        </p:spPr>
        <p:txBody>
          <a:bodyPr wrap="square" anchor="t" lIns="0" rIns="0" tIns="0" bIns="0">
            <a:spAutoFit/>
          </a:bodyPr>
          <a:lstStyle/>
          <a:p>
            <a:pPr algn="r">
              <a:lnSpc>
                <a:spcPct val="115000"/>
              </a:lnSpc>
            </a:pPr>
            <a:r>
              <a:rPr sz="1100" b="1" i="0">
                <a:solidFill>
                  <a:srgbClr val="5C576E"/>
                </a:solidFill>
                <a:latin typeface="Consolas"/>
              </a:rP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058400" cy="365760"/>
          </a:xfrm>
          <a:prstGeom prst="rect">
            <a:avLst/>
          </a:prstGeom>
          <a:noFill/>
        </p:spPr>
        <p:txBody>
          <a:bodyPr wrap="square" anchor="t" lIns="0" rIns="0" tIns="0" bIns="0">
            <a:spAutoFit/>
          </a:bodyPr>
          <a:lstStyle/>
          <a:p>
            <a:pPr algn="l">
              <a:lnSpc>
                <a:spcPct val="115000"/>
              </a:lnSpc>
            </a:pPr>
            <a:r>
              <a:rPr sz="1300" b="1" i="0">
                <a:solidFill>
                  <a:srgbClr val="33506A"/>
                </a:solidFill>
                <a:latin typeface="Calibri"/>
              </a:rPr>
              <a:t>COMMON MISCONCEPTIONS</a:t>
            </a:r>
          </a:p>
        </p:txBody>
      </p:sp>
      <p:sp>
        <p:nvSpPr>
          <p:cNvPr id="4" name="TextBox 3"/>
          <p:cNvSpPr txBox="1"/>
          <p:nvPr/>
        </p:nvSpPr>
        <p:spPr>
          <a:xfrm>
            <a:off x="822960" y="1051560"/>
            <a:ext cx="9601200" cy="1005840"/>
          </a:xfrm>
          <a:prstGeom prst="rect">
            <a:avLst/>
          </a:prstGeom>
          <a:noFill/>
        </p:spPr>
        <p:txBody>
          <a:bodyPr wrap="square" anchor="t" lIns="0" rIns="0" tIns="0" bIns="0">
            <a:spAutoFit/>
          </a:bodyPr>
          <a:lstStyle/>
          <a:p>
            <a:pPr algn="l">
              <a:lnSpc>
                <a:spcPct val="105000"/>
              </a:lnSpc>
            </a:pPr>
            <a:r>
              <a:rPr sz="3000" b="1" i="0">
                <a:solidFill>
                  <a:srgbClr val="1C1730"/>
                </a:solidFill>
                <a:latin typeface="Century Gothic"/>
              </a:rPr>
              <a:t>Where People Get Tripped Up</a:t>
            </a:r>
          </a:p>
        </p:txBody>
      </p:sp>
      <p:sp>
        <p:nvSpPr>
          <p:cNvPr id="5" name="Rounded Rectangle 4"/>
          <p:cNvSpPr/>
          <p:nvPr/>
        </p:nvSpPr>
        <p:spPr>
          <a:xfrm>
            <a:off x="822960" y="2057400"/>
            <a:ext cx="10515600" cy="1874519"/>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2057400"/>
            <a:ext cx="82296" cy="1874519"/>
          </a:xfrm>
          <a:prstGeom prst="rect">
            <a:avLst/>
          </a:prstGeom>
          <a:solidFill>
            <a:srgbClr val="33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2258568"/>
            <a:ext cx="9784080" cy="457200"/>
          </a:xfrm>
          <a:prstGeom prst="rect">
            <a:avLst/>
          </a:prstGeom>
          <a:noFill/>
        </p:spPr>
        <p:txBody>
          <a:bodyPr wrap="square" anchor="t" lIns="0" rIns="0" tIns="0" bIns="0">
            <a:spAutoFit/>
          </a:bodyPr>
          <a:lstStyle/>
          <a:p>
            <a:pPr algn="l">
              <a:lnSpc>
                <a:spcPct val="115000"/>
              </a:lnSpc>
            </a:pPr>
            <a:r>
              <a:rPr sz="1700" b="1" i="0">
                <a:solidFill>
                  <a:srgbClr val="33506A"/>
                </a:solidFill>
                <a:latin typeface="Century Gothic"/>
              </a:rPr>
              <a:t>“Immutable means literally impossible to change.”</a:t>
            </a:r>
          </a:p>
        </p:txBody>
      </p:sp>
      <p:sp>
        <p:nvSpPr>
          <p:cNvPr id="8" name="TextBox 7"/>
          <p:cNvSpPr txBox="1"/>
          <p:nvPr/>
        </p:nvSpPr>
        <p:spPr>
          <a:xfrm>
            <a:off x="1188720" y="2743200"/>
            <a:ext cx="9784080" cy="1097280"/>
          </a:xfrm>
          <a:prstGeom prst="rect">
            <a:avLst/>
          </a:prstGeom>
          <a:noFill/>
        </p:spPr>
        <p:txBody>
          <a:bodyPr wrap="square" anchor="t" lIns="0" rIns="0" tIns="0" bIns="0">
            <a:spAutoFit/>
          </a:bodyPr>
          <a:lstStyle/>
          <a:p>
            <a:pPr algn="l">
              <a:lnSpc>
                <a:spcPct val="135000"/>
              </a:lnSpc>
            </a:pPr>
            <a:r>
              <a:rPr sz="1300" b="0" i="0">
                <a:solidFill>
                  <a:srgbClr val="5C576E"/>
                </a:solidFill>
                <a:latin typeface="Calibri"/>
              </a:rPr>
              <a:t>More precisely: changing it is detectable, and for a large network, economically infeasible — not physically impossible. A well-resourced attacker genuinely can rewrite recent blocks (see Topic 04's real, documented case).</a:t>
            </a:r>
          </a:p>
        </p:txBody>
      </p:sp>
      <p:sp>
        <p:nvSpPr>
          <p:cNvPr id="9" name="Rounded Rectangle 8"/>
          <p:cNvSpPr/>
          <p:nvPr/>
        </p:nvSpPr>
        <p:spPr>
          <a:xfrm>
            <a:off x="822960" y="4160520"/>
            <a:ext cx="10515600" cy="1874519"/>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4160520"/>
            <a:ext cx="82296" cy="1874519"/>
          </a:xfrm>
          <a:prstGeom prst="rect">
            <a:avLst/>
          </a:prstGeom>
          <a:solidFill>
            <a:srgbClr val="33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4361688"/>
            <a:ext cx="9784080" cy="457200"/>
          </a:xfrm>
          <a:prstGeom prst="rect">
            <a:avLst/>
          </a:prstGeom>
          <a:noFill/>
        </p:spPr>
        <p:txBody>
          <a:bodyPr wrap="square" anchor="t" lIns="0" rIns="0" tIns="0" bIns="0">
            <a:spAutoFit/>
          </a:bodyPr>
          <a:lstStyle/>
          <a:p>
            <a:pPr algn="l">
              <a:lnSpc>
                <a:spcPct val="115000"/>
              </a:lnSpc>
            </a:pPr>
            <a:r>
              <a:rPr sz="1700" b="1" i="0">
                <a:solidFill>
                  <a:srgbClr val="33506A"/>
                </a:solidFill>
                <a:latin typeface="Century Gothic"/>
              </a:rPr>
              <a:t>“A block explorer showing 'success' means it was a good idea.”</a:t>
            </a:r>
          </a:p>
        </p:txBody>
      </p:sp>
      <p:sp>
        <p:nvSpPr>
          <p:cNvPr id="12" name="TextBox 11"/>
          <p:cNvSpPr txBox="1"/>
          <p:nvPr/>
        </p:nvSpPr>
        <p:spPr>
          <a:xfrm>
            <a:off x="1188720" y="4846320"/>
            <a:ext cx="9784080" cy="1097280"/>
          </a:xfrm>
          <a:prstGeom prst="rect">
            <a:avLst/>
          </a:prstGeom>
          <a:noFill/>
        </p:spPr>
        <p:txBody>
          <a:bodyPr wrap="square" anchor="t" lIns="0" rIns="0" tIns="0" bIns="0">
            <a:spAutoFit/>
          </a:bodyPr>
          <a:lstStyle/>
          <a:p>
            <a:pPr algn="l">
              <a:lnSpc>
                <a:spcPct val="135000"/>
              </a:lnSpc>
            </a:pPr>
            <a:r>
              <a:rPr sz="1300" b="0" i="0">
                <a:solidFill>
                  <a:srgbClr val="5C576E"/>
                </a:solidFill>
                <a:latin typeface="Calibri"/>
              </a:rPr>
              <a:t>"Success" means the transaction was valid and processed by the protocol's rules — not that you weren't scammed, or didn't send funds to the wrong address.</a:t>
            </a:r>
          </a:p>
        </p:txBody>
      </p:sp>
      <p:sp>
        <p:nvSpPr>
          <p:cNvPr id="13" name="TextBox 12"/>
          <p:cNvSpPr txBox="1"/>
          <p:nvPr/>
        </p:nvSpPr>
        <p:spPr>
          <a:xfrm>
            <a:off x="9966960" y="502920"/>
            <a:ext cx="1371600" cy="320040"/>
          </a:xfrm>
          <a:prstGeom prst="rect">
            <a:avLst/>
          </a:prstGeom>
          <a:noFill/>
        </p:spPr>
        <p:txBody>
          <a:bodyPr wrap="square" anchor="t" lIns="0" rIns="0" tIns="0" bIns="0">
            <a:spAutoFit/>
          </a:bodyPr>
          <a:lstStyle/>
          <a:p>
            <a:pPr algn="r">
              <a:lnSpc>
                <a:spcPct val="115000"/>
              </a:lnSpc>
            </a:pPr>
            <a:r>
              <a:rPr sz="1100" b="1" i="0">
                <a:solidFill>
                  <a:srgbClr val="5C576E"/>
                </a:solidFill>
                <a:latin typeface="Consolas"/>
              </a:rP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058400" cy="365760"/>
          </a:xfrm>
          <a:prstGeom prst="rect">
            <a:avLst/>
          </a:prstGeom>
          <a:noFill/>
        </p:spPr>
        <p:txBody>
          <a:bodyPr wrap="square" anchor="t" lIns="0" rIns="0" tIns="0" bIns="0">
            <a:spAutoFit/>
          </a:bodyPr>
          <a:lstStyle/>
          <a:p>
            <a:pPr algn="l">
              <a:lnSpc>
                <a:spcPct val="115000"/>
              </a:lnSpc>
            </a:pPr>
            <a:r>
              <a:rPr sz="1300" b="1" i="0">
                <a:solidFill>
                  <a:srgbClr val="33506A"/>
                </a:solidFill>
                <a:latin typeface="Calibri"/>
              </a:rPr>
              <a:t>HANDS-ON PRACTICE</a:t>
            </a:r>
          </a:p>
        </p:txBody>
      </p:sp>
      <p:sp>
        <p:nvSpPr>
          <p:cNvPr id="4" name="TextBox 3"/>
          <p:cNvSpPr txBox="1"/>
          <p:nvPr/>
        </p:nvSpPr>
        <p:spPr>
          <a:xfrm>
            <a:off x="822960" y="1051560"/>
            <a:ext cx="9601200" cy="1005840"/>
          </a:xfrm>
          <a:prstGeom prst="rect">
            <a:avLst/>
          </a:prstGeom>
          <a:noFill/>
        </p:spPr>
        <p:txBody>
          <a:bodyPr wrap="square" anchor="t" lIns="0" rIns="0" tIns="0" bIns="0">
            <a:spAutoFit/>
          </a:bodyPr>
          <a:lstStyle/>
          <a:p>
            <a:pPr algn="l">
              <a:lnSpc>
                <a:spcPct val="105000"/>
              </a:lnSpc>
            </a:pPr>
            <a:r>
              <a:rPr sz="3200" b="1" i="0">
                <a:solidFill>
                  <a:srgbClr val="1C1730"/>
                </a:solidFill>
                <a:latin typeface="Century Gothic"/>
              </a:rPr>
              <a:t>Do This Now</a:t>
            </a:r>
          </a:p>
        </p:txBody>
      </p:sp>
      <p:sp>
        <p:nvSpPr>
          <p:cNvPr id="5" name="Oval 4"/>
          <p:cNvSpPr/>
          <p:nvPr/>
        </p:nvSpPr>
        <p:spPr>
          <a:xfrm>
            <a:off x="822960" y="2148840"/>
            <a:ext cx="502920" cy="502920"/>
          </a:xfrm>
          <a:prstGeom prst="ellipse">
            <a:avLst/>
          </a:prstGeom>
          <a:solidFill>
            <a:srgbClr val="33506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FFFFF"/>
                </a:solidFill>
                <a:latin typeface="Century Gothic"/>
              </a:rPr>
              <a:t>1</a:t>
            </a:r>
          </a:p>
        </p:txBody>
      </p:sp>
      <p:sp>
        <p:nvSpPr>
          <p:cNvPr id="6" name="TextBox 5"/>
          <p:cNvSpPr txBox="1"/>
          <p:nvPr/>
        </p:nvSpPr>
        <p:spPr>
          <a:xfrm>
            <a:off x="1600200" y="2203704"/>
            <a:ext cx="9509760" cy="822960"/>
          </a:xfrm>
          <a:prstGeom prst="rect">
            <a:avLst/>
          </a:prstGeom>
          <a:noFill/>
        </p:spPr>
        <p:txBody>
          <a:bodyPr wrap="square" anchor="t" lIns="0" rIns="0" tIns="0" bIns="0">
            <a:spAutoFit/>
          </a:bodyPr>
          <a:lstStyle/>
          <a:p>
            <a:pPr algn="l">
              <a:lnSpc>
                <a:spcPct val="130000"/>
              </a:lnSpc>
            </a:pPr>
            <a:r>
              <a:rPr sz="1500" b="0" i="0">
                <a:solidFill>
                  <a:srgbClr val="1C1730"/>
                </a:solidFill>
                <a:latin typeface="Calibri"/>
              </a:rPr>
              <a:t>Run the 3-block Python script yourself and confirm the tamper-mismatch shown above.</a:t>
            </a:r>
          </a:p>
        </p:txBody>
      </p:sp>
      <p:sp>
        <p:nvSpPr>
          <p:cNvPr id="7" name="Oval 6"/>
          <p:cNvSpPr/>
          <p:nvPr/>
        </p:nvSpPr>
        <p:spPr>
          <a:xfrm>
            <a:off x="822960" y="3108960"/>
            <a:ext cx="502920" cy="502920"/>
          </a:xfrm>
          <a:prstGeom prst="ellipse">
            <a:avLst/>
          </a:prstGeom>
          <a:solidFill>
            <a:srgbClr val="33506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FFFFF"/>
                </a:solidFill>
                <a:latin typeface="Century Gothic"/>
              </a:rPr>
              <a:t>2</a:t>
            </a:r>
          </a:p>
        </p:txBody>
      </p:sp>
      <p:sp>
        <p:nvSpPr>
          <p:cNvPr id="8" name="TextBox 7"/>
          <p:cNvSpPr txBox="1"/>
          <p:nvPr/>
        </p:nvSpPr>
        <p:spPr>
          <a:xfrm>
            <a:off x="1600200" y="3163824"/>
            <a:ext cx="9509760" cy="822960"/>
          </a:xfrm>
          <a:prstGeom prst="rect">
            <a:avLst/>
          </a:prstGeom>
          <a:noFill/>
        </p:spPr>
        <p:txBody>
          <a:bodyPr wrap="square" anchor="t" lIns="0" rIns="0" tIns="0" bIns="0">
            <a:spAutoFit/>
          </a:bodyPr>
          <a:lstStyle/>
          <a:p>
            <a:pPr algn="l">
              <a:lnSpc>
                <a:spcPct val="130000"/>
              </a:lnSpc>
            </a:pPr>
            <a:r>
              <a:rPr sz="1500" b="0" i="0">
                <a:solidFill>
                  <a:srgbClr val="1C1730"/>
                </a:solidFill>
                <a:latin typeface="Calibri"/>
              </a:rPr>
              <a:t>Run "git log --format=..." on your own repo and find the parent-hash link between two commits.</a:t>
            </a:r>
          </a:p>
        </p:txBody>
      </p:sp>
      <p:sp>
        <p:nvSpPr>
          <p:cNvPr id="9" name="Oval 8"/>
          <p:cNvSpPr/>
          <p:nvPr/>
        </p:nvSpPr>
        <p:spPr>
          <a:xfrm>
            <a:off x="822960" y="4069080"/>
            <a:ext cx="502920" cy="502920"/>
          </a:xfrm>
          <a:prstGeom prst="ellipse">
            <a:avLst/>
          </a:prstGeom>
          <a:solidFill>
            <a:srgbClr val="33506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FFFFF"/>
                </a:solidFill>
                <a:latin typeface="Century Gothic"/>
              </a:rPr>
              <a:t>3</a:t>
            </a:r>
          </a:p>
        </p:txBody>
      </p:sp>
      <p:sp>
        <p:nvSpPr>
          <p:cNvPr id="10" name="TextBox 9"/>
          <p:cNvSpPr txBox="1"/>
          <p:nvPr/>
        </p:nvSpPr>
        <p:spPr>
          <a:xfrm>
            <a:off x="1600200" y="4123944"/>
            <a:ext cx="9509760" cy="822960"/>
          </a:xfrm>
          <a:prstGeom prst="rect">
            <a:avLst/>
          </a:prstGeom>
          <a:noFill/>
        </p:spPr>
        <p:txBody>
          <a:bodyPr wrap="square" anchor="t" lIns="0" rIns="0" tIns="0" bIns="0">
            <a:spAutoFit/>
          </a:bodyPr>
          <a:lstStyle/>
          <a:p>
            <a:pPr algn="l">
              <a:lnSpc>
                <a:spcPct val="130000"/>
              </a:lnSpc>
            </a:pPr>
            <a:r>
              <a:rPr sz="1500" b="0" i="0">
                <a:solidFill>
                  <a:srgbClr val="1C1730"/>
                </a:solidFill>
                <a:latin typeface="Calibri"/>
              </a:rPr>
              <a:t>On the Anders Brownworth Blockchain demo, edit an early block and watch every later block turn invalid.</a:t>
            </a:r>
          </a:p>
        </p:txBody>
      </p:sp>
      <p:sp>
        <p:nvSpPr>
          <p:cNvPr id="11" name="Oval 10"/>
          <p:cNvSpPr/>
          <p:nvPr/>
        </p:nvSpPr>
        <p:spPr>
          <a:xfrm>
            <a:off x="822960" y="5029200"/>
            <a:ext cx="502920" cy="502920"/>
          </a:xfrm>
          <a:prstGeom prst="ellipse">
            <a:avLst/>
          </a:prstGeom>
          <a:solidFill>
            <a:srgbClr val="33506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FFFFF"/>
                </a:solidFill>
                <a:latin typeface="Century Gothic"/>
              </a:rPr>
              <a:t>4</a:t>
            </a:r>
          </a:p>
        </p:txBody>
      </p:sp>
      <p:sp>
        <p:nvSpPr>
          <p:cNvPr id="12" name="TextBox 11"/>
          <p:cNvSpPr txBox="1"/>
          <p:nvPr/>
        </p:nvSpPr>
        <p:spPr>
          <a:xfrm>
            <a:off x="1600200" y="5084064"/>
            <a:ext cx="9509760" cy="822960"/>
          </a:xfrm>
          <a:prstGeom prst="rect">
            <a:avLst/>
          </a:prstGeom>
          <a:noFill/>
        </p:spPr>
        <p:txBody>
          <a:bodyPr wrap="square" anchor="t" lIns="0" rIns="0" tIns="0" bIns="0">
            <a:spAutoFit/>
          </a:bodyPr>
          <a:lstStyle/>
          <a:p>
            <a:pPr algn="l">
              <a:lnSpc>
                <a:spcPct val="130000"/>
              </a:lnSpc>
            </a:pPr>
            <a:r>
              <a:rPr sz="1500" b="0" i="0">
                <a:solidFill>
                  <a:srgbClr val="1C1730"/>
                </a:solidFill>
                <a:latin typeface="Calibri"/>
              </a:rPr>
              <a:t>Look up your own Week 1 testnet transaction on sepolia.etherscan.io.</a:t>
            </a:r>
          </a:p>
        </p:txBody>
      </p:sp>
      <p:sp>
        <p:nvSpPr>
          <p:cNvPr id="13" name="TextBox 12"/>
          <p:cNvSpPr txBox="1"/>
          <p:nvPr/>
        </p:nvSpPr>
        <p:spPr>
          <a:xfrm>
            <a:off x="9966960" y="502920"/>
            <a:ext cx="1371600" cy="320040"/>
          </a:xfrm>
          <a:prstGeom prst="rect">
            <a:avLst/>
          </a:prstGeom>
          <a:noFill/>
        </p:spPr>
        <p:txBody>
          <a:bodyPr wrap="square" anchor="t" lIns="0" rIns="0" tIns="0" bIns="0">
            <a:spAutoFit/>
          </a:bodyPr>
          <a:lstStyle/>
          <a:p>
            <a:pPr algn="r">
              <a:lnSpc>
                <a:spcPct val="115000"/>
              </a:lnSpc>
            </a:pPr>
            <a:r>
              <a:rPr sz="1100" b="1" i="0">
                <a:solidFill>
                  <a:srgbClr val="5C576E"/>
                </a:solidFill>
                <a:latin typeface="Consolas"/>
              </a:rP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7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058400" cy="365760"/>
          </a:xfrm>
          <a:prstGeom prst="rect">
            <a:avLst/>
          </a:prstGeom>
          <a:noFill/>
        </p:spPr>
        <p:txBody>
          <a:bodyPr wrap="square" anchor="t" lIns="0" rIns="0" tIns="0" bIns="0">
            <a:spAutoFit/>
          </a:bodyPr>
          <a:lstStyle/>
          <a:p>
            <a:pPr algn="l">
              <a:lnSpc>
                <a:spcPct val="115000"/>
              </a:lnSpc>
            </a:pPr>
            <a:r>
              <a:rPr sz="1300" b="1" i="0">
                <a:solidFill>
                  <a:srgbClr val="FFC53D"/>
                </a:solidFill>
                <a:latin typeface="Calibri"/>
              </a:rPr>
              <a:t>TAKE-HOME ASSIGNMENT</a:t>
            </a:r>
          </a:p>
        </p:txBody>
      </p:sp>
      <p:sp>
        <p:nvSpPr>
          <p:cNvPr id="4" name="TextBox 3"/>
          <p:cNvSpPr txBox="1"/>
          <p:nvPr/>
        </p:nvSpPr>
        <p:spPr>
          <a:xfrm>
            <a:off x="822960" y="1051560"/>
            <a:ext cx="9601200" cy="1005840"/>
          </a:xfrm>
          <a:prstGeom prst="rect">
            <a:avLst/>
          </a:prstGeom>
          <a:noFill/>
        </p:spPr>
        <p:txBody>
          <a:bodyPr wrap="square" anchor="t" lIns="0" rIns="0" tIns="0" bIns="0">
            <a:spAutoFit/>
          </a:bodyPr>
          <a:lstStyle/>
          <a:p>
            <a:pPr algn="l">
              <a:lnSpc>
                <a:spcPct val="105000"/>
              </a:lnSpc>
            </a:pPr>
            <a:r>
              <a:rPr sz="3200" b="1" i="0">
                <a:solidFill>
                  <a:srgbClr val="FFFFFF"/>
                </a:solidFill>
                <a:latin typeface="Century Gothic"/>
              </a:rPr>
              <a:t>Before You Move On</a:t>
            </a:r>
          </a:p>
        </p:txBody>
      </p:sp>
      <p:sp>
        <p:nvSpPr>
          <p:cNvPr id="5" name="Rectangle 4"/>
          <p:cNvSpPr/>
          <p:nvPr/>
        </p:nvSpPr>
        <p:spPr>
          <a:xfrm>
            <a:off x="822960" y="2084832"/>
            <a:ext cx="82296" cy="82296"/>
          </a:xfrm>
          <a:prstGeom prst="rect">
            <a:avLst/>
          </a:prstGeom>
          <a:solidFill>
            <a:srgbClr val="FFC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011680"/>
            <a:ext cx="10058400" cy="548640"/>
          </a:xfrm>
          <a:prstGeom prst="rect">
            <a:avLst/>
          </a:prstGeom>
          <a:noFill/>
        </p:spPr>
        <p:txBody>
          <a:bodyPr wrap="square" anchor="t" lIns="0" rIns="0" tIns="0" bIns="0">
            <a:spAutoFit/>
          </a:bodyPr>
          <a:lstStyle/>
          <a:p>
            <a:pPr algn="l">
              <a:lnSpc>
                <a:spcPct val="130000"/>
              </a:lnSpc>
            </a:pPr>
            <a:r>
              <a:rPr sz="1350" b="0" i="0">
                <a:solidFill>
                  <a:srgbClr val="E9E6F2"/>
                </a:solidFill>
                <a:latin typeface="Calibri"/>
              </a:rPr>
              <a:t>Extend the 3-block script to 4 blocks; show tampering Block 1 breaks the hash of everything after it.</a:t>
            </a:r>
          </a:p>
        </p:txBody>
      </p:sp>
      <p:sp>
        <p:nvSpPr>
          <p:cNvPr id="7" name="Rectangle 6"/>
          <p:cNvSpPr/>
          <p:nvPr/>
        </p:nvSpPr>
        <p:spPr>
          <a:xfrm>
            <a:off x="822960" y="2706624"/>
            <a:ext cx="82296" cy="82296"/>
          </a:xfrm>
          <a:prstGeom prst="rect">
            <a:avLst/>
          </a:prstGeom>
          <a:solidFill>
            <a:srgbClr val="FFC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633472"/>
            <a:ext cx="10058400" cy="548640"/>
          </a:xfrm>
          <a:prstGeom prst="rect">
            <a:avLst/>
          </a:prstGeom>
          <a:noFill/>
        </p:spPr>
        <p:txBody>
          <a:bodyPr wrap="square" anchor="t" lIns="0" rIns="0" tIns="0" bIns="0">
            <a:spAutoFit/>
          </a:bodyPr>
          <a:lstStyle/>
          <a:p>
            <a:pPr algn="l">
              <a:lnSpc>
                <a:spcPct val="130000"/>
              </a:lnSpc>
            </a:pPr>
            <a:r>
              <a:rPr sz="1350" b="0" i="0">
                <a:solidFill>
                  <a:srgbClr val="E9E6F2"/>
                </a:solidFill>
                <a:latin typeface="Calibri"/>
              </a:rPr>
              <a:t>Run "git cat-file -p" on two consecutive commits and show where the parent-hash match lives.</a:t>
            </a:r>
          </a:p>
        </p:txBody>
      </p:sp>
      <p:sp>
        <p:nvSpPr>
          <p:cNvPr id="9" name="Rectangle 8"/>
          <p:cNvSpPr/>
          <p:nvPr/>
        </p:nvSpPr>
        <p:spPr>
          <a:xfrm>
            <a:off x="822960" y="3328416"/>
            <a:ext cx="82296" cy="82296"/>
          </a:xfrm>
          <a:prstGeom prst="rect">
            <a:avLst/>
          </a:prstGeom>
          <a:solidFill>
            <a:srgbClr val="FFC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255264"/>
            <a:ext cx="10058400" cy="548640"/>
          </a:xfrm>
          <a:prstGeom prst="rect">
            <a:avLst/>
          </a:prstGeom>
          <a:noFill/>
        </p:spPr>
        <p:txBody>
          <a:bodyPr wrap="square" anchor="t" lIns="0" rIns="0" tIns="0" bIns="0">
            <a:spAutoFit/>
          </a:bodyPr>
          <a:lstStyle/>
          <a:p>
            <a:pPr algn="l">
              <a:lnSpc>
                <a:spcPct val="130000"/>
              </a:lnSpc>
            </a:pPr>
            <a:r>
              <a:rPr sz="1350" b="0" i="0">
                <a:solidFill>
                  <a:srgbClr val="E9E6F2"/>
                </a:solidFill>
                <a:latin typeface="Calibri"/>
              </a:rPr>
              <a:t>Find 3 real transactions on Etherscan and record their block number, gas fee, and status.</a:t>
            </a:r>
          </a:p>
        </p:txBody>
      </p:sp>
      <p:sp>
        <p:nvSpPr>
          <p:cNvPr id="11" name="TextBox 10"/>
          <p:cNvSpPr txBox="1"/>
          <p:nvPr/>
        </p:nvSpPr>
        <p:spPr>
          <a:xfrm>
            <a:off x="822960" y="4014216"/>
            <a:ext cx="2743200" cy="320040"/>
          </a:xfrm>
          <a:prstGeom prst="rect">
            <a:avLst/>
          </a:prstGeom>
          <a:noFill/>
        </p:spPr>
        <p:txBody>
          <a:bodyPr wrap="square" anchor="t" lIns="0" rIns="0" tIns="0" bIns="0">
            <a:spAutoFit/>
          </a:bodyPr>
          <a:lstStyle/>
          <a:p>
            <a:pPr algn="l">
              <a:lnSpc>
                <a:spcPct val="115000"/>
              </a:lnSpc>
            </a:pPr>
            <a:r>
              <a:rPr sz="1100" b="1" i="0">
                <a:solidFill>
                  <a:srgbClr val="FFC53D"/>
                </a:solidFill>
                <a:latin typeface="Calibri"/>
              </a:rPr>
              <a:t>RECOMMENDED VIDEOS</a:t>
            </a:r>
          </a:p>
        </p:txBody>
      </p:sp>
      <p:sp>
        <p:nvSpPr>
          <p:cNvPr id="12" name="TextBox 11"/>
          <p:cNvSpPr txBox="1"/>
          <p:nvPr/>
        </p:nvSpPr>
        <p:spPr>
          <a:xfrm>
            <a:off x="822960" y="4379976"/>
            <a:ext cx="10058400" cy="365760"/>
          </a:xfrm>
          <a:prstGeom prst="rect">
            <a:avLst/>
          </a:prstGeom>
          <a:noFill/>
        </p:spPr>
        <p:txBody>
          <a:bodyPr wrap="square" anchor="t" lIns="0" rIns="0" tIns="0" bIns="0">
            <a:spAutoFit/>
          </a:bodyPr>
          <a:lstStyle/>
          <a:p>
            <a:pPr algn="l">
              <a:lnSpc>
                <a:spcPct val="115000"/>
              </a:lnSpc>
            </a:pPr>
            <a:r>
              <a:rPr sz="1250" b="0" i="0">
                <a:solidFill>
                  <a:srgbClr val="C9C3DC"/>
                </a:solidFill>
                <a:latin typeface="Calibri"/>
              </a:rPr>
              <a:t>• How to Use Etherscan (Full Tutorial 2025)</a:t>
            </a:r>
          </a:p>
        </p:txBody>
      </p:sp>
      <p:sp>
        <p:nvSpPr>
          <p:cNvPr id="13" name="TextBox 12"/>
          <p:cNvSpPr txBox="1"/>
          <p:nvPr/>
        </p:nvSpPr>
        <p:spPr>
          <a:xfrm>
            <a:off x="822960" y="4745736"/>
            <a:ext cx="10058400" cy="365760"/>
          </a:xfrm>
          <a:prstGeom prst="rect">
            <a:avLst/>
          </a:prstGeom>
          <a:noFill/>
        </p:spPr>
        <p:txBody>
          <a:bodyPr wrap="square" anchor="t" lIns="0" rIns="0" tIns="0" bIns="0">
            <a:spAutoFit/>
          </a:bodyPr>
          <a:lstStyle/>
          <a:p>
            <a:pPr algn="l">
              <a:lnSpc>
                <a:spcPct val="115000"/>
              </a:lnSpc>
            </a:pPr>
            <a:r>
              <a:rPr sz="1250" b="0" i="0">
                <a:solidFill>
                  <a:srgbClr val="C9C3DC"/>
                </a:solidFill>
                <a:latin typeface="Calibri"/>
              </a:rPr>
              <a:t>• How To ACTUALLY Use Etherscan | Beginner's Complete Tutorial</a:t>
            </a:r>
          </a:p>
        </p:txBody>
      </p:sp>
      <p:sp>
        <p:nvSpPr>
          <p:cNvPr id="14" name="TextBox 13"/>
          <p:cNvSpPr txBox="1"/>
          <p:nvPr/>
        </p:nvSpPr>
        <p:spPr>
          <a:xfrm>
            <a:off x="822960" y="5248656"/>
            <a:ext cx="2743200" cy="320040"/>
          </a:xfrm>
          <a:prstGeom prst="rect">
            <a:avLst/>
          </a:prstGeom>
          <a:noFill/>
        </p:spPr>
        <p:txBody>
          <a:bodyPr wrap="square" anchor="t" lIns="0" rIns="0" tIns="0" bIns="0">
            <a:spAutoFit/>
          </a:bodyPr>
          <a:lstStyle/>
          <a:p>
            <a:pPr algn="l">
              <a:lnSpc>
                <a:spcPct val="115000"/>
              </a:lnSpc>
            </a:pPr>
            <a:r>
              <a:rPr sz="1100" b="1" i="0">
                <a:solidFill>
                  <a:srgbClr val="FFC53D"/>
                </a:solidFill>
                <a:latin typeface="Calibri"/>
              </a:rPr>
              <a:t>PRACTICE SITE</a:t>
            </a:r>
          </a:p>
        </p:txBody>
      </p:sp>
      <p:sp>
        <p:nvSpPr>
          <p:cNvPr id="15" name="TextBox 14"/>
          <p:cNvSpPr txBox="1"/>
          <p:nvPr/>
        </p:nvSpPr>
        <p:spPr>
          <a:xfrm>
            <a:off x="822960" y="5614416"/>
            <a:ext cx="10058400" cy="457200"/>
          </a:xfrm>
          <a:prstGeom prst="rect">
            <a:avLst/>
          </a:prstGeom>
          <a:noFill/>
        </p:spPr>
        <p:txBody>
          <a:bodyPr wrap="square" anchor="t" lIns="0" rIns="0" tIns="0" bIns="0">
            <a:spAutoFit/>
          </a:bodyPr>
          <a:lstStyle/>
          <a:p>
            <a:pPr algn="l">
              <a:lnSpc>
                <a:spcPct val="115000"/>
              </a:lnSpc>
            </a:pPr>
            <a:r>
              <a:rPr sz="1250" b="0" i="0">
                <a:solidFill>
                  <a:srgbClr val="C9C3DC"/>
                </a:solidFill>
                <a:latin typeface="Consolas"/>
              </a:rPr>
              <a:t>andersbrownworth.com/blockchain  ·  sepolia.etherscan.io  ·  your own git repo</a:t>
            </a:r>
          </a:p>
        </p:txBody>
      </p:sp>
      <p:sp>
        <p:nvSpPr>
          <p:cNvPr id="16" name="TextBox 15"/>
          <p:cNvSpPr txBox="1"/>
          <p:nvPr/>
        </p:nvSpPr>
        <p:spPr>
          <a:xfrm>
            <a:off x="9966960" y="502920"/>
            <a:ext cx="1371600" cy="320040"/>
          </a:xfrm>
          <a:prstGeom prst="rect">
            <a:avLst/>
          </a:prstGeom>
          <a:noFill/>
        </p:spPr>
        <p:txBody>
          <a:bodyPr wrap="square" anchor="t" lIns="0" rIns="0" tIns="0" bIns="0">
            <a:spAutoFit/>
          </a:bodyPr>
          <a:lstStyle/>
          <a:p>
            <a:pPr algn="r">
              <a:lnSpc>
                <a:spcPct val="115000"/>
              </a:lnSpc>
            </a:pPr>
            <a:r>
              <a:rPr sz="1100" b="1" i="0">
                <a:solidFill>
                  <a:srgbClr val="5C576E"/>
                </a:solidFill>
                <a:latin typeface="Consolas"/>
              </a:rP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